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8" r:id="rId3"/>
    <p:sldId id="306" r:id="rId4"/>
    <p:sldId id="287" r:id="rId5"/>
    <p:sldId id="285" r:id="rId6"/>
    <p:sldId id="269" r:id="rId7"/>
    <p:sldId id="290" r:id="rId8"/>
    <p:sldId id="272" r:id="rId9"/>
    <p:sldId id="291" r:id="rId10"/>
    <p:sldId id="273" r:id="rId11"/>
    <p:sldId id="293" r:id="rId12"/>
    <p:sldId id="311" r:id="rId13"/>
    <p:sldId id="310" r:id="rId14"/>
    <p:sldId id="294" r:id="rId15"/>
    <p:sldId id="296" r:id="rId16"/>
    <p:sldId id="297" r:id="rId17"/>
    <p:sldId id="300" r:id="rId18"/>
    <p:sldId id="301" r:id="rId19"/>
    <p:sldId id="302" r:id="rId20"/>
    <p:sldId id="304" r:id="rId21"/>
    <p:sldId id="305" r:id="rId22"/>
    <p:sldId id="307" r:id="rId23"/>
    <p:sldId id="308" r:id="rId24"/>
    <p:sldId id="292" r:id="rId25"/>
    <p:sldId id="309" r:id="rId26"/>
  </p:sldIdLst>
  <p:sldSz cx="12192000" cy="6858000"/>
  <p:notesSz cx="6858000" cy="914400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3296810-A885-4BE3-A3E7-6D5BEEA58F35}" styleName="中等深淺樣式 2 - 輔色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113" d="100"/>
          <a:sy n="113" d="100"/>
        </p:scale>
        <p:origin x="510"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標題投影片">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AA313B5C-4451-4F85-8E22-4F6D30112120}"/>
              </a:ext>
            </a:extLst>
          </p:cNvPr>
          <p:cNvSpPr>
            <a:spLocks noGrp="1"/>
          </p:cNvSpPr>
          <p:nvPr>
            <p:ph type="ctrTitle"/>
          </p:nvPr>
        </p:nvSpPr>
        <p:spPr>
          <a:xfrm>
            <a:off x="1524000" y="1122363"/>
            <a:ext cx="9144000" cy="2387600"/>
          </a:xfrm>
        </p:spPr>
        <p:txBody>
          <a:bodyPr anchor="b"/>
          <a:lstStyle>
            <a:lvl1pPr algn="ctr">
              <a:defRPr sz="6000"/>
            </a:lvl1pPr>
          </a:lstStyle>
          <a:p>
            <a:r>
              <a:rPr lang="zh-TW" altLang="en-US"/>
              <a:t>按一下以編輯母片標題樣式</a:t>
            </a:r>
          </a:p>
        </p:txBody>
      </p:sp>
      <p:sp>
        <p:nvSpPr>
          <p:cNvPr id="3" name="副標題 2">
            <a:extLst>
              <a:ext uri="{FF2B5EF4-FFF2-40B4-BE49-F238E27FC236}">
                <a16:creationId xmlns:a16="http://schemas.microsoft.com/office/drawing/2014/main" id="{438C9657-D53F-4E4F-9171-BAB7C00D967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p>
        </p:txBody>
      </p:sp>
      <p:sp>
        <p:nvSpPr>
          <p:cNvPr id="4" name="日期版面配置區 3">
            <a:extLst>
              <a:ext uri="{FF2B5EF4-FFF2-40B4-BE49-F238E27FC236}">
                <a16:creationId xmlns:a16="http://schemas.microsoft.com/office/drawing/2014/main" id="{ECB1CB1F-3023-4059-8D9C-CF5C75B6AF97}"/>
              </a:ext>
            </a:extLst>
          </p:cNvPr>
          <p:cNvSpPr>
            <a:spLocks noGrp="1"/>
          </p:cNvSpPr>
          <p:nvPr>
            <p:ph type="dt" sz="half" idx="10"/>
          </p:nvPr>
        </p:nvSpPr>
        <p:spPr/>
        <p:txBody>
          <a:bodyPr/>
          <a:lstStyle/>
          <a:p>
            <a:fld id="{16D42070-5DAD-4E7E-A6F8-25E560BC7BBC}" type="datetimeFigureOut">
              <a:rPr lang="zh-TW" altLang="en-US" smtClean="0"/>
              <a:t>2026/8/24</a:t>
            </a:fld>
            <a:endParaRPr lang="zh-TW" altLang="en-US"/>
          </a:p>
        </p:txBody>
      </p:sp>
      <p:sp>
        <p:nvSpPr>
          <p:cNvPr id="5" name="頁尾版面配置區 4">
            <a:extLst>
              <a:ext uri="{FF2B5EF4-FFF2-40B4-BE49-F238E27FC236}">
                <a16:creationId xmlns:a16="http://schemas.microsoft.com/office/drawing/2014/main" id="{88FDADB6-4903-41BB-BC87-020BA3FBD9C3}"/>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7EFCEFEA-DE84-42FC-BE56-10A71321A99D}"/>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33047085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標題及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D98524EB-4587-44AF-A65F-8CBAAF65D917}"/>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5A2C5D94-2521-44B1-AF19-188FFBBD19CB}"/>
              </a:ext>
            </a:extLst>
          </p:cNvPr>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65882776-4508-4BB4-B95B-94CABBBA1DAA}"/>
              </a:ext>
            </a:extLst>
          </p:cNvPr>
          <p:cNvSpPr>
            <a:spLocks noGrp="1"/>
          </p:cNvSpPr>
          <p:nvPr>
            <p:ph type="dt" sz="half" idx="10"/>
          </p:nvPr>
        </p:nvSpPr>
        <p:spPr/>
        <p:txBody>
          <a:bodyPr/>
          <a:lstStyle/>
          <a:p>
            <a:fld id="{16D42070-5DAD-4E7E-A6F8-25E560BC7BBC}" type="datetimeFigureOut">
              <a:rPr lang="zh-TW" altLang="en-US" smtClean="0"/>
              <a:t>2026/8/24</a:t>
            </a:fld>
            <a:endParaRPr lang="zh-TW" altLang="en-US"/>
          </a:p>
        </p:txBody>
      </p:sp>
      <p:sp>
        <p:nvSpPr>
          <p:cNvPr id="5" name="頁尾版面配置區 4">
            <a:extLst>
              <a:ext uri="{FF2B5EF4-FFF2-40B4-BE49-F238E27FC236}">
                <a16:creationId xmlns:a16="http://schemas.microsoft.com/office/drawing/2014/main" id="{180C8587-132A-4FA1-AC7D-93EABEB0372F}"/>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08ABA0DE-C7B2-4848-95AC-5A3E7CA5644D}"/>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29099172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章節標題">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C2A3930A-494A-46F3-88CB-96081BB0DBF6}"/>
              </a:ext>
            </a:extLst>
          </p:cNvPr>
          <p:cNvSpPr>
            <a:spLocks noGrp="1"/>
          </p:cNvSpPr>
          <p:nvPr>
            <p:ph type="title"/>
          </p:nvPr>
        </p:nvSpPr>
        <p:spPr>
          <a:xfrm>
            <a:off x="831850" y="1709738"/>
            <a:ext cx="10515600" cy="2852737"/>
          </a:xfrm>
        </p:spPr>
        <p:txBody>
          <a:bodyPr anchor="b"/>
          <a:lstStyle>
            <a:lvl1pPr>
              <a:defRPr sz="6000"/>
            </a:lvl1pPr>
          </a:lstStyle>
          <a:p>
            <a:r>
              <a:rPr lang="zh-TW" altLang="en-US"/>
              <a:t>按一下以編輯母片標題樣式</a:t>
            </a:r>
          </a:p>
        </p:txBody>
      </p:sp>
      <p:sp>
        <p:nvSpPr>
          <p:cNvPr id="3" name="文字版面配置區 2">
            <a:extLst>
              <a:ext uri="{FF2B5EF4-FFF2-40B4-BE49-F238E27FC236}">
                <a16:creationId xmlns:a16="http://schemas.microsoft.com/office/drawing/2014/main" id="{0478FD7A-7A96-43E2-8961-E0DB15C178D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TW" altLang="en-US"/>
              <a:t>按一下以編輯母片文字樣式</a:t>
            </a:r>
          </a:p>
        </p:txBody>
      </p:sp>
      <p:sp>
        <p:nvSpPr>
          <p:cNvPr id="4" name="日期版面配置區 3">
            <a:extLst>
              <a:ext uri="{FF2B5EF4-FFF2-40B4-BE49-F238E27FC236}">
                <a16:creationId xmlns:a16="http://schemas.microsoft.com/office/drawing/2014/main" id="{7006FC20-C1D3-46B0-BF1E-03D546043D36}"/>
              </a:ext>
            </a:extLst>
          </p:cNvPr>
          <p:cNvSpPr>
            <a:spLocks noGrp="1"/>
          </p:cNvSpPr>
          <p:nvPr>
            <p:ph type="dt" sz="half" idx="10"/>
          </p:nvPr>
        </p:nvSpPr>
        <p:spPr/>
        <p:txBody>
          <a:bodyPr/>
          <a:lstStyle/>
          <a:p>
            <a:fld id="{16D42070-5DAD-4E7E-A6F8-25E560BC7BBC}" type="datetimeFigureOut">
              <a:rPr lang="zh-TW" altLang="en-US" smtClean="0"/>
              <a:t>2026/8/24</a:t>
            </a:fld>
            <a:endParaRPr lang="zh-TW" altLang="en-US"/>
          </a:p>
        </p:txBody>
      </p:sp>
      <p:sp>
        <p:nvSpPr>
          <p:cNvPr id="5" name="頁尾版面配置區 4">
            <a:extLst>
              <a:ext uri="{FF2B5EF4-FFF2-40B4-BE49-F238E27FC236}">
                <a16:creationId xmlns:a16="http://schemas.microsoft.com/office/drawing/2014/main" id="{C4F6D392-6F8A-4414-AA11-638326A9F37A}"/>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FE7B8EB7-22A4-447A-A525-998FA4AEC1F4}"/>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8157239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兩個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D732D765-AEAD-45D9-9508-FB7BE0E0289D}"/>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B12A380E-4D39-4CB1-A9B1-CAAAABD809C1}"/>
              </a:ext>
            </a:extLst>
          </p:cNvPr>
          <p:cNvSpPr>
            <a:spLocks noGrp="1"/>
          </p:cNvSpPr>
          <p:nvPr>
            <p:ph sz="half" idx="1"/>
          </p:nvPr>
        </p:nvSpPr>
        <p:spPr>
          <a:xfrm>
            <a:off x="838200" y="1825625"/>
            <a:ext cx="5181600" cy="4351338"/>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內容版面配置區 3">
            <a:extLst>
              <a:ext uri="{FF2B5EF4-FFF2-40B4-BE49-F238E27FC236}">
                <a16:creationId xmlns:a16="http://schemas.microsoft.com/office/drawing/2014/main" id="{E4303AA3-878B-45F8-A4E8-92FA10CD26BC}"/>
              </a:ext>
            </a:extLst>
          </p:cNvPr>
          <p:cNvSpPr>
            <a:spLocks noGrp="1"/>
          </p:cNvSpPr>
          <p:nvPr>
            <p:ph sz="half" idx="2"/>
          </p:nvPr>
        </p:nvSpPr>
        <p:spPr>
          <a:xfrm>
            <a:off x="6172200" y="1825625"/>
            <a:ext cx="5181600" cy="4351338"/>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5" name="日期版面配置區 4">
            <a:extLst>
              <a:ext uri="{FF2B5EF4-FFF2-40B4-BE49-F238E27FC236}">
                <a16:creationId xmlns:a16="http://schemas.microsoft.com/office/drawing/2014/main" id="{E9C1F139-09FB-4A94-AA83-54F2B93E6A60}"/>
              </a:ext>
            </a:extLst>
          </p:cNvPr>
          <p:cNvSpPr>
            <a:spLocks noGrp="1"/>
          </p:cNvSpPr>
          <p:nvPr>
            <p:ph type="dt" sz="half" idx="10"/>
          </p:nvPr>
        </p:nvSpPr>
        <p:spPr/>
        <p:txBody>
          <a:bodyPr/>
          <a:lstStyle/>
          <a:p>
            <a:fld id="{16D42070-5DAD-4E7E-A6F8-25E560BC7BBC}" type="datetimeFigureOut">
              <a:rPr lang="zh-TW" altLang="en-US" smtClean="0"/>
              <a:t>2026/8/24</a:t>
            </a:fld>
            <a:endParaRPr lang="zh-TW" altLang="en-US"/>
          </a:p>
        </p:txBody>
      </p:sp>
      <p:sp>
        <p:nvSpPr>
          <p:cNvPr id="6" name="頁尾版面配置區 5">
            <a:extLst>
              <a:ext uri="{FF2B5EF4-FFF2-40B4-BE49-F238E27FC236}">
                <a16:creationId xmlns:a16="http://schemas.microsoft.com/office/drawing/2014/main" id="{D42CB685-F91E-4E52-9043-88820ECAF738}"/>
              </a:ext>
            </a:extLst>
          </p:cNvPr>
          <p:cNvSpPr>
            <a:spLocks noGrp="1"/>
          </p:cNvSpPr>
          <p:nvPr>
            <p:ph type="ftr" sz="quarter" idx="11"/>
          </p:nvPr>
        </p:nvSpPr>
        <p:spPr/>
        <p:txBody>
          <a:bodyPr/>
          <a:lstStyle/>
          <a:p>
            <a:endParaRPr lang="zh-TW" altLang="en-US"/>
          </a:p>
        </p:txBody>
      </p:sp>
      <p:sp>
        <p:nvSpPr>
          <p:cNvPr id="7" name="投影片編號版面配置區 6">
            <a:extLst>
              <a:ext uri="{FF2B5EF4-FFF2-40B4-BE49-F238E27FC236}">
                <a16:creationId xmlns:a16="http://schemas.microsoft.com/office/drawing/2014/main" id="{5047ED7B-0BBB-48C6-8CBE-10F473361AD8}"/>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18634796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E328D6F7-2A01-404A-8E60-308B5B2DF66A}"/>
              </a:ext>
            </a:extLst>
          </p:cNvPr>
          <p:cNvSpPr>
            <a:spLocks noGrp="1"/>
          </p:cNvSpPr>
          <p:nvPr>
            <p:ph type="title"/>
          </p:nvPr>
        </p:nvSpPr>
        <p:spPr>
          <a:xfrm>
            <a:off x="839788" y="365125"/>
            <a:ext cx="10515600" cy="1325563"/>
          </a:xfrm>
        </p:spPr>
        <p:txBody>
          <a:bodyPr/>
          <a:lstStyle/>
          <a:p>
            <a:r>
              <a:rPr lang="zh-TW" altLang="en-US"/>
              <a:t>按一下以編輯母片標題樣式</a:t>
            </a:r>
          </a:p>
        </p:txBody>
      </p:sp>
      <p:sp>
        <p:nvSpPr>
          <p:cNvPr id="3" name="文字版面配置區 2">
            <a:extLst>
              <a:ext uri="{FF2B5EF4-FFF2-40B4-BE49-F238E27FC236}">
                <a16:creationId xmlns:a16="http://schemas.microsoft.com/office/drawing/2014/main" id="{F34BC229-0964-4EB2-A32F-3BE569B1158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p>
        </p:txBody>
      </p:sp>
      <p:sp>
        <p:nvSpPr>
          <p:cNvPr id="4" name="內容版面配置區 3">
            <a:extLst>
              <a:ext uri="{FF2B5EF4-FFF2-40B4-BE49-F238E27FC236}">
                <a16:creationId xmlns:a16="http://schemas.microsoft.com/office/drawing/2014/main" id="{FBDD00DB-A2AC-4093-9580-16DB7A5856B6}"/>
              </a:ext>
            </a:extLst>
          </p:cNvPr>
          <p:cNvSpPr>
            <a:spLocks noGrp="1"/>
          </p:cNvSpPr>
          <p:nvPr>
            <p:ph sz="half" idx="2"/>
          </p:nvPr>
        </p:nvSpPr>
        <p:spPr>
          <a:xfrm>
            <a:off x="839788" y="2505075"/>
            <a:ext cx="5157787" cy="3684588"/>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5" name="文字版面配置區 4">
            <a:extLst>
              <a:ext uri="{FF2B5EF4-FFF2-40B4-BE49-F238E27FC236}">
                <a16:creationId xmlns:a16="http://schemas.microsoft.com/office/drawing/2014/main" id="{D98E98D9-1B64-42E0-BF51-3948B6593DF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p>
        </p:txBody>
      </p:sp>
      <p:sp>
        <p:nvSpPr>
          <p:cNvPr id="6" name="內容版面配置區 5">
            <a:extLst>
              <a:ext uri="{FF2B5EF4-FFF2-40B4-BE49-F238E27FC236}">
                <a16:creationId xmlns:a16="http://schemas.microsoft.com/office/drawing/2014/main" id="{91B0C13F-E177-4192-B9A6-DEC49612F692}"/>
              </a:ext>
            </a:extLst>
          </p:cNvPr>
          <p:cNvSpPr>
            <a:spLocks noGrp="1"/>
          </p:cNvSpPr>
          <p:nvPr>
            <p:ph sz="quarter" idx="4"/>
          </p:nvPr>
        </p:nvSpPr>
        <p:spPr>
          <a:xfrm>
            <a:off x="6172200" y="2505075"/>
            <a:ext cx="5183188" cy="3684588"/>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7" name="日期版面配置區 6">
            <a:extLst>
              <a:ext uri="{FF2B5EF4-FFF2-40B4-BE49-F238E27FC236}">
                <a16:creationId xmlns:a16="http://schemas.microsoft.com/office/drawing/2014/main" id="{64F99ADD-F054-4E54-9158-162DB547028A}"/>
              </a:ext>
            </a:extLst>
          </p:cNvPr>
          <p:cNvSpPr>
            <a:spLocks noGrp="1"/>
          </p:cNvSpPr>
          <p:nvPr>
            <p:ph type="dt" sz="half" idx="10"/>
          </p:nvPr>
        </p:nvSpPr>
        <p:spPr/>
        <p:txBody>
          <a:bodyPr/>
          <a:lstStyle/>
          <a:p>
            <a:fld id="{16D42070-5DAD-4E7E-A6F8-25E560BC7BBC}" type="datetimeFigureOut">
              <a:rPr lang="zh-TW" altLang="en-US" smtClean="0"/>
              <a:t>2026/8/24</a:t>
            </a:fld>
            <a:endParaRPr lang="zh-TW" altLang="en-US"/>
          </a:p>
        </p:txBody>
      </p:sp>
      <p:sp>
        <p:nvSpPr>
          <p:cNvPr id="8" name="頁尾版面配置區 7">
            <a:extLst>
              <a:ext uri="{FF2B5EF4-FFF2-40B4-BE49-F238E27FC236}">
                <a16:creationId xmlns:a16="http://schemas.microsoft.com/office/drawing/2014/main" id="{56242129-DAAA-4FB1-8D26-7248AD72CF9B}"/>
              </a:ext>
            </a:extLst>
          </p:cNvPr>
          <p:cNvSpPr>
            <a:spLocks noGrp="1"/>
          </p:cNvSpPr>
          <p:nvPr>
            <p:ph type="ftr" sz="quarter" idx="11"/>
          </p:nvPr>
        </p:nvSpPr>
        <p:spPr/>
        <p:txBody>
          <a:bodyPr/>
          <a:lstStyle/>
          <a:p>
            <a:endParaRPr lang="zh-TW" altLang="en-US"/>
          </a:p>
        </p:txBody>
      </p:sp>
      <p:sp>
        <p:nvSpPr>
          <p:cNvPr id="9" name="投影片編號版面配置區 8">
            <a:extLst>
              <a:ext uri="{FF2B5EF4-FFF2-40B4-BE49-F238E27FC236}">
                <a16:creationId xmlns:a16="http://schemas.microsoft.com/office/drawing/2014/main" id="{FFDDDDE1-FD8E-4032-A6CC-B2F72DA857B5}"/>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12857083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E0A7E1C2-942A-47E2-9A00-0B52E276B5CF}"/>
              </a:ext>
            </a:extLst>
          </p:cNvPr>
          <p:cNvSpPr>
            <a:spLocks noGrp="1"/>
          </p:cNvSpPr>
          <p:nvPr>
            <p:ph type="title"/>
          </p:nvPr>
        </p:nvSpPr>
        <p:spPr/>
        <p:txBody>
          <a:bodyPr/>
          <a:lstStyle/>
          <a:p>
            <a:r>
              <a:rPr lang="zh-TW" altLang="en-US"/>
              <a:t>按一下以編輯母片標題樣式</a:t>
            </a:r>
          </a:p>
        </p:txBody>
      </p:sp>
      <p:sp>
        <p:nvSpPr>
          <p:cNvPr id="3" name="日期版面配置區 2">
            <a:extLst>
              <a:ext uri="{FF2B5EF4-FFF2-40B4-BE49-F238E27FC236}">
                <a16:creationId xmlns:a16="http://schemas.microsoft.com/office/drawing/2014/main" id="{1FEC29EA-2303-41C4-8179-5DF5AC137E66}"/>
              </a:ext>
            </a:extLst>
          </p:cNvPr>
          <p:cNvSpPr>
            <a:spLocks noGrp="1"/>
          </p:cNvSpPr>
          <p:nvPr>
            <p:ph type="dt" sz="half" idx="10"/>
          </p:nvPr>
        </p:nvSpPr>
        <p:spPr/>
        <p:txBody>
          <a:bodyPr/>
          <a:lstStyle/>
          <a:p>
            <a:fld id="{16D42070-5DAD-4E7E-A6F8-25E560BC7BBC}" type="datetimeFigureOut">
              <a:rPr lang="zh-TW" altLang="en-US" smtClean="0"/>
              <a:t>2026/8/24</a:t>
            </a:fld>
            <a:endParaRPr lang="zh-TW" altLang="en-US"/>
          </a:p>
        </p:txBody>
      </p:sp>
      <p:sp>
        <p:nvSpPr>
          <p:cNvPr id="4" name="頁尾版面配置區 3">
            <a:extLst>
              <a:ext uri="{FF2B5EF4-FFF2-40B4-BE49-F238E27FC236}">
                <a16:creationId xmlns:a16="http://schemas.microsoft.com/office/drawing/2014/main" id="{3A7E344C-546C-4B5B-948D-F248F196BFE4}"/>
              </a:ext>
            </a:extLst>
          </p:cNvPr>
          <p:cNvSpPr>
            <a:spLocks noGrp="1"/>
          </p:cNvSpPr>
          <p:nvPr>
            <p:ph type="ftr" sz="quarter" idx="11"/>
          </p:nvPr>
        </p:nvSpPr>
        <p:spPr/>
        <p:txBody>
          <a:bodyPr/>
          <a:lstStyle/>
          <a:p>
            <a:endParaRPr lang="zh-TW" altLang="en-US"/>
          </a:p>
        </p:txBody>
      </p:sp>
      <p:sp>
        <p:nvSpPr>
          <p:cNvPr id="5" name="投影片編號版面配置區 4">
            <a:extLst>
              <a:ext uri="{FF2B5EF4-FFF2-40B4-BE49-F238E27FC236}">
                <a16:creationId xmlns:a16="http://schemas.microsoft.com/office/drawing/2014/main" id="{BB0CE009-148B-41C4-9070-05067E45A9DE}"/>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12677846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版面配置區 1">
            <a:extLst>
              <a:ext uri="{FF2B5EF4-FFF2-40B4-BE49-F238E27FC236}">
                <a16:creationId xmlns:a16="http://schemas.microsoft.com/office/drawing/2014/main" id="{D54434E9-DB57-4C91-A8E8-AA7E4DE1E42C}"/>
              </a:ext>
            </a:extLst>
          </p:cNvPr>
          <p:cNvSpPr>
            <a:spLocks noGrp="1"/>
          </p:cNvSpPr>
          <p:nvPr>
            <p:ph type="dt" sz="half" idx="10"/>
          </p:nvPr>
        </p:nvSpPr>
        <p:spPr/>
        <p:txBody>
          <a:bodyPr/>
          <a:lstStyle/>
          <a:p>
            <a:fld id="{16D42070-5DAD-4E7E-A6F8-25E560BC7BBC}" type="datetimeFigureOut">
              <a:rPr lang="zh-TW" altLang="en-US" smtClean="0"/>
              <a:t>2026/8/24</a:t>
            </a:fld>
            <a:endParaRPr lang="zh-TW" altLang="en-US"/>
          </a:p>
        </p:txBody>
      </p:sp>
      <p:sp>
        <p:nvSpPr>
          <p:cNvPr id="3" name="頁尾版面配置區 2">
            <a:extLst>
              <a:ext uri="{FF2B5EF4-FFF2-40B4-BE49-F238E27FC236}">
                <a16:creationId xmlns:a16="http://schemas.microsoft.com/office/drawing/2014/main" id="{43CBD5B2-A875-4997-957A-2CACB4E8187F}"/>
              </a:ext>
            </a:extLst>
          </p:cNvPr>
          <p:cNvSpPr>
            <a:spLocks noGrp="1"/>
          </p:cNvSpPr>
          <p:nvPr>
            <p:ph type="ftr" sz="quarter" idx="11"/>
          </p:nvPr>
        </p:nvSpPr>
        <p:spPr/>
        <p:txBody>
          <a:bodyPr/>
          <a:lstStyle/>
          <a:p>
            <a:endParaRPr lang="zh-TW" altLang="en-US"/>
          </a:p>
        </p:txBody>
      </p:sp>
      <p:sp>
        <p:nvSpPr>
          <p:cNvPr id="4" name="投影片編號版面配置區 3">
            <a:extLst>
              <a:ext uri="{FF2B5EF4-FFF2-40B4-BE49-F238E27FC236}">
                <a16:creationId xmlns:a16="http://schemas.microsoft.com/office/drawing/2014/main" id="{1DAE9AF9-98E2-49BC-890E-C4901C5C96D7}"/>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29844740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含輔助字幕的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37F9702-2F89-4C07-A091-A864CF9277AB}"/>
              </a:ext>
            </a:extLst>
          </p:cNvPr>
          <p:cNvSpPr>
            <a:spLocks noGrp="1"/>
          </p:cNvSpPr>
          <p:nvPr>
            <p:ph type="title"/>
          </p:nvPr>
        </p:nvSpPr>
        <p:spPr>
          <a:xfrm>
            <a:off x="839788" y="457200"/>
            <a:ext cx="3932237" cy="1600200"/>
          </a:xfrm>
        </p:spPr>
        <p:txBody>
          <a:bodyPr anchor="b"/>
          <a:lstStyle>
            <a:lvl1pPr>
              <a:defRPr sz="3200"/>
            </a:lvl1pPr>
          </a:lstStyle>
          <a:p>
            <a:r>
              <a:rPr lang="zh-TW" altLang="en-US"/>
              <a:t>按一下以編輯母片標題樣式</a:t>
            </a:r>
          </a:p>
        </p:txBody>
      </p:sp>
      <p:sp>
        <p:nvSpPr>
          <p:cNvPr id="3" name="內容版面配置區 2">
            <a:extLst>
              <a:ext uri="{FF2B5EF4-FFF2-40B4-BE49-F238E27FC236}">
                <a16:creationId xmlns:a16="http://schemas.microsoft.com/office/drawing/2014/main" id="{6B9A033B-67CA-4692-9F96-92929D8AB91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文字版面配置區 3">
            <a:extLst>
              <a:ext uri="{FF2B5EF4-FFF2-40B4-BE49-F238E27FC236}">
                <a16:creationId xmlns:a16="http://schemas.microsoft.com/office/drawing/2014/main" id="{02A61FCE-0216-475F-8DCF-C058715F47F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a:t>按一下以編輯母片文字樣式</a:t>
            </a:r>
          </a:p>
        </p:txBody>
      </p:sp>
      <p:sp>
        <p:nvSpPr>
          <p:cNvPr id="5" name="日期版面配置區 4">
            <a:extLst>
              <a:ext uri="{FF2B5EF4-FFF2-40B4-BE49-F238E27FC236}">
                <a16:creationId xmlns:a16="http://schemas.microsoft.com/office/drawing/2014/main" id="{87370C5D-745A-4EAE-A151-2541003A35B9}"/>
              </a:ext>
            </a:extLst>
          </p:cNvPr>
          <p:cNvSpPr>
            <a:spLocks noGrp="1"/>
          </p:cNvSpPr>
          <p:nvPr>
            <p:ph type="dt" sz="half" idx="10"/>
          </p:nvPr>
        </p:nvSpPr>
        <p:spPr/>
        <p:txBody>
          <a:bodyPr/>
          <a:lstStyle/>
          <a:p>
            <a:fld id="{16D42070-5DAD-4E7E-A6F8-25E560BC7BBC}" type="datetimeFigureOut">
              <a:rPr lang="zh-TW" altLang="en-US" smtClean="0"/>
              <a:t>2026/8/24</a:t>
            </a:fld>
            <a:endParaRPr lang="zh-TW" altLang="en-US"/>
          </a:p>
        </p:txBody>
      </p:sp>
      <p:sp>
        <p:nvSpPr>
          <p:cNvPr id="6" name="頁尾版面配置區 5">
            <a:extLst>
              <a:ext uri="{FF2B5EF4-FFF2-40B4-BE49-F238E27FC236}">
                <a16:creationId xmlns:a16="http://schemas.microsoft.com/office/drawing/2014/main" id="{706460B0-32D4-4AFB-8A7E-846482505E3F}"/>
              </a:ext>
            </a:extLst>
          </p:cNvPr>
          <p:cNvSpPr>
            <a:spLocks noGrp="1"/>
          </p:cNvSpPr>
          <p:nvPr>
            <p:ph type="ftr" sz="quarter" idx="11"/>
          </p:nvPr>
        </p:nvSpPr>
        <p:spPr/>
        <p:txBody>
          <a:bodyPr/>
          <a:lstStyle/>
          <a:p>
            <a:endParaRPr lang="zh-TW" altLang="en-US"/>
          </a:p>
        </p:txBody>
      </p:sp>
      <p:sp>
        <p:nvSpPr>
          <p:cNvPr id="7" name="投影片編號版面配置區 6">
            <a:extLst>
              <a:ext uri="{FF2B5EF4-FFF2-40B4-BE49-F238E27FC236}">
                <a16:creationId xmlns:a16="http://schemas.microsoft.com/office/drawing/2014/main" id="{0AD132A3-0D89-4417-A7DF-5A8A018E485A}"/>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5177295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含輔助字幕的圖片">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BAC5306D-49B1-4801-B5D5-82BBCC509CAB}"/>
              </a:ext>
            </a:extLst>
          </p:cNvPr>
          <p:cNvSpPr>
            <a:spLocks noGrp="1"/>
          </p:cNvSpPr>
          <p:nvPr>
            <p:ph type="title"/>
          </p:nvPr>
        </p:nvSpPr>
        <p:spPr>
          <a:xfrm>
            <a:off x="839788" y="457200"/>
            <a:ext cx="3932237" cy="1600200"/>
          </a:xfrm>
        </p:spPr>
        <p:txBody>
          <a:bodyPr anchor="b"/>
          <a:lstStyle>
            <a:lvl1pPr>
              <a:defRPr sz="3200"/>
            </a:lvl1pPr>
          </a:lstStyle>
          <a:p>
            <a:r>
              <a:rPr lang="zh-TW" altLang="en-US"/>
              <a:t>按一下以編輯母片標題樣式</a:t>
            </a:r>
          </a:p>
        </p:txBody>
      </p:sp>
      <p:sp>
        <p:nvSpPr>
          <p:cNvPr id="3" name="圖片版面配置區 2">
            <a:extLst>
              <a:ext uri="{FF2B5EF4-FFF2-40B4-BE49-F238E27FC236}">
                <a16:creationId xmlns:a16="http://schemas.microsoft.com/office/drawing/2014/main" id="{E5F20369-2E94-4C2E-B0A1-93ADA101D8E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TW" altLang="en-US"/>
          </a:p>
        </p:txBody>
      </p:sp>
      <p:sp>
        <p:nvSpPr>
          <p:cNvPr id="4" name="文字版面配置區 3">
            <a:extLst>
              <a:ext uri="{FF2B5EF4-FFF2-40B4-BE49-F238E27FC236}">
                <a16:creationId xmlns:a16="http://schemas.microsoft.com/office/drawing/2014/main" id="{CAC760FC-4E62-42A9-8056-6EE8249B710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a:t>按一下以編輯母片文字樣式</a:t>
            </a:r>
          </a:p>
        </p:txBody>
      </p:sp>
      <p:sp>
        <p:nvSpPr>
          <p:cNvPr id="5" name="日期版面配置區 4">
            <a:extLst>
              <a:ext uri="{FF2B5EF4-FFF2-40B4-BE49-F238E27FC236}">
                <a16:creationId xmlns:a16="http://schemas.microsoft.com/office/drawing/2014/main" id="{05BD4D67-FBFA-40B4-9C57-519B88B3EC42}"/>
              </a:ext>
            </a:extLst>
          </p:cNvPr>
          <p:cNvSpPr>
            <a:spLocks noGrp="1"/>
          </p:cNvSpPr>
          <p:nvPr>
            <p:ph type="dt" sz="half" idx="10"/>
          </p:nvPr>
        </p:nvSpPr>
        <p:spPr/>
        <p:txBody>
          <a:bodyPr/>
          <a:lstStyle/>
          <a:p>
            <a:fld id="{16D42070-5DAD-4E7E-A6F8-25E560BC7BBC}" type="datetimeFigureOut">
              <a:rPr lang="zh-TW" altLang="en-US" smtClean="0"/>
              <a:t>2026/8/24</a:t>
            </a:fld>
            <a:endParaRPr lang="zh-TW" altLang="en-US"/>
          </a:p>
        </p:txBody>
      </p:sp>
      <p:sp>
        <p:nvSpPr>
          <p:cNvPr id="6" name="頁尾版面配置區 5">
            <a:extLst>
              <a:ext uri="{FF2B5EF4-FFF2-40B4-BE49-F238E27FC236}">
                <a16:creationId xmlns:a16="http://schemas.microsoft.com/office/drawing/2014/main" id="{28A5B214-3FE3-41C8-BAAF-7E87C796FFF3}"/>
              </a:ext>
            </a:extLst>
          </p:cNvPr>
          <p:cNvSpPr>
            <a:spLocks noGrp="1"/>
          </p:cNvSpPr>
          <p:nvPr>
            <p:ph type="ftr" sz="quarter" idx="11"/>
          </p:nvPr>
        </p:nvSpPr>
        <p:spPr/>
        <p:txBody>
          <a:bodyPr/>
          <a:lstStyle/>
          <a:p>
            <a:endParaRPr lang="zh-TW" altLang="en-US"/>
          </a:p>
        </p:txBody>
      </p:sp>
      <p:sp>
        <p:nvSpPr>
          <p:cNvPr id="7" name="投影片編號版面配置區 6">
            <a:extLst>
              <a:ext uri="{FF2B5EF4-FFF2-40B4-BE49-F238E27FC236}">
                <a16:creationId xmlns:a16="http://schemas.microsoft.com/office/drawing/2014/main" id="{34F60CC2-E109-4719-875D-510BAD1DAF71}"/>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26151998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7658099F-549D-41D0-8656-FC0BCFF0AC8B}"/>
              </a:ext>
            </a:extLst>
          </p:cNvPr>
          <p:cNvSpPr>
            <a:spLocks noGrp="1"/>
          </p:cNvSpPr>
          <p:nvPr>
            <p:ph type="title"/>
          </p:nvPr>
        </p:nvSpPr>
        <p:spPr/>
        <p:txBody>
          <a:bodyPr/>
          <a:lstStyle/>
          <a:p>
            <a:r>
              <a:rPr lang="zh-TW" altLang="en-US"/>
              <a:t>按一下以編輯母片標題樣式</a:t>
            </a:r>
          </a:p>
        </p:txBody>
      </p:sp>
      <p:sp>
        <p:nvSpPr>
          <p:cNvPr id="3" name="直排文字版面配置區 2">
            <a:extLst>
              <a:ext uri="{FF2B5EF4-FFF2-40B4-BE49-F238E27FC236}">
                <a16:creationId xmlns:a16="http://schemas.microsoft.com/office/drawing/2014/main" id="{9A026EBC-D2D7-4484-A574-A0FDADFD83EC}"/>
              </a:ext>
            </a:extLst>
          </p:cNvPr>
          <p:cNvSpPr>
            <a:spLocks noGrp="1"/>
          </p:cNvSpPr>
          <p:nvPr>
            <p:ph type="body" orient="vert" idx="1"/>
          </p:nvPr>
        </p:nvSpPr>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E955BDF0-F4E3-4A78-AC21-5996C7877466}"/>
              </a:ext>
            </a:extLst>
          </p:cNvPr>
          <p:cNvSpPr>
            <a:spLocks noGrp="1"/>
          </p:cNvSpPr>
          <p:nvPr>
            <p:ph type="dt" sz="half" idx="10"/>
          </p:nvPr>
        </p:nvSpPr>
        <p:spPr/>
        <p:txBody>
          <a:bodyPr/>
          <a:lstStyle/>
          <a:p>
            <a:fld id="{16D42070-5DAD-4E7E-A6F8-25E560BC7BBC}" type="datetimeFigureOut">
              <a:rPr lang="zh-TW" altLang="en-US" smtClean="0"/>
              <a:t>2026/8/24</a:t>
            </a:fld>
            <a:endParaRPr lang="zh-TW" altLang="en-US"/>
          </a:p>
        </p:txBody>
      </p:sp>
      <p:sp>
        <p:nvSpPr>
          <p:cNvPr id="5" name="頁尾版面配置區 4">
            <a:extLst>
              <a:ext uri="{FF2B5EF4-FFF2-40B4-BE49-F238E27FC236}">
                <a16:creationId xmlns:a16="http://schemas.microsoft.com/office/drawing/2014/main" id="{77A58278-9C37-44E9-A992-05A40C4C24BF}"/>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FEF221A9-3DF2-4243-8312-6B441A40B45B}"/>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6398975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直排標題及文字">
    <p:spTree>
      <p:nvGrpSpPr>
        <p:cNvPr id="1" name=""/>
        <p:cNvGrpSpPr/>
        <p:nvPr/>
      </p:nvGrpSpPr>
      <p:grpSpPr>
        <a:xfrm>
          <a:off x="0" y="0"/>
          <a:ext cx="0" cy="0"/>
          <a:chOff x="0" y="0"/>
          <a:chExt cx="0" cy="0"/>
        </a:xfrm>
      </p:grpSpPr>
      <p:sp>
        <p:nvSpPr>
          <p:cNvPr id="2" name="直排標題 1">
            <a:extLst>
              <a:ext uri="{FF2B5EF4-FFF2-40B4-BE49-F238E27FC236}">
                <a16:creationId xmlns:a16="http://schemas.microsoft.com/office/drawing/2014/main" id="{D407E2F2-53D7-4D47-8536-D902F65329D3}"/>
              </a:ext>
            </a:extLst>
          </p:cNvPr>
          <p:cNvSpPr>
            <a:spLocks noGrp="1"/>
          </p:cNvSpPr>
          <p:nvPr>
            <p:ph type="title" orient="vert"/>
          </p:nvPr>
        </p:nvSpPr>
        <p:spPr>
          <a:xfrm>
            <a:off x="8724900" y="365125"/>
            <a:ext cx="2628900" cy="5811838"/>
          </a:xfrm>
        </p:spPr>
        <p:txBody>
          <a:bodyPr vert="eaVert"/>
          <a:lstStyle/>
          <a:p>
            <a:r>
              <a:rPr lang="zh-TW" altLang="en-US"/>
              <a:t>按一下以編輯母片標題樣式</a:t>
            </a:r>
          </a:p>
        </p:txBody>
      </p:sp>
      <p:sp>
        <p:nvSpPr>
          <p:cNvPr id="3" name="直排文字版面配置區 2">
            <a:extLst>
              <a:ext uri="{FF2B5EF4-FFF2-40B4-BE49-F238E27FC236}">
                <a16:creationId xmlns:a16="http://schemas.microsoft.com/office/drawing/2014/main" id="{AEB11135-92E3-4798-9365-99DC4319D221}"/>
              </a:ext>
            </a:extLst>
          </p:cNvPr>
          <p:cNvSpPr>
            <a:spLocks noGrp="1"/>
          </p:cNvSpPr>
          <p:nvPr>
            <p:ph type="body" orient="vert" idx="1"/>
          </p:nvPr>
        </p:nvSpPr>
        <p:spPr>
          <a:xfrm>
            <a:off x="838200" y="365125"/>
            <a:ext cx="7734300" cy="5811838"/>
          </a:xfrm>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55D66D9F-EC40-4B77-81BD-B3B6ACD4C9DF}"/>
              </a:ext>
            </a:extLst>
          </p:cNvPr>
          <p:cNvSpPr>
            <a:spLocks noGrp="1"/>
          </p:cNvSpPr>
          <p:nvPr>
            <p:ph type="dt" sz="half" idx="10"/>
          </p:nvPr>
        </p:nvSpPr>
        <p:spPr/>
        <p:txBody>
          <a:bodyPr/>
          <a:lstStyle/>
          <a:p>
            <a:fld id="{16D42070-5DAD-4E7E-A6F8-25E560BC7BBC}" type="datetimeFigureOut">
              <a:rPr lang="zh-TW" altLang="en-US" smtClean="0"/>
              <a:t>2026/8/24</a:t>
            </a:fld>
            <a:endParaRPr lang="zh-TW" altLang="en-US"/>
          </a:p>
        </p:txBody>
      </p:sp>
      <p:sp>
        <p:nvSpPr>
          <p:cNvPr id="5" name="頁尾版面配置區 4">
            <a:extLst>
              <a:ext uri="{FF2B5EF4-FFF2-40B4-BE49-F238E27FC236}">
                <a16:creationId xmlns:a16="http://schemas.microsoft.com/office/drawing/2014/main" id="{328EDF41-8BB7-4F4D-866E-39DEF3CE579A}"/>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2A909E83-6E85-417E-A5C0-394F0D780B89}"/>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33666469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標題版面配置區 1">
            <a:extLst>
              <a:ext uri="{FF2B5EF4-FFF2-40B4-BE49-F238E27FC236}">
                <a16:creationId xmlns:a16="http://schemas.microsoft.com/office/drawing/2014/main" id="{4809FC75-802D-4B19-AFA4-8A8D60B43C9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TW" altLang="en-US"/>
              <a:t>按一下以編輯母片標題樣式</a:t>
            </a:r>
          </a:p>
        </p:txBody>
      </p:sp>
      <p:sp>
        <p:nvSpPr>
          <p:cNvPr id="3" name="文字版面配置區 2">
            <a:extLst>
              <a:ext uri="{FF2B5EF4-FFF2-40B4-BE49-F238E27FC236}">
                <a16:creationId xmlns:a16="http://schemas.microsoft.com/office/drawing/2014/main" id="{3EE7658D-1874-4965-86A1-F9DC152E33E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16D7FBAA-F52E-4E99-ABAC-AD4E8AA23C1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6D42070-5DAD-4E7E-A6F8-25E560BC7BBC}" type="datetimeFigureOut">
              <a:rPr lang="zh-TW" altLang="en-US" smtClean="0"/>
              <a:t>2026/8/24</a:t>
            </a:fld>
            <a:endParaRPr lang="zh-TW" altLang="en-US"/>
          </a:p>
        </p:txBody>
      </p:sp>
      <p:sp>
        <p:nvSpPr>
          <p:cNvPr id="5" name="頁尾版面配置區 4">
            <a:extLst>
              <a:ext uri="{FF2B5EF4-FFF2-40B4-BE49-F238E27FC236}">
                <a16:creationId xmlns:a16="http://schemas.microsoft.com/office/drawing/2014/main" id="{E5AA8CD1-761B-436C-81CD-04B671C3147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TW" altLang="en-US"/>
          </a:p>
        </p:txBody>
      </p:sp>
      <p:sp>
        <p:nvSpPr>
          <p:cNvPr id="6" name="投影片編號版面配置區 5">
            <a:extLst>
              <a:ext uri="{FF2B5EF4-FFF2-40B4-BE49-F238E27FC236}">
                <a16:creationId xmlns:a16="http://schemas.microsoft.com/office/drawing/2014/main" id="{247BE989-E3A2-4C5A-A4B2-D5729A6C57B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123467099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openxmlformats.org/officeDocument/2006/relationships/image" Target="../media/image7.png"/><Relationship Id="rId7" Type="http://schemas.openxmlformats.org/officeDocument/2006/relationships/image" Target="../media/image610.png"/><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10.png"/><Relationship Id="rId10" Type="http://schemas.openxmlformats.org/officeDocument/2006/relationships/image" Target="../media/image9.png"/><Relationship Id="rId9" Type="http://schemas.openxmlformats.org/officeDocument/2006/relationships/image" Target="../media/image8.png"/></Relationships>
</file>

<file path=ppt/slides/_rels/slide5.xml.rels><?xml version="1.0" encoding="UTF-8" standalone="yes"?>
<Relationships xmlns="http://schemas.openxmlformats.org/package/2006/relationships"><Relationship Id="rId13" Type="http://schemas.openxmlformats.org/officeDocument/2006/relationships/image" Target="../media/image13.png"/><Relationship Id="rId12" Type="http://schemas.openxmlformats.org/officeDocument/2006/relationships/image" Target="../media/image12.png"/><Relationship Id="rId2" Type="http://schemas.openxmlformats.org/officeDocument/2006/relationships/image" Target="../media/image151.png"/><Relationship Id="rId16" Type="http://schemas.openxmlformats.org/officeDocument/2006/relationships/image" Target="../media/image16.png"/><Relationship Id="rId1" Type="http://schemas.openxmlformats.org/officeDocument/2006/relationships/slideLayout" Target="../slideLayouts/slideLayout2.xml"/><Relationship Id="rId11" Type="http://schemas.openxmlformats.org/officeDocument/2006/relationships/image" Target="../media/image11.png"/><Relationship Id="rId15" Type="http://schemas.openxmlformats.org/officeDocument/2006/relationships/image" Target="../media/image15.png"/><Relationship Id="rId10" Type="http://schemas.openxmlformats.org/officeDocument/2006/relationships/image" Target="../media/image10.png"/><Relationship Id="rId9" Type="http://schemas.openxmlformats.org/officeDocument/2006/relationships/image" Target="../media/image37.png"/><Relationship Id="rId14" Type="http://schemas.openxmlformats.org/officeDocument/2006/relationships/image" Target="../media/image14.png"/></Relationships>
</file>

<file path=ppt/slides/_rels/slide6.xml.rels><?xml version="1.0" encoding="UTF-8" standalone="yes"?>
<Relationships xmlns="http://schemas.openxmlformats.org/package/2006/relationships"><Relationship Id="rId3" Type="http://schemas.openxmlformats.org/officeDocument/2006/relationships/image" Target="../media/image18.png"/><Relationship Id="rId7" Type="http://schemas.openxmlformats.org/officeDocument/2006/relationships/image" Target="../media/image141.png"/><Relationship Id="rId2" Type="http://schemas.openxmlformats.org/officeDocument/2006/relationships/image" Target="../media/image17.png"/><Relationship Id="rId1" Type="http://schemas.openxmlformats.org/officeDocument/2006/relationships/slideLayout" Target="../slideLayouts/slideLayout2.xml"/><Relationship Id="rId6" Type="http://schemas.openxmlformats.org/officeDocument/2006/relationships/image" Target="../media/image130.png"/><Relationship Id="rId5" Type="http://schemas.openxmlformats.org/officeDocument/2006/relationships/image" Target="../media/image120.png"/><Relationship Id="rId4" Type="http://schemas.openxmlformats.org/officeDocument/2006/relationships/image" Target="../media/image111.png"/></Relationships>
</file>

<file path=ppt/slides/_rels/slide7.xml.rels><?xml version="1.0" encoding="UTF-8" standalone="yes"?>
<Relationships xmlns="http://schemas.openxmlformats.org/package/2006/relationships"><Relationship Id="rId3" Type="http://schemas.openxmlformats.org/officeDocument/2006/relationships/image" Target="../media/image190.png"/><Relationship Id="rId2" Type="http://schemas.openxmlformats.org/officeDocument/2006/relationships/image" Target="../media/image19.png"/><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40.png"/><Relationship Id="rId1" Type="http://schemas.openxmlformats.org/officeDocument/2006/relationships/slideLayout" Target="../slideLayouts/slideLayout2.xml"/><Relationship Id="rId6" Type="http://schemas.openxmlformats.org/officeDocument/2006/relationships/image" Target="../media/image23.png"/><Relationship Id="rId5" Type="http://schemas.openxmlformats.org/officeDocument/2006/relationships/image" Target="../media/image32.png"/><Relationship Id="rId4" Type="http://schemas.openxmlformats.org/officeDocument/2006/relationships/image" Target="../media/image22.png"/></Relationships>
</file>

<file path=ppt/slides/_rels/slide9.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5.png"/><Relationship Id="rId7" Type="http://schemas.openxmlformats.org/officeDocument/2006/relationships/image" Target="../media/image29.png"/><Relationship Id="rId2" Type="http://schemas.openxmlformats.org/officeDocument/2006/relationships/image" Target="../media/image24.png"/><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27.png"/><Relationship Id="rId10" Type="http://schemas.openxmlformats.org/officeDocument/2006/relationships/image" Target="../media/image33.png"/><Relationship Id="rId4" Type="http://schemas.openxmlformats.org/officeDocument/2006/relationships/image" Target="../media/image26.png"/><Relationship Id="rId9" Type="http://schemas.openxmlformats.org/officeDocument/2006/relationships/image" Target="../media/image31.png"/></Relationships>
</file>

<file path=ppt/slides/_rels/slide10.xml.rels><?xml version="1.0" encoding="UTF-8" standalone="yes"?>
<Relationships xmlns="http://schemas.openxmlformats.org/package/2006/relationships"><Relationship Id="rId8" Type="http://schemas.openxmlformats.org/officeDocument/2006/relationships/image" Target="../media/image240.png"/><Relationship Id="rId3" Type="http://schemas.openxmlformats.org/officeDocument/2006/relationships/image" Target="../media/image34.png"/><Relationship Id="rId7" Type="http://schemas.openxmlformats.org/officeDocument/2006/relationships/image" Target="../media/image230.png"/><Relationship Id="rId2" Type="http://schemas.openxmlformats.org/officeDocument/2006/relationships/image" Target="../media/image140.png"/><Relationship Id="rId1" Type="http://schemas.openxmlformats.org/officeDocument/2006/relationships/slideLayout" Target="../slideLayouts/slideLayout2.xml"/><Relationship Id="rId6" Type="http://schemas.openxmlformats.org/officeDocument/2006/relationships/image" Target="../media/image220.png"/><Relationship Id="rId11" Type="http://schemas.openxmlformats.org/officeDocument/2006/relationships/image" Target="../media/image270.png"/><Relationship Id="rId5" Type="http://schemas.openxmlformats.org/officeDocument/2006/relationships/image" Target="../media/image210.png"/><Relationship Id="rId10" Type="http://schemas.openxmlformats.org/officeDocument/2006/relationships/image" Target="../media/image260.png"/><Relationship Id="rId4" Type="http://schemas.openxmlformats.org/officeDocument/2006/relationships/image" Target="../media/image200.png"/><Relationship Id="rId9" Type="http://schemas.openxmlformats.org/officeDocument/2006/relationships/image" Target="../media/image250.png"/></Relationships>
</file>

<file path=ppt/slides/_rels/slide11.xml.rels><?xml version="1.0" encoding="UTF-8" standalone="yes"?>
<Relationships xmlns="http://schemas.openxmlformats.org/package/2006/relationships"><Relationship Id="rId3" Type="http://schemas.openxmlformats.org/officeDocument/2006/relationships/image" Target="../media/image300.png"/><Relationship Id="rId2" Type="http://schemas.openxmlformats.org/officeDocument/2006/relationships/image" Target="../media/image35.png"/><Relationship Id="rId1" Type="http://schemas.openxmlformats.org/officeDocument/2006/relationships/slideLayout" Target="../slideLayouts/slideLayout2.xml"/><Relationship Id="rId5" Type="http://schemas.openxmlformats.org/officeDocument/2006/relationships/image" Target="../media/image320.png"/><Relationship Id="rId4" Type="http://schemas.openxmlformats.org/officeDocument/2006/relationships/image" Target="../media/image311.png"/></Relationships>
</file>

<file path=ppt/slides/_rels/slide1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3" Type="http://schemas.openxmlformats.org/officeDocument/2006/relationships/image" Target="../media/image50.png"/><Relationship Id="rId18" Type="http://schemas.openxmlformats.org/officeDocument/2006/relationships/image" Target="../media/image57.png"/><Relationship Id="rId26" Type="http://schemas.openxmlformats.org/officeDocument/2006/relationships/image" Target="../media/image411.png"/><Relationship Id="rId21" Type="http://schemas.openxmlformats.org/officeDocument/2006/relationships/image" Target="../media/image350.png"/><Relationship Id="rId12" Type="http://schemas.openxmlformats.org/officeDocument/2006/relationships/image" Target="../media/image49.png"/><Relationship Id="rId17" Type="http://schemas.openxmlformats.org/officeDocument/2006/relationships/image" Target="../media/image56.png"/><Relationship Id="rId25" Type="http://schemas.openxmlformats.org/officeDocument/2006/relationships/image" Target="../media/image400.png"/><Relationship Id="rId2" Type="http://schemas.openxmlformats.org/officeDocument/2006/relationships/image" Target="../media/image40.png"/><Relationship Id="rId16" Type="http://schemas.openxmlformats.org/officeDocument/2006/relationships/image" Target="../media/image41.png"/><Relationship Id="rId20" Type="http://schemas.openxmlformats.org/officeDocument/2006/relationships/image" Target="../media/image59.png"/><Relationship Id="rId29" Type="http://schemas.openxmlformats.org/officeDocument/2006/relationships/image" Target="../media/image44.png"/><Relationship Id="rId1" Type="http://schemas.openxmlformats.org/officeDocument/2006/relationships/slideLayout" Target="../slideLayouts/slideLayout2.xml"/><Relationship Id="rId24" Type="http://schemas.openxmlformats.org/officeDocument/2006/relationships/image" Target="../media/image42.png"/><Relationship Id="rId15" Type="http://schemas.openxmlformats.org/officeDocument/2006/relationships/image" Target="../media/image52.png"/><Relationship Id="rId23" Type="http://schemas.openxmlformats.org/officeDocument/2006/relationships/image" Target="../media/image380.png"/><Relationship Id="rId28" Type="http://schemas.openxmlformats.org/officeDocument/2006/relationships/image" Target="../media/image430.png"/><Relationship Id="rId19" Type="http://schemas.openxmlformats.org/officeDocument/2006/relationships/image" Target="../media/image58.png"/><Relationship Id="rId14" Type="http://schemas.openxmlformats.org/officeDocument/2006/relationships/image" Target="../media/image51.png"/><Relationship Id="rId22" Type="http://schemas.openxmlformats.org/officeDocument/2006/relationships/image" Target="../media/image360.png"/><Relationship Id="rId27" Type="http://schemas.openxmlformats.org/officeDocument/2006/relationships/image" Target="../media/image43.png"/></Relationships>
</file>

<file path=ppt/slides/_rels/slide15.xml.rels><?xml version="1.0" encoding="UTF-8" standalone="yes"?>
<Relationships xmlns="http://schemas.openxmlformats.org/package/2006/relationships"><Relationship Id="rId13" Type="http://schemas.openxmlformats.org/officeDocument/2006/relationships/image" Target="../media/image68.png"/><Relationship Id="rId18" Type="http://schemas.openxmlformats.org/officeDocument/2006/relationships/image" Target="../media/image73.png"/><Relationship Id="rId26" Type="http://schemas.openxmlformats.org/officeDocument/2006/relationships/image" Target="../media/image44.png"/><Relationship Id="rId21" Type="http://schemas.openxmlformats.org/officeDocument/2006/relationships/image" Target="../media/image460.png"/><Relationship Id="rId12" Type="http://schemas.openxmlformats.org/officeDocument/2006/relationships/image" Target="../media/image67.png"/><Relationship Id="rId17" Type="http://schemas.openxmlformats.org/officeDocument/2006/relationships/image" Target="../media/image72.png"/><Relationship Id="rId25" Type="http://schemas.openxmlformats.org/officeDocument/2006/relationships/image" Target="../media/image53.png"/><Relationship Id="rId2" Type="http://schemas.openxmlformats.org/officeDocument/2006/relationships/image" Target="../media/image45.png"/><Relationship Id="rId16" Type="http://schemas.openxmlformats.org/officeDocument/2006/relationships/image" Target="../media/image46.png"/><Relationship Id="rId20" Type="http://schemas.openxmlformats.org/officeDocument/2006/relationships/image" Target="../media/image75.png"/><Relationship Id="rId29" Type="http://schemas.openxmlformats.org/officeDocument/2006/relationships/image" Target="../media/image54.png"/><Relationship Id="rId1" Type="http://schemas.openxmlformats.org/officeDocument/2006/relationships/slideLayout" Target="../slideLayouts/slideLayout2.xml"/><Relationship Id="rId24" Type="http://schemas.openxmlformats.org/officeDocument/2006/relationships/image" Target="../media/image390.png"/><Relationship Id="rId15" Type="http://schemas.openxmlformats.org/officeDocument/2006/relationships/image" Target="../media/image70.png"/><Relationship Id="rId23" Type="http://schemas.openxmlformats.org/officeDocument/2006/relationships/image" Target="../media/image48.png"/><Relationship Id="rId28" Type="http://schemas.openxmlformats.org/officeDocument/2006/relationships/image" Target="../media/image55.png"/><Relationship Id="rId19" Type="http://schemas.openxmlformats.org/officeDocument/2006/relationships/image" Target="../media/image74.png"/><Relationship Id="rId14" Type="http://schemas.openxmlformats.org/officeDocument/2006/relationships/image" Target="../media/image69.png"/><Relationship Id="rId22" Type="http://schemas.openxmlformats.org/officeDocument/2006/relationships/image" Target="../media/image47.png"/><Relationship Id="rId27" Type="http://schemas.openxmlformats.org/officeDocument/2006/relationships/image" Target="../media/image410.png"/></Relationships>
</file>

<file path=ppt/slides/_rels/slide16.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8" Type="http://schemas.openxmlformats.org/officeDocument/2006/relationships/image" Target="../media/image76.png"/><Relationship Id="rId13" Type="http://schemas.openxmlformats.org/officeDocument/2006/relationships/image" Target="../media/image66.png"/><Relationship Id="rId3" Type="http://schemas.openxmlformats.org/officeDocument/2006/relationships/image" Target="../media/image63.png"/><Relationship Id="rId12" Type="http://schemas.openxmlformats.org/officeDocument/2006/relationships/image" Target="../media/image65.png"/><Relationship Id="rId2" Type="http://schemas.openxmlformats.org/officeDocument/2006/relationships/image" Target="../media/image62.png"/><Relationship Id="rId1" Type="http://schemas.openxmlformats.org/officeDocument/2006/relationships/slideLayout" Target="../slideLayouts/slideLayout2.xml"/><Relationship Id="rId11" Type="http://schemas.openxmlformats.org/officeDocument/2006/relationships/image" Target="../media/image64.png"/><Relationship Id="rId15" Type="http://schemas.openxmlformats.org/officeDocument/2006/relationships/image" Target="../media/image83.png"/><Relationship Id="rId10" Type="http://schemas.openxmlformats.org/officeDocument/2006/relationships/image" Target="../media/image78.png"/><Relationship Id="rId9" Type="http://schemas.openxmlformats.org/officeDocument/2006/relationships/image" Target="../media/image77.png"/><Relationship Id="rId14" Type="http://schemas.openxmlformats.org/officeDocument/2006/relationships/image" Target="../media/image82.png"/></Relationships>
</file>

<file path=ppt/slides/_rels/slide18.xml.rels><?xml version="1.0" encoding="UTF-8" standalone="yes"?>
<Relationships xmlns="http://schemas.openxmlformats.org/package/2006/relationships"><Relationship Id="rId8" Type="http://schemas.openxmlformats.org/officeDocument/2006/relationships/image" Target="../media/image86.png"/><Relationship Id="rId3" Type="http://schemas.openxmlformats.org/officeDocument/2006/relationships/image" Target="../media/image79.png"/><Relationship Id="rId7" Type="http://schemas.openxmlformats.org/officeDocument/2006/relationships/image" Target="../media/image85.png"/><Relationship Id="rId2" Type="http://schemas.openxmlformats.org/officeDocument/2006/relationships/image" Target="../media/image71.png"/><Relationship Id="rId1" Type="http://schemas.openxmlformats.org/officeDocument/2006/relationships/slideLayout" Target="../slideLayouts/slideLayout2.xml"/><Relationship Id="rId6" Type="http://schemas.openxmlformats.org/officeDocument/2006/relationships/image" Target="../media/image84.png"/><Relationship Id="rId11" Type="http://schemas.openxmlformats.org/officeDocument/2006/relationships/image" Target="../media/image64.png"/><Relationship Id="rId5" Type="http://schemas.openxmlformats.org/officeDocument/2006/relationships/image" Target="../media/image81.png"/><Relationship Id="rId10" Type="http://schemas.openxmlformats.org/officeDocument/2006/relationships/image" Target="../media/image88.png"/><Relationship Id="rId4" Type="http://schemas.openxmlformats.org/officeDocument/2006/relationships/image" Target="../media/image80.png"/><Relationship Id="rId9" Type="http://schemas.openxmlformats.org/officeDocument/2006/relationships/image" Target="../media/image87.png"/></Relationships>
</file>

<file path=ppt/slides/_rels/slide19.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image" Target="../media/image89.png"/><Relationship Id="rId1" Type="http://schemas.openxmlformats.org/officeDocument/2006/relationships/slideLayout" Target="../slideLayouts/slideLayout2.xml"/><Relationship Id="rId5" Type="http://schemas.openxmlformats.org/officeDocument/2006/relationships/image" Target="../media/image92.png"/><Relationship Id="rId4" Type="http://schemas.openxmlformats.org/officeDocument/2006/relationships/image" Target="../media/image91.png"/></Relationships>
</file>

<file path=ppt/slides/_rels/slide20.xml.rels><?xml version="1.0" encoding="UTF-8" standalone="yes"?>
<Relationships xmlns="http://schemas.openxmlformats.org/package/2006/relationships"><Relationship Id="rId8" Type="http://schemas.openxmlformats.org/officeDocument/2006/relationships/image" Target="../media/image99.png"/><Relationship Id="rId13" Type="http://schemas.openxmlformats.org/officeDocument/2006/relationships/image" Target="../media/image104.png"/><Relationship Id="rId3" Type="http://schemas.openxmlformats.org/officeDocument/2006/relationships/image" Target="../media/image94.png"/><Relationship Id="rId7" Type="http://schemas.openxmlformats.org/officeDocument/2006/relationships/image" Target="../media/image98.png"/><Relationship Id="rId12" Type="http://schemas.openxmlformats.org/officeDocument/2006/relationships/image" Target="../media/image103.png"/><Relationship Id="rId2" Type="http://schemas.openxmlformats.org/officeDocument/2006/relationships/image" Target="../media/image93.png"/><Relationship Id="rId1" Type="http://schemas.openxmlformats.org/officeDocument/2006/relationships/slideLayout" Target="../slideLayouts/slideLayout2.xml"/><Relationship Id="rId6" Type="http://schemas.openxmlformats.org/officeDocument/2006/relationships/image" Target="../media/image97.png"/><Relationship Id="rId11" Type="http://schemas.openxmlformats.org/officeDocument/2006/relationships/image" Target="../media/image102.png"/><Relationship Id="rId5" Type="http://schemas.openxmlformats.org/officeDocument/2006/relationships/image" Target="../media/image96.png"/><Relationship Id="rId10" Type="http://schemas.openxmlformats.org/officeDocument/2006/relationships/image" Target="../media/image101.png"/><Relationship Id="rId4" Type="http://schemas.openxmlformats.org/officeDocument/2006/relationships/image" Target="../media/image95.png"/><Relationship Id="rId9" Type="http://schemas.openxmlformats.org/officeDocument/2006/relationships/image" Target="../media/image100.png"/></Relationships>
</file>

<file path=ppt/slides/_rels/slide21.xml.rels><?xml version="1.0" encoding="UTF-8" standalone="yes"?>
<Relationships xmlns="http://schemas.openxmlformats.org/package/2006/relationships"><Relationship Id="rId8" Type="http://schemas.openxmlformats.org/officeDocument/2006/relationships/image" Target="../media/image109.png"/><Relationship Id="rId3" Type="http://schemas.openxmlformats.org/officeDocument/2006/relationships/image" Target="../media/image106.png"/><Relationship Id="rId7" Type="http://schemas.openxmlformats.org/officeDocument/2006/relationships/image" Target="../media/image108.png"/><Relationship Id="rId2" Type="http://schemas.openxmlformats.org/officeDocument/2006/relationships/image" Target="../media/image105.png"/><Relationship Id="rId1" Type="http://schemas.openxmlformats.org/officeDocument/2006/relationships/slideLayout" Target="../slideLayouts/slideLayout2.xml"/><Relationship Id="rId6" Type="http://schemas.openxmlformats.org/officeDocument/2006/relationships/image" Target="../media/image99.png"/><Relationship Id="rId11" Type="http://schemas.openxmlformats.org/officeDocument/2006/relationships/image" Target="../media/image110.png"/><Relationship Id="rId5" Type="http://schemas.openxmlformats.org/officeDocument/2006/relationships/image" Target="../media/image103.png"/><Relationship Id="rId10" Type="http://schemas.openxmlformats.org/officeDocument/2006/relationships/image" Target="../media/image96.png"/><Relationship Id="rId4" Type="http://schemas.openxmlformats.org/officeDocument/2006/relationships/image" Target="../media/image107.png"/><Relationship Id="rId9" Type="http://schemas.openxmlformats.org/officeDocument/2006/relationships/image" Target="../media/image100.png"/></Relationships>
</file>

<file path=ppt/slides/_rels/slide22.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970.png"/><Relationship Id="rId1" Type="http://schemas.openxmlformats.org/officeDocument/2006/relationships/slideLayout" Target="../slideLayouts/slideLayout2.xml"/><Relationship Id="rId5" Type="http://schemas.openxmlformats.org/officeDocument/2006/relationships/image" Target="../media/image1001.png"/><Relationship Id="rId4" Type="http://schemas.openxmlformats.org/officeDocument/2006/relationships/image" Target="../media/image991.png"/></Relationships>
</file>

<file path=ppt/slides/_rels/slide23.xml.rels><?xml version="1.0" encoding="UTF-8" standalone="yes"?>
<Relationships xmlns="http://schemas.openxmlformats.org/package/2006/relationships"><Relationship Id="rId8" Type="http://schemas.openxmlformats.org/officeDocument/2006/relationships/image" Target="../media/image1070.png"/><Relationship Id="rId3" Type="http://schemas.openxmlformats.org/officeDocument/2006/relationships/image" Target="../media/image113.png"/><Relationship Id="rId7" Type="http://schemas.openxmlformats.org/officeDocument/2006/relationships/image" Target="../media/image1061.png"/><Relationship Id="rId2" Type="http://schemas.openxmlformats.org/officeDocument/2006/relationships/image" Target="../media/image1011.png"/><Relationship Id="rId1" Type="http://schemas.openxmlformats.org/officeDocument/2006/relationships/slideLayout" Target="../slideLayouts/slideLayout2.xml"/><Relationship Id="rId6" Type="http://schemas.openxmlformats.org/officeDocument/2006/relationships/image" Target="../media/image114.png"/><Relationship Id="rId5" Type="http://schemas.openxmlformats.org/officeDocument/2006/relationships/image" Target="../media/image1040.png"/><Relationship Id="rId4" Type="http://schemas.openxmlformats.org/officeDocument/2006/relationships/image" Target="../media/image1030.png"/></Relationships>
</file>

<file path=ppt/slides/_rels/slide24.xml.rels><?xml version="1.0" encoding="UTF-8" standalone="yes"?>
<Relationships xmlns="http://schemas.openxmlformats.org/package/2006/relationships"><Relationship Id="rId8" Type="http://schemas.openxmlformats.org/officeDocument/2006/relationships/image" Target="../media/image1000.png"/><Relationship Id="rId3" Type="http://schemas.openxmlformats.org/officeDocument/2006/relationships/image" Target="../media/image480.png"/><Relationship Id="rId7" Type="http://schemas.openxmlformats.org/officeDocument/2006/relationships/image" Target="../media/image850.png"/><Relationship Id="rId2" Type="http://schemas.openxmlformats.org/officeDocument/2006/relationships/image" Target="../media/image470.png"/><Relationship Id="rId1" Type="http://schemas.openxmlformats.org/officeDocument/2006/relationships/slideLayout" Target="../slideLayouts/slideLayout2.xml"/><Relationship Id="rId5" Type="http://schemas.openxmlformats.org/officeDocument/2006/relationships/image" Target="../media/image990.png"/><Relationship Id="rId10" Type="http://schemas.openxmlformats.org/officeDocument/2006/relationships/image" Target="../media/image1020.png"/><Relationship Id="rId4" Type="http://schemas.openxmlformats.org/officeDocument/2006/relationships/image" Target="../media/image490.png"/><Relationship Id="rId9" Type="http://schemas.openxmlformats.org/officeDocument/2006/relationships/image" Target="../media/image1010.png"/></Relationships>
</file>

<file path=ppt/slides/_rels/slide25.xml.rels><?xml version="1.0" encoding="UTF-8" standalone="yes"?>
<Relationships xmlns="http://schemas.openxmlformats.org/package/2006/relationships"><Relationship Id="rId8" Type="http://schemas.openxmlformats.org/officeDocument/2006/relationships/image" Target="../media/image1100.png"/><Relationship Id="rId3" Type="http://schemas.openxmlformats.org/officeDocument/2006/relationships/image" Target="../media/image1050.png"/><Relationship Id="rId7" Type="http://schemas.openxmlformats.org/officeDocument/2006/relationships/image" Target="../media/image1101.png"/><Relationship Id="rId2" Type="http://schemas.openxmlformats.org/officeDocument/2006/relationships/image" Target="../media/image1080.png"/><Relationship Id="rId1" Type="http://schemas.openxmlformats.org/officeDocument/2006/relationships/slideLayout" Target="../slideLayouts/slideLayout2.xml"/><Relationship Id="rId6" Type="http://schemas.openxmlformats.org/officeDocument/2006/relationships/image" Target="../media/image1090.png"/><Relationship Id="rId11" Type="http://schemas.openxmlformats.org/officeDocument/2006/relationships/image" Target="../media/image1140.png"/><Relationship Id="rId5" Type="http://schemas.openxmlformats.org/officeDocument/2006/relationships/image" Target="../media/image1091.png"/><Relationship Id="rId10" Type="http://schemas.openxmlformats.org/officeDocument/2006/relationships/image" Target="../media/image1130.png"/><Relationship Id="rId4" Type="http://schemas.openxmlformats.org/officeDocument/2006/relationships/image" Target="../media/image1060.png"/><Relationship Id="rId9" Type="http://schemas.openxmlformats.org/officeDocument/2006/relationships/image" Target="../media/image112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0A29E60B-ABEB-4B38-8D6C-620B64DB3808}"/>
              </a:ext>
            </a:extLst>
          </p:cNvPr>
          <p:cNvSpPr>
            <a:spLocks noGrp="1"/>
          </p:cNvSpPr>
          <p:nvPr>
            <p:ph type="ctrTitle"/>
          </p:nvPr>
        </p:nvSpPr>
        <p:spPr>
          <a:xfrm>
            <a:off x="423333" y="868362"/>
            <a:ext cx="11345334" cy="2387600"/>
          </a:xfrm>
        </p:spPr>
        <p:txBody>
          <a:bodyPr>
            <a:normAutofit/>
          </a:bodyPr>
          <a:lstStyle/>
          <a:p>
            <a:pPr>
              <a:lnSpc>
                <a:spcPct val="115000"/>
              </a:lnSpc>
              <a:spcAft>
                <a:spcPts val="100"/>
              </a:spcAft>
            </a:pPr>
            <a:r>
              <a:rPr lang="en-US" altLang="zh-TW" sz="2800" b="1" kern="100" dirty="0">
                <a:solidFill>
                  <a:srgbClr val="000000"/>
                </a:solidFill>
                <a:effectLst/>
                <a:latin typeface="Aptos"/>
                <a:ea typeface="新細明體" panose="02020500000000000000" pitchFamily="18" charset="-120"/>
                <a:cs typeface="Times New Roman" panose="02020603050405020304" pitchFamily="18" charset="0"/>
              </a:rPr>
              <a:t>A Lumped-Parameter Modeling, Calibration, and Capacity-Measure Framework for Flux Generation in Symmetric</a:t>
            </a:r>
            <a:br>
              <a:rPr lang="zh-TW" altLang="zh-TW" sz="2800" kern="100" dirty="0">
                <a:effectLst/>
                <a:latin typeface="Aptos"/>
                <a:ea typeface="新細明體" panose="02020500000000000000" pitchFamily="18" charset="-120"/>
                <a:cs typeface="Times New Roman" panose="02020603050405020304" pitchFamily="18" charset="0"/>
              </a:rPr>
            </a:br>
            <a:r>
              <a:rPr lang="en-US" altLang="zh-TW" sz="2800" b="1" dirty="0">
                <a:solidFill>
                  <a:srgbClr val="000000"/>
                </a:solidFill>
                <a:effectLst/>
                <a:latin typeface="Aptos"/>
                <a:ea typeface="新細明體" panose="02020500000000000000" pitchFamily="18" charset="-120"/>
                <a:cs typeface="Times New Roman" panose="02020603050405020304" pitchFamily="18" charset="0"/>
              </a:rPr>
              <a:t>Multipole Electromagnetic Actuators </a:t>
            </a:r>
            <a:endParaRPr lang="zh-TW" altLang="en-US" sz="8000" dirty="0"/>
          </a:p>
        </p:txBody>
      </p:sp>
    </p:spTree>
    <p:extLst>
      <p:ext uri="{BB962C8B-B14F-4D97-AF65-F5344CB8AC3E}">
        <p14:creationId xmlns:p14="http://schemas.microsoft.com/office/powerpoint/2010/main" val="4068006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0" name="文字方塊 39">
            <a:extLst>
              <a:ext uri="{FF2B5EF4-FFF2-40B4-BE49-F238E27FC236}">
                <a16:creationId xmlns:a16="http://schemas.microsoft.com/office/drawing/2014/main" id="{B1E82766-E1D8-4AA6-A2B9-6AEA170385C0}"/>
              </a:ext>
            </a:extLst>
          </p:cNvPr>
          <p:cNvSpPr txBox="1"/>
          <p:nvPr/>
        </p:nvSpPr>
        <p:spPr>
          <a:xfrm>
            <a:off x="0" y="265108"/>
            <a:ext cx="6324600" cy="390684"/>
          </a:xfrm>
          <a:prstGeom prst="rect">
            <a:avLst/>
          </a:prstGeom>
          <a:noFill/>
        </p:spPr>
        <p:txBody>
          <a:bodyPr wrap="square" rtlCol="0">
            <a:spAutoFit/>
          </a:bodyPr>
          <a:lstStyle/>
          <a:p>
            <a:pPr>
              <a:lnSpc>
                <a:spcPct val="115000"/>
              </a:lnSpc>
              <a:spcAft>
                <a:spcPts val="800"/>
              </a:spcAft>
            </a:pPr>
            <a:r>
              <a:rPr lang="en-US" altLang="zh-TW"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E</a:t>
            </a:r>
            <a:r>
              <a:rPr lang="en-US" altLang="zh-TW"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 </a:t>
            </a:r>
            <a:r>
              <a:rPr lang="en-US" altLang="zh-TW" i="1"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Validation</a:t>
            </a:r>
            <a:endParaRPr lang="zh-TW" altLang="zh-TW" kern="100" dirty="0">
              <a:effectLst/>
              <a:latin typeface="Aptos"/>
              <a:ea typeface="新細明體" panose="02020500000000000000" pitchFamily="18" charset="-120"/>
              <a:cs typeface="Times New Roman" panose="02020603050405020304" pitchFamily="18" charset="0"/>
            </a:endParaRPr>
          </a:p>
        </p:txBody>
      </p:sp>
      <p:sp>
        <p:nvSpPr>
          <p:cNvPr id="6" name="文字方塊 5">
            <a:extLst>
              <a:ext uri="{FF2B5EF4-FFF2-40B4-BE49-F238E27FC236}">
                <a16:creationId xmlns:a16="http://schemas.microsoft.com/office/drawing/2014/main" id="{31ACE95C-3F52-4F1D-AC27-AFA6A8DD7680}"/>
              </a:ext>
            </a:extLst>
          </p:cNvPr>
          <p:cNvSpPr txBox="1"/>
          <p:nvPr/>
        </p:nvSpPr>
        <p:spPr>
          <a:xfrm>
            <a:off x="27458" y="552713"/>
            <a:ext cx="6068542" cy="369332"/>
          </a:xfrm>
          <a:prstGeom prst="rect">
            <a:avLst/>
          </a:prstGeom>
          <a:noFill/>
        </p:spPr>
        <p:txBody>
          <a:bodyPr wrap="square" rtlCol="0">
            <a:spAutoFit/>
          </a:bodyPr>
          <a:lstStyle/>
          <a:p>
            <a:pPr marL="285750" indent="-285750">
              <a:buFont typeface="Wingdings" panose="05000000000000000000" pitchFamily="2" charset="2"/>
              <a:buChar char="l"/>
            </a:pPr>
            <a:r>
              <a:rPr lang="en-US" altLang="zh-TW" dirty="0">
                <a:latin typeface="Times New Roman" panose="02020603050405020304" pitchFamily="18" charset="0"/>
                <a:cs typeface="Times New Roman" panose="02020603050405020304" pitchFamily="18" charset="0"/>
              </a:rPr>
              <a:t>Interpolation Point Algorithm for workspace</a:t>
            </a:r>
            <a:endParaRPr lang="zh-TW" alt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2" name="文字方塊 11">
                <a:extLst>
                  <a:ext uri="{FF2B5EF4-FFF2-40B4-BE49-F238E27FC236}">
                    <a16:creationId xmlns:a16="http://schemas.microsoft.com/office/drawing/2014/main" id="{CCED5BA9-38C0-4DFD-921E-90F2FF1A615D}"/>
                  </a:ext>
                </a:extLst>
              </p:cNvPr>
              <p:cNvSpPr txBox="1"/>
              <p:nvPr/>
            </p:nvSpPr>
            <p:spPr>
              <a:xfrm>
                <a:off x="135467" y="1102250"/>
                <a:ext cx="5232404" cy="5784019"/>
              </a:xfrm>
              <a:prstGeom prst="rect">
                <a:avLst/>
              </a:prstGeom>
              <a:noFill/>
            </p:spPr>
            <p:txBody>
              <a:bodyPr wrap="square" rtlCol="0">
                <a:spAutoFit/>
              </a:bodyPr>
              <a:lstStyle/>
              <a:p>
                <a:pPr marL="342900" indent="-342900">
                  <a:buFont typeface="+mj-lt"/>
                  <a:buAutoNum type="arabicPeriod"/>
                </a:pPr>
                <a:r>
                  <a:rPr lang="en-US" altLang="zh-TW" dirty="0"/>
                  <a:t>Input </a:t>
                </a:r>
                <a14:m>
                  <m:oMath xmlns:m="http://schemas.openxmlformats.org/officeDocument/2006/math">
                    <m:sSub>
                      <m:sSubPr>
                        <m:ctrlPr>
                          <a:rPr lang="en-US" altLang="zh-TW" i="1" smtClean="0">
                            <a:latin typeface="Cambria Math" panose="02040503050406030204" pitchFamily="18" charset="0"/>
                          </a:rPr>
                        </m:ctrlPr>
                      </m:sSubPr>
                      <m:e>
                        <m:r>
                          <a:rPr lang="en-US" altLang="zh-TW" b="0" i="1" smtClean="0">
                            <a:latin typeface="Cambria Math" panose="02040503050406030204" pitchFamily="18" charset="0"/>
                          </a:rPr>
                          <m:t>𝑁</m:t>
                        </m:r>
                      </m:e>
                      <m:sub>
                        <m:r>
                          <a:rPr lang="en-US" altLang="zh-TW" b="0" i="1" smtClean="0">
                            <a:latin typeface="Cambria Math" panose="02040503050406030204" pitchFamily="18" charset="0"/>
                          </a:rPr>
                          <m:t>𝑟</m:t>
                        </m:r>
                      </m:sub>
                    </m:sSub>
                  </m:oMath>
                </a14:m>
                <a:r>
                  <a:rPr lang="en-US" altLang="zh-TW" dirty="0"/>
                  <a:t>, </a:t>
                </a:r>
                <a14:m>
                  <m:oMath xmlns:m="http://schemas.openxmlformats.org/officeDocument/2006/math">
                    <m:sSub>
                      <m:sSubPr>
                        <m:ctrlPr>
                          <a:rPr lang="en-US" altLang="zh-TW" i="1">
                            <a:latin typeface="Cambria Math" panose="02040503050406030204" pitchFamily="18" charset="0"/>
                          </a:rPr>
                        </m:ctrlPr>
                      </m:sSubPr>
                      <m:e>
                        <m:r>
                          <a:rPr lang="en-US" altLang="zh-TW" i="1">
                            <a:latin typeface="Cambria Math" panose="02040503050406030204" pitchFamily="18" charset="0"/>
                          </a:rPr>
                          <m:t>𝑁</m:t>
                        </m:r>
                      </m:e>
                      <m:sub>
                        <m:r>
                          <a:rPr lang="zh-TW" altLang="en-US" i="1">
                            <a:latin typeface="Cambria Math" panose="02040503050406030204" pitchFamily="18" charset="0"/>
                          </a:rPr>
                          <m:t>𝜃</m:t>
                        </m:r>
                      </m:sub>
                    </m:sSub>
                  </m:oMath>
                </a14:m>
                <a:r>
                  <a:rPr lang="en-US" altLang="zh-TW" dirty="0"/>
                  <a:t>, </a:t>
                </a:r>
                <a14:m>
                  <m:oMath xmlns:m="http://schemas.openxmlformats.org/officeDocument/2006/math">
                    <m:sSub>
                      <m:sSubPr>
                        <m:ctrlPr>
                          <a:rPr lang="en-US" altLang="zh-TW" i="1">
                            <a:latin typeface="Cambria Math" panose="02040503050406030204" pitchFamily="18" charset="0"/>
                          </a:rPr>
                        </m:ctrlPr>
                      </m:sSubPr>
                      <m:e>
                        <m:r>
                          <a:rPr lang="en-US" altLang="zh-TW" i="1">
                            <a:latin typeface="Cambria Math" panose="02040503050406030204" pitchFamily="18" charset="0"/>
                          </a:rPr>
                          <m:t>𝑁</m:t>
                        </m:r>
                      </m:e>
                      <m:sub>
                        <m:r>
                          <a:rPr lang="zh-TW" altLang="en-US" i="1">
                            <a:latin typeface="Cambria Math" panose="02040503050406030204" pitchFamily="18" charset="0"/>
                          </a:rPr>
                          <m:t>𝜙</m:t>
                        </m:r>
                      </m:sub>
                    </m:sSub>
                    <m:r>
                      <a:rPr lang="en-US" altLang="zh-TW" b="0" i="0" smtClean="0">
                        <a:latin typeface="Cambria Math" panose="02040503050406030204" pitchFamily="18" charset="0"/>
                      </a:rPr>
                      <m:t>,</m:t>
                    </m:r>
                    <m:r>
                      <a:rPr lang="en-US" altLang="zh-TW" b="0" i="1" smtClean="0">
                        <a:latin typeface="Cambria Math" panose="02040503050406030204" pitchFamily="18" charset="0"/>
                      </a:rPr>
                      <m:t>𝑅</m:t>
                    </m:r>
                  </m:oMath>
                </a14:m>
                <a:r>
                  <a:rPr lang="zh-TW" altLang="en-US" dirty="0"/>
                  <a:t>，</a:t>
                </a:r>
                <a:r>
                  <a:rPr lang="en-US" altLang="zh-TW" dirty="0"/>
                  <a:t> These represent the numbers of divisions required along the three coordinate directions of the sphere</a:t>
                </a:r>
                <a:r>
                  <a:rPr lang="zh-TW" altLang="en-US" dirty="0"/>
                  <a:t>，</a:t>
                </a:r>
                <a:r>
                  <a:rPr lang="en-US" altLang="zh-TW" dirty="0"/>
                  <a:t> where </a:t>
                </a:r>
                <a14:m>
                  <m:oMath xmlns:m="http://schemas.openxmlformats.org/officeDocument/2006/math">
                    <m:r>
                      <a:rPr lang="en-US" altLang="zh-TW" b="0" i="1" smtClean="0">
                        <a:latin typeface="Cambria Math" panose="02040503050406030204" pitchFamily="18" charset="0"/>
                      </a:rPr>
                      <m:t>𝑟</m:t>
                    </m:r>
                    <m:r>
                      <a:rPr lang="en-US" altLang="zh-TW" i="1">
                        <a:latin typeface="Cambria Math" panose="02040503050406030204" pitchFamily="18" charset="0"/>
                        <a:ea typeface="Cambria Math" panose="02040503050406030204" pitchFamily="18" charset="0"/>
                      </a:rPr>
                      <m:t>𝜖</m:t>
                    </m:r>
                    <m:r>
                      <a:rPr lang="en-US" altLang="zh-TW" b="0" i="1" smtClean="0">
                        <a:latin typeface="Cambria Math" panose="02040503050406030204" pitchFamily="18" charset="0"/>
                        <a:ea typeface="Cambria Math" panose="02040503050406030204" pitchFamily="18" charset="0"/>
                      </a:rPr>
                      <m:t>(0  </m:t>
                    </m:r>
                    <m:r>
                      <a:rPr lang="en-US" altLang="zh-TW" b="0" i="1" smtClean="0">
                        <a:latin typeface="Cambria Math" panose="02040503050406030204" pitchFamily="18" charset="0"/>
                        <a:ea typeface="Cambria Math" panose="02040503050406030204" pitchFamily="18" charset="0"/>
                      </a:rPr>
                      <m:t>𝑅</m:t>
                    </m:r>
                    <m:r>
                      <a:rPr lang="en-US" altLang="zh-TW" b="0" i="1" smtClean="0">
                        <a:latin typeface="Cambria Math" panose="02040503050406030204" pitchFamily="18" charset="0"/>
                        <a:ea typeface="Cambria Math" panose="02040503050406030204" pitchFamily="18" charset="0"/>
                      </a:rPr>
                      <m:t>]</m:t>
                    </m:r>
                  </m:oMath>
                </a14:m>
                <a:r>
                  <a:rPr lang="zh-TW" altLang="en-US" dirty="0"/>
                  <a:t>，</a:t>
                </a:r>
                <a14:m>
                  <m:oMath xmlns:m="http://schemas.openxmlformats.org/officeDocument/2006/math">
                    <m:r>
                      <a:rPr lang="zh-TW" altLang="en-US" i="1" smtClean="0">
                        <a:latin typeface="Cambria Math" panose="02040503050406030204" pitchFamily="18" charset="0"/>
                      </a:rPr>
                      <m:t>𝜃𝜖</m:t>
                    </m:r>
                    <m:d>
                      <m:dPr>
                        <m:begChr m:val="["/>
                        <m:endChr m:val="]"/>
                        <m:ctrlPr>
                          <a:rPr lang="en-US" altLang="zh-TW" b="0" i="1" smtClean="0">
                            <a:latin typeface="Cambria Math" panose="02040503050406030204" pitchFamily="18" charset="0"/>
                          </a:rPr>
                        </m:ctrlPr>
                      </m:dPr>
                      <m:e>
                        <m:r>
                          <a:rPr lang="en-US" altLang="zh-TW" b="0" i="1" smtClean="0">
                            <a:latin typeface="Cambria Math" panose="02040503050406030204" pitchFamily="18" charset="0"/>
                          </a:rPr>
                          <m:t>0  2</m:t>
                        </m:r>
                        <m:r>
                          <a:rPr lang="zh-TW" altLang="en-US" b="0" i="1" smtClean="0">
                            <a:latin typeface="Cambria Math" panose="02040503050406030204" pitchFamily="18" charset="0"/>
                          </a:rPr>
                          <m:t>𝜋</m:t>
                        </m:r>
                      </m:e>
                    </m:d>
                  </m:oMath>
                </a14:m>
                <a:r>
                  <a:rPr lang="zh-TW" altLang="en-US" dirty="0"/>
                  <a:t>，</a:t>
                </a:r>
                <a14:m>
                  <m:oMath xmlns:m="http://schemas.openxmlformats.org/officeDocument/2006/math">
                    <m:r>
                      <a:rPr lang="zh-TW" altLang="en-US" i="1" dirty="0" smtClean="0">
                        <a:latin typeface="Cambria Math" panose="02040503050406030204" pitchFamily="18" charset="0"/>
                      </a:rPr>
                      <m:t>𝜙𝜖</m:t>
                    </m:r>
                    <m:r>
                      <a:rPr lang="en-US" altLang="zh-TW" b="0" i="1" dirty="0" smtClean="0">
                        <a:latin typeface="Cambria Math" panose="02040503050406030204" pitchFamily="18" charset="0"/>
                      </a:rPr>
                      <m:t>[</m:t>
                    </m:r>
                    <m:r>
                      <a:rPr lang="en-US" altLang="zh-TW" b="0" i="1" dirty="0" smtClean="0">
                        <a:latin typeface="Cambria Math" panose="02040503050406030204" pitchFamily="18" charset="0"/>
                        <a:ea typeface="Cambria Math" panose="02040503050406030204" pitchFamily="18" charset="0"/>
                      </a:rPr>
                      <m:t>−</m:t>
                    </m:r>
                    <m:f>
                      <m:fPr>
                        <m:ctrlPr>
                          <a:rPr lang="en-US" altLang="zh-TW" b="0" i="1" dirty="0" smtClean="0">
                            <a:latin typeface="Cambria Math" panose="02040503050406030204" pitchFamily="18" charset="0"/>
                            <a:ea typeface="Cambria Math" panose="02040503050406030204" pitchFamily="18" charset="0"/>
                          </a:rPr>
                        </m:ctrlPr>
                      </m:fPr>
                      <m:num>
                        <m:r>
                          <a:rPr lang="zh-TW" altLang="en-US" b="0" i="1" dirty="0" smtClean="0">
                            <a:latin typeface="Cambria Math" panose="02040503050406030204" pitchFamily="18" charset="0"/>
                            <a:ea typeface="Cambria Math" panose="02040503050406030204" pitchFamily="18" charset="0"/>
                          </a:rPr>
                          <m:t>𝜋</m:t>
                        </m:r>
                      </m:num>
                      <m:den>
                        <m:r>
                          <a:rPr lang="en-US" altLang="zh-TW" b="0" i="1" dirty="0" smtClean="0">
                            <a:latin typeface="Cambria Math" panose="02040503050406030204" pitchFamily="18" charset="0"/>
                            <a:ea typeface="Cambria Math" panose="02040503050406030204" pitchFamily="18" charset="0"/>
                          </a:rPr>
                          <m:t>2</m:t>
                        </m:r>
                      </m:den>
                    </m:f>
                    <m:r>
                      <a:rPr lang="en-US" altLang="zh-TW" b="0" i="1" dirty="0" smtClean="0">
                        <a:latin typeface="Cambria Math" panose="02040503050406030204" pitchFamily="18" charset="0"/>
                        <a:ea typeface="Cambria Math" panose="02040503050406030204" pitchFamily="18" charset="0"/>
                      </a:rPr>
                      <m:t>   </m:t>
                    </m:r>
                    <m:f>
                      <m:fPr>
                        <m:ctrlPr>
                          <a:rPr lang="en-US" altLang="zh-TW" b="0" i="1" dirty="0" smtClean="0">
                            <a:latin typeface="Cambria Math" panose="02040503050406030204" pitchFamily="18" charset="0"/>
                            <a:ea typeface="Cambria Math" panose="02040503050406030204" pitchFamily="18" charset="0"/>
                          </a:rPr>
                        </m:ctrlPr>
                      </m:fPr>
                      <m:num>
                        <m:r>
                          <a:rPr lang="zh-TW" altLang="en-US" b="0" i="1" dirty="0" smtClean="0">
                            <a:latin typeface="Cambria Math" panose="02040503050406030204" pitchFamily="18" charset="0"/>
                            <a:ea typeface="Cambria Math" panose="02040503050406030204" pitchFamily="18" charset="0"/>
                          </a:rPr>
                          <m:t>𝜋</m:t>
                        </m:r>
                      </m:num>
                      <m:den>
                        <m:r>
                          <a:rPr lang="en-US" altLang="zh-TW" b="0" i="1" dirty="0" smtClean="0">
                            <a:latin typeface="Cambria Math" panose="02040503050406030204" pitchFamily="18" charset="0"/>
                            <a:ea typeface="Cambria Math" panose="02040503050406030204" pitchFamily="18" charset="0"/>
                          </a:rPr>
                          <m:t>2</m:t>
                        </m:r>
                      </m:den>
                    </m:f>
                    <m:r>
                      <a:rPr lang="en-US" altLang="zh-TW" b="0" i="1" dirty="0" smtClean="0">
                        <a:latin typeface="Cambria Math" panose="02040503050406030204" pitchFamily="18" charset="0"/>
                        <a:ea typeface="Cambria Math" panose="02040503050406030204" pitchFamily="18" charset="0"/>
                      </a:rPr>
                      <m:t>]</m:t>
                    </m:r>
                  </m:oMath>
                </a14:m>
                <a:r>
                  <a:rPr lang="zh-TW" altLang="en-US" dirty="0"/>
                  <a:t>。</a:t>
                </a:r>
                <a:endParaRPr lang="en-US" altLang="zh-TW" dirty="0"/>
              </a:p>
              <a:p>
                <a:pPr marL="342900" indent="-342900">
                  <a:buFont typeface="+mj-lt"/>
                  <a:buAutoNum type="arabicPeriod"/>
                </a:pPr>
                <a:endParaRPr lang="en-US" altLang="zh-TW" dirty="0"/>
              </a:p>
              <a:p>
                <a:pPr marL="342900" indent="-342900">
                  <a:buFont typeface="+mj-lt"/>
                  <a:buAutoNum type="arabicPeriod"/>
                </a:pPr>
                <a:r>
                  <a:rPr lang="en-US" altLang="zh-TW" dirty="0"/>
                  <a:t>The sphere is uniformly divided along its three coordinate directions according to the following three equations.</a:t>
                </a:r>
              </a:p>
              <a:p>
                <a:pPr/>
                <a14:m>
                  <m:oMathPara xmlns:m="http://schemas.openxmlformats.org/officeDocument/2006/math">
                    <m:oMathParaPr>
                      <m:jc m:val="centerGroup"/>
                    </m:oMathParaPr>
                    <m:oMath xmlns:m="http://schemas.openxmlformats.org/officeDocument/2006/math">
                      <m:sSub>
                        <m:sSubPr>
                          <m:ctrlPr>
                            <a:rPr lang="en-US" altLang="zh-TW" i="1" smtClean="0">
                              <a:latin typeface="Cambria Math" panose="02040503050406030204" pitchFamily="18" charset="0"/>
                            </a:rPr>
                          </m:ctrlPr>
                        </m:sSubPr>
                        <m:e>
                          <m:r>
                            <a:rPr lang="en-US" altLang="zh-TW" b="0" i="1" smtClean="0">
                              <a:latin typeface="Cambria Math" panose="02040503050406030204" pitchFamily="18" charset="0"/>
                            </a:rPr>
                            <m:t>𝑟</m:t>
                          </m:r>
                        </m:e>
                        <m:sub>
                          <m:r>
                            <a:rPr lang="en-US" altLang="zh-TW" b="0" i="1" smtClean="0">
                              <a:latin typeface="Cambria Math" panose="02040503050406030204" pitchFamily="18" charset="0"/>
                            </a:rPr>
                            <m:t>𝑖</m:t>
                          </m:r>
                        </m:sub>
                      </m:sSub>
                      <m:r>
                        <a:rPr lang="en-US" altLang="zh-TW" b="0" i="1" smtClean="0">
                          <a:latin typeface="Cambria Math" panose="02040503050406030204" pitchFamily="18" charset="0"/>
                        </a:rPr>
                        <m:t>=</m:t>
                      </m:r>
                      <m:r>
                        <a:rPr lang="en-US" altLang="zh-TW" b="0" i="1" smtClean="0">
                          <a:latin typeface="Cambria Math" panose="02040503050406030204" pitchFamily="18" charset="0"/>
                        </a:rPr>
                        <m:t>𝑅</m:t>
                      </m:r>
                      <m:r>
                        <a:rPr lang="en-US" altLang="zh-TW" b="0" i="1" smtClean="0">
                          <a:latin typeface="Cambria Math" panose="02040503050406030204" pitchFamily="18" charset="0"/>
                          <a:ea typeface="Cambria Math" panose="02040503050406030204" pitchFamily="18" charset="0"/>
                        </a:rPr>
                        <m:t>∙</m:t>
                      </m:r>
                      <m:sSup>
                        <m:sSupPr>
                          <m:ctrlPr>
                            <a:rPr lang="en-US" altLang="zh-TW" b="0" i="1" smtClean="0">
                              <a:latin typeface="Cambria Math" panose="02040503050406030204" pitchFamily="18" charset="0"/>
                              <a:ea typeface="Cambria Math" panose="02040503050406030204" pitchFamily="18" charset="0"/>
                            </a:rPr>
                          </m:ctrlPr>
                        </m:sSupPr>
                        <m:e>
                          <m:d>
                            <m:dPr>
                              <m:ctrlPr>
                                <a:rPr lang="en-US" altLang="zh-TW" b="0" i="1" smtClean="0">
                                  <a:latin typeface="Cambria Math" panose="02040503050406030204" pitchFamily="18" charset="0"/>
                                  <a:ea typeface="Cambria Math" panose="02040503050406030204" pitchFamily="18" charset="0"/>
                                </a:rPr>
                              </m:ctrlPr>
                            </m:dPr>
                            <m:e>
                              <m:f>
                                <m:fPr>
                                  <m:ctrlPr>
                                    <a:rPr lang="en-US" altLang="zh-TW" b="0" i="1" smtClean="0">
                                      <a:latin typeface="Cambria Math" panose="02040503050406030204" pitchFamily="18" charset="0"/>
                                      <a:ea typeface="Cambria Math" panose="02040503050406030204" pitchFamily="18" charset="0"/>
                                    </a:rPr>
                                  </m:ctrlPr>
                                </m:fPr>
                                <m:num>
                                  <m:r>
                                    <a:rPr lang="en-US" altLang="zh-TW" b="0" i="1" smtClean="0">
                                      <a:latin typeface="Cambria Math" panose="02040503050406030204" pitchFamily="18" charset="0"/>
                                      <a:ea typeface="Cambria Math" panose="02040503050406030204" pitchFamily="18" charset="0"/>
                                    </a:rPr>
                                    <m:t>𝑖</m:t>
                                  </m:r>
                                  <m:r>
                                    <a:rPr lang="en-US" altLang="zh-TW" b="0" i="1" smtClean="0">
                                      <a:latin typeface="Cambria Math" panose="02040503050406030204" pitchFamily="18" charset="0"/>
                                      <a:ea typeface="Cambria Math" panose="02040503050406030204" pitchFamily="18" charset="0"/>
                                    </a:rPr>
                                    <m:t>−0.5</m:t>
                                  </m:r>
                                </m:num>
                                <m:den>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𝑁</m:t>
                                      </m:r>
                                    </m:e>
                                    <m:sub>
                                      <m:r>
                                        <a:rPr lang="en-US" altLang="zh-TW" b="0" i="1" smtClean="0">
                                          <a:latin typeface="Cambria Math" panose="02040503050406030204" pitchFamily="18" charset="0"/>
                                          <a:ea typeface="Cambria Math" panose="02040503050406030204" pitchFamily="18" charset="0"/>
                                        </a:rPr>
                                        <m:t>𝑟</m:t>
                                      </m:r>
                                    </m:sub>
                                  </m:sSub>
                                </m:den>
                              </m:f>
                            </m:e>
                          </m:d>
                        </m:e>
                        <m:sup>
                          <m:f>
                            <m:fPr>
                              <m:ctrlPr>
                                <a:rPr lang="en-US" altLang="zh-TW" b="0" i="1" smtClean="0">
                                  <a:latin typeface="Cambria Math" panose="02040503050406030204" pitchFamily="18" charset="0"/>
                                  <a:ea typeface="Cambria Math" panose="02040503050406030204" pitchFamily="18" charset="0"/>
                                </a:rPr>
                              </m:ctrlPr>
                            </m:fPr>
                            <m:num>
                              <m:r>
                                <a:rPr lang="en-US" altLang="zh-TW" b="0" i="1" smtClean="0">
                                  <a:latin typeface="Cambria Math" panose="02040503050406030204" pitchFamily="18" charset="0"/>
                                  <a:ea typeface="Cambria Math" panose="02040503050406030204" pitchFamily="18" charset="0"/>
                                </a:rPr>
                                <m:t>1</m:t>
                              </m:r>
                            </m:num>
                            <m:den>
                              <m:r>
                                <a:rPr lang="en-US" altLang="zh-TW" b="0" i="1" smtClean="0">
                                  <a:latin typeface="Cambria Math" panose="02040503050406030204" pitchFamily="18" charset="0"/>
                                  <a:ea typeface="Cambria Math" panose="02040503050406030204" pitchFamily="18" charset="0"/>
                                </a:rPr>
                                <m:t>3</m:t>
                              </m:r>
                            </m:den>
                          </m:f>
                        </m:sup>
                      </m:sSup>
                      <m:r>
                        <a:rPr lang="en-US" altLang="zh-TW" b="0" i="1" smtClean="0">
                          <a:latin typeface="Cambria Math" panose="02040503050406030204" pitchFamily="18" charset="0"/>
                          <a:ea typeface="Cambria Math" panose="02040503050406030204" pitchFamily="18" charset="0"/>
                        </a:rPr>
                        <m:t>,</m:t>
                      </m:r>
                      <m:r>
                        <a:rPr lang="en-US" altLang="zh-TW" b="0" i="1" smtClean="0">
                          <a:latin typeface="Cambria Math" panose="02040503050406030204" pitchFamily="18" charset="0"/>
                          <a:ea typeface="Cambria Math" panose="02040503050406030204" pitchFamily="18" charset="0"/>
                        </a:rPr>
                        <m:t>𝑖</m:t>
                      </m:r>
                      <m:r>
                        <a:rPr lang="en-US" altLang="zh-TW" b="0" i="1" smtClean="0">
                          <a:latin typeface="Cambria Math" panose="02040503050406030204" pitchFamily="18" charset="0"/>
                          <a:ea typeface="Cambria Math" panose="02040503050406030204" pitchFamily="18" charset="0"/>
                        </a:rPr>
                        <m:t>=1…</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𝑁</m:t>
                          </m:r>
                        </m:e>
                        <m:sub>
                          <m:r>
                            <a:rPr lang="en-US" altLang="zh-TW" b="0" i="1" smtClean="0">
                              <a:latin typeface="Cambria Math" panose="02040503050406030204" pitchFamily="18" charset="0"/>
                              <a:ea typeface="Cambria Math" panose="02040503050406030204" pitchFamily="18" charset="0"/>
                            </a:rPr>
                            <m:t>𝑟</m:t>
                          </m:r>
                        </m:sub>
                      </m:sSub>
                    </m:oMath>
                  </m:oMathPara>
                </a14:m>
                <a:endParaRPr lang="en-US" altLang="zh-TW" dirty="0"/>
              </a:p>
              <a:p>
                <a:pPr/>
                <a14:m>
                  <m:oMathPara xmlns:m="http://schemas.openxmlformats.org/officeDocument/2006/math">
                    <m:oMathParaPr>
                      <m:jc m:val="centerGroup"/>
                    </m:oMathParaPr>
                    <m:oMath xmlns:m="http://schemas.openxmlformats.org/officeDocument/2006/math">
                      <m:sSub>
                        <m:sSubPr>
                          <m:ctrlPr>
                            <a:rPr lang="en-US" altLang="zh-TW" i="1" smtClean="0">
                              <a:latin typeface="Cambria Math" panose="02040503050406030204" pitchFamily="18" charset="0"/>
                            </a:rPr>
                          </m:ctrlPr>
                        </m:sSubPr>
                        <m:e>
                          <m:r>
                            <a:rPr lang="zh-TW" altLang="en-US" i="1" smtClean="0">
                              <a:latin typeface="Cambria Math" panose="02040503050406030204" pitchFamily="18" charset="0"/>
                            </a:rPr>
                            <m:t>𝜙</m:t>
                          </m:r>
                        </m:e>
                        <m:sub>
                          <m:r>
                            <a:rPr lang="en-US" altLang="zh-TW" b="0" i="1" smtClean="0">
                              <a:latin typeface="Cambria Math" panose="02040503050406030204" pitchFamily="18" charset="0"/>
                            </a:rPr>
                            <m:t>𝑗</m:t>
                          </m:r>
                        </m:sub>
                      </m:sSub>
                      <m:r>
                        <a:rPr lang="en-US" altLang="zh-TW" b="0" i="1" smtClean="0">
                          <a:latin typeface="Cambria Math" panose="02040503050406030204" pitchFamily="18" charset="0"/>
                        </a:rPr>
                        <m:t>=</m:t>
                      </m:r>
                      <m:sSup>
                        <m:sSupPr>
                          <m:ctrlPr>
                            <a:rPr lang="en-US" altLang="zh-TW" b="0" i="1" smtClean="0">
                              <a:latin typeface="Cambria Math" panose="02040503050406030204" pitchFamily="18" charset="0"/>
                            </a:rPr>
                          </m:ctrlPr>
                        </m:sSupPr>
                        <m:e>
                          <m:r>
                            <a:rPr lang="en-US" altLang="zh-TW" b="0" i="1" smtClean="0">
                              <a:latin typeface="Cambria Math" panose="02040503050406030204" pitchFamily="18" charset="0"/>
                            </a:rPr>
                            <m:t>𝑐𝑜𝑠</m:t>
                          </m:r>
                        </m:e>
                        <m:sup>
                          <m:r>
                            <a:rPr lang="en-US" altLang="zh-TW" b="0" i="1" smtClean="0">
                              <a:latin typeface="Cambria Math" panose="02040503050406030204" pitchFamily="18" charset="0"/>
                            </a:rPr>
                            <m:t>−1</m:t>
                          </m:r>
                        </m:sup>
                      </m:sSup>
                      <m:d>
                        <m:dPr>
                          <m:begChr m:val="["/>
                          <m:endChr m:val="]"/>
                          <m:ctrlPr>
                            <a:rPr lang="en-US" altLang="zh-TW" b="0" i="1" smtClean="0">
                              <a:latin typeface="Cambria Math" panose="02040503050406030204" pitchFamily="18" charset="0"/>
                            </a:rPr>
                          </m:ctrlPr>
                        </m:dPr>
                        <m:e>
                          <m:r>
                            <a:rPr lang="en-US" altLang="zh-TW" i="1">
                              <a:latin typeface="Cambria Math" panose="02040503050406030204" pitchFamily="18" charset="0"/>
                            </a:rPr>
                            <m:t>1−</m:t>
                          </m:r>
                          <m:f>
                            <m:fPr>
                              <m:ctrlPr>
                                <a:rPr lang="en-US" altLang="zh-TW" i="1">
                                  <a:latin typeface="Cambria Math" panose="02040503050406030204" pitchFamily="18" charset="0"/>
                                </a:rPr>
                              </m:ctrlPr>
                            </m:fPr>
                            <m:num>
                              <m:d>
                                <m:dPr>
                                  <m:ctrlPr>
                                    <a:rPr lang="en-US" altLang="zh-TW" i="1">
                                      <a:latin typeface="Cambria Math" panose="02040503050406030204" pitchFamily="18" charset="0"/>
                                    </a:rPr>
                                  </m:ctrlPr>
                                </m:dPr>
                                <m:e>
                                  <m:r>
                                    <a:rPr lang="en-US" altLang="zh-TW" i="1">
                                      <a:latin typeface="Cambria Math" panose="02040503050406030204" pitchFamily="18" charset="0"/>
                                    </a:rPr>
                                    <m:t>2</m:t>
                                  </m:r>
                                  <m:r>
                                    <a:rPr lang="en-US" altLang="zh-TW" b="0" i="1" smtClean="0">
                                      <a:latin typeface="Cambria Math" panose="02040503050406030204" pitchFamily="18" charset="0"/>
                                    </a:rPr>
                                    <m:t>𝑗</m:t>
                                  </m:r>
                                  <m:r>
                                    <a:rPr lang="en-US" altLang="zh-TW" i="1">
                                      <a:latin typeface="Cambria Math" panose="02040503050406030204" pitchFamily="18" charset="0"/>
                                    </a:rPr>
                                    <m:t>−1</m:t>
                                  </m:r>
                                </m:e>
                              </m:d>
                            </m:num>
                            <m:den>
                              <m:sSub>
                                <m:sSubPr>
                                  <m:ctrlPr>
                                    <a:rPr lang="en-US" altLang="zh-TW" i="1">
                                      <a:latin typeface="Cambria Math" panose="02040503050406030204" pitchFamily="18" charset="0"/>
                                    </a:rPr>
                                  </m:ctrlPr>
                                </m:sSubPr>
                                <m:e>
                                  <m:r>
                                    <a:rPr lang="en-US" altLang="zh-TW" i="1">
                                      <a:latin typeface="Cambria Math" panose="02040503050406030204" pitchFamily="18" charset="0"/>
                                    </a:rPr>
                                    <m:t>𝑁</m:t>
                                  </m:r>
                                </m:e>
                                <m:sub>
                                  <m:r>
                                    <a:rPr lang="el-GR" altLang="zh-TW" i="1">
                                      <a:latin typeface="Cambria Math" panose="02040503050406030204" pitchFamily="18" charset="0"/>
                                      <a:ea typeface="Cambria Math" panose="02040503050406030204" pitchFamily="18" charset="0"/>
                                    </a:rPr>
                                    <m:t>𝜙</m:t>
                                  </m:r>
                                </m:sub>
                              </m:sSub>
                            </m:den>
                          </m:f>
                        </m:e>
                      </m:d>
                      <m:r>
                        <a:rPr lang="en-US" altLang="zh-TW" b="0" i="1" smtClean="0">
                          <a:latin typeface="Cambria Math" panose="02040503050406030204" pitchFamily="18" charset="0"/>
                        </a:rPr>
                        <m:t>,</m:t>
                      </m:r>
                      <m:r>
                        <a:rPr lang="en-US" altLang="zh-TW" b="0" i="1" smtClean="0">
                          <a:latin typeface="Cambria Math" panose="02040503050406030204" pitchFamily="18" charset="0"/>
                        </a:rPr>
                        <m:t>𝑗</m:t>
                      </m:r>
                      <m:r>
                        <a:rPr lang="en-US" altLang="zh-TW" b="0" i="1" smtClean="0">
                          <a:latin typeface="Cambria Math" panose="02040503050406030204" pitchFamily="18" charset="0"/>
                        </a:rPr>
                        <m:t>=1…</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𝑁</m:t>
                          </m:r>
                        </m:e>
                        <m:sub>
                          <m:r>
                            <a:rPr lang="zh-TW" altLang="en-US" b="0" i="1" smtClean="0">
                              <a:latin typeface="Cambria Math" panose="02040503050406030204" pitchFamily="18" charset="0"/>
                            </a:rPr>
                            <m:t>𝜙</m:t>
                          </m:r>
                        </m:sub>
                      </m:sSub>
                    </m:oMath>
                  </m:oMathPara>
                </a14:m>
                <a:endParaRPr lang="en-US" altLang="zh-TW" dirty="0"/>
              </a:p>
              <a:p>
                <a:pPr/>
                <a14:m>
                  <m:oMathPara xmlns:m="http://schemas.openxmlformats.org/officeDocument/2006/math">
                    <m:oMathParaPr>
                      <m:jc m:val="centerGroup"/>
                    </m:oMathParaPr>
                    <m:oMath xmlns:m="http://schemas.openxmlformats.org/officeDocument/2006/math">
                      <m:sSub>
                        <m:sSubPr>
                          <m:ctrlPr>
                            <a:rPr lang="en-US" altLang="zh-TW" i="1" smtClean="0">
                              <a:latin typeface="Cambria Math" panose="02040503050406030204" pitchFamily="18" charset="0"/>
                            </a:rPr>
                          </m:ctrlPr>
                        </m:sSubPr>
                        <m:e>
                          <m:r>
                            <a:rPr lang="zh-TW" altLang="en-US" i="1" smtClean="0">
                              <a:latin typeface="Cambria Math" panose="02040503050406030204" pitchFamily="18" charset="0"/>
                            </a:rPr>
                            <m:t>𝜃</m:t>
                          </m:r>
                        </m:e>
                        <m:sub>
                          <m:r>
                            <a:rPr lang="en-US" altLang="zh-TW" b="0" i="1" smtClean="0">
                              <a:latin typeface="Cambria Math" panose="02040503050406030204" pitchFamily="18" charset="0"/>
                            </a:rPr>
                            <m:t>𝑘</m:t>
                          </m:r>
                        </m:sub>
                      </m:sSub>
                      <m:r>
                        <a:rPr lang="en-US" altLang="zh-TW" b="0" i="1" smtClean="0">
                          <a:latin typeface="Cambria Math" panose="02040503050406030204" pitchFamily="18" charset="0"/>
                        </a:rPr>
                        <m:t>=2</m:t>
                      </m:r>
                      <m:r>
                        <a:rPr lang="zh-TW" altLang="en-US" b="0" i="1" smtClean="0">
                          <a:latin typeface="Cambria Math" panose="02040503050406030204" pitchFamily="18" charset="0"/>
                        </a:rPr>
                        <m:t>𝜋</m:t>
                      </m:r>
                      <m:r>
                        <a:rPr lang="en-US" altLang="zh-TW" i="1">
                          <a:latin typeface="Cambria Math" panose="02040503050406030204" pitchFamily="18" charset="0"/>
                          <a:ea typeface="Cambria Math" panose="02040503050406030204" pitchFamily="18" charset="0"/>
                        </a:rPr>
                        <m:t>∙</m:t>
                      </m:r>
                      <m:f>
                        <m:fPr>
                          <m:ctrlPr>
                            <a:rPr lang="en-US" altLang="zh-TW" i="1" smtClean="0">
                              <a:latin typeface="Cambria Math" panose="02040503050406030204" pitchFamily="18" charset="0"/>
                              <a:ea typeface="Cambria Math" panose="02040503050406030204" pitchFamily="18" charset="0"/>
                            </a:rPr>
                          </m:ctrlPr>
                        </m:fPr>
                        <m:num>
                          <m:r>
                            <a:rPr lang="en-US" altLang="zh-TW" b="0" i="1" smtClean="0">
                              <a:latin typeface="Cambria Math" panose="02040503050406030204" pitchFamily="18" charset="0"/>
                              <a:ea typeface="Cambria Math" panose="02040503050406030204" pitchFamily="18" charset="0"/>
                            </a:rPr>
                            <m:t>𝑘</m:t>
                          </m:r>
                          <m:r>
                            <a:rPr lang="en-US" altLang="zh-TW" b="0" i="1" smtClean="0">
                              <a:latin typeface="Cambria Math" panose="02040503050406030204" pitchFamily="18" charset="0"/>
                              <a:ea typeface="Cambria Math" panose="02040503050406030204" pitchFamily="18" charset="0"/>
                            </a:rPr>
                            <m:t>−0.5</m:t>
                          </m:r>
                        </m:num>
                        <m:den>
                          <m:sSub>
                            <m:sSubPr>
                              <m:ctrlPr>
                                <a:rPr lang="en-US" altLang="zh-TW"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𝑁</m:t>
                              </m:r>
                            </m:e>
                            <m:sub>
                              <m:r>
                                <a:rPr lang="zh-TW" altLang="en-US" i="1" smtClean="0">
                                  <a:latin typeface="Cambria Math" panose="02040503050406030204" pitchFamily="18" charset="0"/>
                                  <a:ea typeface="Cambria Math" panose="02040503050406030204" pitchFamily="18" charset="0"/>
                                </a:rPr>
                                <m:t>𝜃</m:t>
                              </m:r>
                            </m:sub>
                          </m:sSub>
                        </m:den>
                      </m:f>
                      <m:r>
                        <a:rPr lang="en-US" altLang="zh-TW" b="0" i="0" smtClean="0">
                          <a:latin typeface="Cambria Math" panose="02040503050406030204" pitchFamily="18" charset="0"/>
                          <a:ea typeface="Cambria Math" panose="02040503050406030204" pitchFamily="18" charset="0"/>
                        </a:rPr>
                        <m:t>,</m:t>
                      </m:r>
                      <m:r>
                        <m:rPr>
                          <m:sty m:val="p"/>
                        </m:rPr>
                        <a:rPr lang="en-US" altLang="zh-TW" b="0" i="0" smtClean="0">
                          <a:latin typeface="Cambria Math" panose="02040503050406030204" pitchFamily="18" charset="0"/>
                          <a:ea typeface="Cambria Math" panose="02040503050406030204" pitchFamily="18" charset="0"/>
                        </a:rPr>
                        <m:t>k</m:t>
                      </m:r>
                      <m:r>
                        <a:rPr lang="en-US" altLang="zh-TW" b="0" i="0" smtClean="0">
                          <a:latin typeface="Cambria Math" panose="02040503050406030204" pitchFamily="18" charset="0"/>
                          <a:ea typeface="Cambria Math" panose="02040503050406030204" pitchFamily="18" charset="0"/>
                        </a:rPr>
                        <m:t>=1…</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𝑁</m:t>
                          </m:r>
                        </m:e>
                        <m:sub>
                          <m:r>
                            <a:rPr lang="zh-TW" altLang="en-US" b="0" i="1" smtClean="0">
                              <a:latin typeface="Cambria Math" panose="02040503050406030204" pitchFamily="18" charset="0"/>
                              <a:ea typeface="Cambria Math" panose="02040503050406030204" pitchFamily="18" charset="0"/>
                            </a:rPr>
                            <m:t>𝜃</m:t>
                          </m:r>
                        </m:sub>
                      </m:sSub>
                    </m:oMath>
                  </m:oMathPara>
                </a14:m>
                <a:endParaRPr lang="en-US" altLang="zh-TW" dirty="0"/>
              </a:p>
              <a:p>
                <a:pPr marL="342900" indent="-342900">
                  <a:buFont typeface="+mj-lt"/>
                  <a:buAutoNum type="arabicPeriod" startAt="3"/>
                </a:pPr>
                <a:r>
                  <a:rPr lang="en-US" altLang="zh-TW" dirty="0"/>
                  <a:t>Load the FEM data and filter out the air nodes.</a:t>
                </a:r>
              </a:p>
              <a:p>
                <a:pPr marL="342900" indent="-342900">
                  <a:buFont typeface="+mj-lt"/>
                  <a:buAutoNum type="arabicPeriod" startAt="3"/>
                </a:pPr>
                <a:endParaRPr lang="en-US" altLang="zh-TW" dirty="0"/>
              </a:p>
              <a:p>
                <a:pPr marL="342900" indent="-342900">
                  <a:buFont typeface="+mj-lt"/>
                  <a:buAutoNum type="arabicPeriod" startAt="3"/>
                </a:pPr>
                <a:endParaRPr lang="en-US" altLang="zh-TW" dirty="0"/>
              </a:p>
              <a:p>
                <a:pPr marL="342900" indent="-342900">
                  <a:buFont typeface="+mj-lt"/>
                  <a:buAutoNum type="arabicPeriod" startAt="3"/>
                </a:pPr>
                <a:endParaRPr lang="en-US" altLang="zh-TW" dirty="0"/>
              </a:p>
              <a:p>
                <a:endParaRPr lang="zh-TW" altLang="en-US" dirty="0"/>
              </a:p>
            </p:txBody>
          </p:sp>
        </mc:Choice>
        <mc:Fallback xmlns="">
          <p:sp>
            <p:nvSpPr>
              <p:cNvPr id="12" name="文字方塊 11">
                <a:extLst>
                  <a:ext uri="{FF2B5EF4-FFF2-40B4-BE49-F238E27FC236}">
                    <a16:creationId xmlns:a16="http://schemas.microsoft.com/office/drawing/2014/main" id="{CCED5BA9-38C0-4DFD-921E-90F2FF1A615D}"/>
                  </a:ext>
                </a:extLst>
              </p:cNvPr>
              <p:cNvSpPr txBox="1">
                <a:spLocks noRot="1" noChangeAspect="1" noMove="1" noResize="1" noEditPoints="1" noAdjustHandles="1" noChangeArrowheads="1" noChangeShapeType="1" noTextEdit="1"/>
              </p:cNvSpPr>
              <p:nvPr/>
            </p:nvSpPr>
            <p:spPr>
              <a:xfrm>
                <a:off x="135467" y="1102250"/>
                <a:ext cx="5232404" cy="5784019"/>
              </a:xfrm>
              <a:prstGeom prst="rect">
                <a:avLst/>
              </a:prstGeom>
              <a:blipFill>
                <a:blip r:embed="rId2"/>
                <a:stretch>
                  <a:fillRect l="-931" t="-52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7" name="文字方塊 16">
                <a:extLst>
                  <a:ext uri="{FF2B5EF4-FFF2-40B4-BE49-F238E27FC236}">
                    <a16:creationId xmlns:a16="http://schemas.microsoft.com/office/drawing/2014/main" id="{BAC94394-2803-4407-90C8-1813E84CFAFF}"/>
                  </a:ext>
                </a:extLst>
              </p:cNvPr>
              <p:cNvSpPr txBox="1"/>
              <p:nvPr/>
            </p:nvSpPr>
            <p:spPr>
              <a:xfrm>
                <a:off x="5367871" y="1102250"/>
                <a:ext cx="6493929" cy="5176417"/>
              </a:xfrm>
              <a:prstGeom prst="rect">
                <a:avLst/>
              </a:prstGeom>
              <a:noFill/>
            </p:spPr>
            <p:txBody>
              <a:bodyPr wrap="square" rtlCol="0">
                <a:spAutoFit/>
              </a:bodyPr>
              <a:lstStyle/>
              <a:p>
                <a:pPr marL="342900" indent="-342900">
                  <a:buFont typeface="+mj-lt"/>
                  <a:buAutoNum type="arabicPeriod" startAt="4"/>
                </a:pPr>
                <a:r>
                  <a:rPr lang="en-US" altLang="zh-TW" dirty="0"/>
                  <a:t>Localization: Determine which tetrahedron contains each query point and return its coordinates relative to the four vertices.</a:t>
                </a:r>
              </a:p>
              <a:p>
                <a:pPr marL="342900" indent="-342900">
                  <a:buFont typeface="+mj-lt"/>
                  <a:buAutoNum type="arabicPeriod" startAt="4"/>
                </a:pPr>
                <a:endParaRPr lang="en-US" altLang="zh-TW" dirty="0"/>
              </a:p>
              <a:p>
                <a:pPr marL="342900" indent="-342900">
                  <a:buFont typeface="+mj-lt"/>
                  <a:buAutoNum type="arabicPeriod" startAt="4"/>
                </a:pPr>
                <a:r>
                  <a:rPr lang="en-US" altLang="zh-TW" dirty="0"/>
                  <a:t>Barycentric Interpolation:</a:t>
                </a:r>
              </a:p>
              <a:p>
                <a:pPr lvl="1"/>
                <a:r>
                  <a:rPr lang="en-US" altLang="zh-TW" dirty="0"/>
                  <a:t>Let the coordinates of the four vertices be:</a:t>
                </a:r>
                <a14:m>
                  <m:oMath xmlns:m="http://schemas.openxmlformats.org/officeDocument/2006/math">
                    <m:sSub>
                      <m:sSubPr>
                        <m:ctrlPr>
                          <a:rPr lang="en-US" altLang="zh-TW" i="1" smtClean="0">
                            <a:latin typeface="Cambria Math" panose="02040503050406030204" pitchFamily="18" charset="0"/>
                          </a:rPr>
                        </m:ctrlPr>
                      </m:sSubPr>
                      <m:e>
                        <m:r>
                          <a:rPr lang="en-US" altLang="zh-TW" b="0" i="1" smtClean="0">
                            <a:latin typeface="Cambria Math" panose="02040503050406030204" pitchFamily="18" charset="0"/>
                          </a:rPr>
                          <m:t>𝑃</m:t>
                        </m:r>
                      </m:e>
                      <m:sub>
                        <m:r>
                          <a:rPr lang="en-US" altLang="zh-TW" b="0" i="1" smtClean="0">
                            <a:latin typeface="Cambria Math" panose="02040503050406030204" pitchFamily="18" charset="0"/>
                          </a:rPr>
                          <m:t>1</m:t>
                        </m:r>
                      </m:sub>
                    </m:sSub>
                    <m:r>
                      <a:rPr lang="en-US" altLang="zh-TW" b="0" i="1" smtClean="0">
                        <a:latin typeface="Cambria Math" panose="02040503050406030204" pitchFamily="18" charset="0"/>
                      </a:rPr>
                      <m:t>,</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𝑃</m:t>
                        </m:r>
                      </m:e>
                      <m:sub>
                        <m:r>
                          <a:rPr lang="en-US" altLang="zh-TW" b="0" i="1" smtClean="0">
                            <a:latin typeface="Cambria Math" panose="02040503050406030204" pitchFamily="18" charset="0"/>
                          </a:rPr>
                          <m:t>2</m:t>
                        </m:r>
                      </m:sub>
                    </m:sSub>
                    <m:r>
                      <a:rPr lang="en-US" altLang="zh-TW" b="0" i="1" smtClean="0">
                        <a:latin typeface="Cambria Math" panose="02040503050406030204" pitchFamily="18" charset="0"/>
                      </a:rPr>
                      <m:t>,</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𝑃</m:t>
                        </m:r>
                      </m:e>
                      <m:sub>
                        <m:r>
                          <a:rPr lang="en-US" altLang="zh-TW" b="0" i="1" smtClean="0">
                            <a:latin typeface="Cambria Math" panose="02040503050406030204" pitchFamily="18" charset="0"/>
                          </a:rPr>
                          <m:t>3</m:t>
                        </m:r>
                      </m:sub>
                    </m:sSub>
                    <m:r>
                      <a:rPr lang="en-US" altLang="zh-TW" b="0" i="1" smtClean="0">
                        <a:latin typeface="Cambria Math" panose="02040503050406030204" pitchFamily="18" charset="0"/>
                      </a:rPr>
                      <m:t>,</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𝑃</m:t>
                        </m:r>
                      </m:e>
                      <m:sub>
                        <m:r>
                          <a:rPr lang="en-US" altLang="zh-TW" b="0" i="1" smtClean="0">
                            <a:latin typeface="Cambria Math" panose="02040503050406030204" pitchFamily="18" charset="0"/>
                          </a:rPr>
                          <m:t>4</m:t>
                        </m:r>
                      </m:sub>
                    </m:sSub>
                  </m:oMath>
                </a14:m>
                <a:endParaRPr lang="en-US" altLang="zh-TW" dirty="0"/>
              </a:p>
              <a:p>
                <a:pPr lvl="1"/>
                <a:r>
                  <a:rPr lang="en-US" altLang="zh-TW" dirty="0"/>
                  <a:t>Let the coordinates of the interpolation point be:</a:t>
                </a:r>
                <a14:m>
                  <m:oMath xmlns:m="http://schemas.openxmlformats.org/officeDocument/2006/math">
                    <m:r>
                      <a:rPr lang="en-US" altLang="zh-TW" b="0" i="1" smtClean="0">
                        <a:latin typeface="Cambria Math" panose="02040503050406030204" pitchFamily="18" charset="0"/>
                      </a:rPr>
                      <m:t>𝑃</m:t>
                    </m:r>
                  </m:oMath>
                </a14:m>
                <a:endParaRPr lang="en-US" altLang="zh-TW" dirty="0"/>
              </a:p>
              <a:p>
                <a:pPr lvl="1"/>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𝑃</m:t>
                      </m:r>
                      <m:r>
                        <a:rPr lang="en-US" altLang="zh-TW" b="0" i="1" smtClean="0">
                          <a:latin typeface="Cambria Math" panose="02040503050406030204" pitchFamily="18" charset="0"/>
                        </a:rPr>
                        <m:t>=</m:t>
                      </m:r>
                      <m:nary>
                        <m:naryPr>
                          <m:chr m:val="∑"/>
                          <m:ctrlPr>
                            <a:rPr lang="en-US" altLang="zh-TW" b="0" i="1" smtClean="0">
                              <a:latin typeface="Cambria Math" panose="02040503050406030204" pitchFamily="18" charset="0"/>
                            </a:rPr>
                          </m:ctrlPr>
                        </m:naryPr>
                        <m:sub>
                          <m:r>
                            <m:rPr>
                              <m:brk m:alnAt="23"/>
                            </m:rPr>
                            <a:rPr lang="en-US" altLang="zh-TW" b="0" i="1" smtClean="0">
                              <a:latin typeface="Cambria Math" panose="02040503050406030204" pitchFamily="18" charset="0"/>
                            </a:rPr>
                            <m:t>𝑖</m:t>
                          </m:r>
                          <m:r>
                            <a:rPr lang="en-US" altLang="zh-TW" b="0" i="1" smtClean="0">
                              <a:latin typeface="Cambria Math" panose="02040503050406030204" pitchFamily="18" charset="0"/>
                            </a:rPr>
                            <m:t>=1</m:t>
                          </m:r>
                        </m:sub>
                        <m:sup>
                          <m:r>
                            <a:rPr lang="en-US" altLang="zh-TW" b="0" i="1" smtClean="0">
                              <a:latin typeface="Cambria Math" panose="02040503050406030204" pitchFamily="18" charset="0"/>
                            </a:rPr>
                            <m:t>4</m:t>
                          </m:r>
                        </m:sup>
                        <m:e>
                          <m:sSub>
                            <m:sSubPr>
                              <m:ctrlPr>
                                <a:rPr lang="en-US" altLang="zh-TW" b="0" i="1" smtClean="0">
                                  <a:latin typeface="Cambria Math" panose="02040503050406030204" pitchFamily="18" charset="0"/>
                                </a:rPr>
                              </m:ctrlPr>
                            </m:sSubPr>
                            <m:e>
                              <m:r>
                                <a:rPr lang="zh-TW" altLang="en-US" b="0" i="1" smtClean="0">
                                  <a:latin typeface="Cambria Math" panose="02040503050406030204" pitchFamily="18" charset="0"/>
                                </a:rPr>
                                <m:t>𝜆</m:t>
                              </m:r>
                            </m:e>
                            <m:sub>
                              <m:r>
                                <a:rPr lang="en-US" altLang="zh-TW" b="0" i="1" smtClean="0">
                                  <a:latin typeface="Cambria Math" panose="02040503050406030204" pitchFamily="18" charset="0"/>
                                </a:rPr>
                                <m:t>𝑖</m:t>
                              </m:r>
                            </m:sub>
                          </m:sSub>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𝑃</m:t>
                              </m:r>
                            </m:e>
                            <m:sub>
                              <m:r>
                                <a:rPr lang="en-US" altLang="zh-TW" b="0" i="1" smtClean="0">
                                  <a:latin typeface="Cambria Math" panose="02040503050406030204" pitchFamily="18" charset="0"/>
                                </a:rPr>
                                <m:t>𝑖</m:t>
                              </m:r>
                            </m:sub>
                          </m:sSub>
                        </m:e>
                      </m:nary>
                    </m:oMath>
                  </m:oMathPara>
                </a14:m>
                <a:endParaRPr lang="en-US" altLang="zh-TW" dirty="0"/>
              </a:p>
              <a:p>
                <a:pPr lvl="1"/>
                <a:r>
                  <a:rPr lang="en-US" altLang="zh-TW" dirty="0"/>
                  <a:t>Where </a:t>
                </a:r>
                <a14:m>
                  <m:oMath xmlns:m="http://schemas.openxmlformats.org/officeDocument/2006/math">
                    <m:sSub>
                      <m:sSubPr>
                        <m:ctrlPr>
                          <a:rPr lang="en-US" altLang="zh-TW" i="1" smtClean="0">
                            <a:latin typeface="Cambria Math" panose="02040503050406030204" pitchFamily="18" charset="0"/>
                          </a:rPr>
                        </m:ctrlPr>
                      </m:sSubPr>
                      <m:e>
                        <m:r>
                          <a:rPr lang="zh-TW" altLang="en-US" i="1" smtClean="0">
                            <a:latin typeface="Cambria Math" panose="02040503050406030204" pitchFamily="18" charset="0"/>
                          </a:rPr>
                          <m:t>𝜆</m:t>
                        </m:r>
                      </m:e>
                      <m:sub>
                        <m:r>
                          <a:rPr lang="en-US" altLang="zh-TW" b="0" i="1" smtClean="0">
                            <a:latin typeface="Cambria Math" panose="02040503050406030204" pitchFamily="18" charset="0"/>
                          </a:rPr>
                          <m:t>𝑖</m:t>
                        </m:r>
                      </m:sub>
                    </m:sSub>
                    <m:r>
                      <a:rPr lang="en-US" altLang="zh-TW" b="0" i="1" smtClean="0">
                        <a:latin typeface="Cambria Math" panose="02040503050406030204" pitchFamily="18" charset="0"/>
                      </a:rPr>
                      <m:t>=</m:t>
                    </m:r>
                    <m:f>
                      <m:fPr>
                        <m:ctrlPr>
                          <a:rPr lang="en-US" altLang="zh-TW" b="0" i="1" smtClean="0">
                            <a:latin typeface="Cambria Math" panose="02040503050406030204" pitchFamily="18" charset="0"/>
                          </a:rPr>
                        </m:ctrlPr>
                      </m:fPr>
                      <m:num>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𝑉</m:t>
                            </m:r>
                          </m:e>
                          <m:sub>
                            <m:r>
                              <a:rPr lang="en-US" altLang="zh-TW" b="0" i="1" smtClean="0">
                                <a:latin typeface="Cambria Math" panose="02040503050406030204" pitchFamily="18" charset="0"/>
                              </a:rPr>
                              <m:t>𝑖</m:t>
                            </m:r>
                          </m:sub>
                        </m:sSub>
                      </m:num>
                      <m:den>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𝑉</m:t>
                            </m:r>
                          </m:e>
                          <m:sub>
                            <m:r>
                              <a:rPr lang="en-US" altLang="zh-TW" b="0" i="1" smtClean="0">
                                <a:latin typeface="Cambria Math" panose="02040503050406030204" pitchFamily="18" charset="0"/>
                              </a:rPr>
                              <m:t>𝑡𝑜𝑡𝑎𝑙</m:t>
                            </m:r>
                          </m:sub>
                        </m:sSub>
                      </m:den>
                    </m:f>
                  </m:oMath>
                </a14:m>
                <a:r>
                  <a:rPr lang="en-US" altLang="zh-TW" dirty="0"/>
                  <a:t>(The volume of the sub-tetrahedron formed by replacing vertex</a:t>
                </a:r>
                <a:r>
                  <a:rPr lang="zh-TW" altLang="en-US" dirty="0"/>
                  <a:t> </a:t>
                </a:r>
                <a14:m>
                  <m:oMath xmlns:m="http://schemas.openxmlformats.org/officeDocument/2006/math">
                    <m:sSub>
                      <m:sSubPr>
                        <m:ctrlPr>
                          <a:rPr lang="en-US" altLang="zh-TW" i="1" smtClean="0">
                            <a:latin typeface="Cambria Math" panose="02040503050406030204" pitchFamily="18" charset="0"/>
                          </a:rPr>
                        </m:ctrlPr>
                      </m:sSubPr>
                      <m:e>
                        <m:r>
                          <a:rPr lang="en-US" altLang="zh-TW" b="0" i="1" smtClean="0">
                            <a:latin typeface="Cambria Math" panose="02040503050406030204" pitchFamily="18" charset="0"/>
                          </a:rPr>
                          <m:t>𝑃</m:t>
                        </m:r>
                      </m:e>
                      <m:sub>
                        <m:r>
                          <a:rPr lang="en-US" altLang="zh-TW" b="0" i="1" smtClean="0">
                            <a:latin typeface="Cambria Math" panose="02040503050406030204" pitchFamily="18" charset="0"/>
                          </a:rPr>
                          <m:t>𝑖</m:t>
                        </m:r>
                      </m:sub>
                    </m:sSub>
                  </m:oMath>
                </a14:m>
                <a:r>
                  <a:rPr lang="en-US" altLang="zh-TW" dirty="0"/>
                  <a:t> with </a:t>
                </a:r>
                <a14:m>
                  <m:oMath xmlns:m="http://schemas.openxmlformats.org/officeDocument/2006/math">
                    <m:r>
                      <a:rPr lang="en-US" altLang="zh-TW" b="0" i="1" smtClean="0">
                        <a:latin typeface="Cambria Math" panose="02040503050406030204" pitchFamily="18" charset="0"/>
                      </a:rPr>
                      <m:t>𝑃</m:t>
                    </m:r>
                  </m:oMath>
                </a14:m>
                <a:r>
                  <a:rPr lang="en-US" altLang="zh-TW" dirty="0"/>
                  <a:t>)</a:t>
                </a:r>
              </a:p>
              <a:p>
                <a:pPr lvl="1"/>
                <a:endParaRPr lang="en-US" altLang="zh-TW" dirty="0"/>
              </a:p>
              <a:p>
                <a:pPr marL="342900" indent="-342900">
                  <a:buFont typeface="+mj-lt"/>
                  <a:buAutoNum type="arabicPeriod" startAt="6"/>
                </a:pPr>
                <a:r>
                  <a:rPr lang="en-US" altLang="zh-TW" dirty="0"/>
                  <a:t>Repeat Steps 4 and 5 until all interpolation points have been processed.</a:t>
                </a:r>
              </a:p>
              <a:p>
                <a:pPr lvl="1"/>
                <a:endParaRPr lang="en-US" altLang="zh-TW" dirty="0"/>
              </a:p>
              <a:p>
                <a:endParaRPr lang="en-US" altLang="zh-TW" dirty="0"/>
              </a:p>
              <a:p>
                <a:pPr lvl="1"/>
                <a:endParaRPr lang="en-US" altLang="zh-TW" dirty="0"/>
              </a:p>
              <a:p>
                <a:endParaRPr lang="zh-TW" altLang="en-US" dirty="0"/>
              </a:p>
            </p:txBody>
          </p:sp>
        </mc:Choice>
        <mc:Fallback xmlns="">
          <p:sp>
            <p:nvSpPr>
              <p:cNvPr id="17" name="文字方塊 16">
                <a:extLst>
                  <a:ext uri="{FF2B5EF4-FFF2-40B4-BE49-F238E27FC236}">
                    <a16:creationId xmlns:a16="http://schemas.microsoft.com/office/drawing/2014/main" id="{BAC94394-2803-4407-90C8-1813E84CFAFF}"/>
                  </a:ext>
                </a:extLst>
              </p:cNvPr>
              <p:cNvSpPr txBox="1">
                <a:spLocks noRot="1" noChangeAspect="1" noMove="1" noResize="1" noEditPoints="1" noAdjustHandles="1" noChangeArrowheads="1" noChangeShapeType="1" noTextEdit="1"/>
              </p:cNvSpPr>
              <p:nvPr/>
            </p:nvSpPr>
            <p:spPr>
              <a:xfrm>
                <a:off x="5367871" y="1102250"/>
                <a:ext cx="6493929" cy="5176417"/>
              </a:xfrm>
              <a:prstGeom prst="rect">
                <a:avLst/>
              </a:prstGeom>
              <a:blipFill>
                <a:blip r:embed="rId3"/>
                <a:stretch>
                  <a:fillRect l="-845" t="-707" r="-376"/>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8" name="文字方塊 27">
                <a:extLst>
                  <a:ext uri="{FF2B5EF4-FFF2-40B4-BE49-F238E27FC236}">
                    <a16:creationId xmlns:a16="http://schemas.microsoft.com/office/drawing/2014/main" id="{C0E707CC-394C-449D-AA24-F6E85B3C8C59}"/>
                  </a:ext>
                </a:extLst>
              </p:cNvPr>
              <p:cNvSpPr txBox="1"/>
              <p:nvPr/>
            </p:nvSpPr>
            <p:spPr>
              <a:xfrm>
                <a:off x="5367871" y="5215467"/>
                <a:ext cx="6578596" cy="646331"/>
              </a:xfrm>
              <a:prstGeom prst="rect">
                <a:avLst/>
              </a:prstGeom>
              <a:noFill/>
            </p:spPr>
            <p:txBody>
              <a:bodyPr wrap="square" rtlCol="0">
                <a:spAutoFit/>
              </a:bodyPr>
              <a:lstStyle/>
              <a:p>
                <a:pPr marL="285750" indent="-285750">
                  <a:buFont typeface="Wingdings" panose="05000000000000000000" pitchFamily="2" charset="2"/>
                  <a:buChar char="Ø"/>
                </a:pPr>
                <a:r>
                  <a:rPr lang="en-US" altLang="zh-TW" dirty="0"/>
                  <a:t>Ex:</a:t>
                </a:r>
                <a14:m>
                  <m:oMath xmlns:m="http://schemas.openxmlformats.org/officeDocument/2006/math">
                    <m:sSub>
                      <m:sSubPr>
                        <m:ctrlPr>
                          <a:rPr lang="en-US" altLang="zh-TW" i="1" smtClean="0">
                            <a:latin typeface="Cambria Math" panose="02040503050406030204" pitchFamily="18" charset="0"/>
                          </a:rPr>
                        </m:ctrlPr>
                      </m:sSubPr>
                      <m:e>
                        <m:r>
                          <a:rPr lang="en-US" altLang="zh-TW" b="0" i="1" smtClean="0">
                            <a:latin typeface="Cambria Math" panose="02040503050406030204" pitchFamily="18" charset="0"/>
                          </a:rPr>
                          <m:t>𝑁</m:t>
                        </m:r>
                      </m:e>
                      <m:sub>
                        <m:r>
                          <a:rPr lang="en-US" altLang="zh-TW" b="0" i="1" smtClean="0">
                            <a:latin typeface="Cambria Math" panose="02040503050406030204" pitchFamily="18" charset="0"/>
                          </a:rPr>
                          <m:t>𝑟</m:t>
                        </m:r>
                      </m:sub>
                    </m:sSub>
                    <m:r>
                      <a:rPr lang="en-US" altLang="zh-TW" b="0" i="1" smtClean="0">
                        <a:latin typeface="Cambria Math" panose="02040503050406030204" pitchFamily="18" charset="0"/>
                      </a:rPr>
                      <m:t>=2</m:t>
                    </m:r>
                  </m:oMath>
                </a14:m>
                <a:endParaRPr lang="en-US" altLang="zh-TW" b="0" dirty="0"/>
              </a:p>
              <a:p>
                <a:r>
                  <a:rPr lang="en-US" altLang="zh-TW" dirty="0"/>
                  <a:t>	</a:t>
                </a:r>
                <a:endParaRPr lang="zh-TW" altLang="en-US" dirty="0"/>
              </a:p>
            </p:txBody>
          </p:sp>
        </mc:Choice>
        <mc:Fallback xmlns="">
          <p:sp>
            <p:nvSpPr>
              <p:cNvPr id="28" name="文字方塊 27">
                <a:extLst>
                  <a:ext uri="{FF2B5EF4-FFF2-40B4-BE49-F238E27FC236}">
                    <a16:creationId xmlns:a16="http://schemas.microsoft.com/office/drawing/2014/main" id="{C0E707CC-394C-449D-AA24-F6E85B3C8C59}"/>
                  </a:ext>
                </a:extLst>
              </p:cNvPr>
              <p:cNvSpPr txBox="1">
                <a:spLocks noRot="1" noChangeAspect="1" noMove="1" noResize="1" noEditPoints="1" noAdjustHandles="1" noChangeArrowheads="1" noChangeShapeType="1" noTextEdit="1"/>
              </p:cNvSpPr>
              <p:nvPr/>
            </p:nvSpPr>
            <p:spPr>
              <a:xfrm>
                <a:off x="5367871" y="5215467"/>
                <a:ext cx="6578596" cy="646331"/>
              </a:xfrm>
              <a:prstGeom prst="rect">
                <a:avLst/>
              </a:prstGeom>
              <a:blipFill>
                <a:blip r:embed="rId4"/>
                <a:stretch>
                  <a:fillRect l="-649" t="-5660"/>
                </a:stretch>
              </a:blipFill>
            </p:spPr>
            <p:txBody>
              <a:bodyPr/>
              <a:lstStyle/>
              <a:p>
                <a:r>
                  <a:rPr lang="zh-TW" altLang="en-US">
                    <a:noFill/>
                  </a:rPr>
                  <a:t> </a:t>
                </a:r>
              </a:p>
            </p:txBody>
          </p:sp>
        </mc:Fallback>
      </mc:AlternateContent>
      <p:cxnSp>
        <p:nvCxnSpPr>
          <p:cNvPr id="30" name="直線單箭頭接點 29">
            <a:extLst>
              <a:ext uri="{FF2B5EF4-FFF2-40B4-BE49-F238E27FC236}">
                <a16:creationId xmlns:a16="http://schemas.microsoft.com/office/drawing/2014/main" id="{26E08411-0E10-498E-B632-44320EB42710}"/>
              </a:ext>
            </a:extLst>
          </p:cNvPr>
          <p:cNvCxnSpPr/>
          <p:nvPr/>
        </p:nvCxnSpPr>
        <p:spPr>
          <a:xfrm>
            <a:off x="6096000" y="5689600"/>
            <a:ext cx="5342467"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1" name="橢圓 30">
            <a:extLst>
              <a:ext uri="{FF2B5EF4-FFF2-40B4-BE49-F238E27FC236}">
                <a16:creationId xmlns:a16="http://schemas.microsoft.com/office/drawing/2014/main" id="{394DFB9A-EE1F-4ECE-B4C3-64D9170AAD25}"/>
              </a:ext>
            </a:extLst>
          </p:cNvPr>
          <p:cNvSpPr/>
          <p:nvPr/>
        </p:nvSpPr>
        <p:spPr>
          <a:xfrm>
            <a:off x="5981700" y="5569635"/>
            <a:ext cx="228600" cy="239929"/>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2" name="文字方塊 31">
            <a:extLst>
              <a:ext uri="{FF2B5EF4-FFF2-40B4-BE49-F238E27FC236}">
                <a16:creationId xmlns:a16="http://schemas.microsoft.com/office/drawing/2014/main" id="{6E4001B8-D496-4EB8-A427-29F8F6CD681F}"/>
              </a:ext>
            </a:extLst>
          </p:cNvPr>
          <p:cNvSpPr txBox="1"/>
          <p:nvPr/>
        </p:nvSpPr>
        <p:spPr>
          <a:xfrm>
            <a:off x="5668433" y="5770582"/>
            <a:ext cx="855133" cy="369332"/>
          </a:xfrm>
          <a:prstGeom prst="rect">
            <a:avLst/>
          </a:prstGeom>
          <a:noFill/>
        </p:spPr>
        <p:txBody>
          <a:bodyPr wrap="square" rtlCol="0">
            <a:spAutoFit/>
          </a:bodyPr>
          <a:lstStyle/>
          <a:p>
            <a:r>
              <a:rPr lang="en-US" altLang="zh-TW" dirty="0"/>
              <a:t>Center</a:t>
            </a:r>
            <a:endParaRPr lang="zh-TW" altLang="en-US" dirty="0"/>
          </a:p>
        </p:txBody>
      </p:sp>
      <p:cxnSp>
        <p:nvCxnSpPr>
          <p:cNvPr id="34" name="直線接點 33">
            <a:extLst>
              <a:ext uri="{FF2B5EF4-FFF2-40B4-BE49-F238E27FC236}">
                <a16:creationId xmlns:a16="http://schemas.microsoft.com/office/drawing/2014/main" id="{11B9BCAE-16E0-4EA9-9AC3-71AC94AE5DDD}"/>
              </a:ext>
            </a:extLst>
          </p:cNvPr>
          <p:cNvCxnSpPr/>
          <p:nvPr/>
        </p:nvCxnSpPr>
        <p:spPr>
          <a:xfrm>
            <a:off x="8767233" y="5393267"/>
            <a:ext cx="0" cy="64346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橢圓 34">
            <a:extLst>
              <a:ext uri="{FF2B5EF4-FFF2-40B4-BE49-F238E27FC236}">
                <a16:creationId xmlns:a16="http://schemas.microsoft.com/office/drawing/2014/main" id="{E4972A8D-69DC-47C0-9A60-93F8D71F6348}"/>
              </a:ext>
            </a:extLst>
          </p:cNvPr>
          <p:cNvSpPr/>
          <p:nvPr/>
        </p:nvSpPr>
        <p:spPr>
          <a:xfrm>
            <a:off x="7552267" y="5569635"/>
            <a:ext cx="228599" cy="239929"/>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7" name="橢圓 36">
            <a:extLst>
              <a:ext uri="{FF2B5EF4-FFF2-40B4-BE49-F238E27FC236}">
                <a16:creationId xmlns:a16="http://schemas.microsoft.com/office/drawing/2014/main" id="{F6BE17E4-2DD2-4A20-A697-5728CEAF5814}"/>
              </a:ext>
            </a:extLst>
          </p:cNvPr>
          <p:cNvSpPr/>
          <p:nvPr/>
        </p:nvSpPr>
        <p:spPr>
          <a:xfrm>
            <a:off x="10024533" y="5575303"/>
            <a:ext cx="228599" cy="239929"/>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文字方塊 37">
            <a:extLst>
              <a:ext uri="{FF2B5EF4-FFF2-40B4-BE49-F238E27FC236}">
                <a16:creationId xmlns:a16="http://schemas.microsoft.com/office/drawing/2014/main" id="{C7DE772D-91AB-4873-BA84-0850F2D64CCD}"/>
              </a:ext>
            </a:extLst>
          </p:cNvPr>
          <p:cNvSpPr txBox="1"/>
          <p:nvPr/>
        </p:nvSpPr>
        <p:spPr>
          <a:xfrm>
            <a:off x="7289799" y="5799729"/>
            <a:ext cx="1126066" cy="646331"/>
          </a:xfrm>
          <a:prstGeom prst="rect">
            <a:avLst/>
          </a:prstGeom>
          <a:noFill/>
        </p:spPr>
        <p:txBody>
          <a:bodyPr wrap="square" rtlCol="0">
            <a:spAutoFit/>
          </a:bodyPr>
          <a:lstStyle/>
          <a:p>
            <a:r>
              <a:rPr lang="en-US" altLang="zh-TW" dirty="0"/>
              <a:t>Sample point</a:t>
            </a:r>
            <a:endParaRPr lang="zh-TW" altLang="en-US" dirty="0"/>
          </a:p>
        </p:txBody>
      </p:sp>
      <p:sp>
        <p:nvSpPr>
          <p:cNvPr id="39" name="文字方塊 38">
            <a:extLst>
              <a:ext uri="{FF2B5EF4-FFF2-40B4-BE49-F238E27FC236}">
                <a16:creationId xmlns:a16="http://schemas.microsoft.com/office/drawing/2014/main" id="{383C0C6E-8646-44C1-8A4F-0CEE72F7AF79}"/>
              </a:ext>
            </a:extLst>
          </p:cNvPr>
          <p:cNvSpPr txBox="1"/>
          <p:nvPr/>
        </p:nvSpPr>
        <p:spPr>
          <a:xfrm>
            <a:off x="9751484" y="5770582"/>
            <a:ext cx="1126066" cy="646331"/>
          </a:xfrm>
          <a:prstGeom prst="rect">
            <a:avLst/>
          </a:prstGeom>
          <a:noFill/>
        </p:spPr>
        <p:txBody>
          <a:bodyPr wrap="square" rtlCol="0">
            <a:spAutoFit/>
          </a:bodyPr>
          <a:lstStyle/>
          <a:p>
            <a:r>
              <a:rPr lang="en-US" altLang="zh-TW" dirty="0"/>
              <a:t>Sample point</a:t>
            </a:r>
            <a:endParaRPr lang="zh-TW" altLang="en-US" dirty="0"/>
          </a:p>
        </p:txBody>
      </p:sp>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FE617669-674F-499C-B4B5-705FFEAAF284}"/>
                  </a:ext>
                </a:extLst>
              </p:cNvPr>
              <p:cNvSpPr txBox="1"/>
              <p:nvPr/>
            </p:nvSpPr>
            <p:spPr>
              <a:xfrm>
                <a:off x="11500222" y="5515423"/>
                <a:ext cx="166969"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𝑟</m:t>
                      </m:r>
                    </m:oMath>
                  </m:oMathPara>
                </a14:m>
                <a:endParaRPr lang="zh-TW" altLang="en-US" dirty="0"/>
              </a:p>
            </p:txBody>
          </p:sp>
        </mc:Choice>
        <mc:Fallback xmlns="">
          <p:sp>
            <p:nvSpPr>
              <p:cNvPr id="36" name="文字方塊 35">
                <a:extLst>
                  <a:ext uri="{FF2B5EF4-FFF2-40B4-BE49-F238E27FC236}">
                    <a16:creationId xmlns:a16="http://schemas.microsoft.com/office/drawing/2014/main" id="{FE617669-674F-499C-B4B5-705FFEAAF284}"/>
                  </a:ext>
                </a:extLst>
              </p:cNvPr>
              <p:cNvSpPr txBox="1">
                <a:spLocks noRot="1" noChangeAspect="1" noMove="1" noResize="1" noEditPoints="1" noAdjustHandles="1" noChangeArrowheads="1" noChangeShapeType="1" noTextEdit="1"/>
              </p:cNvSpPr>
              <p:nvPr/>
            </p:nvSpPr>
            <p:spPr>
              <a:xfrm>
                <a:off x="11500222" y="5515423"/>
                <a:ext cx="166969" cy="276999"/>
              </a:xfrm>
              <a:prstGeom prst="rect">
                <a:avLst/>
              </a:prstGeom>
              <a:blipFill>
                <a:blip r:embed="rId5"/>
                <a:stretch>
                  <a:fillRect l="-22222" r="-18519"/>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350881734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0" name="文字方塊 39">
            <a:extLst>
              <a:ext uri="{FF2B5EF4-FFF2-40B4-BE49-F238E27FC236}">
                <a16:creationId xmlns:a16="http://schemas.microsoft.com/office/drawing/2014/main" id="{B1E82766-E1D8-4AA6-A2B9-6AEA170385C0}"/>
              </a:ext>
            </a:extLst>
          </p:cNvPr>
          <p:cNvSpPr txBox="1"/>
          <p:nvPr/>
        </p:nvSpPr>
        <p:spPr>
          <a:xfrm>
            <a:off x="0" y="265108"/>
            <a:ext cx="6324600" cy="390684"/>
          </a:xfrm>
          <a:prstGeom prst="rect">
            <a:avLst/>
          </a:prstGeom>
          <a:noFill/>
        </p:spPr>
        <p:txBody>
          <a:bodyPr wrap="square" rtlCol="0">
            <a:spAutoFit/>
          </a:bodyPr>
          <a:lstStyle/>
          <a:p>
            <a:pPr>
              <a:lnSpc>
                <a:spcPct val="115000"/>
              </a:lnSpc>
              <a:spcAft>
                <a:spcPts val="800"/>
              </a:spcAft>
            </a:pPr>
            <a:r>
              <a:rPr lang="en-US" altLang="zh-TW"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E</a:t>
            </a:r>
            <a:r>
              <a:rPr lang="en-US" altLang="zh-TW"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 </a:t>
            </a:r>
            <a:r>
              <a:rPr lang="en-US" altLang="zh-TW" i="1"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Validation</a:t>
            </a:r>
            <a:endParaRPr lang="zh-TW" altLang="zh-TW" kern="100" dirty="0">
              <a:effectLst/>
              <a:latin typeface="Aptos"/>
              <a:ea typeface="新細明體" panose="02020500000000000000" pitchFamily="18" charset="-120"/>
              <a:cs typeface="Times New Roman" panose="02020603050405020304" pitchFamily="18" charset="0"/>
            </a:endParaRPr>
          </a:p>
        </p:txBody>
      </p:sp>
      <p:sp>
        <p:nvSpPr>
          <p:cNvPr id="6" name="文字方塊 5">
            <a:extLst>
              <a:ext uri="{FF2B5EF4-FFF2-40B4-BE49-F238E27FC236}">
                <a16:creationId xmlns:a16="http://schemas.microsoft.com/office/drawing/2014/main" id="{31ACE95C-3F52-4F1D-AC27-AFA6A8DD7680}"/>
              </a:ext>
            </a:extLst>
          </p:cNvPr>
          <p:cNvSpPr txBox="1"/>
          <p:nvPr/>
        </p:nvSpPr>
        <p:spPr>
          <a:xfrm>
            <a:off x="27458" y="552713"/>
            <a:ext cx="4544541" cy="369332"/>
          </a:xfrm>
          <a:prstGeom prst="rect">
            <a:avLst/>
          </a:prstGeom>
          <a:noFill/>
        </p:spPr>
        <p:txBody>
          <a:bodyPr wrap="square" rtlCol="0">
            <a:spAutoFit/>
          </a:bodyPr>
          <a:lstStyle/>
          <a:p>
            <a:pPr marL="285750" indent="-285750">
              <a:buFont typeface="Wingdings" panose="05000000000000000000" pitchFamily="2" charset="2"/>
              <a:buChar char="l"/>
            </a:pPr>
            <a:r>
              <a:rPr lang="en-US" altLang="zh-TW" dirty="0">
                <a:latin typeface="Times New Roman" panose="02020603050405020304" pitchFamily="18" charset="0"/>
                <a:cs typeface="Times New Roman" panose="02020603050405020304" pitchFamily="18" charset="0"/>
              </a:rPr>
              <a:t>Interpolation Point Algorithm</a:t>
            </a:r>
            <a:endParaRPr lang="zh-TW" alt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2" name="文字方塊 11">
                <a:extLst>
                  <a:ext uri="{FF2B5EF4-FFF2-40B4-BE49-F238E27FC236}">
                    <a16:creationId xmlns:a16="http://schemas.microsoft.com/office/drawing/2014/main" id="{CCED5BA9-38C0-4DFD-921E-90F2FF1A615D}"/>
                  </a:ext>
                </a:extLst>
              </p:cNvPr>
              <p:cNvSpPr txBox="1"/>
              <p:nvPr/>
            </p:nvSpPr>
            <p:spPr>
              <a:xfrm>
                <a:off x="135467" y="1102250"/>
                <a:ext cx="11430000" cy="3298532"/>
              </a:xfrm>
              <a:prstGeom prst="rect">
                <a:avLst/>
              </a:prstGeom>
              <a:noFill/>
            </p:spPr>
            <p:txBody>
              <a:bodyPr wrap="square" rtlCol="0">
                <a:spAutoFit/>
              </a:bodyPr>
              <a:lstStyle/>
              <a:p>
                <a:pPr marL="342900" indent="-342900">
                  <a:buFont typeface="+mj-lt"/>
                  <a:buAutoNum type="arabicPeriod"/>
                </a:pPr>
                <a:r>
                  <a:rPr lang="en-US" altLang="zh-TW" dirty="0"/>
                  <a:t>Initial Setup</a:t>
                </a:r>
                <a:r>
                  <a:rPr lang="zh-TW" altLang="en-US" dirty="0"/>
                  <a:t> </a:t>
                </a:r>
                <a14:m>
                  <m:oMath xmlns:m="http://schemas.openxmlformats.org/officeDocument/2006/math">
                    <m:r>
                      <a:rPr lang="en-US" altLang="zh-TW" b="0" i="1" smtClean="0">
                        <a:latin typeface="Cambria Math" panose="02040503050406030204" pitchFamily="18" charset="0"/>
                      </a:rPr>
                      <m:t>[</m:t>
                    </m:r>
                    <m:sSub>
                      <m:sSubPr>
                        <m:ctrlPr>
                          <a:rPr lang="en-US" altLang="zh-TW" i="1">
                            <a:latin typeface="Cambria Math" panose="02040503050406030204" pitchFamily="18" charset="0"/>
                          </a:rPr>
                        </m:ctrlPr>
                      </m:sSubPr>
                      <m:e>
                        <m:r>
                          <a:rPr lang="en-US" altLang="zh-TW" i="1">
                            <a:latin typeface="Cambria Math" panose="02040503050406030204" pitchFamily="18" charset="0"/>
                          </a:rPr>
                          <m:t>𝑁</m:t>
                        </m:r>
                      </m:e>
                      <m:sub>
                        <m:r>
                          <a:rPr lang="en-US" altLang="zh-TW" i="1">
                            <a:latin typeface="Cambria Math" panose="02040503050406030204" pitchFamily="18" charset="0"/>
                          </a:rPr>
                          <m:t>𝑟</m:t>
                        </m:r>
                      </m:sub>
                    </m:sSub>
                  </m:oMath>
                </a14:m>
                <a:r>
                  <a:rPr lang="en-US" altLang="zh-TW" dirty="0"/>
                  <a:t>, </a:t>
                </a:r>
                <a14:m>
                  <m:oMath xmlns:m="http://schemas.openxmlformats.org/officeDocument/2006/math">
                    <m:sSub>
                      <m:sSubPr>
                        <m:ctrlPr>
                          <a:rPr lang="en-US" altLang="zh-TW" i="1">
                            <a:latin typeface="Cambria Math" panose="02040503050406030204" pitchFamily="18" charset="0"/>
                          </a:rPr>
                        </m:ctrlPr>
                      </m:sSubPr>
                      <m:e>
                        <m:r>
                          <a:rPr lang="en-US" altLang="zh-TW" i="1">
                            <a:latin typeface="Cambria Math" panose="02040503050406030204" pitchFamily="18" charset="0"/>
                          </a:rPr>
                          <m:t>𝑁</m:t>
                        </m:r>
                      </m:e>
                      <m:sub>
                        <m:r>
                          <a:rPr lang="zh-TW" altLang="en-US" i="1">
                            <a:latin typeface="Cambria Math" panose="02040503050406030204" pitchFamily="18" charset="0"/>
                          </a:rPr>
                          <m:t>𝜃</m:t>
                        </m:r>
                      </m:sub>
                    </m:sSub>
                  </m:oMath>
                </a14:m>
                <a:r>
                  <a:rPr lang="en-US" altLang="zh-TW" dirty="0"/>
                  <a:t>, </a:t>
                </a:r>
                <a14:m>
                  <m:oMath xmlns:m="http://schemas.openxmlformats.org/officeDocument/2006/math">
                    <m:sSub>
                      <m:sSubPr>
                        <m:ctrlPr>
                          <a:rPr lang="en-US" altLang="zh-TW" i="1">
                            <a:latin typeface="Cambria Math" panose="02040503050406030204" pitchFamily="18" charset="0"/>
                          </a:rPr>
                        </m:ctrlPr>
                      </m:sSubPr>
                      <m:e>
                        <m:r>
                          <a:rPr lang="en-US" altLang="zh-TW" i="1">
                            <a:latin typeface="Cambria Math" panose="02040503050406030204" pitchFamily="18" charset="0"/>
                          </a:rPr>
                          <m:t>𝑁</m:t>
                        </m:r>
                      </m:e>
                      <m:sub>
                        <m:r>
                          <a:rPr lang="zh-TW" altLang="en-US" i="1">
                            <a:latin typeface="Cambria Math" panose="02040503050406030204" pitchFamily="18" charset="0"/>
                          </a:rPr>
                          <m:t>𝜙</m:t>
                        </m:r>
                      </m:sub>
                    </m:sSub>
                    <m:r>
                      <a:rPr lang="en-US" altLang="zh-TW" b="0" i="1" smtClean="0">
                        <a:latin typeface="Cambria Math" panose="02040503050406030204" pitchFamily="18" charset="0"/>
                      </a:rPr>
                      <m:t>]=[1 2 3]</m:t>
                    </m:r>
                  </m:oMath>
                </a14:m>
                <a:endParaRPr lang="en-US" altLang="zh-TW" dirty="0"/>
              </a:p>
              <a:p>
                <a:pPr marL="342900" indent="-342900">
                  <a:buFont typeface="+mj-lt"/>
                  <a:buAutoNum type="arabicPeriod"/>
                </a:pPr>
                <a:endParaRPr lang="en-US" altLang="zh-TW" dirty="0"/>
              </a:p>
              <a:p>
                <a:pPr marL="342900" indent="-342900">
                  <a:buFont typeface="+mj-lt"/>
                  <a:buAutoNum type="arabicPeriod"/>
                </a:pPr>
                <a:endParaRPr lang="en-US" altLang="zh-TW" dirty="0"/>
              </a:p>
              <a:p>
                <a:pPr marL="342900" indent="-342900">
                  <a:buFont typeface="+mj-lt"/>
                  <a:buAutoNum type="arabicPeriod"/>
                </a:pPr>
                <a:r>
                  <a:rPr lang="en-US" altLang="zh-TW" dirty="0"/>
                  <a:t>Ratio of the Three Parameters</a:t>
                </a:r>
                <a14:m>
                  <m:oMath xmlns:m="http://schemas.openxmlformats.org/officeDocument/2006/math">
                    <m:r>
                      <a:rPr lang="en-US" altLang="zh-TW" i="1" smtClean="0">
                        <a:latin typeface="Cambria Math" panose="02040503050406030204" pitchFamily="18" charset="0"/>
                        <a:ea typeface="Cambria Math" panose="02040503050406030204" pitchFamily="18" charset="0"/>
                      </a:rPr>
                      <m:t>=</m:t>
                    </m:r>
                    <m:d>
                      <m:dPr>
                        <m:begChr m:val="["/>
                        <m:endChr m:val="]"/>
                        <m:ctrlPr>
                          <a:rPr lang="en-US" altLang="zh-TW" b="0" i="1" smtClean="0">
                            <a:latin typeface="Cambria Math" panose="02040503050406030204" pitchFamily="18" charset="0"/>
                            <a:ea typeface="Cambria Math" panose="02040503050406030204" pitchFamily="18" charset="0"/>
                          </a:rPr>
                        </m:ctrlPr>
                      </m:dPr>
                      <m:e>
                        <m:r>
                          <a:rPr lang="en-US" altLang="zh-TW" b="0" i="1" smtClean="0">
                            <a:latin typeface="Cambria Math" panose="02040503050406030204" pitchFamily="18" charset="0"/>
                            <a:ea typeface="Cambria Math" panose="02040503050406030204" pitchFamily="18" charset="0"/>
                          </a:rPr>
                          <m:t>1 3 3</m:t>
                        </m:r>
                        <m:r>
                          <a:rPr lang="zh-TW" altLang="en-US" b="0" i="1" smtClean="0">
                            <a:latin typeface="Cambria Math" panose="02040503050406030204" pitchFamily="18" charset="0"/>
                            <a:ea typeface="Cambria Math" panose="02040503050406030204" pitchFamily="18" charset="0"/>
                          </a:rPr>
                          <m:t>𝜋</m:t>
                        </m:r>
                      </m:e>
                    </m:d>
                  </m:oMath>
                </a14:m>
                <a:endParaRPr lang="en-US" altLang="zh-TW" b="0" dirty="0">
                  <a:ea typeface="Cambria Math" panose="02040503050406030204" pitchFamily="18" charset="0"/>
                </a:endParaRPr>
              </a:p>
              <a:p>
                <a:pPr marL="342900" indent="-342900">
                  <a:buFont typeface="+mj-lt"/>
                  <a:buAutoNum type="arabicPeriod"/>
                </a:pPr>
                <a:endParaRPr lang="en-US" altLang="zh-TW" dirty="0"/>
              </a:p>
              <a:p>
                <a:pPr marL="342900" indent="-342900">
                  <a:buFont typeface="+mj-lt"/>
                  <a:buAutoNum type="arabicPeriod"/>
                </a:pPr>
                <a:endParaRPr lang="en-US" altLang="zh-TW" dirty="0"/>
              </a:p>
              <a:p>
                <a:pPr marL="342900" indent="-342900">
                  <a:buFont typeface="+mj-lt"/>
                  <a:buAutoNum type="arabicPeriod"/>
                </a:pPr>
                <a:r>
                  <a:rPr lang="en-US" altLang="zh-TW" dirty="0"/>
                  <a:t>Calculation at Each Step </a:t>
                </a:r>
                <a14:m>
                  <m:oMath xmlns:m="http://schemas.openxmlformats.org/officeDocument/2006/math">
                    <m:r>
                      <a:rPr lang="en-US" altLang="zh-TW" b="0" i="1" smtClean="0">
                        <a:latin typeface="Cambria Math" panose="02040503050406030204" pitchFamily="18" charset="0"/>
                      </a:rPr>
                      <m:t>[</m:t>
                    </m:r>
                    <m:f>
                      <m:fPr>
                        <m:ctrlPr>
                          <a:rPr lang="en-US" altLang="zh-TW" b="0" i="1" smtClean="0">
                            <a:latin typeface="Cambria Math" panose="02040503050406030204" pitchFamily="18" charset="0"/>
                          </a:rPr>
                        </m:ctrlPr>
                      </m:fPr>
                      <m:num>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𝑁</m:t>
                            </m:r>
                          </m:e>
                          <m:sub>
                            <m:r>
                              <a:rPr lang="en-US" altLang="zh-TW" b="0" i="1" smtClean="0">
                                <a:latin typeface="Cambria Math" panose="02040503050406030204" pitchFamily="18" charset="0"/>
                              </a:rPr>
                              <m:t>𝑟</m:t>
                            </m:r>
                          </m:sub>
                        </m:sSub>
                      </m:num>
                      <m:den>
                        <m:r>
                          <a:rPr lang="en-US" altLang="zh-TW" b="0" i="1" smtClean="0">
                            <a:latin typeface="Cambria Math" panose="02040503050406030204" pitchFamily="18" charset="0"/>
                          </a:rPr>
                          <m:t>1</m:t>
                        </m:r>
                      </m:den>
                    </m:f>
                    <m:r>
                      <a:rPr lang="en-US" altLang="zh-TW" b="0" i="1" smtClean="0">
                        <a:latin typeface="Cambria Math" panose="02040503050406030204" pitchFamily="18" charset="0"/>
                      </a:rPr>
                      <m:t>,</m:t>
                    </m:r>
                    <m:f>
                      <m:fPr>
                        <m:ctrlPr>
                          <a:rPr lang="en-US" altLang="zh-TW" i="1">
                            <a:latin typeface="Cambria Math" panose="02040503050406030204" pitchFamily="18" charset="0"/>
                          </a:rPr>
                        </m:ctrlPr>
                      </m:fPr>
                      <m:num>
                        <m:sSub>
                          <m:sSubPr>
                            <m:ctrlPr>
                              <a:rPr lang="en-US" altLang="zh-TW" i="1">
                                <a:latin typeface="Cambria Math" panose="02040503050406030204" pitchFamily="18" charset="0"/>
                              </a:rPr>
                            </m:ctrlPr>
                          </m:sSubPr>
                          <m:e>
                            <m:r>
                              <a:rPr lang="en-US" altLang="zh-TW" i="1">
                                <a:latin typeface="Cambria Math" panose="02040503050406030204" pitchFamily="18" charset="0"/>
                              </a:rPr>
                              <m:t>𝑁</m:t>
                            </m:r>
                          </m:e>
                          <m:sub>
                            <m:r>
                              <a:rPr lang="zh-TW" altLang="en-US" i="1" smtClean="0">
                                <a:latin typeface="Cambria Math" panose="02040503050406030204" pitchFamily="18" charset="0"/>
                              </a:rPr>
                              <m:t>𝜃</m:t>
                            </m:r>
                          </m:sub>
                        </m:sSub>
                      </m:num>
                      <m:den>
                        <m:r>
                          <a:rPr lang="en-US" altLang="zh-TW" b="0" i="1" smtClean="0">
                            <a:latin typeface="Cambria Math" panose="02040503050406030204" pitchFamily="18" charset="0"/>
                          </a:rPr>
                          <m:t>3</m:t>
                        </m:r>
                      </m:den>
                    </m:f>
                    <m:r>
                      <a:rPr lang="en-US" altLang="zh-TW" b="0" i="1" smtClean="0">
                        <a:latin typeface="Cambria Math" panose="02040503050406030204" pitchFamily="18" charset="0"/>
                      </a:rPr>
                      <m:t>,</m:t>
                    </m:r>
                    <m:f>
                      <m:fPr>
                        <m:ctrlPr>
                          <a:rPr lang="en-US" altLang="zh-TW" i="1">
                            <a:latin typeface="Cambria Math" panose="02040503050406030204" pitchFamily="18" charset="0"/>
                          </a:rPr>
                        </m:ctrlPr>
                      </m:fPr>
                      <m:num>
                        <m:sSub>
                          <m:sSubPr>
                            <m:ctrlPr>
                              <a:rPr lang="en-US" altLang="zh-TW" i="1">
                                <a:latin typeface="Cambria Math" panose="02040503050406030204" pitchFamily="18" charset="0"/>
                              </a:rPr>
                            </m:ctrlPr>
                          </m:sSubPr>
                          <m:e>
                            <m:r>
                              <a:rPr lang="en-US" altLang="zh-TW" i="1">
                                <a:latin typeface="Cambria Math" panose="02040503050406030204" pitchFamily="18" charset="0"/>
                              </a:rPr>
                              <m:t>𝑁</m:t>
                            </m:r>
                          </m:e>
                          <m:sub>
                            <m:r>
                              <a:rPr lang="zh-TW" altLang="en-US" i="1" smtClean="0">
                                <a:latin typeface="Cambria Math" panose="02040503050406030204" pitchFamily="18" charset="0"/>
                              </a:rPr>
                              <m:t>𝜙</m:t>
                            </m:r>
                          </m:sub>
                        </m:sSub>
                      </m:num>
                      <m:den>
                        <m:r>
                          <a:rPr lang="en-US" altLang="zh-TW" i="1">
                            <a:latin typeface="Cambria Math" panose="02040503050406030204" pitchFamily="18" charset="0"/>
                          </a:rPr>
                          <m:t>3</m:t>
                        </m:r>
                        <m:r>
                          <a:rPr lang="zh-TW" altLang="en-US" i="1" smtClean="0">
                            <a:latin typeface="Cambria Math" panose="02040503050406030204" pitchFamily="18" charset="0"/>
                          </a:rPr>
                          <m:t>𝜋</m:t>
                        </m:r>
                      </m:den>
                    </m:f>
                    <m:r>
                      <a:rPr lang="en-US" altLang="zh-TW" b="0" i="1" smtClean="0">
                        <a:latin typeface="Cambria Math" panose="02040503050406030204" pitchFamily="18" charset="0"/>
                      </a:rPr>
                      <m:t>]</m:t>
                    </m:r>
                    <m:r>
                      <a:rPr lang="zh-TW" altLang="en-US" i="1">
                        <a:latin typeface="Cambria Math" panose="02040503050406030204" pitchFamily="18" charset="0"/>
                      </a:rPr>
                      <m:t>，</m:t>
                    </m:r>
                    <m:r>
                      <m:rPr>
                        <m:nor/>
                      </m:rPr>
                      <a:rPr lang="en-US" altLang="zh-TW"/>
                      <m:t>Increment</m:t>
                    </m:r>
                    <m:r>
                      <m:rPr>
                        <m:nor/>
                      </m:rPr>
                      <a:rPr lang="en-US" altLang="zh-TW"/>
                      <m:t> </m:t>
                    </m:r>
                    <m:r>
                      <m:rPr>
                        <m:nor/>
                      </m:rPr>
                      <a:rPr lang="en-US" altLang="zh-TW"/>
                      <m:t>the</m:t>
                    </m:r>
                    <m:r>
                      <m:rPr>
                        <m:nor/>
                      </m:rPr>
                      <a:rPr lang="en-US" altLang="zh-TW"/>
                      <m:t> </m:t>
                    </m:r>
                    <m:r>
                      <m:rPr>
                        <m:nor/>
                      </m:rPr>
                      <a:rPr lang="en-US" altLang="zh-TW"/>
                      <m:t>field</m:t>
                    </m:r>
                    <m:r>
                      <m:rPr>
                        <m:nor/>
                      </m:rPr>
                      <a:rPr lang="en-US" altLang="zh-TW"/>
                      <m:t> </m:t>
                    </m:r>
                    <m:r>
                      <m:rPr>
                        <m:nor/>
                      </m:rPr>
                      <a:rPr lang="en-US" altLang="zh-TW"/>
                      <m:t>corresponding</m:t>
                    </m:r>
                    <m:r>
                      <m:rPr>
                        <m:nor/>
                      </m:rPr>
                      <a:rPr lang="en-US" altLang="zh-TW"/>
                      <m:t> </m:t>
                    </m:r>
                    <m:r>
                      <m:rPr>
                        <m:nor/>
                      </m:rPr>
                      <a:rPr lang="en-US" altLang="zh-TW"/>
                      <m:t>to</m:t>
                    </m:r>
                    <m:r>
                      <m:rPr>
                        <m:nor/>
                      </m:rPr>
                      <a:rPr lang="en-US" altLang="zh-TW"/>
                      <m:t> </m:t>
                    </m:r>
                    <m:r>
                      <m:rPr>
                        <m:nor/>
                      </m:rPr>
                      <a:rPr lang="en-US" altLang="zh-TW"/>
                      <m:t>the</m:t>
                    </m:r>
                    <m:r>
                      <m:rPr>
                        <m:nor/>
                      </m:rPr>
                      <a:rPr lang="en-US" altLang="zh-TW"/>
                      <m:t> </m:t>
                    </m:r>
                    <m:r>
                      <m:rPr>
                        <m:nor/>
                      </m:rPr>
                      <a:rPr lang="en-US" altLang="zh-TW"/>
                      <m:t>smallest</m:t>
                    </m:r>
                    <m:r>
                      <m:rPr>
                        <m:nor/>
                      </m:rPr>
                      <a:rPr lang="en-US" altLang="zh-TW"/>
                      <m:t> </m:t>
                    </m:r>
                    <m:r>
                      <m:rPr>
                        <m:nor/>
                      </m:rPr>
                      <a:rPr lang="en-US" altLang="zh-TW"/>
                      <m:t>quotient</m:t>
                    </m:r>
                    <m:r>
                      <m:rPr>
                        <m:nor/>
                      </m:rPr>
                      <a:rPr lang="en-US" altLang="zh-TW"/>
                      <m:t> </m:t>
                    </m:r>
                    <m:r>
                      <m:rPr>
                        <m:nor/>
                      </m:rPr>
                      <a:rPr lang="en-US" altLang="zh-TW"/>
                      <m:t>by</m:t>
                    </m:r>
                    <m:r>
                      <m:rPr>
                        <m:nor/>
                      </m:rPr>
                      <a:rPr lang="en-US" altLang="zh-TW"/>
                      <m:t> 1 </m:t>
                    </m:r>
                    <m:r>
                      <m:rPr>
                        <m:nor/>
                      </m:rPr>
                      <a:rPr lang="en-US" altLang="zh-TW"/>
                      <m:t>until</m:t>
                    </m:r>
                    <m:r>
                      <m:rPr>
                        <m:nor/>
                      </m:rPr>
                      <a:rPr lang="en-US" altLang="zh-TW"/>
                      <m:t> </m:t>
                    </m:r>
                    <m:r>
                      <m:rPr>
                        <m:nor/>
                      </m:rPr>
                      <a:rPr lang="en-US" altLang="zh-TW"/>
                      <m:t>a</m:t>
                    </m:r>
                    <m:r>
                      <m:rPr>
                        <m:nor/>
                      </m:rPr>
                      <a:rPr lang="en-US" altLang="zh-TW"/>
                      <m:t> </m:t>
                    </m:r>
                    <m:r>
                      <m:rPr>
                        <m:nor/>
                      </m:rPr>
                      <a:rPr lang="en-US" altLang="zh-TW"/>
                      <m:t>point</m:t>
                    </m:r>
                    <m:r>
                      <m:rPr>
                        <m:nor/>
                      </m:rPr>
                      <a:rPr lang="en-US" altLang="zh-TW"/>
                      <m:t>−</m:t>
                    </m:r>
                    <m:r>
                      <m:rPr>
                        <m:nor/>
                      </m:rPr>
                      <a:rPr lang="en-US" altLang="zh-TW"/>
                      <m:t>count</m:t>
                    </m:r>
                    <m:r>
                      <m:rPr>
                        <m:nor/>
                      </m:rPr>
                      <a:rPr lang="en-US" altLang="zh-TW"/>
                      <m:t> </m:t>
                    </m:r>
                    <m:r>
                      <m:rPr>
                        <m:nor/>
                      </m:rPr>
                      <a:rPr lang="en-US" altLang="zh-TW"/>
                      <m:t>combination</m:t>
                    </m:r>
                    <m:r>
                      <m:rPr>
                        <m:nor/>
                      </m:rPr>
                      <a:rPr lang="en-US" altLang="zh-TW"/>
                      <m:t> </m:t>
                    </m:r>
                    <m:r>
                      <m:rPr>
                        <m:nor/>
                      </m:rPr>
                      <a:rPr lang="en-US" altLang="zh-TW"/>
                      <m:t>satisfying</m:t>
                    </m:r>
                    <m:r>
                      <m:rPr>
                        <m:nor/>
                      </m:rPr>
                      <a:rPr lang="en-US" altLang="zh-TW"/>
                      <m:t> </m:t>
                    </m:r>
                    <m:r>
                      <m:rPr>
                        <m:nor/>
                      </m:rPr>
                      <a:rPr lang="en-US" altLang="zh-TW"/>
                      <m:t>the</m:t>
                    </m:r>
                    <m:r>
                      <m:rPr>
                        <m:nor/>
                      </m:rPr>
                      <a:rPr lang="en-US" altLang="zh-TW"/>
                      <m:t> </m:t>
                    </m:r>
                    <m:r>
                      <m:rPr>
                        <m:nor/>
                      </m:rPr>
                      <a:rPr lang="en-US" altLang="zh-TW"/>
                      <m:t>criteria</m:t>
                    </m:r>
                    <m:r>
                      <m:rPr>
                        <m:nor/>
                      </m:rPr>
                      <a:rPr lang="en-US" altLang="zh-TW"/>
                      <m:t> </m:t>
                    </m:r>
                    <m:r>
                      <m:rPr>
                        <m:nor/>
                      </m:rPr>
                      <a:rPr lang="en-US" altLang="zh-TW"/>
                      <m:t>is</m:t>
                    </m:r>
                    <m:r>
                      <m:rPr>
                        <m:nor/>
                      </m:rPr>
                      <a:rPr lang="en-US" altLang="zh-TW"/>
                      <m:t> </m:t>
                    </m:r>
                    <m:r>
                      <m:rPr>
                        <m:nor/>
                      </m:rPr>
                      <a:rPr lang="en-US" altLang="zh-TW"/>
                      <m:t>found</m:t>
                    </m:r>
                    <m:r>
                      <m:rPr>
                        <m:nor/>
                      </m:rPr>
                      <a:rPr lang="en-US" altLang="zh-TW"/>
                      <m:t>.</m:t>
                    </m:r>
                  </m:oMath>
                </a14:m>
                <a:endParaRPr lang="en-US" altLang="zh-TW" dirty="0"/>
              </a:p>
              <a:p>
                <a:pPr marL="342900" indent="-342900">
                  <a:buFont typeface="+mj-lt"/>
                  <a:buAutoNum type="arabicPeriod"/>
                </a:pPr>
                <a:endParaRPr lang="en-US" altLang="zh-TW" dirty="0"/>
              </a:p>
              <a:p>
                <a:pPr marL="342900" indent="-342900">
                  <a:buFont typeface="+mj-lt"/>
                  <a:buAutoNum type="arabicPeriod"/>
                </a:pPr>
                <a:endParaRPr lang="en-US" altLang="zh-TW" dirty="0"/>
              </a:p>
              <a:p>
                <a:endParaRPr lang="zh-TW" altLang="en-US" dirty="0"/>
              </a:p>
            </p:txBody>
          </p:sp>
        </mc:Choice>
        <mc:Fallback xmlns="">
          <p:sp>
            <p:nvSpPr>
              <p:cNvPr id="12" name="文字方塊 11">
                <a:extLst>
                  <a:ext uri="{FF2B5EF4-FFF2-40B4-BE49-F238E27FC236}">
                    <a16:creationId xmlns:a16="http://schemas.microsoft.com/office/drawing/2014/main" id="{CCED5BA9-38C0-4DFD-921E-90F2FF1A615D}"/>
                  </a:ext>
                </a:extLst>
              </p:cNvPr>
              <p:cNvSpPr txBox="1">
                <a:spLocks noRot="1" noChangeAspect="1" noMove="1" noResize="1" noEditPoints="1" noAdjustHandles="1" noChangeArrowheads="1" noChangeShapeType="1" noTextEdit="1"/>
              </p:cNvSpPr>
              <p:nvPr/>
            </p:nvSpPr>
            <p:spPr>
              <a:xfrm>
                <a:off x="135467" y="1102250"/>
                <a:ext cx="11430000" cy="3298532"/>
              </a:xfrm>
              <a:prstGeom prst="rect">
                <a:avLst/>
              </a:prstGeom>
              <a:blipFill>
                <a:blip r:embed="rId2"/>
                <a:stretch>
                  <a:fillRect l="-427" t="-924"/>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16554818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0" name="文字方塊 39">
            <a:extLst>
              <a:ext uri="{FF2B5EF4-FFF2-40B4-BE49-F238E27FC236}">
                <a16:creationId xmlns:a16="http://schemas.microsoft.com/office/drawing/2014/main" id="{B1E82766-E1D8-4AA6-A2B9-6AEA170385C0}"/>
              </a:ext>
            </a:extLst>
          </p:cNvPr>
          <p:cNvSpPr txBox="1"/>
          <p:nvPr/>
        </p:nvSpPr>
        <p:spPr>
          <a:xfrm>
            <a:off x="0" y="282042"/>
            <a:ext cx="6324600" cy="390684"/>
          </a:xfrm>
          <a:prstGeom prst="rect">
            <a:avLst/>
          </a:prstGeom>
          <a:noFill/>
        </p:spPr>
        <p:txBody>
          <a:bodyPr wrap="square" rtlCol="0">
            <a:spAutoFit/>
          </a:bodyPr>
          <a:lstStyle/>
          <a:p>
            <a:pPr>
              <a:lnSpc>
                <a:spcPct val="115000"/>
              </a:lnSpc>
              <a:spcAft>
                <a:spcPts val="800"/>
              </a:spcAft>
            </a:pPr>
            <a:r>
              <a:rPr lang="en-US" altLang="zh-TW"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E</a:t>
            </a:r>
            <a:r>
              <a:rPr lang="en-US" altLang="zh-TW"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 </a:t>
            </a:r>
            <a:r>
              <a:rPr lang="en-US" altLang="zh-TW" i="1"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Validation</a:t>
            </a:r>
            <a:endParaRPr lang="zh-TW" altLang="zh-TW" kern="100" dirty="0">
              <a:effectLst/>
              <a:latin typeface="Aptos"/>
              <a:ea typeface="新細明體" panose="02020500000000000000" pitchFamily="18" charset="-120"/>
              <a:cs typeface="Times New Roman" panose="02020603050405020304" pitchFamily="18" charset="0"/>
            </a:endParaRPr>
          </a:p>
        </p:txBody>
      </p:sp>
      <p:sp>
        <p:nvSpPr>
          <p:cNvPr id="6" name="文字方塊 5">
            <a:extLst>
              <a:ext uri="{FF2B5EF4-FFF2-40B4-BE49-F238E27FC236}">
                <a16:creationId xmlns:a16="http://schemas.microsoft.com/office/drawing/2014/main" id="{31ACE95C-3F52-4F1D-AC27-AFA6A8DD7680}"/>
              </a:ext>
            </a:extLst>
          </p:cNvPr>
          <p:cNvSpPr txBox="1"/>
          <p:nvPr/>
        </p:nvSpPr>
        <p:spPr>
          <a:xfrm>
            <a:off x="27458" y="552713"/>
            <a:ext cx="4544541" cy="369332"/>
          </a:xfrm>
          <a:prstGeom prst="rect">
            <a:avLst/>
          </a:prstGeom>
          <a:noFill/>
        </p:spPr>
        <p:txBody>
          <a:bodyPr wrap="square" rtlCol="0">
            <a:spAutoFit/>
          </a:bodyPr>
          <a:lstStyle/>
          <a:p>
            <a:pPr marL="285750" indent="-285750">
              <a:buFont typeface="Wingdings" panose="05000000000000000000" pitchFamily="2" charset="2"/>
              <a:buChar char="l"/>
            </a:pPr>
            <a:r>
              <a:rPr lang="en-US" altLang="zh-TW" dirty="0">
                <a:latin typeface="Times New Roman" panose="02020603050405020304" pitchFamily="18" charset="0"/>
                <a:cs typeface="Times New Roman" panose="02020603050405020304" pitchFamily="18" charset="0"/>
              </a:rPr>
              <a:t>Interpolation Point Algorithm</a:t>
            </a:r>
            <a:endParaRPr lang="zh-TW" altLang="en-US" dirty="0">
              <a:latin typeface="Times New Roman" panose="02020603050405020304" pitchFamily="18" charset="0"/>
              <a:cs typeface="Times New Roman" panose="02020603050405020304" pitchFamily="18" charset="0"/>
            </a:endParaRPr>
          </a:p>
        </p:txBody>
      </p:sp>
      <p:grpSp>
        <p:nvGrpSpPr>
          <p:cNvPr id="5" name="群組 4">
            <a:extLst>
              <a:ext uri="{FF2B5EF4-FFF2-40B4-BE49-F238E27FC236}">
                <a16:creationId xmlns:a16="http://schemas.microsoft.com/office/drawing/2014/main" id="{4C4C9969-1B44-4A59-A7E0-FC50AC2A4271}"/>
              </a:ext>
            </a:extLst>
          </p:cNvPr>
          <p:cNvGrpSpPr/>
          <p:nvPr/>
        </p:nvGrpSpPr>
        <p:grpSpPr>
          <a:xfrm>
            <a:off x="412433" y="4672988"/>
            <a:ext cx="2345798" cy="2058673"/>
            <a:chOff x="318690" y="3303224"/>
            <a:chExt cx="3702977" cy="3002063"/>
          </a:xfrm>
        </p:grpSpPr>
        <p:sp>
          <p:nvSpPr>
            <p:cNvPr id="3" name="矩形 2">
              <a:extLst>
                <a:ext uri="{FF2B5EF4-FFF2-40B4-BE49-F238E27FC236}">
                  <a16:creationId xmlns:a16="http://schemas.microsoft.com/office/drawing/2014/main" id="{68A97F66-D40E-4AE5-9BB8-EB697B953184}"/>
                </a:ext>
              </a:extLst>
            </p:cNvPr>
            <p:cNvSpPr/>
            <p:nvPr/>
          </p:nvSpPr>
          <p:spPr>
            <a:xfrm>
              <a:off x="2048933" y="5985933"/>
              <a:ext cx="1972734" cy="31935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CA362B68-8F37-4BBB-9784-37CA0CAA23D0}"/>
                </a:ext>
              </a:extLst>
            </p:cNvPr>
            <p:cNvSpPr/>
            <p:nvPr/>
          </p:nvSpPr>
          <p:spPr>
            <a:xfrm rot="16200000">
              <a:off x="-508000" y="4129914"/>
              <a:ext cx="1972734" cy="31935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grpSp>
        <p:nvGrpSpPr>
          <p:cNvPr id="8" name="群組 7">
            <a:extLst>
              <a:ext uri="{FF2B5EF4-FFF2-40B4-BE49-F238E27FC236}">
                <a16:creationId xmlns:a16="http://schemas.microsoft.com/office/drawing/2014/main" id="{91081E8E-4A21-4CFA-B87B-CE8D6BA8512B}"/>
              </a:ext>
            </a:extLst>
          </p:cNvPr>
          <p:cNvGrpSpPr/>
          <p:nvPr/>
        </p:nvGrpSpPr>
        <p:grpSpPr>
          <a:xfrm>
            <a:off x="1067095" y="4542832"/>
            <a:ext cx="2008760" cy="1722057"/>
            <a:chOff x="1009082" y="4368800"/>
            <a:chExt cx="2271409" cy="1845464"/>
          </a:xfrm>
        </p:grpSpPr>
        <p:sp>
          <p:nvSpPr>
            <p:cNvPr id="4" name="矩形 3">
              <a:extLst>
                <a:ext uri="{FF2B5EF4-FFF2-40B4-BE49-F238E27FC236}">
                  <a16:creationId xmlns:a16="http://schemas.microsoft.com/office/drawing/2014/main" id="{B7E317EE-9350-4E48-B5B8-C659C8A7DB3E}"/>
                </a:ext>
              </a:extLst>
            </p:cNvPr>
            <p:cNvSpPr/>
            <p:nvPr/>
          </p:nvSpPr>
          <p:spPr>
            <a:xfrm>
              <a:off x="1009082" y="4368800"/>
              <a:ext cx="190231" cy="11091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9" name="矩形 18">
              <a:extLst>
                <a:ext uri="{FF2B5EF4-FFF2-40B4-BE49-F238E27FC236}">
                  <a16:creationId xmlns:a16="http://schemas.microsoft.com/office/drawing/2014/main" id="{43D4EBAC-202E-436B-825F-230919A14899}"/>
                </a:ext>
              </a:extLst>
            </p:cNvPr>
            <p:cNvSpPr/>
            <p:nvPr/>
          </p:nvSpPr>
          <p:spPr>
            <a:xfrm rot="5400000">
              <a:off x="2630809" y="5564582"/>
              <a:ext cx="190231" cy="11091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6" name="文字方塊 15">
                <a:extLst>
                  <a:ext uri="{FF2B5EF4-FFF2-40B4-BE49-F238E27FC236}">
                    <a16:creationId xmlns:a16="http://schemas.microsoft.com/office/drawing/2014/main" id="{680649BF-43EB-4D87-A80C-5D9C6A6A8C91}"/>
                  </a:ext>
                </a:extLst>
              </p:cNvPr>
              <p:cNvSpPr txBox="1"/>
              <p:nvPr/>
            </p:nvSpPr>
            <p:spPr>
              <a:xfrm>
                <a:off x="0" y="829602"/>
                <a:ext cx="11882359" cy="2933239"/>
              </a:xfrm>
              <a:prstGeom prst="rect">
                <a:avLst/>
              </a:prstGeom>
              <a:noFill/>
            </p:spPr>
            <p:txBody>
              <a:bodyPr wrap="square" rtlCol="0">
                <a:spAutoFit/>
              </a:bodyPr>
              <a:lstStyle/>
              <a:p>
                <a:pPr marL="285750" indent="-285750">
                  <a:buFont typeface="Arial" panose="020B0604020202020204" pitchFamily="34" charset="0"/>
                  <a:buChar char="•"/>
                </a:pPr>
                <a:r>
                  <a:rPr lang="en-US" altLang="zh-TW" dirty="0"/>
                  <a:t>Therefore, the evaluation criteria are revised as follows: the </a:t>
                </a:r>
                <a14:m>
                  <m:oMath xmlns:m="http://schemas.openxmlformats.org/officeDocument/2006/math">
                    <m:sPre>
                      <m:sPrePr>
                        <m:ctrlPr>
                          <a:rPr lang="en-US" altLang="zh-TW" i="1">
                            <a:latin typeface="Cambria Math" panose="02040503050406030204" pitchFamily="18" charset="0"/>
                          </a:rPr>
                        </m:ctrlPr>
                      </m:sPrePr>
                      <m:sub/>
                      <m:sup>
                        <m:r>
                          <a:rPr lang="en-US" altLang="zh-TW" i="1">
                            <a:latin typeface="Cambria Math" panose="02040503050406030204" pitchFamily="18" charset="0"/>
                          </a:rPr>
                          <m:t>𝐵</m:t>
                        </m:r>
                      </m:sup>
                      <m:e>
                        <m:sSub>
                          <m:sSubPr>
                            <m:ctrlPr>
                              <a:rPr lang="en-US" altLang="zh-TW" i="1">
                                <a:latin typeface="Cambria Math" panose="02040503050406030204" pitchFamily="18" charset="0"/>
                              </a:rPr>
                            </m:ctrlPr>
                          </m:sSubPr>
                          <m:e>
                            <m:acc>
                              <m:accPr>
                                <m:chr m:val="̂"/>
                                <m:ctrlPr>
                                  <a:rPr lang="en-US" altLang="zh-TW" i="1">
                                    <a:latin typeface="Cambria Math" panose="02040503050406030204" pitchFamily="18" charset="0"/>
                                  </a:rPr>
                                </m:ctrlPr>
                              </m:accPr>
                              <m:e>
                                <m:r>
                                  <a:rPr lang="en-US" altLang="zh-TW" i="1">
                                    <a:latin typeface="Cambria Math" panose="02040503050406030204" pitchFamily="18" charset="0"/>
                                  </a:rPr>
                                  <m:t>𝑔</m:t>
                                </m:r>
                              </m:e>
                            </m:acc>
                          </m:e>
                          <m:sub>
                            <m:r>
                              <a:rPr lang="en-US" altLang="zh-TW" i="1">
                                <a:latin typeface="Cambria Math" panose="02040503050406030204" pitchFamily="18" charset="0"/>
                              </a:rPr>
                              <m:t>𝐼</m:t>
                            </m:r>
                          </m:sub>
                        </m:sSub>
                      </m:e>
                    </m:sPre>
                  </m:oMath>
                </a14:m>
                <a:r>
                  <a:rPr lang="en-US" altLang="zh-TW" dirty="0"/>
                  <a:t>  and </a:t>
                </a:r>
                <a14:m>
                  <m:oMath xmlns:m="http://schemas.openxmlformats.org/officeDocument/2006/math">
                    <m:acc>
                      <m:accPr>
                        <m:chr m:val="̂"/>
                        <m:ctrlPr>
                          <a:rPr lang="en-US" altLang="zh-TW" i="1" smtClean="0">
                            <a:latin typeface="Cambria Math" panose="02040503050406030204" pitchFamily="18" charset="0"/>
                          </a:rPr>
                        </m:ctrlPr>
                      </m:accPr>
                      <m:e>
                        <m:r>
                          <a:rPr lang="en-US" altLang="zh-TW" i="1" smtClean="0">
                            <a:latin typeface="Cambria Math" panose="02040503050406030204" pitchFamily="18" charset="0"/>
                            <a:ea typeface="Cambria Math" panose="02040503050406030204" pitchFamily="18" charset="0"/>
                          </a:rPr>
                          <m:t>ℓ</m:t>
                        </m:r>
                      </m:e>
                    </m:acc>
                  </m:oMath>
                </a14:m>
                <a:r>
                  <a:rPr lang="en-US" altLang="zh-TW" dirty="0"/>
                  <a:t>must be stable, with the relative errors of the following ten points with respect to their respective preceding points being less than 0.5%, and </a:t>
                </a:r>
                <a14:m>
                  <m:oMath xmlns:m="http://schemas.openxmlformats.org/officeDocument/2006/math">
                    <m:sSub>
                      <m:sSubPr>
                        <m:ctrlPr>
                          <a:rPr lang="en-US" altLang="zh-TW" i="1" smtClean="0">
                            <a:latin typeface="Cambria Math" panose="02040503050406030204" pitchFamily="18" charset="0"/>
                          </a:rPr>
                        </m:ctrlPr>
                      </m:sSubPr>
                      <m:e>
                        <m:acc>
                          <m:accPr>
                            <m:chr m:val="̅"/>
                            <m:ctrlPr>
                              <a:rPr lang="en-US" altLang="zh-TW" i="1" smtClean="0">
                                <a:latin typeface="Cambria Math" panose="02040503050406030204" pitchFamily="18" charset="0"/>
                              </a:rPr>
                            </m:ctrlPr>
                          </m:accPr>
                          <m:e>
                            <m:r>
                              <a:rPr lang="en-US" altLang="zh-TW" b="0" i="1" smtClean="0">
                                <a:latin typeface="Cambria Math" panose="02040503050406030204" pitchFamily="18" charset="0"/>
                              </a:rPr>
                              <m:t>𝐾</m:t>
                            </m:r>
                          </m:e>
                        </m:acc>
                      </m:e>
                      <m:sub>
                        <m:r>
                          <a:rPr lang="en-US" altLang="zh-TW" b="0" i="1" smtClean="0">
                            <a:latin typeface="Cambria Math" panose="02040503050406030204" pitchFamily="18" charset="0"/>
                          </a:rPr>
                          <m:t>𝐼</m:t>
                        </m:r>
                      </m:sub>
                    </m:sSub>
                  </m:oMath>
                </a14:m>
                <a:r>
                  <a:rPr lang="en-US" altLang="zh-TW" dirty="0"/>
                  <a:t>​ must exhibit a physically consistent distribution, i.e., diagonal dominance.</a:t>
                </a:r>
              </a:p>
              <a:p>
                <a:pPr marL="285750" indent="-285750">
                  <a:buFont typeface="Arial" panose="020B0604020202020204" pitchFamily="34" charset="0"/>
                  <a:buChar char="•"/>
                </a:pPr>
                <a:r>
                  <a:rPr lang="en-US" altLang="zh-TW" dirty="0"/>
                  <a:t>The first actual design is N = 6, where the blue curve (single parameter) jumps to 931 µm and the red curve (eighteen parameters) to 873.5 µm; both then flatten almost immediately, blue settling at 877 and red at 872. The two vertical dashed lines mark the convergence points of the </a:t>
                </a:r>
                <a14:m>
                  <m:oMath xmlns:m="http://schemas.openxmlformats.org/officeDocument/2006/math">
                    <m:acc>
                      <m:accPr>
                        <m:chr m:val="̂"/>
                        <m:ctrlPr>
                          <a:rPr lang="en-US" altLang="zh-TW" i="1" smtClean="0">
                            <a:latin typeface="Cambria Math" panose="02040503050406030204" pitchFamily="18" charset="0"/>
                          </a:rPr>
                        </m:ctrlPr>
                      </m:accPr>
                      <m:e>
                        <m:r>
                          <a:rPr lang="en-US" altLang="zh-TW" i="1" smtClean="0">
                            <a:latin typeface="Cambria Math" panose="02040503050406030204" pitchFamily="18" charset="0"/>
                            <a:ea typeface="Cambria Math" panose="02040503050406030204" pitchFamily="18" charset="0"/>
                          </a:rPr>
                          <m:t>ℓ</m:t>
                        </m:r>
                      </m:e>
                    </m:acc>
                  </m:oMath>
                </a14:m>
                <a:r>
                  <a:rPr lang="en-US" altLang="zh-TW" dirty="0"/>
                  <a:t> criterion (relative change below 0.5% for ten consecutive designs): red at </a:t>
                </a:r>
                <a:r>
                  <a:rPr lang="en-US" altLang="zh-TW" b="1" dirty="0"/>
                  <a:t>6 points </a:t>
                </a:r>
                <a:r>
                  <a:rPr lang="en-US" altLang="zh-TW" dirty="0"/>
                  <a:t>and blue at </a:t>
                </a:r>
                <a:r>
                  <a:rPr lang="en-US" altLang="zh-TW" b="1" dirty="0"/>
                  <a:t>8 points</a:t>
                </a:r>
                <a:r>
                  <a:rPr lang="en-US" altLang="zh-TW" dirty="0"/>
                  <a:t>.</a:t>
                </a:r>
              </a:p>
              <a:p>
                <a:pPr marL="285750" indent="-285750">
                  <a:buFont typeface="Arial" panose="020B0604020202020204" pitchFamily="34" charset="0"/>
                  <a:buChar char="•"/>
                </a:pPr>
                <a:r>
                  <a:rPr lang="en-US" altLang="zh-TW" dirty="0"/>
                  <a:t>The two dashed lines mark the convergence points of the </a:t>
                </a:r>
                <a14:m>
                  <m:oMath xmlns:m="http://schemas.openxmlformats.org/officeDocument/2006/math">
                    <m:sPre>
                      <m:sPrePr>
                        <m:ctrlPr>
                          <a:rPr lang="en-US" altLang="zh-TW" i="1" smtClean="0">
                            <a:latin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𝐼</m:t>
                            </m:r>
                          </m:sub>
                        </m:sSub>
                      </m:e>
                    </m:sPre>
                    <m:r>
                      <a:rPr lang="en-US" altLang="zh-TW" b="0" i="1" smtClean="0">
                        <a:latin typeface="Cambria Math" panose="02040503050406030204" pitchFamily="18" charset="0"/>
                      </a:rPr>
                      <m:t> </m:t>
                    </m:r>
                  </m:oMath>
                </a14:m>
                <a:r>
                  <a:rPr lang="en-US" altLang="zh-TW" dirty="0"/>
                  <a:t>criterion: red at </a:t>
                </a:r>
                <a:r>
                  <a:rPr lang="en-US" altLang="zh-TW" b="1" dirty="0"/>
                  <a:t>80 points </a:t>
                </a:r>
                <a:r>
                  <a:rPr lang="en-US" altLang="zh-TW" dirty="0"/>
                  <a:t>and blue at </a:t>
                </a:r>
                <a:r>
                  <a:rPr lang="en-US" altLang="zh-TW" b="1" dirty="0"/>
                  <a:t>528 points</a:t>
                </a:r>
                <a:r>
                  <a:rPr lang="en-US" altLang="zh-TW" dirty="0"/>
                  <a:t>. Therefore, by taking the intersection of these criteria, the required number of points is determined to be 528 for the single-parameter model and 80 for the eighteen-parameter model.</a:t>
                </a:r>
                <a:endParaRPr lang="zh-TW" altLang="en-US" dirty="0"/>
              </a:p>
            </p:txBody>
          </p:sp>
        </mc:Choice>
        <mc:Fallback xmlns="">
          <p:sp>
            <p:nvSpPr>
              <p:cNvPr id="16" name="文字方塊 15">
                <a:extLst>
                  <a:ext uri="{FF2B5EF4-FFF2-40B4-BE49-F238E27FC236}">
                    <a16:creationId xmlns:a16="http://schemas.microsoft.com/office/drawing/2014/main" id="{680649BF-43EB-4D87-A80C-5D9C6A6A8C91}"/>
                  </a:ext>
                </a:extLst>
              </p:cNvPr>
              <p:cNvSpPr txBox="1">
                <a:spLocks noRot="1" noChangeAspect="1" noMove="1" noResize="1" noEditPoints="1" noAdjustHandles="1" noChangeArrowheads="1" noChangeShapeType="1" noTextEdit="1"/>
              </p:cNvSpPr>
              <p:nvPr/>
            </p:nvSpPr>
            <p:spPr>
              <a:xfrm>
                <a:off x="0" y="829602"/>
                <a:ext cx="11882359" cy="2933239"/>
              </a:xfrm>
              <a:prstGeom prst="rect">
                <a:avLst/>
              </a:prstGeom>
              <a:blipFill>
                <a:blip r:embed="rId5"/>
                <a:stretch>
                  <a:fillRect l="-308" t="-208" b="-2495"/>
                </a:stretch>
              </a:blipFill>
            </p:spPr>
            <p:txBody>
              <a:bodyPr/>
              <a:lstStyle/>
              <a:p>
                <a:r>
                  <a:rPr lang="zh-TW" altLang="en-US">
                    <a:noFill/>
                  </a:rPr>
                  <a:t> </a:t>
                </a:r>
              </a:p>
            </p:txBody>
          </p:sp>
        </mc:Fallback>
      </mc:AlternateContent>
      <p:sp>
        <p:nvSpPr>
          <p:cNvPr id="28" name="文字方塊 27">
            <a:extLst>
              <a:ext uri="{FF2B5EF4-FFF2-40B4-BE49-F238E27FC236}">
                <a16:creationId xmlns:a16="http://schemas.microsoft.com/office/drawing/2014/main" id="{215B1C10-4A8D-4F5C-BA12-89D80FC3EC4E}"/>
              </a:ext>
            </a:extLst>
          </p:cNvPr>
          <p:cNvSpPr txBox="1"/>
          <p:nvPr/>
        </p:nvSpPr>
        <p:spPr>
          <a:xfrm>
            <a:off x="0" y="2339706"/>
            <a:ext cx="11978275" cy="369332"/>
          </a:xfrm>
          <a:prstGeom prst="rect">
            <a:avLst/>
          </a:prstGeom>
          <a:noFill/>
        </p:spPr>
        <p:txBody>
          <a:bodyPr wrap="square">
            <a:spAutoFit/>
          </a:bodyPr>
          <a:lstStyle/>
          <a:p>
            <a:pPr marL="285750" indent="-285750">
              <a:buFont typeface="Arial" panose="020B0604020202020204" pitchFamily="34" charset="0"/>
              <a:buChar char="•"/>
            </a:pPr>
            <a:endParaRPr lang="zh-TW" altLang="en-US" dirty="0"/>
          </a:p>
        </p:txBody>
      </p:sp>
      <p:grpSp>
        <p:nvGrpSpPr>
          <p:cNvPr id="27" name="群組 26">
            <a:extLst>
              <a:ext uri="{FF2B5EF4-FFF2-40B4-BE49-F238E27FC236}">
                <a16:creationId xmlns:a16="http://schemas.microsoft.com/office/drawing/2014/main" id="{720736BF-05DC-4FA3-BD2A-D5906CF89058}"/>
              </a:ext>
            </a:extLst>
          </p:cNvPr>
          <p:cNvGrpSpPr/>
          <p:nvPr/>
        </p:nvGrpSpPr>
        <p:grpSpPr>
          <a:xfrm>
            <a:off x="1380172" y="3914523"/>
            <a:ext cx="3164344" cy="2586717"/>
            <a:chOff x="1407654" y="3989241"/>
            <a:chExt cx="3164344" cy="2586717"/>
          </a:xfrm>
        </p:grpSpPr>
        <p:grpSp>
          <p:nvGrpSpPr>
            <p:cNvPr id="26" name="群組 25">
              <a:extLst>
                <a:ext uri="{FF2B5EF4-FFF2-40B4-BE49-F238E27FC236}">
                  <a16:creationId xmlns:a16="http://schemas.microsoft.com/office/drawing/2014/main" id="{AAFCFE30-B143-451C-BFFD-844F9CC3C8E4}"/>
                </a:ext>
              </a:extLst>
            </p:cNvPr>
            <p:cNvGrpSpPr/>
            <p:nvPr/>
          </p:nvGrpSpPr>
          <p:grpSpPr>
            <a:xfrm>
              <a:off x="1445169" y="3989241"/>
              <a:ext cx="3126829" cy="2586717"/>
              <a:chOff x="1445170" y="3989241"/>
              <a:chExt cx="2724532" cy="2182819"/>
            </a:xfrm>
          </p:grpSpPr>
          <p:pic>
            <p:nvPicPr>
              <p:cNvPr id="12" name="圖片 11">
                <a:extLst>
                  <a:ext uri="{FF2B5EF4-FFF2-40B4-BE49-F238E27FC236}">
                    <a16:creationId xmlns:a16="http://schemas.microsoft.com/office/drawing/2014/main" id="{9E4537B2-81C4-4B97-82D1-69C34AD5680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485203" y="3989241"/>
                <a:ext cx="2684499" cy="2132324"/>
              </a:xfrm>
              <a:prstGeom prst="rect">
                <a:avLst/>
              </a:prstGeom>
            </p:spPr>
          </p:pic>
          <p:sp>
            <p:nvSpPr>
              <p:cNvPr id="25" name="矩形 24">
                <a:extLst>
                  <a:ext uri="{FF2B5EF4-FFF2-40B4-BE49-F238E27FC236}">
                    <a16:creationId xmlns:a16="http://schemas.microsoft.com/office/drawing/2014/main" id="{50ABEE23-C0F3-4396-A9CE-84BD3E69946C}"/>
                  </a:ext>
                </a:extLst>
              </p:cNvPr>
              <p:cNvSpPr/>
              <p:nvPr/>
            </p:nvSpPr>
            <p:spPr>
              <a:xfrm>
                <a:off x="2471405" y="5994549"/>
                <a:ext cx="1079600" cy="17751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E446723F-AF09-4EBB-8350-A64FF607BED4}"/>
                  </a:ext>
                </a:extLst>
              </p:cNvPr>
              <p:cNvSpPr/>
              <p:nvPr/>
            </p:nvSpPr>
            <p:spPr>
              <a:xfrm rot="16200000">
                <a:off x="989487" y="4909206"/>
                <a:ext cx="1079600" cy="16823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7" name="文字方塊 6">
                  <a:extLst>
                    <a:ext uri="{FF2B5EF4-FFF2-40B4-BE49-F238E27FC236}">
                      <a16:creationId xmlns:a16="http://schemas.microsoft.com/office/drawing/2014/main" id="{967F4FBF-AEED-4ECE-9557-6071629C0C5B}"/>
                    </a:ext>
                  </a:extLst>
                </p:cNvPr>
                <p:cNvSpPr txBox="1"/>
                <p:nvPr/>
              </p:nvSpPr>
              <p:spPr>
                <a:xfrm>
                  <a:off x="2502574" y="6316841"/>
                  <a:ext cx="1381789"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altLang="zh-TW" sz="1400" b="0" i="0" smtClean="0">
                            <a:latin typeface="Cambria Math" panose="02040503050406030204" pitchFamily="18" charset="0"/>
                          </a:rPr>
                          <m:t>Number</m:t>
                        </m:r>
                        <m:r>
                          <a:rPr lang="en-US" altLang="zh-TW" sz="1400" b="0" i="0" smtClean="0">
                            <a:latin typeface="Cambria Math" panose="02040503050406030204" pitchFamily="18" charset="0"/>
                          </a:rPr>
                          <m:t> </m:t>
                        </m:r>
                        <m:r>
                          <m:rPr>
                            <m:sty m:val="p"/>
                          </m:rPr>
                          <a:rPr lang="en-US" altLang="zh-TW" sz="1400" b="0" i="0" smtClean="0">
                            <a:latin typeface="Cambria Math" panose="02040503050406030204" pitchFamily="18" charset="0"/>
                          </a:rPr>
                          <m:t>of</m:t>
                        </m:r>
                        <m:r>
                          <a:rPr lang="en-US" altLang="zh-TW" sz="1400" b="0" i="0" smtClean="0">
                            <a:latin typeface="Cambria Math" panose="02040503050406030204" pitchFamily="18" charset="0"/>
                          </a:rPr>
                          <m:t> </m:t>
                        </m:r>
                        <m:r>
                          <m:rPr>
                            <m:sty m:val="p"/>
                          </m:rPr>
                          <a:rPr lang="en-US" altLang="zh-TW" sz="1400" b="0" i="0" smtClean="0">
                            <a:latin typeface="Cambria Math" panose="02040503050406030204" pitchFamily="18" charset="0"/>
                          </a:rPr>
                          <m:t>points</m:t>
                        </m:r>
                      </m:oMath>
                    </m:oMathPara>
                  </a14:m>
                  <a:endParaRPr lang="zh-TW" altLang="en-US" sz="1400" dirty="0"/>
                </a:p>
              </p:txBody>
            </p:sp>
          </mc:Choice>
          <mc:Fallback xmlns="">
            <p:sp>
              <p:nvSpPr>
                <p:cNvPr id="7" name="文字方塊 6">
                  <a:extLst>
                    <a:ext uri="{FF2B5EF4-FFF2-40B4-BE49-F238E27FC236}">
                      <a16:creationId xmlns:a16="http://schemas.microsoft.com/office/drawing/2014/main" id="{967F4FBF-AEED-4ECE-9557-6071629C0C5B}"/>
                    </a:ext>
                  </a:extLst>
                </p:cNvPr>
                <p:cNvSpPr txBox="1">
                  <a:spLocks noRot="1" noChangeAspect="1" noMove="1" noResize="1" noEditPoints="1" noAdjustHandles="1" noChangeArrowheads="1" noChangeShapeType="1" noTextEdit="1"/>
                </p:cNvSpPr>
                <p:nvPr/>
              </p:nvSpPr>
              <p:spPr>
                <a:xfrm>
                  <a:off x="2502574" y="6316841"/>
                  <a:ext cx="1381789" cy="215444"/>
                </a:xfrm>
                <a:prstGeom prst="rect">
                  <a:avLst/>
                </a:prstGeom>
                <a:blipFill>
                  <a:blip r:embed="rId7"/>
                  <a:stretch>
                    <a:fillRect l="-2643" r="-3084" b="-3142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3" name="文字方塊 12">
                  <a:extLst>
                    <a:ext uri="{FF2B5EF4-FFF2-40B4-BE49-F238E27FC236}">
                      <a16:creationId xmlns:a16="http://schemas.microsoft.com/office/drawing/2014/main" id="{8AD4E5C0-D7AA-4972-A8B5-D3FF74D2338A}"/>
                    </a:ext>
                  </a:extLst>
                </p:cNvPr>
                <p:cNvSpPr txBox="1"/>
                <p:nvPr/>
              </p:nvSpPr>
              <p:spPr>
                <a:xfrm rot="16200000">
                  <a:off x="924630" y="4964854"/>
                  <a:ext cx="1192585" cy="226537"/>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US" altLang="zh-TW" sz="1400" b="1" i="1" smtClean="0">
                                <a:latin typeface="Cambria Math" panose="02040503050406030204" pitchFamily="18" charset="0"/>
                              </a:rPr>
                            </m:ctrlPr>
                          </m:accPr>
                          <m:e>
                            <m:r>
                              <a:rPr lang="en-US" altLang="zh-TW" sz="1400" b="1" i="1" smtClean="0">
                                <a:latin typeface="Cambria Math" panose="02040503050406030204" pitchFamily="18" charset="0"/>
                                <a:ea typeface="Cambria Math" panose="02040503050406030204" pitchFamily="18" charset="0"/>
                              </a:rPr>
                              <m:t>ℓ</m:t>
                            </m:r>
                          </m:e>
                        </m:acc>
                        <m:r>
                          <a:rPr lang="en-US" altLang="zh-TW" sz="1400" b="1" i="0" smtClean="0">
                            <a:latin typeface="Cambria Math" panose="02040503050406030204" pitchFamily="18" charset="0"/>
                          </a:rPr>
                          <m:t> (</m:t>
                        </m:r>
                        <m:r>
                          <a:rPr lang="el-GR" altLang="zh-TW" sz="1400" b="0" i="1">
                            <a:latin typeface="Cambria Math" panose="02040503050406030204" pitchFamily="18" charset="0"/>
                            <a:ea typeface="Cambria Math" panose="02040503050406030204" pitchFamily="18" charset="0"/>
                          </a:rPr>
                          <m:t>𝜇</m:t>
                        </m:r>
                        <m:r>
                          <a:rPr lang="en-US" altLang="zh-TW" sz="1400" b="0" i="1" smtClean="0">
                            <a:latin typeface="Cambria Math" panose="02040503050406030204" pitchFamily="18" charset="0"/>
                            <a:ea typeface="Cambria Math" panose="02040503050406030204" pitchFamily="18" charset="0"/>
                          </a:rPr>
                          <m:t>𝑚</m:t>
                        </m:r>
                        <m:r>
                          <a:rPr lang="en-US" altLang="zh-TW" sz="1400" b="1" i="0" smtClean="0">
                            <a:latin typeface="Cambria Math" panose="02040503050406030204" pitchFamily="18" charset="0"/>
                          </a:rPr>
                          <m:t>)</m:t>
                        </m:r>
                      </m:oMath>
                    </m:oMathPara>
                  </a14:m>
                  <a:endParaRPr lang="zh-TW" altLang="en-US" sz="1400" b="1" dirty="0"/>
                </a:p>
              </p:txBody>
            </p:sp>
          </mc:Choice>
          <mc:Fallback xmlns="">
            <p:sp>
              <p:nvSpPr>
                <p:cNvPr id="13" name="文字方塊 12">
                  <a:extLst>
                    <a:ext uri="{FF2B5EF4-FFF2-40B4-BE49-F238E27FC236}">
                      <a16:creationId xmlns:a16="http://schemas.microsoft.com/office/drawing/2014/main" id="{8AD4E5C0-D7AA-4972-A8B5-D3FF74D2338A}"/>
                    </a:ext>
                  </a:extLst>
                </p:cNvPr>
                <p:cNvSpPr txBox="1">
                  <a:spLocks noRot="1" noChangeAspect="1" noMove="1" noResize="1" noEditPoints="1" noAdjustHandles="1" noChangeArrowheads="1" noChangeShapeType="1" noTextEdit="1"/>
                </p:cNvSpPr>
                <p:nvPr/>
              </p:nvSpPr>
              <p:spPr>
                <a:xfrm rot="16200000">
                  <a:off x="924630" y="4964854"/>
                  <a:ext cx="1192585" cy="226537"/>
                </a:xfrm>
                <a:prstGeom prst="rect">
                  <a:avLst/>
                </a:prstGeom>
                <a:blipFill>
                  <a:blip r:embed="rId8"/>
                  <a:stretch>
                    <a:fillRect l="-23684" r="-28947"/>
                  </a:stretch>
                </a:blipFill>
              </p:spPr>
              <p:txBody>
                <a:bodyPr/>
                <a:lstStyle/>
                <a:p>
                  <a:r>
                    <a:rPr lang="zh-TW" altLang="en-US">
                      <a:noFill/>
                    </a:rPr>
                    <a:t> </a:t>
                  </a:r>
                </a:p>
              </p:txBody>
            </p:sp>
          </mc:Fallback>
        </mc:AlternateContent>
      </p:grpSp>
      <p:grpSp>
        <p:nvGrpSpPr>
          <p:cNvPr id="9" name="群組 8">
            <a:extLst>
              <a:ext uri="{FF2B5EF4-FFF2-40B4-BE49-F238E27FC236}">
                <a16:creationId xmlns:a16="http://schemas.microsoft.com/office/drawing/2014/main" id="{2DD94B81-4154-4DA8-91AA-05C9D52771BE}"/>
              </a:ext>
            </a:extLst>
          </p:cNvPr>
          <p:cNvGrpSpPr/>
          <p:nvPr/>
        </p:nvGrpSpPr>
        <p:grpSpPr>
          <a:xfrm>
            <a:off x="6913066" y="4496482"/>
            <a:ext cx="2443245" cy="2016181"/>
            <a:chOff x="6734621" y="4514758"/>
            <a:chExt cx="2443245" cy="2016181"/>
          </a:xfrm>
        </p:grpSpPr>
        <p:sp>
          <p:nvSpPr>
            <p:cNvPr id="20" name="矩形 19">
              <a:extLst>
                <a:ext uri="{FF2B5EF4-FFF2-40B4-BE49-F238E27FC236}">
                  <a16:creationId xmlns:a16="http://schemas.microsoft.com/office/drawing/2014/main" id="{14E9E751-0BCD-4B68-947D-DBAE2AC41314}"/>
                </a:ext>
              </a:extLst>
            </p:cNvPr>
            <p:cNvSpPr/>
            <p:nvPr/>
          </p:nvSpPr>
          <p:spPr>
            <a:xfrm>
              <a:off x="6734621" y="4514758"/>
              <a:ext cx="190231" cy="11091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2" name="矩形 21">
              <a:extLst>
                <a:ext uri="{FF2B5EF4-FFF2-40B4-BE49-F238E27FC236}">
                  <a16:creationId xmlns:a16="http://schemas.microsoft.com/office/drawing/2014/main" id="{4AD1768C-7A7E-4232-8FAD-3166CADD2577}"/>
                </a:ext>
              </a:extLst>
            </p:cNvPr>
            <p:cNvSpPr/>
            <p:nvPr/>
          </p:nvSpPr>
          <p:spPr>
            <a:xfrm rot="5400000">
              <a:off x="8411063" y="5764136"/>
              <a:ext cx="249629" cy="12839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grpSp>
        <p:nvGrpSpPr>
          <p:cNvPr id="35" name="群組 34">
            <a:extLst>
              <a:ext uri="{FF2B5EF4-FFF2-40B4-BE49-F238E27FC236}">
                <a16:creationId xmlns:a16="http://schemas.microsoft.com/office/drawing/2014/main" id="{CA03B68E-6DE4-4661-8AF0-D6EB397A3943}"/>
              </a:ext>
            </a:extLst>
          </p:cNvPr>
          <p:cNvGrpSpPr/>
          <p:nvPr/>
        </p:nvGrpSpPr>
        <p:grpSpPr>
          <a:xfrm>
            <a:off x="6324600" y="3868319"/>
            <a:ext cx="3326834" cy="2707639"/>
            <a:chOff x="6995344" y="3694251"/>
            <a:chExt cx="3574586" cy="2847876"/>
          </a:xfrm>
        </p:grpSpPr>
        <p:grpSp>
          <p:nvGrpSpPr>
            <p:cNvPr id="32" name="群組 31">
              <a:extLst>
                <a:ext uri="{FF2B5EF4-FFF2-40B4-BE49-F238E27FC236}">
                  <a16:creationId xmlns:a16="http://schemas.microsoft.com/office/drawing/2014/main" id="{FADE59AD-F7C1-43E5-87D0-AF71B5D8F8DE}"/>
                </a:ext>
              </a:extLst>
            </p:cNvPr>
            <p:cNvGrpSpPr/>
            <p:nvPr/>
          </p:nvGrpSpPr>
          <p:grpSpPr>
            <a:xfrm>
              <a:off x="6995344" y="3694251"/>
              <a:ext cx="3574586" cy="2847876"/>
              <a:chOff x="6995344" y="3694251"/>
              <a:chExt cx="3574586" cy="2847876"/>
            </a:xfrm>
          </p:grpSpPr>
          <p:pic>
            <p:nvPicPr>
              <p:cNvPr id="31" name="圖片 30">
                <a:extLst>
                  <a:ext uri="{FF2B5EF4-FFF2-40B4-BE49-F238E27FC236}">
                    <a16:creationId xmlns:a16="http://schemas.microsoft.com/office/drawing/2014/main" id="{1A2F41E1-9557-4290-8586-5D53FAC30E4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7096182" y="3694251"/>
                <a:ext cx="3473748" cy="2732125"/>
              </a:xfrm>
              <a:prstGeom prst="rect">
                <a:avLst/>
              </a:prstGeom>
            </p:spPr>
          </p:pic>
          <p:sp>
            <p:nvSpPr>
              <p:cNvPr id="18" name="矩形 17">
                <a:extLst>
                  <a:ext uri="{FF2B5EF4-FFF2-40B4-BE49-F238E27FC236}">
                    <a16:creationId xmlns:a16="http://schemas.microsoft.com/office/drawing/2014/main" id="{D626DE7A-F9C6-47BF-9503-E4D79EF03BB4}"/>
                  </a:ext>
                </a:extLst>
              </p:cNvPr>
              <p:cNvSpPr/>
              <p:nvPr/>
            </p:nvSpPr>
            <p:spPr>
              <a:xfrm>
                <a:off x="8087529" y="6211927"/>
                <a:ext cx="1877540" cy="330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3" name="矩形 32">
                <a:extLst>
                  <a:ext uri="{FF2B5EF4-FFF2-40B4-BE49-F238E27FC236}">
                    <a16:creationId xmlns:a16="http://schemas.microsoft.com/office/drawing/2014/main" id="{40789712-EA39-472C-851C-CF16838DED38}"/>
                  </a:ext>
                </a:extLst>
              </p:cNvPr>
              <p:cNvSpPr/>
              <p:nvPr/>
            </p:nvSpPr>
            <p:spPr>
              <a:xfrm rot="16200000">
                <a:off x="6221674" y="4640208"/>
                <a:ext cx="1877540" cy="330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24" name="文字方塊 23">
                  <a:extLst>
                    <a:ext uri="{FF2B5EF4-FFF2-40B4-BE49-F238E27FC236}">
                      <a16:creationId xmlns:a16="http://schemas.microsoft.com/office/drawing/2014/main" id="{D25B04E1-24E0-409C-A4AE-39A474367A3E}"/>
                    </a:ext>
                  </a:extLst>
                </p:cNvPr>
                <p:cNvSpPr txBox="1"/>
                <p:nvPr/>
              </p:nvSpPr>
              <p:spPr>
                <a:xfrm>
                  <a:off x="8335119" y="6210932"/>
                  <a:ext cx="1381789" cy="21544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altLang="zh-TW" sz="1400" b="0" i="0" smtClean="0">
                            <a:latin typeface="Cambria Math" panose="02040503050406030204" pitchFamily="18" charset="0"/>
                          </a:rPr>
                          <m:t>Number</m:t>
                        </m:r>
                        <m:r>
                          <a:rPr lang="en-US" altLang="zh-TW" sz="1400" b="0" i="0" smtClean="0">
                            <a:latin typeface="Cambria Math" panose="02040503050406030204" pitchFamily="18" charset="0"/>
                          </a:rPr>
                          <m:t> </m:t>
                        </m:r>
                        <m:r>
                          <m:rPr>
                            <m:sty m:val="p"/>
                          </m:rPr>
                          <a:rPr lang="en-US" altLang="zh-TW" sz="1400" b="0" i="0" smtClean="0">
                            <a:latin typeface="Cambria Math" panose="02040503050406030204" pitchFamily="18" charset="0"/>
                          </a:rPr>
                          <m:t>of</m:t>
                        </m:r>
                        <m:r>
                          <a:rPr lang="en-US" altLang="zh-TW" sz="1400" b="0" i="0" smtClean="0">
                            <a:latin typeface="Cambria Math" panose="02040503050406030204" pitchFamily="18" charset="0"/>
                          </a:rPr>
                          <m:t> </m:t>
                        </m:r>
                        <m:r>
                          <m:rPr>
                            <m:sty m:val="p"/>
                          </m:rPr>
                          <a:rPr lang="en-US" altLang="zh-TW" sz="1400" b="0" i="0" smtClean="0">
                            <a:latin typeface="Cambria Math" panose="02040503050406030204" pitchFamily="18" charset="0"/>
                          </a:rPr>
                          <m:t>points</m:t>
                        </m:r>
                      </m:oMath>
                    </m:oMathPara>
                  </a14:m>
                  <a:endParaRPr lang="zh-TW" altLang="en-US" sz="1400" dirty="0"/>
                </a:p>
              </p:txBody>
            </p:sp>
          </mc:Choice>
          <mc:Fallback xmlns="">
            <p:sp>
              <p:nvSpPr>
                <p:cNvPr id="24" name="文字方塊 23">
                  <a:extLst>
                    <a:ext uri="{FF2B5EF4-FFF2-40B4-BE49-F238E27FC236}">
                      <a16:creationId xmlns:a16="http://schemas.microsoft.com/office/drawing/2014/main" id="{D25B04E1-24E0-409C-A4AE-39A474367A3E}"/>
                    </a:ext>
                  </a:extLst>
                </p:cNvPr>
                <p:cNvSpPr txBox="1">
                  <a:spLocks noRot="1" noChangeAspect="1" noMove="1" noResize="1" noEditPoints="1" noAdjustHandles="1" noChangeArrowheads="1" noChangeShapeType="1" noTextEdit="1"/>
                </p:cNvSpPr>
                <p:nvPr/>
              </p:nvSpPr>
              <p:spPr>
                <a:xfrm>
                  <a:off x="8335119" y="6210932"/>
                  <a:ext cx="1381789" cy="215444"/>
                </a:xfrm>
                <a:prstGeom prst="rect">
                  <a:avLst/>
                </a:prstGeom>
                <a:blipFill>
                  <a:blip r:embed="rId7"/>
                  <a:stretch>
                    <a:fillRect l="-4739" r="-9005" b="-3529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8826BDEB-84BE-4C7C-A660-0692872B3F34}"/>
                    </a:ext>
                  </a:extLst>
                </p:cNvPr>
                <p:cNvSpPr txBox="1"/>
                <p:nvPr/>
              </p:nvSpPr>
              <p:spPr>
                <a:xfrm rot="16200000">
                  <a:off x="6626914" y="4683570"/>
                  <a:ext cx="999633" cy="23750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Pre>
                          <m:sPrePr>
                            <m:ctrlPr>
                              <a:rPr lang="en-US" altLang="zh-TW" sz="1400" i="1" smtClean="0">
                                <a:latin typeface="Cambria Math" panose="02040503050406030204" pitchFamily="18" charset="0"/>
                              </a:rPr>
                            </m:ctrlPr>
                          </m:sPrePr>
                          <m:sub/>
                          <m:sup>
                            <m:r>
                              <a:rPr lang="en-US" altLang="zh-TW" sz="1400" b="0" i="1" smtClean="0">
                                <a:latin typeface="Cambria Math" panose="02040503050406030204" pitchFamily="18" charset="0"/>
                              </a:rPr>
                              <m:t>𝐵</m:t>
                            </m:r>
                          </m:sup>
                          <m:e>
                            <m:sSub>
                              <m:sSubPr>
                                <m:ctrlPr>
                                  <a:rPr lang="en-US" altLang="zh-TW" sz="1400" i="1" smtClean="0">
                                    <a:latin typeface="Cambria Math" panose="02040503050406030204" pitchFamily="18" charset="0"/>
                                  </a:rPr>
                                </m:ctrlPr>
                              </m:sSubPr>
                              <m:e>
                                <m:acc>
                                  <m:accPr>
                                    <m:chr m:val="̂"/>
                                    <m:ctrlPr>
                                      <a:rPr lang="en-US" altLang="zh-TW" sz="1400" i="1" smtClean="0">
                                        <a:latin typeface="Cambria Math" panose="02040503050406030204" pitchFamily="18" charset="0"/>
                                      </a:rPr>
                                    </m:ctrlPr>
                                  </m:accPr>
                                  <m:e>
                                    <m:r>
                                      <a:rPr lang="en-US" altLang="zh-TW" sz="1400" b="0" i="1" smtClean="0">
                                        <a:latin typeface="Cambria Math" panose="02040503050406030204" pitchFamily="18" charset="0"/>
                                      </a:rPr>
                                      <m:t>𝑔</m:t>
                                    </m:r>
                                  </m:e>
                                </m:acc>
                              </m:e>
                              <m:sub>
                                <m:r>
                                  <a:rPr lang="en-US" altLang="zh-TW" sz="1400" b="0" i="1" smtClean="0">
                                    <a:latin typeface="Cambria Math" panose="02040503050406030204" pitchFamily="18" charset="0"/>
                                  </a:rPr>
                                  <m:t>𝐼</m:t>
                                </m:r>
                              </m:sub>
                            </m:sSub>
                          </m:e>
                        </m:sPre>
                        <m:r>
                          <a:rPr lang="en-US" altLang="zh-TW" sz="1400" b="0" i="1" smtClean="0">
                            <a:latin typeface="Cambria Math" panose="02040503050406030204" pitchFamily="18" charset="0"/>
                          </a:rPr>
                          <m:t> (</m:t>
                        </m:r>
                        <m:f>
                          <m:fPr>
                            <m:type m:val="lin"/>
                            <m:ctrlPr>
                              <a:rPr lang="en-US" altLang="zh-TW" sz="1400" b="0" i="1" smtClean="0">
                                <a:latin typeface="Cambria Math" panose="02040503050406030204" pitchFamily="18" charset="0"/>
                              </a:rPr>
                            </m:ctrlPr>
                          </m:fPr>
                          <m:num>
                            <m:r>
                              <a:rPr lang="en-US" altLang="zh-TW" sz="1400" b="0" i="1" smtClean="0">
                                <a:latin typeface="Cambria Math" panose="02040503050406030204" pitchFamily="18" charset="0"/>
                              </a:rPr>
                              <m:t>𝑚𝑇</m:t>
                            </m:r>
                          </m:num>
                          <m:den>
                            <m:r>
                              <a:rPr lang="en-US" altLang="zh-TW" sz="1400" b="0" i="1" smtClean="0">
                                <a:latin typeface="Cambria Math" panose="02040503050406030204" pitchFamily="18" charset="0"/>
                              </a:rPr>
                              <m:t>𝐴</m:t>
                            </m:r>
                          </m:den>
                        </m:f>
                        <m:r>
                          <a:rPr lang="en-US" altLang="zh-TW" sz="1400" b="0" i="1" smtClean="0">
                            <a:latin typeface="Cambria Math" panose="02040503050406030204" pitchFamily="18" charset="0"/>
                          </a:rPr>
                          <m:t>)</m:t>
                        </m:r>
                      </m:oMath>
                    </m:oMathPara>
                  </a14:m>
                  <a:endParaRPr lang="zh-TW" altLang="en-US" dirty="0"/>
                </a:p>
              </p:txBody>
            </p:sp>
          </mc:Choice>
          <mc:Fallback xmlns="">
            <p:sp>
              <p:nvSpPr>
                <p:cNvPr id="34" name="文字方塊 33">
                  <a:extLst>
                    <a:ext uri="{FF2B5EF4-FFF2-40B4-BE49-F238E27FC236}">
                      <a16:creationId xmlns:a16="http://schemas.microsoft.com/office/drawing/2014/main" id="{8826BDEB-84BE-4C7C-A660-0692872B3F34}"/>
                    </a:ext>
                  </a:extLst>
                </p:cNvPr>
                <p:cNvSpPr txBox="1">
                  <a:spLocks noRot="1" noChangeAspect="1" noMove="1" noResize="1" noEditPoints="1" noAdjustHandles="1" noChangeArrowheads="1" noChangeShapeType="1" noTextEdit="1"/>
                </p:cNvSpPr>
                <p:nvPr/>
              </p:nvSpPr>
              <p:spPr>
                <a:xfrm rot="16200000">
                  <a:off x="6626914" y="4683570"/>
                  <a:ext cx="999633" cy="237501"/>
                </a:xfrm>
                <a:prstGeom prst="rect">
                  <a:avLst/>
                </a:prstGeom>
                <a:blipFill>
                  <a:blip r:embed="rId10"/>
                  <a:stretch>
                    <a:fillRect l="-137838" t="-37821" r="-237838" b="-641"/>
                  </a:stretch>
                </a:blipFill>
              </p:spPr>
              <p:txBody>
                <a:bodyPr/>
                <a:lstStyle/>
                <a:p>
                  <a:r>
                    <a:rPr lang="zh-TW" altLang="en-US">
                      <a:noFill/>
                    </a:rPr>
                    <a:t> </a:t>
                  </a:r>
                </a:p>
              </p:txBody>
            </p:sp>
          </mc:Fallback>
        </mc:AlternateContent>
      </p:grpSp>
    </p:spTree>
    <p:extLst>
      <p:ext uri="{BB962C8B-B14F-4D97-AF65-F5344CB8AC3E}">
        <p14:creationId xmlns:p14="http://schemas.microsoft.com/office/powerpoint/2010/main" val="284302466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0" name="文字方塊 39">
            <a:extLst>
              <a:ext uri="{FF2B5EF4-FFF2-40B4-BE49-F238E27FC236}">
                <a16:creationId xmlns:a16="http://schemas.microsoft.com/office/drawing/2014/main" id="{B1E82766-E1D8-4AA6-A2B9-6AEA170385C0}"/>
              </a:ext>
            </a:extLst>
          </p:cNvPr>
          <p:cNvSpPr txBox="1"/>
          <p:nvPr/>
        </p:nvSpPr>
        <p:spPr>
          <a:xfrm>
            <a:off x="0" y="282042"/>
            <a:ext cx="6324600" cy="390684"/>
          </a:xfrm>
          <a:prstGeom prst="rect">
            <a:avLst/>
          </a:prstGeom>
          <a:noFill/>
        </p:spPr>
        <p:txBody>
          <a:bodyPr wrap="square" rtlCol="0">
            <a:spAutoFit/>
          </a:bodyPr>
          <a:lstStyle/>
          <a:p>
            <a:pPr>
              <a:lnSpc>
                <a:spcPct val="115000"/>
              </a:lnSpc>
              <a:spcAft>
                <a:spcPts val="800"/>
              </a:spcAft>
            </a:pPr>
            <a:r>
              <a:rPr lang="en-US" altLang="zh-TW"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E</a:t>
            </a:r>
            <a:r>
              <a:rPr lang="en-US" altLang="zh-TW"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 </a:t>
            </a:r>
            <a:r>
              <a:rPr lang="en-US" altLang="zh-TW" i="1"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Validation</a:t>
            </a:r>
            <a:endParaRPr lang="zh-TW" altLang="zh-TW" kern="100" dirty="0">
              <a:effectLst/>
              <a:latin typeface="Aptos"/>
              <a:ea typeface="新細明體" panose="02020500000000000000" pitchFamily="18" charset="-120"/>
              <a:cs typeface="Times New Roman" panose="02020603050405020304" pitchFamily="18" charset="0"/>
            </a:endParaRPr>
          </a:p>
        </p:txBody>
      </p:sp>
      <p:sp>
        <p:nvSpPr>
          <p:cNvPr id="6" name="文字方塊 5">
            <a:extLst>
              <a:ext uri="{FF2B5EF4-FFF2-40B4-BE49-F238E27FC236}">
                <a16:creationId xmlns:a16="http://schemas.microsoft.com/office/drawing/2014/main" id="{31ACE95C-3F52-4F1D-AC27-AFA6A8DD7680}"/>
              </a:ext>
            </a:extLst>
          </p:cNvPr>
          <p:cNvSpPr txBox="1"/>
          <p:nvPr/>
        </p:nvSpPr>
        <p:spPr>
          <a:xfrm>
            <a:off x="27458" y="552713"/>
            <a:ext cx="4544541" cy="369332"/>
          </a:xfrm>
          <a:prstGeom prst="rect">
            <a:avLst/>
          </a:prstGeom>
          <a:noFill/>
        </p:spPr>
        <p:txBody>
          <a:bodyPr wrap="square" rtlCol="0">
            <a:spAutoFit/>
          </a:bodyPr>
          <a:lstStyle/>
          <a:p>
            <a:pPr marL="285750" indent="-285750">
              <a:buFont typeface="Wingdings" panose="05000000000000000000" pitchFamily="2" charset="2"/>
              <a:buChar char="l"/>
            </a:pPr>
            <a:r>
              <a:rPr lang="en-US" altLang="zh-TW" dirty="0">
                <a:latin typeface="Times New Roman" panose="02020603050405020304" pitchFamily="18" charset="0"/>
                <a:cs typeface="Times New Roman" panose="02020603050405020304" pitchFamily="18" charset="0"/>
              </a:rPr>
              <a:t>Calibration results</a:t>
            </a:r>
            <a:endParaRPr lang="zh-TW" altLang="en-US" dirty="0">
              <a:latin typeface="Times New Roman" panose="02020603050405020304" pitchFamily="18" charset="0"/>
              <a:cs typeface="Times New Roman" panose="02020603050405020304" pitchFamily="18" charset="0"/>
            </a:endParaRPr>
          </a:p>
        </p:txBody>
      </p:sp>
      <p:sp>
        <p:nvSpPr>
          <p:cNvPr id="18" name="矩形 17">
            <a:extLst>
              <a:ext uri="{FF2B5EF4-FFF2-40B4-BE49-F238E27FC236}">
                <a16:creationId xmlns:a16="http://schemas.microsoft.com/office/drawing/2014/main" id="{D626DE7A-F9C6-47BF-9503-E4D79EF03BB4}"/>
              </a:ext>
            </a:extLst>
          </p:cNvPr>
          <p:cNvSpPr/>
          <p:nvPr/>
        </p:nvSpPr>
        <p:spPr>
          <a:xfrm rot="21166399">
            <a:off x="8390467" y="5858933"/>
            <a:ext cx="1877540" cy="330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2" name="文字方塊 11">
            <a:extLst>
              <a:ext uri="{FF2B5EF4-FFF2-40B4-BE49-F238E27FC236}">
                <a16:creationId xmlns:a16="http://schemas.microsoft.com/office/drawing/2014/main" id="{FBD9F285-E19C-4465-9425-57DFB03A945C}"/>
              </a:ext>
            </a:extLst>
          </p:cNvPr>
          <p:cNvSpPr txBox="1"/>
          <p:nvPr/>
        </p:nvSpPr>
        <p:spPr>
          <a:xfrm>
            <a:off x="0" y="1461543"/>
            <a:ext cx="4529667" cy="646331"/>
          </a:xfrm>
          <a:prstGeom prst="rect">
            <a:avLst/>
          </a:prstGeom>
          <a:noFill/>
        </p:spPr>
        <p:txBody>
          <a:bodyPr wrap="square" rtlCol="0">
            <a:spAutoFit/>
          </a:bodyPr>
          <a:lstStyle/>
          <a:p>
            <a:endParaRPr lang="zh-TW" altLang="en-US" dirty="0"/>
          </a:p>
          <a:p>
            <a:pPr lvl="1"/>
            <a:endParaRPr lang="en-US" altLang="zh-TW" dirty="0"/>
          </a:p>
        </p:txBody>
      </p:sp>
      <mc:AlternateContent xmlns:mc="http://schemas.openxmlformats.org/markup-compatibility/2006" xmlns:a14="http://schemas.microsoft.com/office/drawing/2010/main">
        <mc:Choice Requires="a14">
          <p:sp>
            <p:nvSpPr>
              <p:cNvPr id="27" name="文字方塊 26">
                <a:extLst>
                  <a:ext uri="{FF2B5EF4-FFF2-40B4-BE49-F238E27FC236}">
                    <a16:creationId xmlns:a16="http://schemas.microsoft.com/office/drawing/2014/main" id="{6F5288B6-F08B-4647-BEC2-1ED8DF629DA3}"/>
                  </a:ext>
                </a:extLst>
              </p:cNvPr>
              <p:cNvSpPr txBox="1"/>
              <p:nvPr/>
            </p:nvSpPr>
            <p:spPr>
              <a:xfrm>
                <a:off x="8545338" y="457425"/>
                <a:ext cx="3564053" cy="3215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𝐶𝑎𝑙𝑖𝑏𝑟𝑎𝑡𝑒</m:t>
                      </m:r>
                      <m:r>
                        <a:rPr lang="en-US" altLang="zh-TW" b="0" i="1" smtClean="0">
                          <a:latin typeface="Cambria Math" panose="02040503050406030204" pitchFamily="18" charset="0"/>
                        </a:rPr>
                        <m:t> </m:t>
                      </m:r>
                      <m:r>
                        <a:rPr lang="en-US" altLang="zh-TW" b="0" i="1" smtClean="0">
                          <a:latin typeface="Cambria Math" panose="02040503050406030204" pitchFamily="18" charset="0"/>
                        </a:rPr>
                        <m:t>𝑚𝑜𝑑𝑒𝑙</m:t>
                      </m:r>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𝑏</m:t>
                          </m:r>
                        </m:e>
                        <m:sub>
                          <m:r>
                            <a:rPr lang="en-US" altLang="zh-TW" b="0" i="1" smtClean="0">
                              <a:latin typeface="Cambria Math" panose="02040503050406030204" pitchFamily="18" charset="0"/>
                              <a:ea typeface="Cambria Math" panose="02040503050406030204" pitchFamily="18" charset="0"/>
                            </a:rPr>
                            <m:t>𝑖𝑗</m:t>
                          </m:r>
                        </m:sub>
                      </m:sSub>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𝑆</m:t>
                          </m:r>
                        </m:e>
                        <m:sub>
                          <m:r>
                            <a:rPr lang="en-US" altLang="zh-TW" b="0" i="1" smtClean="0">
                              <a:latin typeface="Cambria Math" panose="02040503050406030204" pitchFamily="18" charset="0"/>
                              <a:ea typeface="Cambria Math" panose="02040503050406030204" pitchFamily="18" charset="0"/>
                            </a:rPr>
                            <m:t>𝑖</m:t>
                          </m:r>
                        </m:sub>
                      </m:sSub>
                      <m:sPre>
                        <m:sPrePr>
                          <m:ctrlPr>
                            <a:rPr lang="en-US" altLang="zh-TW" b="0" i="1" smtClean="0">
                              <a:latin typeface="Cambria Math" panose="02040503050406030204" pitchFamily="18" charset="0"/>
                              <a:ea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𝐼</m:t>
                              </m:r>
                            </m:sub>
                          </m:sSub>
                        </m:e>
                      </m:sPre>
                      <m:sSub>
                        <m:sSubPr>
                          <m:ctrlPr>
                            <a:rPr lang="en-US" altLang="zh-TW" b="0"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𝐾</m:t>
                              </m:r>
                            </m:e>
                          </m:acc>
                        </m:e>
                        <m:sub>
                          <m:r>
                            <a:rPr lang="en-US" altLang="zh-TW" b="0" i="1" smtClean="0">
                              <a:latin typeface="Cambria Math" panose="02040503050406030204" pitchFamily="18" charset="0"/>
                            </a:rPr>
                            <m:t>𝐼</m:t>
                          </m:r>
                        </m:sub>
                      </m:sSub>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𝐼</m:t>
                          </m:r>
                        </m:e>
                        <m:sub>
                          <m:r>
                            <a:rPr lang="en-US" altLang="zh-TW" b="0" i="1" smtClean="0">
                              <a:latin typeface="Cambria Math" panose="02040503050406030204" pitchFamily="18" charset="0"/>
                            </a:rPr>
                            <m:t>𝑗</m:t>
                          </m:r>
                        </m:sub>
                      </m:sSub>
                    </m:oMath>
                  </m:oMathPara>
                </a14:m>
                <a:endParaRPr lang="zh-TW" altLang="en-US" dirty="0"/>
              </a:p>
            </p:txBody>
          </p:sp>
        </mc:Choice>
        <mc:Fallback xmlns="">
          <p:sp>
            <p:nvSpPr>
              <p:cNvPr id="27" name="文字方塊 26">
                <a:extLst>
                  <a:ext uri="{FF2B5EF4-FFF2-40B4-BE49-F238E27FC236}">
                    <a16:creationId xmlns:a16="http://schemas.microsoft.com/office/drawing/2014/main" id="{6F5288B6-F08B-4647-BEC2-1ED8DF629DA3}"/>
                  </a:ext>
                </a:extLst>
              </p:cNvPr>
              <p:cNvSpPr txBox="1">
                <a:spLocks noRot="1" noChangeAspect="1" noMove="1" noResize="1" noEditPoints="1" noAdjustHandles="1" noChangeArrowheads="1" noChangeShapeType="1" noTextEdit="1"/>
              </p:cNvSpPr>
              <p:nvPr/>
            </p:nvSpPr>
            <p:spPr>
              <a:xfrm>
                <a:off x="8545338" y="457425"/>
                <a:ext cx="3564053" cy="321563"/>
              </a:xfrm>
              <a:prstGeom prst="rect">
                <a:avLst/>
              </a:prstGeom>
              <a:blipFill>
                <a:blip r:embed="rId2"/>
                <a:stretch>
                  <a:fillRect l="-1199" t="-13208" r="-5308" b="-22642"/>
                </a:stretch>
              </a:blipFill>
            </p:spPr>
            <p:txBody>
              <a:bodyPr/>
              <a:lstStyle/>
              <a:p>
                <a:r>
                  <a:rPr lang="zh-TW" altLang="en-US">
                    <a:noFill/>
                  </a:rPr>
                  <a:t> </a:t>
                </a:r>
              </a:p>
            </p:txBody>
          </p:sp>
        </mc:Fallback>
      </mc:AlternateContent>
      <p:sp>
        <p:nvSpPr>
          <p:cNvPr id="4" name="文字方塊 3">
            <a:extLst>
              <a:ext uri="{FF2B5EF4-FFF2-40B4-BE49-F238E27FC236}">
                <a16:creationId xmlns:a16="http://schemas.microsoft.com/office/drawing/2014/main" id="{3B29A552-EA7E-4837-AF53-D95DAEFD34FD}"/>
              </a:ext>
            </a:extLst>
          </p:cNvPr>
          <p:cNvSpPr txBox="1"/>
          <p:nvPr/>
        </p:nvSpPr>
        <p:spPr>
          <a:xfrm>
            <a:off x="27458" y="1818330"/>
            <a:ext cx="3613209" cy="369332"/>
          </a:xfrm>
          <a:prstGeom prst="rect">
            <a:avLst/>
          </a:prstGeom>
          <a:noFill/>
        </p:spPr>
        <p:txBody>
          <a:bodyPr wrap="square" rtlCol="0">
            <a:spAutoFit/>
          </a:bodyPr>
          <a:lstStyle/>
          <a:p>
            <a:pPr marL="285750" indent="-285750">
              <a:buFont typeface="Arial" panose="020B0604020202020204" pitchFamily="34" charset="0"/>
              <a:buChar char="•"/>
            </a:pPr>
            <a:r>
              <a:rPr lang="en-US" altLang="zh-TW" dirty="0"/>
              <a:t>Single parameter(528 points)</a:t>
            </a:r>
            <a:endParaRPr lang="zh-TW" altLang="en-US" dirty="0"/>
          </a:p>
        </p:txBody>
      </p:sp>
      <p:sp>
        <p:nvSpPr>
          <p:cNvPr id="47" name="文字方塊 46">
            <a:extLst>
              <a:ext uri="{FF2B5EF4-FFF2-40B4-BE49-F238E27FC236}">
                <a16:creationId xmlns:a16="http://schemas.microsoft.com/office/drawing/2014/main" id="{C5B7ED82-92AC-4C16-A18D-D2B3CA5A27F5}"/>
              </a:ext>
            </a:extLst>
          </p:cNvPr>
          <p:cNvSpPr txBox="1"/>
          <p:nvPr/>
        </p:nvSpPr>
        <p:spPr>
          <a:xfrm>
            <a:off x="27458" y="3886867"/>
            <a:ext cx="4832409" cy="369332"/>
          </a:xfrm>
          <a:prstGeom prst="rect">
            <a:avLst/>
          </a:prstGeom>
          <a:noFill/>
        </p:spPr>
        <p:txBody>
          <a:bodyPr wrap="square" rtlCol="0">
            <a:spAutoFit/>
          </a:bodyPr>
          <a:lstStyle/>
          <a:p>
            <a:pPr marL="285750" indent="-285750">
              <a:buFont typeface="Arial" panose="020B0604020202020204" pitchFamily="34" charset="0"/>
              <a:buChar char="•"/>
            </a:pPr>
            <a:r>
              <a:rPr lang="en-US" altLang="zh-TW" dirty="0"/>
              <a:t>Eighteen parameters(80 points)</a:t>
            </a:r>
            <a:endParaRPr lang="zh-TW" altLang="en-US" dirty="0"/>
          </a:p>
        </p:txBody>
      </p:sp>
      <mc:AlternateContent xmlns:mc="http://schemas.openxmlformats.org/markup-compatibility/2006" xmlns:a14="http://schemas.microsoft.com/office/drawing/2010/main">
        <mc:Choice Requires="a14">
          <p:sp>
            <p:nvSpPr>
              <p:cNvPr id="23" name="文字方塊 22">
                <a:extLst>
                  <a:ext uri="{FF2B5EF4-FFF2-40B4-BE49-F238E27FC236}">
                    <a16:creationId xmlns:a16="http://schemas.microsoft.com/office/drawing/2014/main" id="{F2D9CBB1-3EEA-4EB4-8FCC-FD3C5EFFA05F}"/>
                  </a:ext>
                </a:extLst>
              </p:cNvPr>
              <p:cNvSpPr txBox="1"/>
              <p:nvPr/>
            </p:nvSpPr>
            <p:spPr>
              <a:xfrm>
                <a:off x="154577" y="887936"/>
                <a:ext cx="7042090" cy="923330"/>
              </a:xfrm>
              <a:prstGeom prst="rect">
                <a:avLst/>
              </a:prstGeom>
              <a:noFill/>
            </p:spPr>
            <p:txBody>
              <a:bodyPr wrap="square" rtlCol="0">
                <a:spAutoFit/>
              </a:bodyPr>
              <a:lstStyle/>
              <a:p>
                <a:pPr marL="285750" indent="-285750">
                  <a:buFont typeface="Wingdings" panose="05000000000000000000" pitchFamily="2" charset="2"/>
                  <a:buChar char="Ø"/>
                </a:pPr>
                <a14:m>
                  <m:oMath xmlns:m="http://schemas.openxmlformats.org/officeDocument/2006/math">
                    <m:r>
                      <a:rPr lang="en-US" altLang="zh-TW" b="0" i="1" smtClean="0">
                        <a:latin typeface="Cambria Math" panose="02040503050406030204" pitchFamily="18" charset="0"/>
                      </a:rPr>
                      <m:t>𝑅</m:t>
                    </m:r>
                    <m:r>
                      <a:rPr lang="en-US" altLang="zh-TW" b="0" i="1" smtClean="0">
                        <a:latin typeface="Cambria Math" panose="02040503050406030204" pitchFamily="18" charset="0"/>
                        <a:ea typeface="Cambria Math" panose="02040503050406030204" pitchFamily="18" charset="0"/>
                      </a:rPr>
                      <m:t>≤150</m:t>
                    </m:r>
                    <m:r>
                      <a:rPr lang="en-US" altLang="zh-TW" b="0" i="1" smtClean="0">
                        <a:latin typeface="Cambria Math" panose="02040503050406030204" pitchFamily="18" charset="0"/>
                        <a:ea typeface="Cambria Math" panose="02040503050406030204" pitchFamily="18" charset="0"/>
                      </a:rPr>
                      <m:t>𝑢𝑚</m:t>
                    </m:r>
                  </m:oMath>
                </a14:m>
                <a:endParaRPr lang="en-US" altLang="zh-TW" b="0" dirty="0">
                  <a:ea typeface="Cambria Math" panose="02040503050406030204" pitchFamily="18" charset="0"/>
                </a:endParaRPr>
              </a:p>
              <a:p>
                <a:pPr marL="285750" indent="-285750">
                  <a:buFont typeface="Wingdings" panose="05000000000000000000" pitchFamily="2" charset="2"/>
                  <a:buChar char="Ø"/>
                </a:pPr>
                <a:r>
                  <a:rPr lang="en-US" altLang="zh-TW" dirty="0"/>
                  <a:t>Calibration results obtained using the interpolation points determined above.</a:t>
                </a:r>
                <a:endParaRPr lang="zh-TW" altLang="en-US" dirty="0"/>
              </a:p>
            </p:txBody>
          </p:sp>
        </mc:Choice>
        <mc:Fallback xmlns="">
          <p:sp>
            <p:nvSpPr>
              <p:cNvPr id="23" name="文字方塊 22">
                <a:extLst>
                  <a:ext uri="{FF2B5EF4-FFF2-40B4-BE49-F238E27FC236}">
                    <a16:creationId xmlns:a16="http://schemas.microsoft.com/office/drawing/2014/main" id="{F2D9CBB1-3EEA-4EB4-8FCC-FD3C5EFFA05F}"/>
                  </a:ext>
                </a:extLst>
              </p:cNvPr>
              <p:cNvSpPr txBox="1">
                <a:spLocks noRot="1" noChangeAspect="1" noMove="1" noResize="1" noEditPoints="1" noAdjustHandles="1" noChangeArrowheads="1" noChangeShapeType="1" noTextEdit="1"/>
              </p:cNvSpPr>
              <p:nvPr/>
            </p:nvSpPr>
            <p:spPr>
              <a:xfrm>
                <a:off x="154577" y="887936"/>
                <a:ext cx="7042090" cy="923330"/>
              </a:xfrm>
              <a:prstGeom prst="rect">
                <a:avLst/>
              </a:prstGeom>
              <a:blipFill>
                <a:blip r:embed="rId9"/>
                <a:stretch>
                  <a:fillRect l="-519" t="-1987" r="-865" b="-993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CalibR150_s_mat"/>
              <p:cNvSpPr txBox="1"/>
              <p:nvPr/>
            </p:nvSpPr>
            <p:spPr>
              <a:xfrm>
                <a:off x="386080" y="2187662"/>
                <a:ext cx="4389119" cy="1115568"/>
              </a:xfrm>
              <a:prstGeom prst="rect">
                <a:avLst/>
              </a:prstGeom>
              <a:noFill/>
            </p:spPr>
            <p:txBody>
              <a:bodyPr wrap="none" lIns="0" tIns="0" rIns="0" bIns="0" rtlCol="0" anchor="t"/>
              <a:lstStyle/>
              <a:p>
                <a:pPr algn="ctr"/>
                <a14:m>
                  <m:oMathPara xmlns:m="http://schemas.openxmlformats.org/officeDocument/2006/math">
                    <m:oMathParaPr>
                      <m:jc m:val="centerGroup"/>
                    </m:oMathParaPr>
                    <m:oMath xmlns:m="http://schemas.openxmlformats.org/officeDocument/2006/math">
                      <m:sSub>
                        <m:sSubPr>
                          <m:ctrlPr>
                            <a:rPr lang="en-US" sz="1200" b="0" i="1">
                              <a:latin typeface="Cambria Math" panose="02040503050406030204" pitchFamily="18" charset="0"/>
                            </a:rPr>
                          </m:ctrlPr>
                        </m:sSubPr>
                        <m:e>
                          <m:acc>
                            <m:accPr>
                              <m:chr m:val="̄"/>
                              <m:ctrlPr>
                                <a:rPr lang="en-US" sz="1200" b="0" i="1">
                                  <a:latin typeface="Cambria Math" panose="02040503050406030204" pitchFamily="18" charset="0"/>
                                </a:rPr>
                              </m:ctrlPr>
                            </m:accPr>
                            <m:e>
                              <m:r>
                                <a:rPr lang="en-US" sz="1200" b="0" i="1">
                                  <a:latin typeface="Cambria Math" panose="02040503050406030204" pitchFamily="18" charset="0"/>
                                </a:rPr>
                                <m:t>𝐾</m:t>
                              </m:r>
                            </m:e>
                          </m:acc>
                        </m:e>
                        <m:sub>
                          <m:r>
                            <a:rPr lang="en-US" sz="1200" b="0" i="1">
                              <a:latin typeface="Cambria Math" panose="02040503050406030204" pitchFamily="18" charset="0"/>
                            </a:rPr>
                            <m:t>𝐼</m:t>
                          </m:r>
                        </m:sub>
                      </m:sSub>
                      <m:r>
                        <a:rPr lang="en-US" sz="1200" b="0" i="0">
                          <a:latin typeface="Cambria Math" panose="02040503050406030204" pitchFamily="18" charset="0"/>
                        </a:rPr>
                        <m:t> = </m:t>
                      </m:r>
                      <m:d>
                        <m:dPr>
                          <m:begChr m:val="["/>
                          <m:endChr m:val="]"/>
                          <m:ctrlPr>
                            <a:rPr lang="en-US" sz="1200" b="0" i="1">
                              <a:latin typeface="Cambria Math" panose="02040503050406030204" pitchFamily="18" charset="0"/>
                            </a:rPr>
                          </m:ctrlPr>
                        </m:dPr>
                        <m:e>
                          <m:m>
                            <m:mPr>
                              <m:mcs>
                                <m:mc>
                                  <m:mcPr>
                                    <m:count m:val="6"/>
                                    <m:mcJc m:val="center"/>
                                  </m:mcPr>
                                </m:mc>
                              </m:mcs>
                              <m:ctrlPr>
                                <a:rPr lang="en-US" sz="1200" b="0" i="1">
                                  <a:latin typeface="Cambria Math" panose="02040503050406030204" pitchFamily="18" charset="0"/>
                                </a:rPr>
                              </m:ctrlPr>
                            </m:mPr>
                            <m:mr>
                              <m:e>
                                <m:r>
                                  <a:rPr lang="en-US" sz="1200" b="0" i="0">
                                    <a:latin typeface="Cambria Math" panose="02040503050406030204" pitchFamily="18" charset="0"/>
                                  </a:rPr>
                                  <m:t>0.8333</m:t>
                                </m:r>
                              </m:e>
                              <m:e>
                                <m:r>
                                  <a:rPr lang="en-US" sz="1200" b="0" i="0">
                                    <a:latin typeface="Cambria Math" panose="02040503050406030204" pitchFamily="18" charset="0"/>
                                  </a:rPr>
                                  <m:t>−0.0843</m:t>
                                </m:r>
                              </m:e>
                              <m:e>
                                <m:r>
                                  <a:rPr lang="en-US" sz="1200" b="0" i="0">
                                    <a:latin typeface="Cambria Math" panose="02040503050406030204" pitchFamily="18" charset="0"/>
                                  </a:rPr>
                                  <m:t>−0.2135</m:t>
                                </m:r>
                              </m:e>
                              <m:e>
                                <m:r>
                                  <a:rPr lang="en-US" sz="1200" b="0" i="0">
                                    <a:latin typeface="Cambria Math" panose="02040503050406030204" pitchFamily="18" charset="0"/>
                                  </a:rPr>
                                  <m:t>−0.1559</m:t>
                                </m:r>
                              </m:e>
                              <m:e>
                                <m:r>
                                  <a:rPr lang="en-US" sz="1200" b="0" i="0">
                                    <a:latin typeface="Cambria Math" panose="02040503050406030204" pitchFamily="18" charset="0"/>
                                  </a:rPr>
                                  <m:t>−0.1564</m:t>
                                </m:r>
                              </m:e>
                              <m:e>
                                <m:r>
                                  <a:rPr lang="en-US" sz="1200" b="0" i="0">
                                    <a:latin typeface="Cambria Math" panose="02040503050406030204" pitchFamily="18" charset="0"/>
                                  </a:rPr>
                                  <m:t>−0.2138</m:t>
                                </m:r>
                              </m:e>
                            </m:mr>
                            <m:mr>
                              <m:e>
                                <m:r>
                                  <a:rPr lang="en-US" sz="1200" b="0" i="0">
                                    <a:latin typeface="Cambria Math" panose="02040503050406030204" pitchFamily="18" charset="0"/>
                                  </a:rPr>
                                  <m:t>−0.2397</m:t>
                                </m:r>
                              </m:e>
                              <m:e>
                                <m:r>
                                  <a:rPr lang="en-US" sz="1200" b="0" i="0">
                                    <a:latin typeface="Cambria Math" panose="02040503050406030204" pitchFamily="18" charset="0"/>
                                  </a:rPr>
                                  <m:t>0.9973</m:t>
                                </m:r>
                              </m:e>
                              <m:e>
                                <m:r>
                                  <a:rPr lang="en-US" sz="1200" b="0" i="0">
                                    <a:latin typeface="Cambria Math" panose="02040503050406030204" pitchFamily="18" charset="0"/>
                                  </a:rPr>
                                  <m:t>−0.2316</m:t>
                                </m:r>
                              </m:e>
                              <m:e>
                                <m:r>
                                  <a:rPr lang="en-US" sz="1200" b="0" i="0">
                                    <a:latin typeface="Cambria Math" panose="02040503050406030204" pitchFamily="18" charset="0"/>
                                  </a:rPr>
                                  <m:t>−0.1398</m:t>
                                </m:r>
                              </m:e>
                              <m:e>
                                <m:r>
                                  <a:rPr lang="en-US" sz="1200" b="0" i="0">
                                    <a:latin typeface="Cambria Math" panose="02040503050406030204" pitchFamily="18" charset="0"/>
                                  </a:rPr>
                                  <m:t>−0.1399</m:t>
                                </m:r>
                              </m:e>
                              <m:e>
                                <m:r>
                                  <a:rPr lang="en-US" sz="1200" b="0" i="0">
                                    <a:latin typeface="Cambria Math" panose="02040503050406030204" pitchFamily="18" charset="0"/>
                                  </a:rPr>
                                  <m:t>−0.2317</m:t>
                                </m:r>
                              </m:e>
                            </m:mr>
                            <m:mr>
                              <m:e>
                                <m:r>
                                  <a:rPr lang="en-US" sz="1200" b="0" i="0">
                                    <a:latin typeface="Cambria Math" panose="02040503050406030204" pitchFamily="18" charset="0"/>
                                  </a:rPr>
                                  <m:t>−0.2129</m:t>
                                </m:r>
                              </m:e>
                              <m:e>
                                <m:r>
                                  <a:rPr lang="en-US" sz="1200" b="0" i="0">
                                    <a:latin typeface="Cambria Math" panose="02040503050406030204" pitchFamily="18" charset="0"/>
                                  </a:rPr>
                                  <m:t>−0.1559</m:t>
                                </m:r>
                              </m:e>
                              <m:e>
                                <m:r>
                                  <a:rPr lang="en-US" sz="1200" b="0" i="0">
                                    <a:latin typeface="Cambria Math" panose="02040503050406030204" pitchFamily="18" charset="0"/>
                                  </a:rPr>
                                  <m:t>0.8360</m:t>
                                </m:r>
                              </m:e>
                              <m:e>
                                <m:r>
                                  <a:rPr lang="en-US" sz="1200" b="0" i="0">
                                    <a:latin typeface="Cambria Math" panose="02040503050406030204" pitchFamily="18" charset="0"/>
                                  </a:rPr>
                                  <m:t>−0.0866</m:t>
                                </m:r>
                              </m:e>
                              <m:e>
                                <m:r>
                                  <a:rPr lang="en-US" sz="1200" b="0" i="0">
                                    <a:latin typeface="Cambria Math" panose="02040503050406030204" pitchFamily="18" charset="0"/>
                                  </a:rPr>
                                  <m:t>−0.1568</m:t>
                                </m:r>
                              </m:e>
                              <m:e>
                                <m:r>
                                  <a:rPr lang="en-US" sz="1200" b="0" i="0">
                                    <a:latin typeface="Cambria Math" panose="02040503050406030204" pitchFamily="18" charset="0"/>
                                  </a:rPr>
                                  <m:t>−0.2138</m:t>
                                </m:r>
                              </m:e>
                            </m:mr>
                            <m:mr>
                              <m:e>
                                <m:r>
                                  <a:rPr lang="en-US" sz="1200" b="0" i="0">
                                    <a:latin typeface="Cambria Math" panose="02040503050406030204" pitchFamily="18" charset="0"/>
                                  </a:rPr>
                                  <m:t>−0.2301</m:t>
                                </m:r>
                              </m:e>
                              <m:e>
                                <m:r>
                                  <a:rPr lang="en-US" sz="1200" b="0" i="0">
                                    <a:latin typeface="Cambria Math" panose="02040503050406030204" pitchFamily="18" charset="0"/>
                                  </a:rPr>
                                  <m:t>−0.1389</m:t>
                                </m:r>
                              </m:e>
                              <m:e>
                                <m:r>
                                  <a:rPr lang="en-US" sz="1200" b="0" i="0">
                                    <a:latin typeface="Cambria Math" panose="02040503050406030204" pitchFamily="18" charset="0"/>
                                  </a:rPr>
                                  <m:t>−0.2388</m:t>
                                </m:r>
                              </m:e>
                              <m:e>
                                <m:r>
                                  <a:rPr lang="en-US" sz="1200" b="0" i="0">
                                    <a:latin typeface="Cambria Math" panose="02040503050406030204" pitchFamily="18" charset="0"/>
                                  </a:rPr>
                                  <m:t>0.9918</m:t>
                                </m:r>
                              </m:e>
                              <m:e>
                                <m:r>
                                  <a:rPr lang="en-US" sz="1200" b="0" i="0">
                                    <a:latin typeface="Cambria Math" panose="02040503050406030204" pitchFamily="18" charset="0"/>
                                  </a:rPr>
                                  <m:t>−0.1392</m:t>
                                </m:r>
                              </m:e>
                              <m:e>
                                <m:r>
                                  <a:rPr lang="en-US" sz="1200" b="0" i="0">
                                    <a:latin typeface="Cambria Math" panose="02040503050406030204" pitchFamily="18" charset="0"/>
                                  </a:rPr>
                                  <m:t>−0.2308</m:t>
                                </m:r>
                              </m:e>
                            </m:mr>
                            <m:mr>
                              <m:e>
                                <m:r>
                                  <a:rPr lang="en-US" sz="1200" b="0" i="0">
                                    <a:latin typeface="Cambria Math" panose="02040503050406030204" pitchFamily="18" charset="0"/>
                                  </a:rPr>
                                  <m:t>−0.2308</m:t>
                                </m:r>
                              </m:e>
                              <m:e>
                                <m:r>
                                  <a:rPr lang="en-US" sz="1200" b="0" i="0">
                                    <a:latin typeface="Cambria Math" panose="02040503050406030204" pitchFamily="18" charset="0"/>
                                  </a:rPr>
                                  <m:t>−0.1391</m:t>
                                </m:r>
                              </m:e>
                              <m:e>
                                <m:r>
                                  <a:rPr lang="en-US" sz="1200" b="0" i="0">
                                    <a:latin typeface="Cambria Math" panose="02040503050406030204" pitchFamily="18" charset="0"/>
                                  </a:rPr>
                                  <m:t>−0.2313</m:t>
                                </m:r>
                              </m:e>
                              <m:e>
                                <m:r>
                                  <a:rPr lang="en-US" sz="1200" b="0" i="0">
                                    <a:latin typeface="Cambria Math" panose="02040503050406030204" pitchFamily="18" charset="0"/>
                                  </a:rPr>
                                  <m:t>−0.1399</m:t>
                                </m:r>
                              </m:e>
                              <m:e>
                                <m:r>
                                  <a:rPr lang="en-US" sz="1200" b="0" i="0">
                                    <a:latin typeface="Cambria Math" panose="02040503050406030204" pitchFamily="18" charset="0"/>
                                  </a:rPr>
                                  <m:t>0.9964</m:t>
                                </m:r>
                              </m:e>
                              <m:e>
                                <m:r>
                                  <a:rPr lang="en-US" sz="1200" b="0" i="0">
                                    <a:latin typeface="Cambria Math" panose="02040503050406030204" pitchFamily="18" charset="0"/>
                                  </a:rPr>
                                  <m:t>−0.2403</m:t>
                                </m:r>
                              </m:e>
                            </m:mr>
                            <m:mr>
                              <m:e>
                                <m:r>
                                  <a:rPr lang="en-US" sz="1200" b="0" i="0">
                                    <a:latin typeface="Cambria Math" panose="02040503050406030204" pitchFamily="18" charset="0"/>
                                  </a:rPr>
                                  <m:t>−0.2129</m:t>
                                </m:r>
                              </m:e>
                              <m:e>
                                <m:r>
                                  <a:rPr lang="en-US" sz="1200" b="0" i="0">
                                    <a:latin typeface="Cambria Math" panose="02040503050406030204" pitchFamily="18" charset="0"/>
                                  </a:rPr>
                                  <m:t>−0.1556</m:t>
                                </m:r>
                              </m:e>
                              <m:e>
                                <m:r>
                                  <a:rPr lang="en-US" sz="1200" b="0" i="0">
                                    <a:latin typeface="Cambria Math" panose="02040503050406030204" pitchFamily="18" charset="0"/>
                                  </a:rPr>
                                  <m:t>−0.2129</m:t>
                                </m:r>
                              </m:e>
                              <m:e>
                                <m:r>
                                  <a:rPr lang="en-US" sz="1200" b="0" i="0">
                                    <a:latin typeface="Cambria Math" panose="02040503050406030204" pitchFamily="18" charset="0"/>
                                  </a:rPr>
                                  <m:t>−0.1560</m:t>
                                </m:r>
                              </m:e>
                              <m:e>
                                <m:r>
                                  <a:rPr lang="en-US" sz="1200" b="0" i="0">
                                    <a:latin typeface="Cambria Math" panose="02040503050406030204" pitchFamily="18" charset="0"/>
                                  </a:rPr>
                                  <m:t>−0.0857</m:t>
                                </m:r>
                              </m:e>
                              <m:e>
                                <m:r>
                                  <a:rPr lang="en-US" sz="1200" b="0" i="0">
                                    <a:latin typeface="Cambria Math" panose="02040503050406030204" pitchFamily="18" charset="0"/>
                                  </a:rPr>
                                  <m:t>0.8329</m:t>
                                </m:r>
                              </m:e>
                            </m:mr>
                          </m:m>
                        </m:e>
                      </m:d>
                      <m:r>
                        <a:rPr lang="en-US" sz="1200" b="0" i="0">
                          <a:latin typeface="Cambria Math" panose="02040503050406030204" pitchFamily="18" charset="0"/>
                        </a:rPr>
                        <m:t> </m:t>
                      </m:r>
                    </m:oMath>
                  </m:oMathPara>
                </a14:m>
                <a:endParaRPr lang="en-US" sz="1100" dirty="0"/>
              </a:p>
            </p:txBody>
          </p:sp>
        </mc:Choice>
        <mc:Fallback xmlns="">
          <p:sp>
            <p:nvSpPr>
              <p:cNvPr id="48" name="CalibR150_s_mat"/>
              <p:cNvSpPr txBox="1">
                <a:spLocks noRot="1" noChangeAspect="1" noMove="1" noResize="1" noEditPoints="1" noAdjustHandles="1" noChangeArrowheads="1" noChangeShapeType="1" noTextEdit="1"/>
              </p:cNvSpPr>
              <p:nvPr/>
            </p:nvSpPr>
            <p:spPr>
              <a:xfrm>
                <a:off x="386080" y="2187662"/>
                <a:ext cx="4389119" cy="1115568"/>
              </a:xfrm>
              <a:prstGeom prst="rect">
                <a:avLst/>
              </a:prstGeom>
              <a:blipFill>
                <a:blip r:embed="rId10"/>
                <a:stretch>
                  <a:fillRect l="-5417" r="-125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CalibR150_s_sc"/>
              <p:cNvSpPr txBox="1"/>
              <p:nvPr/>
            </p:nvSpPr>
            <p:spPr>
              <a:xfrm>
                <a:off x="182880" y="3419856"/>
                <a:ext cx="3457787" cy="310896"/>
              </a:xfrm>
              <a:prstGeom prst="rect">
                <a:avLst/>
              </a:prstGeom>
              <a:noFill/>
            </p:spPr>
            <p:txBody>
              <a:bodyPr wrap="none" lIns="0" tIns="0" rIns="0" bIns="0" rtlCol="0" anchor="t"/>
              <a:lstStyle/>
              <a:p>
                <a:pPr algn="ctr"/>
                <a14:m>
                  <m:oMathPara xmlns:m="http://schemas.openxmlformats.org/officeDocument/2006/math">
                    <m:oMathParaPr>
                      <m:jc m:val="centerGroup"/>
                    </m:oMathParaPr>
                    <m:oMath xmlns:m="http://schemas.openxmlformats.org/officeDocument/2006/math">
                      <m:acc>
                        <m:accPr>
                          <m:chr m:val="̂"/>
                          <m:ctrlPr>
                            <a:rPr lang="en-US" sz="1400" b="0" i="1">
                              <a:latin typeface="Cambria Math" panose="02040503050406030204" pitchFamily="18" charset="0"/>
                            </a:rPr>
                          </m:ctrlPr>
                        </m:accPr>
                        <m:e>
                          <m:r>
                            <a:rPr lang="en-US" sz="1400" b="0" i="1">
                              <a:latin typeface="Cambria Math" panose="02040503050406030204" pitchFamily="18" charset="0"/>
                            </a:rPr>
                            <m:t>ℓ</m:t>
                          </m:r>
                        </m:e>
                      </m:acc>
                      <m:r>
                        <a:rPr lang="en-US" sz="1400" b="0" i="0">
                          <a:latin typeface="Cambria Math" panose="02040503050406030204" pitchFamily="18" charset="0"/>
                        </a:rPr>
                        <m:t> = 875.1 </m:t>
                      </m:r>
                      <m:r>
                        <a:rPr lang="en-US" sz="1400" b="0" i="1">
                          <a:latin typeface="Cambria Math" panose="02040503050406030204" pitchFamily="18" charset="0"/>
                        </a:rPr>
                        <m:t>𝜇</m:t>
                      </m:r>
                      <m:r>
                        <a:rPr lang="en-US" sz="1400" b="0" i="1">
                          <a:latin typeface="Cambria Math" panose="02040503050406030204" pitchFamily="18" charset="0"/>
                        </a:rPr>
                        <m:t>𝑚</m:t>
                      </m:r>
                      <m:r>
                        <a:rPr lang="en-US" sz="1400" b="0" i="0">
                          <a:latin typeface="Cambria Math" panose="02040503050406030204" pitchFamily="18" charset="0"/>
                        </a:rPr>
                        <m:t>  </m:t>
                      </m:r>
                      <m:sPre>
                        <m:sPrePr>
                          <m:ctrlPr>
                            <a:rPr lang="en-US" sz="1400" b="0" i="1">
                              <a:latin typeface="Cambria Math" panose="02040503050406030204" pitchFamily="18" charset="0"/>
                            </a:rPr>
                          </m:ctrlPr>
                        </m:sPrePr>
                        <m:sub/>
                        <m:sup>
                          <m:r>
                            <a:rPr lang="en-US" sz="1400" b="0" i="1">
                              <a:latin typeface="Cambria Math" panose="02040503050406030204" pitchFamily="18" charset="0"/>
                            </a:rPr>
                            <m:t>𝐵</m:t>
                          </m:r>
                        </m:sup>
                        <m:e>
                          <m:sSub>
                            <m:sSubPr>
                              <m:ctrlPr>
                                <a:rPr lang="en-US" sz="1400" b="0" i="1">
                                  <a:latin typeface="Cambria Math" panose="02040503050406030204" pitchFamily="18" charset="0"/>
                                </a:rPr>
                              </m:ctrlPr>
                            </m:sSubPr>
                            <m:e>
                              <m:acc>
                                <m:accPr>
                                  <m:chr m:val="̂"/>
                                  <m:ctrlPr>
                                    <a:rPr lang="en-US" sz="1400" b="0" i="1">
                                      <a:latin typeface="Cambria Math" panose="02040503050406030204" pitchFamily="18" charset="0"/>
                                    </a:rPr>
                                  </m:ctrlPr>
                                </m:accPr>
                                <m:e>
                                  <m:r>
                                    <a:rPr lang="en-US" sz="1400" b="0" i="1">
                                      <a:latin typeface="Cambria Math" panose="02040503050406030204" pitchFamily="18" charset="0"/>
                                    </a:rPr>
                                    <m:t>𝑔</m:t>
                                  </m:r>
                                </m:e>
                              </m:acc>
                            </m:e>
                            <m:sub>
                              <m:r>
                                <a:rPr lang="en-US" sz="1400" b="0" i="1">
                                  <a:latin typeface="Cambria Math" panose="02040503050406030204" pitchFamily="18" charset="0"/>
                                </a:rPr>
                                <m:t>𝐼</m:t>
                              </m:r>
                            </m:sub>
                          </m:sSub>
                        </m:e>
                      </m:sPre>
                      <m:r>
                        <a:rPr lang="en-US" sz="1400" b="0" i="0">
                          <a:latin typeface="Cambria Math" panose="02040503050406030204" pitchFamily="18" charset="0"/>
                        </a:rPr>
                        <m:t> = 9.4451 </m:t>
                      </m:r>
                      <m:r>
                        <a:rPr lang="en-US" sz="1400" b="0" i="1">
                          <a:latin typeface="Cambria Math" panose="02040503050406030204" pitchFamily="18" charset="0"/>
                        </a:rPr>
                        <m:t>𝑚𝑇</m:t>
                      </m:r>
                      <m:r>
                        <a:rPr lang="en-US" sz="1400" b="0" i="1">
                          <a:latin typeface="Cambria Math" panose="02040503050406030204" pitchFamily="18" charset="0"/>
                        </a:rPr>
                        <m:t>/</m:t>
                      </m:r>
                      <m:r>
                        <a:rPr lang="en-US" sz="1400" b="0" i="1">
                          <a:latin typeface="Cambria Math" panose="02040503050406030204" pitchFamily="18" charset="0"/>
                        </a:rPr>
                        <m:t>𝐴</m:t>
                      </m:r>
                    </m:oMath>
                  </m:oMathPara>
                </a14:m>
                <a:endParaRPr lang="en-US" sz="1400" i="1" dirty="0"/>
              </a:p>
            </p:txBody>
          </p:sp>
        </mc:Choice>
        <mc:Fallback xmlns="">
          <p:sp>
            <p:nvSpPr>
              <p:cNvPr id="49" name="CalibR150_s_sc"/>
              <p:cNvSpPr txBox="1">
                <a:spLocks noRot="1" noChangeAspect="1" noMove="1" noResize="1" noEditPoints="1" noAdjustHandles="1" noChangeArrowheads="1" noChangeShapeType="1" noTextEdit="1"/>
              </p:cNvSpPr>
              <p:nvPr/>
            </p:nvSpPr>
            <p:spPr>
              <a:xfrm>
                <a:off x="182880" y="3419856"/>
                <a:ext cx="3457787" cy="310896"/>
              </a:xfrm>
              <a:prstGeom prst="rect">
                <a:avLst/>
              </a:prstGeom>
              <a:blipFill>
                <a:blip r:embed="rId11"/>
                <a:stretch>
                  <a:fillRect t="-9804" b="-1176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0" name="CalibR150_e_mat"/>
              <p:cNvSpPr txBox="1"/>
              <p:nvPr/>
            </p:nvSpPr>
            <p:spPr>
              <a:xfrm>
                <a:off x="335280" y="4302514"/>
                <a:ext cx="4524587" cy="1115568"/>
              </a:xfrm>
              <a:prstGeom prst="rect">
                <a:avLst/>
              </a:prstGeom>
              <a:noFill/>
            </p:spPr>
            <p:txBody>
              <a:bodyPr wrap="none" lIns="0" tIns="0" rIns="0" bIns="0" rtlCol="0" anchor="t"/>
              <a:lstStyle/>
              <a:p>
                <a:pPr algn="ctr"/>
                <a14:m>
                  <m:oMathPara xmlns:m="http://schemas.openxmlformats.org/officeDocument/2006/math">
                    <m:oMathParaPr>
                      <m:jc m:val="centerGroup"/>
                    </m:oMathParaPr>
                    <m:oMath xmlns:m="http://schemas.openxmlformats.org/officeDocument/2006/math">
                      <m:sSub>
                        <m:sSubPr>
                          <m:ctrlPr>
                            <a:rPr lang="en-US" sz="1200" b="0" i="1">
                              <a:latin typeface="Cambria Math" panose="02040503050406030204" pitchFamily="18" charset="0"/>
                            </a:rPr>
                          </m:ctrlPr>
                        </m:sSubPr>
                        <m:e>
                          <m:acc>
                            <m:accPr>
                              <m:chr m:val="̄"/>
                              <m:ctrlPr>
                                <a:rPr lang="en-US" sz="1200" b="0" i="1">
                                  <a:latin typeface="Cambria Math" panose="02040503050406030204" pitchFamily="18" charset="0"/>
                                </a:rPr>
                              </m:ctrlPr>
                            </m:accPr>
                            <m:e>
                              <m:r>
                                <a:rPr lang="en-US" sz="1200" b="0" i="1">
                                  <a:latin typeface="Cambria Math" panose="02040503050406030204" pitchFamily="18" charset="0"/>
                                </a:rPr>
                                <m:t>𝐾</m:t>
                              </m:r>
                            </m:e>
                          </m:acc>
                        </m:e>
                        <m:sub>
                          <m:r>
                            <a:rPr lang="en-US" sz="1200" b="0" i="1">
                              <a:latin typeface="Cambria Math" panose="02040503050406030204" pitchFamily="18" charset="0"/>
                            </a:rPr>
                            <m:t>𝐼</m:t>
                          </m:r>
                        </m:sub>
                      </m:sSub>
                      <m:r>
                        <a:rPr lang="en-US" sz="1200" b="0" i="0">
                          <a:latin typeface="Cambria Math" panose="02040503050406030204" pitchFamily="18" charset="0"/>
                        </a:rPr>
                        <m:t> = </m:t>
                      </m:r>
                      <m:d>
                        <m:dPr>
                          <m:begChr m:val="["/>
                          <m:endChr m:val="]"/>
                          <m:ctrlPr>
                            <a:rPr lang="en-US" sz="1200" b="0" i="1">
                              <a:latin typeface="Cambria Math" panose="02040503050406030204" pitchFamily="18" charset="0"/>
                            </a:rPr>
                          </m:ctrlPr>
                        </m:dPr>
                        <m:e>
                          <m:m>
                            <m:mPr>
                              <m:mcs>
                                <m:mc>
                                  <m:mcPr>
                                    <m:count m:val="6"/>
                                    <m:mcJc m:val="center"/>
                                  </m:mcPr>
                                </m:mc>
                              </m:mcs>
                              <m:ctrlPr>
                                <a:rPr lang="en-US" sz="1200" b="0" i="1">
                                  <a:latin typeface="Cambria Math" panose="02040503050406030204" pitchFamily="18" charset="0"/>
                                </a:rPr>
                              </m:ctrlPr>
                            </m:mPr>
                            <m:mr>
                              <m:e>
                                <m:r>
                                  <a:rPr lang="en-US" sz="1200" b="0" i="0">
                                    <a:latin typeface="Cambria Math" panose="02040503050406030204" pitchFamily="18" charset="0"/>
                                  </a:rPr>
                                  <m:t>0.8333</m:t>
                                </m:r>
                              </m:e>
                              <m:e>
                                <m:r>
                                  <a:rPr lang="en-US" sz="1200" b="0" i="0">
                                    <a:latin typeface="Cambria Math" panose="02040503050406030204" pitchFamily="18" charset="0"/>
                                  </a:rPr>
                                  <m:t>−0.1373</m:t>
                                </m:r>
                              </m:e>
                              <m:e>
                                <m:r>
                                  <a:rPr lang="en-US" sz="1200" b="0" i="0">
                                    <a:latin typeface="Cambria Math" panose="02040503050406030204" pitchFamily="18" charset="0"/>
                                  </a:rPr>
                                  <m:t>−0.1282</m:t>
                                </m:r>
                              </m:e>
                              <m:e>
                                <m:r>
                                  <a:rPr lang="en-US" sz="1200" b="0" i="0">
                                    <a:latin typeface="Cambria Math" panose="02040503050406030204" pitchFamily="18" charset="0"/>
                                  </a:rPr>
                                  <m:t>−0.1926</m:t>
                                </m:r>
                              </m:e>
                              <m:e>
                                <m:r>
                                  <a:rPr lang="en-US" sz="1200" b="0" i="0">
                                    <a:latin typeface="Cambria Math" panose="02040503050406030204" pitchFamily="18" charset="0"/>
                                  </a:rPr>
                                  <m:t>−0.1934</m:t>
                                </m:r>
                              </m:e>
                              <m:e>
                                <m:r>
                                  <a:rPr lang="en-US" sz="1200" b="0" i="0">
                                    <a:latin typeface="Cambria Math" panose="02040503050406030204" pitchFamily="18" charset="0"/>
                                  </a:rPr>
                                  <m:t>−0.1285</m:t>
                                </m:r>
                              </m:e>
                            </m:mr>
                            <m:mr>
                              <m:e>
                                <m:r>
                                  <a:rPr lang="en-US" sz="1200" b="0" i="0">
                                    <a:latin typeface="Cambria Math" panose="02040503050406030204" pitchFamily="18" charset="0"/>
                                  </a:rPr>
                                  <m:t>−0.1391</m:t>
                                </m:r>
                              </m:e>
                              <m:e>
                                <m:r>
                                  <a:rPr lang="en-US" sz="1200" b="0" i="0">
                                    <a:latin typeface="Cambria Math" panose="02040503050406030204" pitchFamily="18" charset="0"/>
                                  </a:rPr>
                                  <m:t>0.8299</m:t>
                                </m:r>
                              </m:e>
                              <m:e>
                                <m:r>
                                  <a:rPr lang="en-US" sz="1200" b="0" i="0">
                                    <a:latin typeface="Cambria Math" panose="02040503050406030204" pitchFamily="18" charset="0"/>
                                  </a:rPr>
                                  <m:t>−0.2024</m:t>
                                </m:r>
                              </m:e>
                              <m:e>
                                <m:r>
                                  <a:rPr lang="en-US" sz="1200" b="0" i="0">
                                    <a:latin typeface="Cambria Math" panose="02040503050406030204" pitchFamily="18" charset="0"/>
                                  </a:rPr>
                                  <m:t>−0.1220</m:t>
                                </m:r>
                              </m:e>
                              <m:e>
                                <m:r>
                                  <a:rPr lang="en-US" sz="1200" b="0" i="0">
                                    <a:latin typeface="Cambria Math" panose="02040503050406030204" pitchFamily="18" charset="0"/>
                                  </a:rPr>
                                  <m:t>−0.1226</m:t>
                                </m:r>
                              </m:e>
                              <m:e>
                                <m:r>
                                  <a:rPr lang="en-US" sz="1200" b="0" i="0">
                                    <a:latin typeface="Cambria Math" panose="02040503050406030204" pitchFamily="18" charset="0"/>
                                  </a:rPr>
                                  <m:t>−0.2030</m:t>
                                </m:r>
                              </m:e>
                            </m:mr>
                            <m:mr>
                              <m:e>
                                <m:r>
                                  <a:rPr lang="en-US" sz="1200" b="0" i="0">
                                    <a:latin typeface="Cambria Math" panose="02040503050406030204" pitchFamily="18" charset="0"/>
                                  </a:rPr>
                                  <m:t>−0.1291</m:t>
                                </m:r>
                              </m:e>
                              <m:e>
                                <m:r>
                                  <a:rPr lang="en-US" sz="1200" b="0" i="0">
                                    <a:latin typeface="Cambria Math" panose="02040503050406030204" pitchFamily="18" charset="0"/>
                                  </a:rPr>
                                  <m:t>−0.1924</m:t>
                                </m:r>
                              </m:e>
                              <m:e>
                                <m:r>
                                  <a:rPr lang="en-US" sz="1200" b="0" i="0">
                                    <a:latin typeface="Cambria Math" panose="02040503050406030204" pitchFamily="18" charset="0"/>
                                  </a:rPr>
                                  <m:t>0.8335</m:t>
                                </m:r>
                              </m:e>
                              <m:e>
                                <m:r>
                                  <a:rPr lang="en-US" sz="1200" b="0" i="0">
                                    <a:latin typeface="Cambria Math" panose="02040503050406030204" pitchFamily="18" charset="0"/>
                                  </a:rPr>
                                  <m:t>−0.1365</m:t>
                                </m:r>
                              </m:e>
                              <m:e>
                                <m:r>
                                  <a:rPr lang="en-US" sz="1200" b="0" i="0">
                                    <a:latin typeface="Cambria Math" panose="02040503050406030204" pitchFamily="18" charset="0"/>
                                  </a:rPr>
                                  <m:t>−0.1932</m:t>
                                </m:r>
                              </m:e>
                              <m:e>
                                <m:r>
                                  <a:rPr lang="en-US" sz="1200" b="0" i="0">
                                    <a:latin typeface="Cambria Math" panose="02040503050406030204" pitchFamily="18" charset="0"/>
                                  </a:rPr>
                                  <m:t>−0.1284</m:t>
                                </m:r>
                              </m:e>
                            </m:mr>
                            <m:mr>
                              <m:e>
                                <m:r>
                                  <a:rPr lang="en-US" sz="1200" b="0" i="0">
                                    <a:latin typeface="Cambria Math" panose="02040503050406030204" pitchFamily="18" charset="0"/>
                                  </a:rPr>
                                  <m:t>−0.2048</m:t>
                                </m:r>
                              </m:e>
                              <m:e>
                                <m:r>
                                  <a:rPr lang="en-US" sz="1200" b="0" i="0">
                                    <a:latin typeface="Cambria Math" panose="02040503050406030204" pitchFamily="18" charset="0"/>
                                  </a:rPr>
                                  <m:t>−0.1224</m:t>
                                </m:r>
                              </m:e>
                              <m:e>
                                <m:r>
                                  <a:rPr lang="en-US" sz="1200" b="0" i="0">
                                    <a:latin typeface="Cambria Math" panose="02040503050406030204" pitchFamily="18" charset="0"/>
                                  </a:rPr>
                                  <m:t>−0.1387</m:t>
                                </m:r>
                              </m:e>
                              <m:e>
                                <m:r>
                                  <a:rPr lang="en-US" sz="1200" b="0" i="0">
                                    <a:latin typeface="Cambria Math" panose="02040503050406030204" pitchFamily="18" charset="0"/>
                                  </a:rPr>
                                  <m:t>0.8342</m:t>
                                </m:r>
                              </m:e>
                              <m:e>
                                <m:r>
                                  <a:rPr lang="en-US" sz="1200" b="0" i="0">
                                    <a:latin typeface="Cambria Math" panose="02040503050406030204" pitchFamily="18" charset="0"/>
                                  </a:rPr>
                                  <m:t>−0.1232</m:t>
                                </m:r>
                              </m:e>
                              <m:e>
                                <m:r>
                                  <a:rPr lang="en-US" sz="1200" b="0" i="0">
                                    <a:latin typeface="Cambria Math" panose="02040503050406030204" pitchFamily="18" charset="0"/>
                                  </a:rPr>
                                  <m:t>−0.2044</m:t>
                                </m:r>
                              </m:e>
                            </m:mr>
                            <m:mr>
                              <m:e>
                                <m:r>
                                  <a:rPr lang="en-US" sz="1200" b="0" i="0">
                                    <a:latin typeface="Cambria Math" panose="02040503050406030204" pitchFamily="18" charset="0"/>
                                  </a:rPr>
                                  <m:t>−0.2043</m:t>
                                </m:r>
                              </m:e>
                              <m:e>
                                <m:r>
                                  <a:rPr lang="en-US" sz="1200" b="0" i="0">
                                    <a:latin typeface="Cambria Math" panose="02040503050406030204" pitchFamily="18" charset="0"/>
                                  </a:rPr>
                                  <m:t>−0.1222</m:t>
                                </m:r>
                              </m:e>
                              <m:e>
                                <m:r>
                                  <a:rPr lang="en-US" sz="1200" b="0" i="0">
                                    <a:latin typeface="Cambria Math" panose="02040503050406030204" pitchFamily="18" charset="0"/>
                                  </a:rPr>
                                  <m:t>−0.2028</m:t>
                                </m:r>
                              </m:e>
                              <m:e>
                                <m:r>
                                  <a:rPr lang="en-US" sz="1200" b="0" i="0">
                                    <a:latin typeface="Cambria Math" panose="02040503050406030204" pitchFamily="18" charset="0"/>
                                  </a:rPr>
                                  <m:t>−0.1227</m:t>
                                </m:r>
                              </m:e>
                              <m:e>
                                <m:r>
                                  <a:rPr lang="en-US" sz="1200" b="0" i="0">
                                    <a:latin typeface="Cambria Math" panose="02040503050406030204" pitchFamily="18" charset="0"/>
                                  </a:rPr>
                                  <m:t>0.8325</m:t>
                                </m:r>
                              </m:e>
                              <m:e>
                                <m:r>
                                  <a:rPr lang="en-US" sz="1200" b="0" i="0">
                                    <a:latin typeface="Cambria Math" panose="02040503050406030204" pitchFamily="18" charset="0"/>
                                  </a:rPr>
                                  <m:t>−0.1385</m:t>
                                </m:r>
                              </m:e>
                            </m:mr>
                            <m:mr>
                              <m:e>
                                <m:r>
                                  <a:rPr lang="en-US" sz="1200" b="0" i="0">
                                    <a:latin typeface="Cambria Math" panose="02040503050406030204" pitchFamily="18" charset="0"/>
                                  </a:rPr>
                                  <m:t>−0.1295</m:t>
                                </m:r>
                              </m:e>
                              <m:e>
                                <m:r>
                                  <a:rPr lang="en-US" sz="1200" b="0" i="0">
                                    <a:latin typeface="Cambria Math" panose="02040503050406030204" pitchFamily="18" charset="0"/>
                                  </a:rPr>
                                  <m:t>−0.1936</m:t>
                                </m:r>
                              </m:e>
                              <m:e>
                                <m:r>
                                  <a:rPr lang="en-US" sz="1200" b="0" i="0">
                                    <a:latin typeface="Cambria Math" panose="02040503050406030204" pitchFamily="18" charset="0"/>
                                  </a:rPr>
                                  <m:t>−0.1283</m:t>
                                </m:r>
                              </m:e>
                              <m:e>
                                <m:r>
                                  <a:rPr lang="en-US" sz="1200" b="0" i="0">
                                    <a:latin typeface="Cambria Math" panose="02040503050406030204" pitchFamily="18" charset="0"/>
                                  </a:rPr>
                                  <m:t>−0.1937</m:t>
                                </m:r>
                              </m:e>
                              <m:e>
                                <m:r>
                                  <a:rPr lang="en-US" sz="1200" b="0" i="0">
                                    <a:latin typeface="Cambria Math" panose="02040503050406030204" pitchFamily="18" charset="0"/>
                                  </a:rPr>
                                  <m:t>−0.1384</m:t>
                                </m:r>
                              </m:e>
                              <m:e>
                                <m:r>
                                  <a:rPr lang="en-US" sz="1200" b="0" i="0">
                                    <a:latin typeface="Cambria Math" panose="02040503050406030204" pitchFamily="18" charset="0"/>
                                  </a:rPr>
                                  <m:t>0.8376</m:t>
                                </m:r>
                              </m:e>
                            </m:mr>
                          </m:m>
                        </m:e>
                      </m:d>
                      <m:r>
                        <a:rPr lang="en-US" sz="1200" b="0" i="0">
                          <a:latin typeface="Cambria Math" panose="02040503050406030204" pitchFamily="18" charset="0"/>
                        </a:rPr>
                        <m:t> </m:t>
                      </m:r>
                    </m:oMath>
                  </m:oMathPara>
                </a14:m>
                <a:endParaRPr lang="en-US" sz="1100" dirty="0"/>
              </a:p>
            </p:txBody>
          </p:sp>
        </mc:Choice>
        <mc:Fallback xmlns="">
          <p:sp>
            <p:nvSpPr>
              <p:cNvPr id="50" name="CalibR150_e_mat"/>
              <p:cNvSpPr txBox="1">
                <a:spLocks noRot="1" noChangeAspect="1" noMove="1" noResize="1" noEditPoints="1" noAdjustHandles="1" noChangeArrowheads="1" noChangeShapeType="1" noTextEdit="1"/>
              </p:cNvSpPr>
              <p:nvPr/>
            </p:nvSpPr>
            <p:spPr>
              <a:xfrm>
                <a:off x="335280" y="4302514"/>
                <a:ext cx="4524587" cy="1115568"/>
              </a:xfrm>
              <a:prstGeom prst="rect">
                <a:avLst/>
              </a:prstGeom>
              <a:blipFill>
                <a:blip r:embed="rId12"/>
                <a:stretch>
                  <a:fillRect l="-377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1" name="CalibR150_e_bias"/>
              <p:cNvSpPr txBox="1"/>
              <p:nvPr/>
            </p:nvSpPr>
            <p:spPr>
              <a:xfrm>
                <a:off x="4360333" y="5651028"/>
                <a:ext cx="5235787" cy="566928"/>
              </a:xfrm>
              <a:prstGeom prst="rect">
                <a:avLst/>
              </a:prstGeom>
              <a:noFill/>
            </p:spPr>
            <p:txBody>
              <a:bodyPr wrap="none" lIns="0" tIns="0" rIns="0" bIns="0" rtlCol="0" anchor="t"/>
              <a:lstStyle/>
              <a:p>
                <a:pPr algn="ctr"/>
                <a14:m>
                  <m:oMathPara xmlns:m="http://schemas.openxmlformats.org/officeDocument/2006/math">
                    <m:oMathParaPr>
                      <m:jc m:val="centerGroup"/>
                    </m:oMathParaPr>
                    <m:oMath xmlns:m="http://schemas.openxmlformats.org/officeDocument/2006/math">
                      <m:acc>
                        <m:accPr>
                          <m:chr m:val="̂"/>
                          <m:ctrlPr>
                            <a:rPr lang="en-US" altLang="zh-TW" sz="1200" b="0" i="1" smtClean="0">
                              <a:latin typeface="Cambria Math" panose="02040503050406030204" pitchFamily="18" charset="0"/>
                            </a:rPr>
                          </m:ctrlPr>
                        </m:accPr>
                        <m:e>
                          <m:r>
                            <a:rPr lang="en-US" altLang="zh-TW" sz="1200" b="0" i="1" smtClean="0">
                              <a:latin typeface="Cambria Math" panose="02040503050406030204" pitchFamily="18" charset="0"/>
                            </a:rPr>
                            <m:t>𝑒</m:t>
                          </m:r>
                        </m:e>
                      </m:acc>
                      <m:r>
                        <a:rPr lang="en-US" sz="1200" b="0" i="0">
                          <a:latin typeface="Cambria Math" panose="02040503050406030204" pitchFamily="18" charset="0"/>
                        </a:rPr>
                        <m:t>= </m:t>
                      </m:r>
                      <m:d>
                        <m:dPr>
                          <m:begChr m:val="["/>
                          <m:endChr m:val="]"/>
                          <m:ctrlPr>
                            <a:rPr lang="en-US" sz="1200" b="0" i="1">
                              <a:latin typeface="Cambria Math" panose="02040503050406030204" pitchFamily="18" charset="0"/>
                            </a:rPr>
                          </m:ctrlPr>
                        </m:dPr>
                        <m:e>
                          <m:m>
                            <m:mPr>
                              <m:mcs>
                                <m:mc>
                                  <m:mcPr>
                                    <m:count m:val="6"/>
                                    <m:mcJc m:val="center"/>
                                  </m:mcPr>
                                </m:mc>
                              </m:mcs>
                              <m:ctrlPr>
                                <a:rPr lang="en-US" sz="1200" b="0" i="1">
                                  <a:latin typeface="Cambria Math" panose="02040503050406030204" pitchFamily="18" charset="0"/>
                                </a:rPr>
                              </m:ctrlPr>
                            </m:mPr>
                            <m:mr>
                              <m:e>
                                <m:r>
                                  <a:rPr lang="en-US" sz="1200" b="0" i="0">
                                    <a:latin typeface="Cambria Math" panose="02040503050406030204" pitchFamily="18" charset="0"/>
                                  </a:rPr>
                                  <m:t>0.0185</m:t>
                                </m:r>
                              </m:e>
                              <m:e>
                                <m:r>
                                  <a:rPr lang="en-US" sz="1200" b="0" i="0">
                                    <a:latin typeface="Cambria Math" panose="02040503050406030204" pitchFamily="18" charset="0"/>
                                  </a:rPr>
                                  <m:t>0.0203</m:t>
                                </m:r>
                              </m:e>
                              <m:e>
                                <m:r>
                                  <a:rPr lang="en-US" sz="1200" b="0" i="0">
                                    <a:latin typeface="Cambria Math" panose="02040503050406030204" pitchFamily="18" charset="0"/>
                                  </a:rPr>
                                  <m:t>−0.1173</m:t>
                                </m:r>
                              </m:e>
                              <m:e>
                                <m:r>
                                  <a:rPr lang="en-US" sz="1200" b="0" i="0">
                                    <a:latin typeface="Cambria Math" panose="02040503050406030204" pitchFamily="18" charset="0"/>
                                  </a:rPr>
                                  <m:t>0.0024</m:t>
                                </m:r>
                              </m:e>
                              <m:e>
                                <m:r>
                                  <a:rPr lang="en-US" sz="1200" b="0" i="0">
                                    <a:latin typeface="Cambria Math" panose="02040503050406030204" pitchFamily="18" charset="0"/>
                                  </a:rPr>
                                  <m:t>0.0018</m:t>
                                </m:r>
                              </m:e>
                              <m:e>
                                <m:r>
                                  <a:rPr lang="en-US" sz="1200" b="0" i="0">
                                    <a:latin typeface="Cambria Math" panose="02040503050406030204" pitchFamily="18" charset="0"/>
                                  </a:rPr>
                                  <m:t>−0.1186</m:t>
                                </m:r>
                              </m:e>
                            </m:mr>
                            <m:mr>
                              <m:e>
                                <m:r>
                                  <a:rPr lang="en-US" sz="1200" b="0" i="0">
                                    <a:latin typeface="Cambria Math" panose="02040503050406030204" pitchFamily="18" charset="0"/>
                                  </a:rPr>
                                  <m:t>−0.1183</m:t>
                                </m:r>
                              </m:e>
                              <m:e>
                                <m:r>
                                  <a:rPr lang="en-US" sz="1200" b="0" i="0">
                                    <a:latin typeface="Cambria Math" panose="02040503050406030204" pitchFamily="18" charset="0"/>
                                  </a:rPr>
                                  <m:t>0.0026</m:t>
                                </m:r>
                              </m:e>
                              <m:e>
                                <m:r>
                                  <a:rPr lang="en-US" sz="1200" b="0" i="0">
                                    <a:latin typeface="Cambria Math" panose="02040503050406030204" pitchFamily="18" charset="0"/>
                                  </a:rPr>
                                  <m:t>0.0168</m:t>
                                </m:r>
                              </m:e>
                              <m:e>
                                <m:r>
                                  <a:rPr lang="en-US" sz="1200" b="0" i="0">
                                    <a:latin typeface="Cambria Math" panose="02040503050406030204" pitchFamily="18" charset="0"/>
                                  </a:rPr>
                                  <m:t>0.0163</m:t>
                                </m:r>
                              </m:e>
                              <m:e>
                                <m:r>
                                  <a:rPr lang="en-US" sz="1200" b="0" i="0">
                                    <a:latin typeface="Cambria Math" panose="02040503050406030204" pitchFamily="18" charset="0"/>
                                  </a:rPr>
                                  <m:t>0.0019</m:t>
                                </m:r>
                              </m:e>
                              <m:e>
                                <m:r>
                                  <a:rPr lang="en-US" sz="1200" b="0" i="0">
                                    <a:latin typeface="Cambria Math" panose="02040503050406030204" pitchFamily="18" charset="0"/>
                                  </a:rPr>
                                  <m:t>−0.1185</m:t>
                                </m:r>
                              </m:e>
                            </m:mr>
                            <m:mr>
                              <m:e>
                                <m:r>
                                  <a:rPr lang="en-US" sz="1200" b="0" i="0">
                                    <a:latin typeface="Cambria Math" panose="02040503050406030204" pitchFamily="18" charset="0"/>
                                  </a:rPr>
                                  <m:t>0.1182</m:t>
                                </m:r>
                              </m:e>
                              <m:e>
                                <m:r>
                                  <a:rPr lang="en-US" sz="1200" b="0" i="0">
                                    <a:latin typeface="Cambria Math" panose="02040503050406030204" pitchFamily="18" charset="0"/>
                                  </a:rPr>
                                  <m:t>−0.0029</m:t>
                                </m:r>
                              </m:e>
                              <m:e>
                                <m:r>
                                  <a:rPr lang="en-US" sz="1200" b="0" i="0">
                                    <a:latin typeface="Cambria Math" panose="02040503050406030204" pitchFamily="18" charset="0"/>
                                  </a:rPr>
                                  <m:t>0.1166</m:t>
                                </m:r>
                              </m:e>
                              <m:e>
                                <m:r>
                                  <a:rPr lang="en-US" sz="1200" b="0" i="0">
                                    <a:latin typeface="Cambria Math" panose="02040503050406030204" pitchFamily="18" charset="0"/>
                                  </a:rPr>
                                  <m:t>−0.0029</m:t>
                                </m:r>
                              </m:e>
                              <m:e>
                                <m:r>
                                  <a:rPr lang="en-US" sz="1200" b="0" i="0">
                                    <a:latin typeface="Cambria Math" panose="02040503050406030204" pitchFamily="18" charset="0"/>
                                  </a:rPr>
                                  <m:t>−0.0186</m:t>
                                </m:r>
                              </m:e>
                              <m:e>
                                <m:r>
                                  <a:rPr lang="en-US" sz="1200" b="0" i="0">
                                    <a:latin typeface="Cambria Math" panose="02040503050406030204" pitchFamily="18" charset="0"/>
                                  </a:rPr>
                                  <m:t>−0.0199</m:t>
                                </m:r>
                              </m:e>
                            </m:mr>
                          </m:m>
                        </m:e>
                      </m:d>
                    </m:oMath>
                  </m:oMathPara>
                </a14:m>
                <a:endParaRPr lang="en-US" sz="1100" dirty="0"/>
              </a:p>
            </p:txBody>
          </p:sp>
        </mc:Choice>
        <mc:Fallback xmlns="">
          <p:sp>
            <p:nvSpPr>
              <p:cNvPr id="51" name="CalibR150_e_bias"/>
              <p:cNvSpPr txBox="1">
                <a:spLocks noRot="1" noChangeAspect="1" noMove="1" noResize="1" noEditPoints="1" noAdjustHandles="1" noChangeArrowheads="1" noChangeShapeType="1" noTextEdit="1"/>
              </p:cNvSpPr>
              <p:nvPr/>
            </p:nvSpPr>
            <p:spPr>
              <a:xfrm>
                <a:off x="4360333" y="5651028"/>
                <a:ext cx="5235787" cy="566928"/>
              </a:xfrm>
              <a:prstGeom prst="rect">
                <a:avLst/>
              </a:prstGeom>
              <a:blipFill>
                <a:blip r:embed="rId13"/>
                <a:stretch>
                  <a:fillRect t="-215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2" name="CalibR150_e_sc"/>
              <p:cNvSpPr txBox="1"/>
              <p:nvPr/>
            </p:nvSpPr>
            <p:spPr>
              <a:xfrm>
                <a:off x="154577" y="5713137"/>
                <a:ext cx="3847253" cy="310896"/>
              </a:xfrm>
              <a:prstGeom prst="rect">
                <a:avLst/>
              </a:prstGeom>
              <a:noFill/>
            </p:spPr>
            <p:txBody>
              <a:bodyPr wrap="none" lIns="0" tIns="0" rIns="0" bIns="0" rtlCol="0" anchor="t"/>
              <a:lstStyle/>
              <a:p>
                <a:pPr algn="ctr"/>
                <a14:m>
                  <m:oMathPara xmlns:m="http://schemas.openxmlformats.org/officeDocument/2006/math">
                    <m:oMathParaPr>
                      <m:jc m:val="centerGroup"/>
                    </m:oMathParaPr>
                    <m:oMath xmlns:m="http://schemas.openxmlformats.org/officeDocument/2006/math">
                      <m:acc>
                        <m:accPr>
                          <m:chr m:val="̂"/>
                          <m:ctrlPr>
                            <a:rPr lang="en-US" sz="1400" b="0" i="1">
                              <a:latin typeface="Cambria Math" panose="02040503050406030204" pitchFamily="18" charset="0"/>
                            </a:rPr>
                          </m:ctrlPr>
                        </m:accPr>
                        <m:e>
                          <m:r>
                            <a:rPr lang="en-US" sz="1400" b="0" i="1">
                              <a:latin typeface="Cambria Math" panose="02040503050406030204" pitchFamily="18" charset="0"/>
                            </a:rPr>
                            <m:t>ℓ</m:t>
                          </m:r>
                        </m:e>
                      </m:acc>
                      <m:r>
                        <a:rPr lang="en-US" sz="1400" b="0" i="0">
                          <a:latin typeface="Cambria Math" panose="02040503050406030204" pitchFamily="18" charset="0"/>
                        </a:rPr>
                        <m:t> = 873.0 </m:t>
                      </m:r>
                      <m:r>
                        <m:rPr>
                          <m:sty m:val="p"/>
                        </m:rPr>
                        <a:rPr lang="en-US" sz="1400" b="0" i="0">
                          <a:latin typeface="Cambria Math" panose="02040503050406030204" pitchFamily="18" charset="0"/>
                        </a:rPr>
                        <m:t>μm</m:t>
                      </m:r>
                      <m:r>
                        <a:rPr lang="en-US" sz="1400" b="0" i="0">
                          <a:latin typeface="Cambria Math" panose="02040503050406030204" pitchFamily="18" charset="0"/>
                        </a:rPr>
                        <m:t>  </m:t>
                      </m:r>
                      <m:sPre>
                        <m:sPrePr>
                          <m:ctrlPr>
                            <a:rPr lang="en-US" sz="1400" b="0" i="1">
                              <a:latin typeface="Cambria Math" panose="02040503050406030204" pitchFamily="18" charset="0"/>
                            </a:rPr>
                          </m:ctrlPr>
                        </m:sPrePr>
                        <m:sub/>
                        <m:sup>
                          <m:r>
                            <a:rPr lang="en-US" sz="1400" b="0" i="1">
                              <a:latin typeface="Cambria Math" panose="02040503050406030204" pitchFamily="18" charset="0"/>
                            </a:rPr>
                            <m:t>𝐵</m:t>
                          </m:r>
                        </m:sup>
                        <m:e>
                          <m:sSub>
                            <m:sSubPr>
                              <m:ctrlPr>
                                <a:rPr lang="en-US" sz="1400" b="0" i="1">
                                  <a:latin typeface="Cambria Math" panose="02040503050406030204" pitchFamily="18" charset="0"/>
                                </a:rPr>
                              </m:ctrlPr>
                            </m:sSubPr>
                            <m:e>
                              <m:acc>
                                <m:accPr>
                                  <m:chr m:val="̂"/>
                                  <m:ctrlPr>
                                    <a:rPr lang="en-US" sz="1400" b="0" i="1">
                                      <a:latin typeface="Cambria Math" panose="02040503050406030204" pitchFamily="18" charset="0"/>
                                    </a:rPr>
                                  </m:ctrlPr>
                                </m:accPr>
                                <m:e>
                                  <m:r>
                                    <a:rPr lang="en-US" sz="1400" b="0" i="1">
                                      <a:latin typeface="Cambria Math" panose="02040503050406030204" pitchFamily="18" charset="0"/>
                                    </a:rPr>
                                    <m:t>𝑔</m:t>
                                  </m:r>
                                </m:e>
                              </m:acc>
                            </m:e>
                            <m:sub>
                              <m:r>
                                <a:rPr lang="en-US" sz="1400" b="0" i="1">
                                  <a:latin typeface="Cambria Math" panose="02040503050406030204" pitchFamily="18" charset="0"/>
                                </a:rPr>
                                <m:t>𝐼</m:t>
                              </m:r>
                            </m:sub>
                          </m:sSub>
                        </m:e>
                      </m:sPre>
                      <m:r>
                        <a:rPr lang="en-US" sz="1400" b="0" i="0">
                          <a:latin typeface="Cambria Math" panose="02040503050406030204" pitchFamily="18" charset="0"/>
                        </a:rPr>
                        <m:t> = 10.7405 </m:t>
                      </m:r>
                      <m:r>
                        <m:rPr>
                          <m:sty m:val="p"/>
                        </m:rPr>
                        <a:rPr lang="en-US" sz="1400" b="0" i="0">
                          <a:latin typeface="Cambria Math" panose="02040503050406030204" pitchFamily="18" charset="0"/>
                        </a:rPr>
                        <m:t>mT</m:t>
                      </m:r>
                      <m:r>
                        <a:rPr lang="en-US" sz="1400" b="0" i="0">
                          <a:latin typeface="Cambria Math" panose="02040503050406030204" pitchFamily="18" charset="0"/>
                        </a:rPr>
                        <m:t>/</m:t>
                      </m:r>
                      <m:r>
                        <m:rPr>
                          <m:sty m:val="p"/>
                        </m:rPr>
                        <a:rPr lang="en-US" sz="1400" b="0" i="0">
                          <a:latin typeface="Cambria Math" panose="02040503050406030204" pitchFamily="18" charset="0"/>
                        </a:rPr>
                        <m:t>A</m:t>
                      </m:r>
                    </m:oMath>
                  </m:oMathPara>
                </a14:m>
                <a:endParaRPr lang="en-US" sz="1400" dirty="0"/>
              </a:p>
            </p:txBody>
          </p:sp>
        </mc:Choice>
        <mc:Fallback xmlns="">
          <p:sp>
            <p:nvSpPr>
              <p:cNvPr id="52" name="CalibR150_e_sc"/>
              <p:cNvSpPr txBox="1">
                <a:spLocks noRot="1" noChangeAspect="1" noMove="1" noResize="1" noEditPoints="1" noAdjustHandles="1" noChangeArrowheads="1" noChangeShapeType="1" noTextEdit="1"/>
              </p:cNvSpPr>
              <p:nvPr/>
            </p:nvSpPr>
            <p:spPr>
              <a:xfrm>
                <a:off x="154577" y="5713137"/>
                <a:ext cx="3847253" cy="310896"/>
              </a:xfrm>
              <a:prstGeom prst="rect">
                <a:avLst/>
              </a:prstGeom>
              <a:blipFill>
                <a:blip r:embed="rId14"/>
                <a:stretch>
                  <a:fillRect t="-9804" b="-1176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 name="文字方塊 2">
                <a:extLst>
                  <a:ext uri="{FF2B5EF4-FFF2-40B4-BE49-F238E27FC236}">
                    <a16:creationId xmlns:a16="http://schemas.microsoft.com/office/drawing/2014/main" id="{FCA51D30-2E55-417A-9F09-4C3BB8853DC8}"/>
                  </a:ext>
                </a:extLst>
              </p:cNvPr>
              <p:cNvSpPr txBox="1"/>
              <p:nvPr/>
            </p:nvSpPr>
            <p:spPr>
              <a:xfrm>
                <a:off x="5003799" y="2281316"/>
                <a:ext cx="4191000" cy="54950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altLang="zh-TW" sz="1400" smtClean="0">
                          <a:latin typeface="Cambria Math" panose="02040503050406030204" pitchFamily="18" charset="0"/>
                        </a:rPr>
                        <m:t>NMAE</m:t>
                      </m:r>
                      <m:r>
                        <a:rPr lang="en-US" altLang="zh-TW" sz="1400" i="1" smtClean="0">
                          <a:latin typeface="Cambria Math" panose="02040503050406030204" pitchFamily="18" charset="0"/>
                        </a:rPr>
                        <m:t>=</m:t>
                      </m:r>
                      <m:f>
                        <m:fPr>
                          <m:ctrlPr>
                            <a:rPr lang="en-US" altLang="zh-TW" sz="1400" i="1">
                              <a:latin typeface="Cambria Math" panose="02040503050406030204" pitchFamily="18" charset="0"/>
                            </a:rPr>
                          </m:ctrlPr>
                        </m:fPr>
                        <m:num>
                          <m:nary>
                            <m:naryPr>
                              <m:chr m:val="∑"/>
                              <m:supHide m:val="on"/>
                              <m:ctrlPr>
                                <a:rPr lang="en-US" altLang="zh-TW" sz="1400" i="1">
                                  <a:latin typeface="Cambria Math" panose="02040503050406030204" pitchFamily="18" charset="0"/>
                                </a:rPr>
                              </m:ctrlPr>
                            </m:naryPr>
                            <m:sub>
                              <m:r>
                                <m:rPr>
                                  <m:brk m:alnAt="7"/>
                                </m:rPr>
                                <a:rPr lang="en-US" altLang="zh-TW" sz="1400" i="1">
                                  <a:latin typeface="Cambria Math" panose="02040503050406030204" pitchFamily="18" charset="0"/>
                                </a:rPr>
                                <m:t>𝑗</m:t>
                              </m:r>
                            </m:sub>
                            <m:sup/>
                            <m:e>
                              <m:nary>
                                <m:naryPr>
                                  <m:chr m:val="∑"/>
                                  <m:supHide m:val="on"/>
                                  <m:ctrlPr>
                                    <a:rPr lang="en-US" altLang="zh-TW" sz="1400" i="1">
                                      <a:latin typeface="Cambria Math" panose="02040503050406030204" pitchFamily="18" charset="0"/>
                                    </a:rPr>
                                  </m:ctrlPr>
                                </m:naryPr>
                                <m:sub>
                                  <m:r>
                                    <m:rPr>
                                      <m:brk m:alnAt="7"/>
                                    </m:rPr>
                                    <a:rPr lang="en-US" altLang="zh-TW" sz="1400" i="1">
                                      <a:latin typeface="Cambria Math" panose="02040503050406030204" pitchFamily="18" charset="0"/>
                                    </a:rPr>
                                    <m:t>𝑖</m:t>
                                  </m:r>
                                </m:sub>
                                <m:sup/>
                                <m:e>
                                  <m:d>
                                    <m:dPr>
                                      <m:begChr m:val="‖"/>
                                      <m:endChr m:val="‖"/>
                                      <m:ctrlPr>
                                        <a:rPr lang="en-US" altLang="zh-TW" sz="1400" i="1">
                                          <a:latin typeface="Cambria Math" panose="02040503050406030204" pitchFamily="18" charset="0"/>
                                        </a:rPr>
                                      </m:ctrlPr>
                                    </m:dPr>
                                    <m:e>
                                      <m:sSub>
                                        <m:sSubPr>
                                          <m:ctrlPr>
                                            <a:rPr lang="en-US" altLang="zh-TW" sz="1400" i="1">
                                              <a:latin typeface="Cambria Math" panose="02040503050406030204" pitchFamily="18" charset="0"/>
                                            </a:rPr>
                                          </m:ctrlPr>
                                        </m:sSubPr>
                                        <m:e>
                                          <m:r>
                                            <a:rPr lang="en-US" altLang="zh-TW" sz="1400" i="1">
                                              <a:latin typeface="Cambria Math" panose="02040503050406030204" pitchFamily="18" charset="0"/>
                                            </a:rPr>
                                            <m:t>𝑏</m:t>
                                          </m:r>
                                        </m:e>
                                        <m:sub>
                                          <m:r>
                                            <a:rPr lang="en-US" altLang="zh-TW" sz="1400" i="1">
                                              <a:latin typeface="Cambria Math" panose="02040503050406030204" pitchFamily="18" charset="0"/>
                                            </a:rPr>
                                            <m:t>𝑖𝑗</m:t>
                                          </m:r>
                                        </m:sub>
                                      </m:sSub>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a:rPr lang="en-US" altLang="zh-TW" sz="1400" i="1">
                                              <a:latin typeface="Cambria Math" panose="02040503050406030204" pitchFamily="18" charset="0"/>
                                              <a:ea typeface="Cambria Math" panose="02040503050406030204" pitchFamily="18" charset="0"/>
                                            </a:rPr>
                                            <m:t>𝑆</m:t>
                                          </m:r>
                                        </m:e>
                                        <m:sub>
                                          <m:r>
                                            <a:rPr lang="en-US" altLang="zh-TW" sz="1400" i="1">
                                              <a:latin typeface="Cambria Math" panose="02040503050406030204" pitchFamily="18" charset="0"/>
                                              <a:ea typeface="Cambria Math" panose="02040503050406030204" pitchFamily="18" charset="0"/>
                                            </a:rPr>
                                            <m:t>𝑖</m:t>
                                          </m:r>
                                        </m:sub>
                                      </m:sSub>
                                      <m:sPre>
                                        <m:sPrePr>
                                          <m:ctrlPr>
                                            <a:rPr lang="en-US" altLang="zh-TW" sz="1400" i="1">
                                              <a:latin typeface="Cambria Math" panose="02040503050406030204" pitchFamily="18" charset="0"/>
                                              <a:ea typeface="Cambria Math" panose="02040503050406030204" pitchFamily="18" charset="0"/>
                                            </a:rPr>
                                          </m:ctrlPr>
                                        </m:sPrePr>
                                        <m:sub/>
                                        <m:sup>
                                          <m:r>
                                            <a:rPr lang="en-US" altLang="zh-TW" sz="1400" i="1">
                                              <a:latin typeface="Cambria Math" panose="02040503050406030204" pitchFamily="18" charset="0"/>
                                            </a:rPr>
                                            <m:t>𝐵</m:t>
                                          </m:r>
                                        </m:sup>
                                        <m:e>
                                          <m:sSub>
                                            <m:sSubPr>
                                              <m:ctrlPr>
                                                <a:rPr lang="en-US" altLang="zh-TW" sz="1400" i="1">
                                                  <a:latin typeface="Cambria Math" panose="02040503050406030204" pitchFamily="18" charset="0"/>
                                                </a:rPr>
                                              </m:ctrlPr>
                                            </m:sSubPr>
                                            <m:e>
                                              <m:acc>
                                                <m:accPr>
                                                  <m:chr m:val="̂"/>
                                                  <m:ctrlPr>
                                                    <a:rPr lang="en-US" altLang="zh-TW" sz="1400" i="1">
                                                      <a:latin typeface="Cambria Math" panose="02040503050406030204" pitchFamily="18" charset="0"/>
                                                    </a:rPr>
                                                  </m:ctrlPr>
                                                </m:accPr>
                                                <m:e>
                                                  <m:r>
                                                    <a:rPr lang="en-US" altLang="zh-TW" sz="1400" i="1">
                                                      <a:latin typeface="Cambria Math" panose="02040503050406030204" pitchFamily="18" charset="0"/>
                                                    </a:rPr>
                                                    <m:t>𝑔</m:t>
                                                  </m:r>
                                                </m:e>
                                              </m:acc>
                                            </m:e>
                                            <m:sub>
                                              <m:r>
                                                <a:rPr lang="en-US" altLang="zh-TW" sz="1400" i="1">
                                                  <a:latin typeface="Cambria Math" panose="02040503050406030204" pitchFamily="18" charset="0"/>
                                                </a:rPr>
                                                <m:t>𝐼</m:t>
                                              </m:r>
                                            </m:sub>
                                          </m:sSub>
                                        </m:e>
                                      </m:sPre>
                                      <m:sSub>
                                        <m:sSubPr>
                                          <m:ctrlPr>
                                            <a:rPr lang="en-US" altLang="zh-TW" sz="1400" i="1">
                                              <a:latin typeface="Cambria Math" panose="02040503050406030204" pitchFamily="18" charset="0"/>
                                            </a:rPr>
                                          </m:ctrlPr>
                                        </m:sSubPr>
                                        <m:e>
                                          <m:acc>
                                            <m:accPr>
                                              <m:chr m:val="̅"/>
                                              <m:ctrlPr>
                                                <a:rPr lang="en-US" altLang="zh-TW" sz="1400" i="1">
                                                  <a:latin typeface="Cambria Math" panose="02040503050406030204" pitchFamily="18" charset="0"/>
                                                </a:rPr>
                                              </m:ctrlPr>
                                            </m:accPr>
                                            <m:e>
                                              <m:r>
                                                <a:rPr lang="en-US" altLang="zh-TW" sz="1400" i="1">
                                                  <a:latin typeface="Cambria Math" panose="02040503050406030204" pitchFamily="18" charset="0"/>
                                                </a:rPr>
                                                <m:t>𝐾</m:t>
                                              </m:r>
                                            </m:e>
                                          </m:acc>
                                        </m:e>
                                        <m:sub>
                                          <m:r>
                                            <a:rPr lang="en-US" altLang="zh-TW" sz="1400" i="1">
                                              <a:latin typeface="Cambria Math" panose="02040503050406030204" pitchFamily="18" charset="0"/>
                                            </a:rPr>
                                            <m:t>𝐼</m:t>
                                          </m:r>
                                        </m:sub>
                                      </m:sSub>
                                      <m:sSub>
                                        <m:sSubPr>
                                          <m:ctrlPr>
                                            <a:rPr lang="en-US" altLang="zh-TW" sz="1400" i="1">
                                              <a:latin typeface="Cambria Math" panose="02040503050406030204" pitchFamily="18" charset="0"/>
                                            </a:rPr>
                                          </m:ctrlPr>
                                        </m:sSubPr>
                                        <m:e>
                                          <m:r>
                                            <a:rPr lang="en-US" altLang="zh-TW" sz="1400" i="1">
                                              <a:latin typeface="Cambria Math" panose="02040503050406030204" pitchFamily="18" charset="0"/>
                                            </a:rPr>
                                            <m:t>𝐼</m:t>
                                          </m:r>
                                        </m:e>
                                        <m:sub>
                                          <m:r>
                                            <a:rPr lang="en-US" altLang="zh-TW" sz="1400" i="1">
                                              <a:latin typeface="Cambria Math" panose="02040503050406030204" pitchFamily="18" charset="0"/>
                                            </a:rPr>
                                            <m:t>𝑗</m:t>
                                          </m:r>
                                        </m:sub>
                                      </m:sSub>
                                    </m:e>
                                  </m:d>
                                </m:e>
                              </m:nary>
                            </m:e>
                          </m:nary>
                        </m:num>
                        <m:den>
                          <m:nary>
                            <m:naryPr>
                              <m:chr m:val="∑"/>
                              <m:supHide m:val="on"/>
                              <m:ctrlPr>
                                <a:rPr lang="en-US" altLang="zh-TW" sz="1400" i="1">
                                  <a:latin typeface="Cambria Math" panose="02040503050406030204" pitchFamily="18" charset="0"/>
                                </a:rPr>
                              </m:ctrlPr>
                            </m:naryPr>
                            <m:sub>
                              <m:r>
                                <m:rPr>
                                  <m:brk m:alnAt="7"/>
                                </m:rPr>
                                <a:rPr lang="en-US" altLang="zh-TW" sz="1400" i="1">
                                  <a:latin typeface="Cambria Math" panose="02040503050406030204" pitchFamily="18" charset="0"/>
                                </a:rPr>
                                <m:t>𝑗</m:t>
                              </m:r>
                            </m:sub>
                            <m:sup/>
                            <m:e>
                              <m:nary>
                                <m:naryPr>
                                  <m:chr m:val="∑"/>
                                  <m:supHide m:val="on"/>
                                  <m:ctrlPr>
                                    <a:rPr lang="en-US" altLang="zh-TW" sz="1400" i="1">
                                      <a:latin typeface="Cambria Math" panose="02040503050406030204" pitchFamily="18" charset="0"/>
                                    </a:rPr>
                                  </m:ctrlPr>
                                </m:naryPr>
                                <m:sub>
                                  <m:r>
                                    <m:rPr>
                                      <m:brk m:alnAt="7"/>
                                    </m:rPr>
                                    <a:rPr lang="en-US" altLang="zh-TW" sz="1400" i="1">
                                      <a:latin typeface="Cambria Math" panose="02040503050406030204" pitchFamily="18" charset="0"/>
                                    </a:rPr>
                                    <m:t>𝑖</m:t>
                                  </m:r>
                                </m:sub>
                                <m:sup/>
                                <m:e>
                                  <m:d>
                                    <m:dPr>
                                      <m:begChr m:val="‖"/>
                                      <m:endChr m:val="‖"/>
                                      <m:ctrlPr>
                                        <a:rPr lang="en-US" altLang="zh-TW" sz="1400" i="1">
                                          <a:latin typeface="Cambria Math" panose="02040503050406030204" pitchFamily="18" charset="0"/>
                                        </a:rPr>
                                      </m:ctrlPr>
                                    </m:dPr>
                                    <m:e>
                                      <m:sSub>
                                        <m:sSubPr>
                                          <m:ctrlPr>
                                            <a:rPr lang="en-US" altLang="zh-TW" sz="1400" i="1">
                                              <a:latin typeface="Cambria Math" panose="02040503050406030204" pitchFamily="18" charset="0"/>
                                            </a:rPr>
                                          </m:ctrlPr>
                                        </m:sSubPr>
                                        <m:e>
                                          <m:r>
                                            <a:rPr lang="en-US" altLang="zh-TW" sz="1400" i="1">
                                              <a:latin typeface="Cambria Math" panose="02040503050406030204" pitchFamily="18" charset="0"/>
                                            </a:rPr>
                                            <m:t>𝑏</m:t>
                                          </m:r>
                                        </m:e>
                                        <m:sub>
                                          <m:r>
                                            <a:rPr lang="en-US" altLang="zh-TW" sz="1400" i="1">
                                              <a:latin typeface="Cambria Math" panose="02040503050406030204" pitchFamily="18" charset="0"/>
                                            </a:rPr>
                                            <m:t>𝑖𝑗</m:t>
                                          </m:r>
                                        </m:sub>
                                      </m:sSub>
                                    </m:e>
                                  </m:d>
                                </m:e>
                              </m:nary>
                            </m:e>
                          </m:nary>
                        </m:den>
                      </m:f>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rPr>
                        <m:t>100</m:t>
                      </m:r>
                      <m:r>
                        <a:rPr lang="en-US" altLang="zh-TW" sz="1400" b="0" i="1" smtClean="0">
                          <a:latin typeface="Cambria Math" panose="02040503050406030204" pitchFamily="18" charset="0"/>
                        </a:rPr>
                        <m:t>%=2.85%</m:t>
                      </m:r>
                    </m:oMath>
                  </m:oMathPara>
                </a14:m>
                <a:endParaRPr lang="zh-TW" altLang="en-US" sz="1400" dirty="0"/>
              </a:p>
            </p:txBody>
          </p:sp>
        </mc:Choice>
        <mc:Fallback xmlns="">
          <p:sp>
            <p:nvSpPr>
              <p:cNvPr id="3" name="文字方塊 2">
                <a:extLst>
                  <a:ext uri="{FF2B5EF4-FFF2-40B4-BE49-F238E27FC236}">
                    <a16:creationId xmlns:a16="http://schemas.microsoft.com/office/drawing/2014/main" id="{FCA51D30-2E55-417A-9F09-4C3BB8853DC8}"/>
                  </a:ext>
                </a:extLst>
              </p:cNvPr>
              <p:cNvSpPr txBox="1">
                <a:spLocks noRot="1" noChangeAspect="1" noMove="1" noResize="1" noEditPoints="1" noAdjustHandles="1" noChangeArrowheads="1" noChangeShapeType="1" noTextEdit="1"/>
              </p:cNvSpPr>
              <p:nvPr/>
            </p:nvSpPr>
            <p:spPr>
              <a:xfrm>
                <a:off x="5003799" y="2281316"/>
                <a:ext cx="4191000" cy="549509"/>
              </a:xfrm>
              <a:prstGeom prst="rect">
                <a:avLst/>
              </a:prstGeom>
              <a:blipFill>
                <a:blip r:embed="rId15"/>
                <a:stretch>
                  <a:fillRect b="-111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9" name="文字方塊 18">
                <a:extLst>
                  <a:ext uri="{FF2B5EF4-FFF2-40B4-BE49-F238E27FC236}">
                    <a16:creationId xmlns:a16="http://schemas.microsoft.com/office/drawing/2014/main" id="{01D851CB-3BD6-4072-98DB-69D2B35EA860}"/>
                  </a:ext>
                </a:extLst>
              </p:cNvPr>
              <p:cNvSpPr txBox="1"/>
              <p:nvPr/>
            </p:nvSpPr>
            <p:spPr>
              <a:xfrm>
                <a:off x="4092187" y="4442528"/>
                <a:ext cx="6189132" cy="64184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altLang="zh-TW" sz="1400" smtClean="0">
                          <a:latin typeface="Cambria Math" panose="02040503050406030204" pitchFamily="18" charset="0"/>
                        </a:rPr>
                        <m:t>NMAE</m:t>
                      </m:r>
                      <m:r>
                        <a:rPr lang="en-US" altLang="zh-TW" sz="1400" i="1" smtClean="0">
                          <a:latin typeface="Cambria Math" panose="02040503050406030204" pitchFamily="18" charset="0"/>
                        </a:rPr>
                        <m:t>=</m:t>
                      </m:r>
                      <m:f>
                        <m:fPr>
                          <m:ctrlPr>
                            <a:rPr lang="en-US" altLang="zh-TW" sz="1400" i="1">
                              <a:latin typeface="Cambria Math" panose="02040503050406030204" pitchFamily="18" charset="0"/>
                            </a:rPr>
                          </m:ctrlPr>
                        </m:fPr>
                        <m:num>
                          <m:nary>
                            <m:naryPr>
                              <m:chr m:val="∑"/>
                              <m:supHide m:val="on"/>
                              <m:ctrlPr>
                                <a:rPr lang="en-US" altLang="zh-TW" sz="1400" i="1">
                                  <a:latin typeface="Cambria Math" panose="02040503050406030204" pitchFamily="18" charset="0"/>
                                </a:rPr>
                              </m:ctrlPr>
                            </m:naryPr>
                            <m:sub>
                              <m:r>
                                <m:rPr>
                                  <m:brk m:alnAt="7"/>
                                </m:rPr>
                                <a:rPr lang="en-US" altLang="zh-TW" sz="1400" i="1">
                                  <a:latin typeface="Cambria Math" panose="02040503050406030204" pitchFamily="18" charset="0"/>
                                </a:rPr>
                                <m:t>𝑗</m:t>
                              </m:r>
                            </m:sub>
                            <m:sup/>
                            <m:e>
                              <m:nary>
                                <m:naryPr>
                                  <m:chr m:val="∑"/>
                                  <m:supHide m:val="on"/>
                                  <m:ctrlPr>
                                    <a:rPr lang="en-US" altLang="zh-TW" sz="1400" i="1">
                                      <a:latin typeface="Cambria Math" panose="02040503050406030204" pitchFamily="18" charset="0"/>
                                    </a:rPr>
                                  </m:ctrlPr>
                                </m:naryPr>
                                <m:sub>
                                  <m:r>
                                    <m:rPr>
                                      <m:brk m:alnAt="7"/>
                                    </m:rPr>
                                    <a:rPr lang="en-US" altLang="zh-TW" sz="1400" i="1">
                                      <a:latin typeface="Cambria Math" panose="02040503050406030204" pitchFamily="18" charset="0"/>
                                    </a:rPr>
                                    <m:t>𝑖</m:t>
                                  </m:r>
                                </m:sub>
                                <m:sup/>
                                <m:e>
                                  <m:d>
                                    <m:dPr>
                                      <m:begChr m:val="‖"/>
                                      <m:endChr m:val="‖"/>
                                      <m:ctrlPr>
                                        <a:rPr lang="en-US" altLang="zh-TW" sz="1400" i="1">
                                          <a:latin typeface="Cambria Math" panose="02040503050406030204" pitchFamily="18" charset="0"/>
                                        </a:rPr>
                                      </m:ctrlPr>
                                    </m:dPr>
                                    <m:e>
                                      <m:sSub>
                                        <m:sSubPr>
                                          <m:ctrlPr>
                                            <a:rPr lang="en-US" altLang="zh-TW" sz="1400" i="1">
                                              <a:latin typeface="Cambria Math" panose="02040503050406030204" pitchFamily="18" charset="0"/>
                                            </a:rPr>
                                          </m:ctrlPr>
                                        </m:sSubPr>
                                        <m:e>
                                          <m:r>
                                            <a:rPr lang="en-US" altLang="zh-TW" sz="1400" i="1">
                                              <a:latin typeface="Cambria Math" panose="02040503050406030204" pitchFamily="18" charset="0"/>
                                            </a:rPr>
                                            <m:t>𝑏</m:t>
                                          </m:r>
                                        </m:e>
                                        <m:sub>
                                          <m:r>
                                            <a:rPr lang="en-US" altLang="zh-TW" sz="1400" i="1">
                                              <a:latin typeface="Cambria Math" panose="02040503050406030204" pitchFamily="18" charset="0"/>
                                            </a:rPr>
                                            <m:t>𝑖𝑗</m:t>
                                          </m:r>
                                        </m:sub>
                                      </m:sSub>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a:rPr lang="en-US" altLang="zh-TW" sz="1400" i="1">
                                              <a:latin typeface="Cambria Math" panose="02040503050406030204" pitchFamily="18" charset="0"/>
                                              <a:ea typeface="Cambria Math" panose="02040503050406030204" pitchFamily="18" charset="0"/>
                                            </a:rPr>
                                            <m:t>𝑆</m:t>
                                          </m:r>
                                        </m:e>
                                        <m:sub>
                                          <m:r>
                                            <a:rPr lang="en-US" altLang="zh-TW" sz="1400" i="1">
                                              <a:latin typeface="Cambria Math" panose="02040503050406030204" pitchFamily="18" charset="0"/>
                                              <a:ea typeface="Cambria Math" panose="02040503050406030204" pitchFamily="18" charset="0"/>
                                            </a:rPr>
                                            <m:t>𝑖</m:t>
                                          </m:r>
                                        </m:sub>
                                      </m:sSub>
                                      <m:sPre>
                                        <m:sPrePr>
                                          <m:ctrlPr>
                                            <a:rPr lang="en-US" altLang="zh-TW" sz="1400" i="1">
                                              <a:latin typeface="Cambria Math" panose="02040503050406030204" pitchFamily="18" charset="0"/>
                                              <a:ea typeface="Cambria Math" panose="02040503050406030204" pitchFamily="18" charset="0"/>
                                            </a:rPr>
                                          </m:ctrlPr>
                                        </m:sPrePr>
                                        <m:sub/>
                                        <m:sup>
                                          <m:r>
                                            <a:rPr lang="en-US" altLang="zh-TW" sz="1400" i="1">
                                              <a:latin typeface="Cambria Math" panose="02040503050406030204" pitchFamily="18" charset="0"/>
                                            </a:rPr>
                                            <m:t>𝐵</m:t>
                                          </m:r>
                                        </m:sup>
                                        <m:e>
                                          <m:sSub>
                                            <m:sSubPr>
                                              <m:ctrlPr>
                                                <a:rPr lang="en-US" altLang="zh-TW" sz="1400" i="1">
                                                  <a:latin typeface="Cambria Math" panose="02040503050406030204" pitchFamily="18" charset="0"/>
                                                </a:rPr>
                                              </m:ctrlPr>
                                            </m:sSubPr>
                                            <m:e>
                                              <m:acc>
                                                <m:accPr>
                                                  <m:chr m:val="̂"/>
                                                  <m:ctrlPr>
                                                    <a:rPr lang="en-US" altLang="zh-TW" sz="1400" i="1">
                                                      <a:latin typeface="Cambria Math" panose="02040503050406030204" pitchFamily="18" charset="0"/>
                                                    </a:rPr>
                                                  </m:ctrlPr>
                                                </m:accPr>
                                                <m:e>
                                                  <m:r>
                                                    <a:rPr lang="en-US" altLang="zh-TW" sz="1400" i="1">
                                                      <a:latin typeface="Cambria Math" panose="02040503050406030204" pitchFamily="18" charset="0"/>
                                                    </a:rPr>
                                                    <m:t>𝑔</m:t>
                                                  </m:r>
                                                </m:e>
                                              </m:acc>
                                            </m:e>
                                            <m:sub>
                                              <m:r>
                                                <a:rPr lang="en-US" altLang="zh-TW" sz="1400" i="1">
                                                  <a:latin typeface="Cambria Math" panose="02040503050406030204" pitchFamily="18" charset="0"/>
                                                </a:rPr>
                                                <m:t>𝐼</m:t>
                                              </m:r>
                                            </m:sub>
                                          </m:sSub>
                                        </m:e>
                                      </m:sPre>
                                      <m:sSub>
                                        <m:sSubPr>
                                          <m:ctrlPr>
                                            <a:rPr lang="en-US" altLang="zh-TW" sz="1400" i="1">
                                              <a:latin typeface="Cambria Math" panose="02040503050406030204" pitchFamily="18" charset="0"/>
                                            </a:rPr>
                                          </m:ctrlPr>
                                        </m:sSubPr>
                                        <m:e>
                                          <m:acc>
                                            <m:accPr>
                                              <m:chr m:val="̅"/>
                                              <m:ctrlPr>
                                                <a:rPr lang="en-US" altLang="zh-TW" sz="1400" i="1">
                                                  <a:latin typeface="Cambria Math" panose="02040503050406030204" pitchFamily="18" charset="0"/>
                                                </a:rPr>
                                              </m:ctrlPr>
                                            </m:accPr>
                                            <m:e>
                                              <m:r>
                                                <a:rPr lang="en-US" altLang="zh-TW" sz="1400" i="1">
                                                  <a:latin typeface="Cambria Math" panose="02040503050406030204" pitchFamily="18" charset="0"/>
                                                </a:rPr>
                                                <m:t>𝐾</m:t>
                                              </m:r>
                                            </m:e>
                                          </m:acc>
                                        </m:e>
                                        <m:sub>
                                          <m:r>
                                            <a:rPr lang="en-US" altLang="zh-TW" sz="1400" i="1">
                                              <a:latin typeface="Cambria Math" panose="02040503050406030204" pitchFamily="18" charset="0"/>
                                            </a:rPr>
                                            <m:t>𝐼</m:t>
                                          </m:r>
                                        </m:sub>
                                      </m:sSub>
                                      <m:sSub>
                                        <m:sSubPr>
                                          <m:ctrlPr>
                                            <a:rPr lang="en-US" altLang="zh-TW" sz="1400" i="1">
                                              <a:latin typeface="Cambria Math" panose="02040503050406030204" pitchFamily="18" charset="0"/>
                                            </a:rPr>
                                          </m:ctrlPr>
                                        </m:sSubPr>
                                        <m:e>
                                          <m:r>
                                            <a:rPr lang="en-US" altLang="zh-TW" sz="1400" i="1">
                                              <a:latin typeface="Cambria Math" panose="02040503050406030204" pitchFamily="18" charset="0"/>
                                            </a:rPr>
                                            <m:t>𝐼</m:t>
                                          </m:r>
                                        </m:e>
                                        <m:sub>
                                          <m:r>
                                            <a:rPr lang="en-US" altLang="zh-TW" sz="1400" i="1">
                                              <a:latin typeface="Cambria Math" panose="02040503050406030204" pitchFamily="18" charset="0"/>
                                            </a:rPr>
                                            <m:t>𝑗</m:t>
                                          </m:r>
                                        </m:sub>
                                      </m:sSub>
                                    </m:e>
                                  </m:d>
                                </m:e>
                              </m:nary>
                            </m:e>
                          </m:nary>
                        </m:num>
                        <m:den>
                          <m:nary>
                            <m:naryPr>
                              <m:chr m:val="∑"/>
                              <m:supHide m:val="on"/>
                              <m:ctrlPr>
                                <a:rPr lang="en-US" altLang="zh-TW" sz="1400" i="1">
                                  <a:latin typeface="Cambria Math" panose="02040503050406030204" pitchFamily="18" charset="0"/>
                                </a:rPr>
                              </m:ctrlPr>
                            </m:naryPr>
                            <m:sub>
                              <m:r>
                                <m:rPr>
                                  <m:brk m:alnAt="7"/>
                                </m:rPr>
                                <a:rPr lang="en-US" altLang="zh-TW" sz="1400" i="1">
                                  <a:latin typeface="Cambria Math" panose="02040503050406030204" pitchFamily="18" charset="0"/>
                                </a:rPr>
                                <m:t>𝑗</m:t>
                              </m:r>
                            </m:sub>
                            <m:sup/>
                            <m:e>
                              <m:nary>
                                <m:naryPr>
                                  <m:chr m:val="∑"/>
                                  <m:supHide m:val="on"/>
                                  <m:ctrlPr>
                                    <a:rPr lang="en-US" altLang="zh-TW" sz="1400" i="1">
                                      <a:latin typeface="Cambria Math" panose="02040503050406030204" pitchFamily="18" charset="0"/>
                                    </a:rPr>
                                  </m:ctrlPr>
                                </m:naryPr>
                                <m:sub>
                                  <m:r>
                                    <m:rPr>
                                      <m:brk m:alnAt="7"/>
                                    </m:rPr>
                                    <a:rPr lang="en-US" altLang="zh-TW" sz="1400" i="1">
                                      <a:latin typeface="Cambria Math" panose="02040503050406030204" pitchFamily="18" charset="0"/>
                                    </a:rPr>
                                    <m:t>𝑖</m:t>
                                  </m:r>
                                </m:sub>
                                <m:sup/>
                                <m:e>
                                  <m:d>
                                    <m:dPr>
                                      <m:begChr m:val="‖"/>
                                      <m:endChr m:val="‖"/>
                                      <m:ctrlPr>
                                        <a:rPr lang="en-US" altLang="zh-TW" sz="1400" i="1">
                                          <a:latin typeface="Cambria Math" panose="02040503050406030204" pitchFamily="18" charset="0"/>
                                        </a:rPr>
                                      </m:ctrlPr>
                                    </m:dPr>
                                    <m:e>
                                      <m:sSub>
                                        <m:sSubPr>
                                          <m:ctrlPr>
                                            <a:rPr lang="en-US" altLang="zh-TW" sz="1400" i="1">
                                              <a:latin typeface="Cambria Math" panose="02040503050406030204" pitchFamily="18" charset="0"/>
                                            </a:rPr>
                                          </m:ctrlPr>
                                        </m:sSubPr>
                                        <m:e>
                                          <m:r>
                                            <a:rPr lang="en-US" altLang="zh-TW" sz="1400" i="1">
                                              <a:latin typeface="Cambria Math" panose="02040503050406030204" pitchFamily="18" charset="0"/>
                                            </a:rPr>
                                            <m:t>𝑏</m:t>
                                          </m:r>
                                        </m:e>
                                        <m:sub>
                                          <m:r>
                                            <a:rPr lang="en-US" altLang="zh-TW" sz="1400" i="1">
                                              <a:latin typeface="Cambria Math" panose="02040503050406030204" pitchFamily="18" charset="0"/>
                                            </a:rPr>
                                            <m:t>𝑖𝑗</m:t>
                                          </m:r>
                                        </m:sub>
                                      </m:sSub>
                                    </m:e>
                                  </m:d>
                                </m:e>
                              </m:nary>
                            </m:e>
                          </m:nary>
                        </m:den>
                      </m:f>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rPr>
                        <m:t>100</m:t>
                      </m:r>
                      <m:r>
                        <a:rPr lang="en-US" altLang="zh-TW" sz="1400" b="0" i="1" smtClean="0">
                          <a:latin typeface="Cambria Math" panose="02040503050406030204" pitchFamily="18" charset="0"/>
                        </a:rPr>
                        <m:t>%=0.26%</m:t>
                      </m:r>
                    </m:oMath>
                  </m:oMathPara>
                </a14:m>
                <a:endParaRPr lang="zh-TW" altLang="en-US" sz="1400" dirty="0"/>
              </a:p>
            </p:txBody>
          </p:sp>
        </mc:Choice>
        <mc:Fallback xmlns="">
          <p:sp>
            <p:nvSpPr>
              <p:cNvPr id="19" name="文字方塊 18">
                <a:extLst>
                  <a:ext uri="{FF2B5EF4-FFF2-40B4-BE49-F238E27FC236}">
                    <a16:creationId xmlns:a16="http://schemas.microsoft.com/office/drawing/2014/main" id="{01D851CB-3BD6-4072-98DB-69D2B35EA860}"/>
                  </a:ext>
                </a:extLst>
              </p:cNvPr>
              <p:cNvSpPr txBox="1">
                <a:spLocks noRot="1" noChangeAspect="1" noMove="1" noResize="1" noEditPoints="1" noAdjustHandles="1" noChangeArrowheads="1" noChangeShapeType="1" noTextEdit="1"/>
              </p:cNvSpPr>
              <p:nvPr/>
            </p:nvSpPr>
            <p:spPr>
              <a:xfrm>
                <a:off x="4092187" y="4442528"/>
                <a:ext cx="6189132" cy="641842"/>
              </a:xfrm>
              <a:prstGeom prst="rect">
                <a:avLst/>
              </a:prstGeom>
              <a:blipFill>
                <a:blip r:embed="rId16"/>
                <a:stretch>
                  <a:fillRect/>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21263994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0" name="文字方塊 39">
            <a:extLst>
              <a:ext uri="{FF2B5EF4-FFF2-40B4-BE49-F238E27FC236}">
                <a16:creationId xmlns:a16="http://schemas.microsoft.com/office/drawing/2014/main" id="{B1E82766-E1D8-4AA6-A2B9-6AEA170385C0}"/>
              </a:ext>
            </a:extLst>
          </p:cNvPr>
          <p:cNvSpPr txBox="1"/>
          <p:nvPr/>
        </p:nvSpPr>
        <p:spPr>
          <a:xfrm>
            <a:off x="0" y="308956"/>
            <a:ext cx="6324600" cy="390684"/>
          </a:xfrm>
          <a:prstGeom prst="rect">
            <a:avLst/>
          </a:prstGeom>
          <a:noFill/>
        </p:spPr>
        <p:txBody>
          <a:bodyPr wrap="square" rtlCol="0">
            <a:spAutoFit/>
          </a:bodyPr>
          <a:lstStyle/>
          <a:p>
            <a:pPr>
              <a:lnSpc>
                <a:spcPct val="115000"/>
              </a:lnSpc>
              <a:spcAft>
                <a:spcPts val="800"/>
              </a:spcAft>
            </a:pPr>
            <a:r>
              <a:rPr lang="en-US" altLang="zh-TW"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E</a:t>
            </a:r>
            <a:r>
              <a:rPr lang="en-US" altLang="zh-TW"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 </a:t>
            </a:r>
            <a:r>
              <a:rPr lang="en-US" altLang="zh-TW" i="1"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Validation</a:t>
            </a:r>
            <a:endParaRPr lang="zh-TW" altLang="zh-TW" kern="100" dirty="0">
              <a:effectLst/>
              <a:latin typeface="Aptos"/>
              <a:ea typeface="新細明體" panose="02020500000000000000" pitchFamily="18" charset="-12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41" name="auto caption"/>
              <p:cNvSpPr txBox="1"/>
              <p:nvPr/>
            </p:nvSpPr>
            <p:spPr>
              <a:xfrm>
                <a:off x="333587" y="743604"/>
                <a:ext cx="11155680" cy="3095994"/>
              </a:xfrm>
              <a:prstGeom prst="rect">
                <a:avLst/>
              </a:prstGeom>
              <a:noFill/>
            </p:spPr>
            <p:txBody>
              <a:bodyPr wrap="square" rtlCol="0">
                <a:noAutofit/>
              </a:bodyPr>
              <a:lstStyle/>
              <a:p>
                <a:pPr marL="285750" indent="-285750">
                  <a:buFont typeface="Arial" panose="020B0604020202020204" pitchFamily="34" charset="0"/>
                  <a:buChar char="•"/>
                </a:pPr>
                <a:r>
                  <a:rPr lang="en-US" altLang="zh-TW" sz="1600" dirty="0"/>
                  <a:t>Setup: For every sampling radius R the model is re-calibrated from scratch on that radius' own converged reduced design. R is swept from 20 to 500 µm in 20 µm steps. Blue is the single-parameter fit (</a:t>
                </a:r>
                <a14:m>
                  <m:oMath xmlns:m="http://schemas.openxmlformats.org/officeDocument/2006/math">
                    <m:acc>
                      <m:accPr>
                        <m:chr m:val="̂"/>
                        <m:ctrlPr>
                          <a:rPr lang="en-US" altLang="zh-TW" sz="1600" i="1" smtClean="0">
                            <a:latin typeface="Cambria Math" panose="02040503050406030204" pitchFamily="18" charset="0"/>
                          </a:rPr>
                        </m:ctrlPr>
                      </m:accPr>
                      <m:e>
                        <m:r>
                          <a:rPr lang="en-US" altLang="zh-TW" sz="1600" i="1" smtClean="0">
                            <a:latin typeface="Cambria Math" panose="02040503050406030204" pitchFamily="18" charset="0"/>
                            <a:ea typeface="Cambria Math" panose="02040503050406030204" pitchFamily="18" charset="0"/>
                          </a:rPr>
                          <m:t>ℓ</m:t>
                        </m:r>
                      </m:e>
                    </m:acc>
                  </m:oMath>
                </a14:m>
                <a:r>
                  <a:rPr lang="en-US" altLang="zh-TW" sz="1600" dirty="0"/>
                  <a:t> only), red the eighteen-parameter fit (</a:t>
                </a:r>
                <a14:m>
                  <m:oMath xmlns:m="http://schemas.openxmlformats.org/officeDocument/2006/math">
                    <m:acc>
                      <m:accPr>
                        <m:chr m:val="̂"/>
                        <m:ctrlPr>
                          <a:rPr lang="en-US" altLang="zh-TW" sz="1600" i="1" smtClean="0">
                            <a:latin typeface="Cambria Math" panose="02040503050406030204" pitchFamily="18" charset="0"/>
                          </a:rPr>
                        </m:ctrlPr>
                      </m:accPr>
                      <m:e>
                        <m:r>
                          <a:rPr lang="en-US" altLang="zh-TW" sz="1600" i="1" smtClean="0">
                            <a:latin typeface="Cambria Math" panose="02040503050406030204" pitchFamily="18" charset="0"/>
                            <a:ea typeface="Cambria Math" panose="02040503050406030204" pitchFamily="18" charset="0"/>
                          </a:rPr>
                          <m:t>ℓ</m:t>
                        </m:r>
                      </m:e>
                    </m:acc>
                  </m:oMath>
                </a14:m>
                <a:r>
                  <a:rPr lang="en-US" altLang="zh-TW" sz="1600" dirty="0"/>
                  <a:t>plus 17 charge offsets). The straight segment below R = 20 µm is only an anchor drawn to the origin — there is no data there.</a:t>
                </a:r>
              </a:p>
              <a:p>
                <a:pPr marL="285750" indent="-285750">
                  <a:buFont typeface="Arial" panose="020B0604020202020204" pitchFamily="34" charset="0"/>
                  <a:buChar char="•"/>
                </a:pPr>
                <a:endParaRPr lang="en-US" altLang="zh-TW" sz="1600" dirty="0"/>
              </a:p>
              <a:p>
                <a:pPr marL="285750" indent="-285750">
                  <a:buFont typeface="Arial" panose="020B0604020202020204" pitchFamily="34" charset="0"/>
                  <a:buChar char="•"/>
                </a:pPr>
                <a:r>
                  <a:rPr lang="en-US" altLang="zh-TW" sz="1600" dirty="0"/>
                  <a:t>The effective length </a:t>
                </a:r>
                <a14:m>
                  <m:oMath xmlns:m="http://schemas.openxmlformats.org/officeDocument/2006/math">
                    <m:acc>
                      <m:accPr>
                        <m:chr m:val="̂"/>
                        <m:ctrlPr>
                          <a:rPr lang="en-US" altLang="zh-TW" sz="1600" i="1" smtClean="0">
                            <a:latin typeface="Cambria Math" panose="02040503050406030204" pitchFamily="18" charset="0"/>
                          </a:rPr>
                        </m:ctrlPr>
                      </m:accPr>
                      <m:e>
                        <m:r>
                          <a:rPr lang="en-US" altLang="zh-TW" sz="1600" i="1" smtClean="0">
                            <a:latin typeface="Cambria Math" panose="02040503050406030204" pitchFamily="18" charset="0"/>
                            <a:ea typeface="Cambria Math" panose="02040503050406030204" pitchFamily="18" charset="0"/>
                          </a:rPr>
                          <m:t>ℓ</m:t>
                        </m:r>
                      </m:e>
                    </m:acc>
                  </m:oMath>
                </a14:m>
                <a:r>
                  <a:rPr lang="en-US" altLang="zh-TW" sz="1600" dirty="0"/>
                  <a:t>  is remarkably flat: it peaks at 890.5 µm at R = 40 µm and then decays monotonically, and the two parameterizations track each other to within a few µm over almost the whole sweep — only beyond R ≈ 400 µm do both fall away steeply. The gain tells the opposite story. The single-parameter gain is unusable at small radii: it blows up to 40 </a:t>
                </a:r>
                <a:r>
                  <a:rPr lang="en-US" altLang="zh-TW" sz="1600" dirty="0" err="1"/>
                  <a:t>mT</a:t>
                </a:r>
                <a:r>
                  <a:rPr lang="en-US" altLang="zh-TW" sz="1600" dirty="0"/>
                  <a:t>/A at R = 20 µm, is still 14.8 </a:t>
                </a:r>
                <a:r>
                  <a:rPr lang="en-US" altLang="zh-TW" sz="1600" dirty="0" err="1"/>
                  <a:t>mT</a:t>
                </a:r>
                <a:r>
                  <a:rPr lang="en-US" altLang="zh-TW" sz="1600" dirty="0"/>
                  <a:t>/A at R = 40 µm, and only settles onto its plateau of ≈ 9.4 </a:t>
                </a:r>
                <a:r>
                  <a:rPr lang="en-US" altLang="zh-TW" sz="1600" dirty="0" err="1"/>
                  <a:t>mT</a:t>
                </a:r>
                <a:r>
                  <a:rPr lang="en-US" altLang="zh-TW" sz="1600" dirty="0"/>
                  <a:t>/A from R = 80 µm onward. The eighteen-parameter gain is well behaved at every radius tested, rising quickly to ≈ 10.6 </a:t>
                </a:r>
                <a:r>
                  <a:rPr lang="en-US" altLang="zh-TW" sz="1600" dirty="0" err="1"/>
                  <a:t>mT</a:t>
                </a:r>
                <a:r>
                  <a:rPr lang="en-US" altLang="zh-TW" sz="1600" dirty="0"/>
                  <a:t>/A and staying there. The practical conclusion is that the eighteen-parameter model is usable over the whole plotted range, whereas the single-parameter model is only trustworthy from R = 80 µm.</a:t>
                </a:r>
              </a:p>
            </p:txBody>
          </p:sp>
        </mc:Choice>
        <mc:Fallback xmlns="">
          <p:sp>
            <p:nvSpPr>
              <p:cNvPr id="41" name="auto caption"/>
              <p:cNvSpPr txBox="1">
                <a:spLocks noRot="1" noChangeAspect="1" noMove="1" noResize="1" noEditPoints="1" noAdjustHandles="1" noChangeArrowheads="1" noChangeShapeType="1" noTextEdit="1"/>
              </p:cNvSpPr>
              <p:nvPr/>
            </p:nvSpPr>
            <p:spPr>
              <a:xfrm>
                <a:off x="333587" y="743604"/>
                <a:ext cx="11155680" cy="3095994"/>
              </a:xfrm>
              <a:prstGeom prst="rect">
                <a:avLst/>
              </a:prstGeom>
              <a:blipFill>
                <a:blip r:embed="rId2"/>
                <a:stretch>
                  <a:fillRect l="-219" t="-591" r="-164"/>
                </a:stretch>
              </a:blipFill>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C3046914-2045-479F-9241-9100E1B02C7D}"/>
              </a:ext>
            </a:extLst>
          </p:cNvPr>
          <p:cNvSpPr/>
          <p:nvPr/>
        </p:nvSpPr>
        <p:spPr>
          <a:xfrm>
            <a:off x="3191932" y="5951913"/>
            <a:ext cx="2235200" cy="30943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 name="矩形 6">
            <a:extLst>
              <a:ext uri="{FF2B5EF4-FFF2-40B4-BE49-F238E27FC236}">
                <a16:creationId xmlns:a16="http://schemas.microsoft.com/office/drawing/2014/main" id="{38A87356-DFFA-449B-A1BC-B35781328F4F}"/>
              </a:ext>
            </a:extLst>
          </p:cNvPr>
          <p:cNvSpPr/>
          <p:nvPr/>
        </p:nvSpPr>
        <p:spPr>
          <a:xfrm>
            <a:off x="6510866" y="5999327"/>
            <a:ext cx="2235200" cy="30943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 name="矩形 7">
            <a:extLst>
              <a:ext uri="{FF2B5EF4-FFF2-40B4-BE49-F238E27FC236}">
                <a16:creationId xmlns:a16="http://schemas.microsoft.com/office/drawing/2014/main" id="{398911A9-7043-4A49-B961-C771243DB34D}"/>
              </a:ext>
            </a:extLst>
          </p:cNvPr>
          <p:cNvSpPr/>
          <p:nvPr/>
        </p:nvSpPr>
        <p:spPr>
          <a:xfrm rot="16200000">
            <a:off x="1380067" y="4624105"/>
            <a:ext cx="2235200" cy="30943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20" name="群組 19">
            <a:extLst>
              <a:ext uri="{FF2B5EF4-FFF2-40B4-BE49-F238E27FC236}">
                <a16:creationId xmlns:a16="http://schemas.microsoft.com/office/drawing/2014/main" id="{06015091-5680-4CA7-94EE-CCD4D232374B}"/>
              </a:ext>
            </a:extLst>
          </p:cNvPr>
          <p:cNvGrpSpPr/>
          <p:nvPr/>
        </p:nvGrpSpPr>
        <p:grpSpPr>
          <a:xfrm>
            <a:off x="2773848" y="3842313"/>
            <a:ext cx="6275157" cy="2813946"/>
            <a:chOff x="2614843" y="3425857"/>
            <a:chExt cx="5740733" cy="2486028"/>
          </a:xfrm>
        </p:grpSpPr>
        <p:grpSp>
          <p:nvGrpSpPr>
            <p:cNvPr id="19" name="群組 18">
              <a:extLst>
                <a:ext uri="{FF2B5EF4-FFF2-40B4-BE49-F238E27FC236}">
                  <a16:creationId xmlns:a16="http://schemas.microsoft.com/office/drawing/2014/main" id="{61BCF2E1-081B-4366-95C9-547A338F5AA5}"/>
                </a:ext>
              </a:extLst>
            </p:cNvPr>
            <p:cNvGrpSpPr/>
            <p:nvPr/>
          </p:nvGrpSpPr>
          <p:grpSpPr>
            <a:xfrm>
              <a:off x="2614843" y="3425857"/>
              <a:ext cx="5740733" cy="2486028"/>
              <a:chOff x="2614843" y="3425857"/>
              <a:chExt cx="5740733" cy="2486028"/>
            </a:xfrm>
          </p:grpSpPr>
          <p:pic>
            <p:nvPicPr>
              <p:cNvPr id="18" name="圖片 17">
                <a:extLst>
                  <a:ext uri="{FF2B5EF4-FFF2-40B4-BE49-F238E27FC236}">
                    <a16:creationId xmlns:a16="http://schemas.microsoft.com/office/drawing/2014/main" id="{C34E5C03-79C9-4DBF-8955-361335D3D9F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85167" y="3425857"/>
                <a:ext cx="5570409" cy="2317996"/>
              </a:xfrm>
              <a:prstGeom prst="rect">
                <a:avLst/>
              </a:prstGeom>
            </p:spPr>
          </p:pic>
          <p:sp>
            <p:nvSpPr>
              <p:cNvPr id="9" name="矩形 8">
                <a:extLst>
                  <a:ext uri="{FF2B5EF4-FFF2-40B4-BE49-F238E27FC236}">
                    <a16:creationId xmlns:a16="http://schemas.microsoft.com/office/drawing/2014/main" id="{F5B0EBB1-6AB8-48EE-BC7C-3B87A1F01F92}"/>
                  </a:ext>
                </a:extLst>
              </p:cNvPr>
              <p:cNvSpPr/>
              <p:nvPr/>
            </p:nvSpPr>
            <p:spPr>
              <a:xfrm rot="16200000">
                <a:off x="5023646" y="4364790"/>
                <a:ext cx="1352083" cy="30943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21" name="矩形 20">
                <a:extLst>
                  <a:ext uri="{FF2B5EF4-FFF2-40B4-BE49-F238E27FC236}">
                    <a16:creationId xmlns:a16="http://schemas.microsoft.com/office/drawing/2014/main" id="{B39A8314-EAC6-4F5A-BED0-BFEBA3939728}"/>
                  </a:ext>
                </a:extLst>
              </p:cNvPr>
              <p:cNvSpPr/>
              <p:nvPr/>
            </p:nvSpPr>
            <p:spPr>
              <a:xfrm>
                <a:off x="6040966" y="5568436"/>
                <a:ext cx="2044701" cy="30943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22" name="矩形 21">
                <a:extLst>
                  <a:ext uri="{FF2B5EF4-FFF2-40B4-BE49-F238E27FC236}">
                    <a16:creationId xmlns:a16="http://schemas.microsoft.com/office/drawing/2014/main" id="{89AC422D-71C0-4090-ABCE-0B69D83E54AC}"/>
                  </a:ext>
                </a:extLst>
              </p:cNvPr>
              <p:cNvSpPr/>
              <p:nvPr/>
            </p:nvSpPr>
            <p:spPr>
              <a:xfrm>
                <a:off x="3162300" y="5602451"/>
                <a:ext cx="2076646" cy="30943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23" name="矩形 22">
                <a:extLst>
                  <a:ext uri="{FF2B5EF4-FFF2-40B4-BE49-F238E27FC236}">
                    <a16:creationId xmlns:a16="http://schemas.microsoft.com/office/drawing/2014/main" id="{3EA903BB-C827-4FD7-88CD-461937614CB9}"/>
                  </a:ext>
                </a:extLst>
              </p:cNvPr>
              <p:cNvSpPr/>
              <p:nvPr/>
            </p:nvSpPr>
            <p:spPr>
              <a:xfrm rot="5400000">
                <a:off x="2056817" y="4408705"/>
                <a:ext cx="1425484" cy="30943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grpSp>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1487081C-210E-415F-A6F2-E8AE31E2131C}"/>
                    </a:ext>
                  </a:extLst>
                </p:cNvPr>
                <p:cNvSpPr txBox="1"/>
                <p:nvPr/>
              </p:nvSpPr>
              <p:spPr>
                <a:xfrm>
                  <a:off x="3413253" y="5609430"/>
                  <a:ext cx="1825693"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altLang="zh-TW" sz="1400" i="1" smtClean="0">
                            <a:latin typeface="Cambria Math" panose="02040503050406030204" pitchFamily="18" charset="0"/>
                          </a:rPr>
                          <m:t>W</m:t>
                        </m:r>
                        <m:r>
                          <m:rPr>
                            <m:sty m:val="p"/>
                          </m:rPr>
                          <a:rPr lang="en-US" altLang="zh-TW" sz="1400" b="0" i="0" smtClean="0">
                            <a:latin typeface="Cambria Math" panose="02040503050406030204" pitchFamily="18" charset="0"/>
                          </a:rPr>
                          <m:t>orkspace</m:t>
                        </m:r>
                        <m:r>
                          <a:rPr lang="en-US" altLang="zh-TW" sz="1400" b="0" i="0" smtClean="0">
                            <a:latin typeface="Cambria Math" panose="02040503050406030204" pitchFamily="18" charset="0"/>
                          </a:rPr>
                          <m:t> </m:t>
                        </m:r>
                        <m:r>
                          <m:rPr>
                            <m:sty m:val="p"/>
                          </m:rPr>
                          <a:rPr lang="en-US" altLang="zh-TW" sz="1400" b="0" i="0" smtClean="0">
                            <a:latin typeface="Cambria Math" panose="02040503050406030204" pitchFamily="18" charset="0"/>
                          </a:rPr>
                          <m:t>radius</m:t>
                        </m:r>
                        <m:r>
                          <a:rPr lang="en-US" altLang="zh-TW" sz="1400" b="0" i="0" smtClean="0">
                            <a:latin typeface="Cambria Math" panose="02040503050406030204" pitchFamily="18" charset="0"/>
                          </a:rPr>
                          <m:t>(</m:t>
                        </m:r>
                        <m:r>
                          <a:rPr lang="el-GR" altLang="zh-TW" sz="1400" i="1">
                            <a:latin typeface="Cambria Math" panose="02040503050406030204" pitchFamily="18" charset="0"/>
                            <a:ea typeface="Cambria Math" panose="02040503050406030204" pitchFamily="18" charset="0"/>
                          </a:rPr>
                          <m:t>𝜇</m:t>
                        </m:r>
                        <m:r>
                          <a:rPr lang="en-US" altLang="zh-TW" sz="1400" i="1">
                            <a:latin typeface="Cambria Math" panose="02040503050406030204" pitchFamily="18" charset="0"/>
                            <a:ea typeface="Cambria Math" panose="02040503050406030204" pitchFamily="18" charset="0"/>
                          </a:rPr>
                          <m:t>𝑚</m:t>
                        </m:r>
                        <m:r>
                          <a:rPr lang="en-US" altLang="zh-TW" sz="1400" b="0" i="0" smtClean="0">
                            <a:latin typeface="Cambria Math" panose="02040503050406030204" pitchFamily="18" charset="0"/>
                          </a:rPr>
                          <m:t>)</m:t>
                        </m:r>
                      </m:oMath>
                    </m:oMathPara>
                  </a14:m>
                  <a:endParaRPr lang="zh-TW" altLang="en-US" sz="1400" dirty="0"/>
                </a:p>
              </p:txBody>
            </p:sp>
          </mc:Choice>
          <mc:Fallback xmlns="">
            <p:sp>
              <p:nvSpPr>
                <p:cNvPr id="10" name="文字方塊 9">
                  <a:extLst>
                    <a:ext uri="{FF2B5EF4-FFF2-40B4-BE49-F238E27FC236}">
                      <a16:creationId xmlns:a16="http://schemas.microsoft.com/office/drawing/2014/main" id="{1487081C-210E-415F-A6F2-E8AE31E2131C}"/>
                    </a:ext>
                  </a:extLst>
                </p:cNvPr>
                <p:cNvSpPr txBox="1">
                  <a:spLocks noRot="1" noChangeAspect="1" noMove="1" noResize="1" noEditPoints="1" noAdjustHandles="1" noChangeArrowheads="1" noChangeShapeType="1" noTextEdit="1"/>
                </p:cNvSpPr>
                <p:nvPr/>
              </p:nvSpPr>
              <p:spPr>
                <a:xfrm>
                  <a:off x="3413253" y="5609430"/>
                  <a:ext cx="1825693" cy="215444"/>
                </a:xfrm>
                <a:prstGeom prst="rect">
                  <a:avLst/>
                </a:prstGeom>
                <a:blipFill>
                  <a:blip r:embed="rId4"/>
                  <a:stretch>
                    <a:fillRect b="-1500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3" name="文字方塊 12">
                  <a:extLst>
                    <a:ext uri="{FF2B5EF4-FFF2-40B4-BE49-F238E27FC236}">
                      <a16:creationId xmlns:a16="http://schemas.microsoft.com/office/drawing/2014/main" id="{601D18A8-F93B-4D42-A49A-87F8D1B61E60}"/>
                    </a:ext>
                  </a:extLst>
                </p:cNvPr>
                <p:cNvSpPr txBox="1"/>
                <p:nvPr/>
              </p:nvSpPr>
              <p:spPr>
                <a:xfrm>
                  <a:off x="6324600" y="5607278"/>
                  <a:ext cx="1825693"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altLang="zh-TW" sz="1400" i="1">
                            <a:latin typeface="Cambria Math" panose="02040503050406030204" pitchFamily="18" charset="0"/>
                          </a:rPr>
                          <m:t>W</m:t>
                        </m:r>
                        <m:r>
                          <m:rPr>
                            <m:sty m:val="p"/>
                          </m:rPr>
                          <a:rPr lang="en-US" altLang="zh-TW" sz="1400">
                            <a:latin typeface="Cambria Math" panose="02040503050406030204" pitchFamily="18" charset="0"/>
                          </a:rPr>
                          <m:t>orkspace</m:t>
                        </m:r>
                        <m:r>
                          <a:rPr lang="en-US" altLang="zh-TW" sz="1400">
                            <a:latin typeface="Cambria Math" panose="02040503050406030204" pitchFamily="18" charset="0"/>
                          </a:rPr>
                          <m:t> </m:t>
                        </m:r>
                        <m:r>
                          <m:rPr>
                            <m:sty m:val="p"/>
                          </m:rPr>
                          <a:rPr lang="en-US" altLang="zh-TW" sz="1400">
                            <a:latin typeface="Cambria Math" panose="02040503050406030204" pitchFamily="18" charset="0"/>
                          </a:rPr>
                          <m:t>radius</m:t>
                        </m:r>
                        <m:r>
                          <a:rPr lang="en-US" altLang="zh-TW" sz="1400">
                            <a:latin typeface="Cambria Math" panose="02040503050406030204" pitchFamily="18" charset="0"/>
                          </a:rPr>
                          <m:t>(</m:t>
                        </m:r>
                        <m:r>
                          <a:rPr lang="el-GR" altLang="zh-TW" sz="1400" i="1">
                            <a:latin typeface="Cambria Math" panose="02040503050406030204" pitchFamily="18" charset="0"/>
                            <a:ea typeface="Cambria Math" panose="02040503050406030204" pitchFamily="18" charset="0"/>
                          </a:rPr>
                          <m:t>𝜇</m:t>
                        </m:r>
                        <m:r>
                          <a:rPr lang="en-US" altLang="zh-TW" sz="1400" i="1">
                            <a:latin typeface="Cambria Math" panose="02040503050406030204" pitchFamily="18" charset="0"/>
                            <a:ea typeface="Cambria Math" panose="02040503050406030204" pitchFamily="18" charset="0"/>
                          </a:rPr>
                          <m:t>𝑚</m:t>
                        </m:r>
                        <m:r>
                          <a:rPr lang="en-US" altLang="zh-TW" sz="1400">
                            <a:latin typeface="Cambria Math" panose="02040503050406030204" pitchFamily="18" charset="0"/>
                          </a:rPr>
                          <m:t>)</m:t>
                        </m:r>
                      </m:oMath>
                    </m:oMathPara>
                  </a14:m>
                  <a:endParaRPr lang="zh-TW" altLang="en-US" sz="1400" dirty="0"/>
                </a:p>
              </p:txBody>
            </p:sp>
          </mc:Choice>
          <mc:Fallback xmlns="">
            <p:sp>
              <p:nvSpPr>
                <p:cNvPr id="13" name="文字方塊 12">
                  <a:extLst>
                    <a:ext uri="{FF2B5EF4-FFF2-40B4-BE49-F238E27FC236}">
                      <a16:creationId xmlns:a16="http://schemas.microsoft.com/office/drawing/2014/main" id="{601D18A8-F93B-4D42-A49A-87F8D1B61E60}"/>
                    </a:ext>
                  </a:extLst>
                </p:cNvPr>
                <p:cNvSpPr txBox="1">
                  <a:spLocks noRot="1" noChangeAspect="1" noMove="1" noResize="1" noEditPoints="1" noAdjustHandles="1" noChangeArrowheads="1" noChangeShapeType="1" noTextEdit="1"/>
                </p:cNvSpPr>
                <p:nvPr/>
              </p:nvSpPr>
              <p:spPr>
                <a:xfrm>
                  <a:off x="6324600" y="5607278"/>
                  <a:ext cx="1825693" cy="215444"/>
                </a:xfrm>
                <a:prstGeom prst="rect">
                  <a:avLst/>
                </a:prstGeom>
                <a:blipFill>
                  <a:blip r:embed="rId5"/>
                  <a:stretch>
                    <a:fillRect b="-1750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6" name="文字方塊 15">
                  <a:extLst>
                    <a:ext uri="{FF2B5EF4-FFF2-40B4-BE49-F238E27FC236}">
                      <a16:creationId xmlns:a16="http://schemas.microsoft.com/office/drawing/2014/main" id="{C7094952-35E6-43E5-BE17-A85B6FDD4727}"/>
                    </a:ext>
                  </a:extLst>
                </p:cNvPr>
                <p:cNvSpPr txBox="1"/>
                <p:nvPr/>
              </p:nvSpPr>
              <p:spPr>
                <a:xfrm rot="16200000">
                  <a:off x="2169359" y="4450151"/>
                  <a:ext cx="1192585" cy="226537"/>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US" altLang="zh-TW" sz="1400" b="1" i="1" smtClean="0">
                                <a:latin typeface="Cambria Math" panose="02040503050406030204" pitchFamily="18" charset="0"/>
                              </a:rPr>
                            </m:ctrlPr>
                          </m:accPr>
                          <m:e>
                            <m:r>
                              <a:rPr lang="en-US" altLang="zh-TW" sz="1400" b="1" i="1" smtClean="0">
                                <a:latin typeface="Cambria Math" panose="02040503050406030204" pitchFamily="18" charset="0"/>
                                <a:ea typeface="Cambria Math" panose="02040503050406030204" pitchFamily="18" charset="0"/>
                              </a:rPr>
                              <m:t>ℓ</m:t>
                            </m:r>
                          </m:e>
                        </m:acc>
                        <m:r>
                          <a:rPr lang="en-US" altLang="zh-TW" sz="1400" b="1" i="0" smtClean="0">
                            <a:latin typeface="Cambria Math" panose="02040503050406030204" pitchFamily="18" charset="0"/>
                          </a:rPr>
                          <m:t> (</m:t>
                        </m:r>
                        <m:r>
                          <a:rPr lang="el-GR" altLang="zh-TW" sz="1400" b="0" i="1">
                            <a:latin typeface="Cambria Math" panose="02040503050406030204" pitchFamily="18" charset="0"/>
                            <a:ea typeface="Cambria Math" panose="02040503050406030204" pitchFamily="18" charset="0"/>
                          </a:rPr>
                          <m:t>𝜇</m:t>
                        </m:r>
                        <m:r>
                          <a:rPr lang="en-US" altLang="zh-TW" sz="1400" b="0" i="1" smtClean="0">
                            <a:latin typeface="Cambria Math" panose="02040503050406030204" pitchFamily="18" charset="0"/>
                            <a:ea typeface="Cambria Math" panose="02040503050406030204" pitchFamily="18" charset="0"/>
                          </a:rPr>
                          <m:t>𝑚</m:t>
                        </m:r>
                        <m:r>
                          <a:rPr lang="en-US" altLang="zh-TW" sz="1400" b="1" i="0" smtClean="0">
                            <a:latin typeface="Cambria Math" panose="02040503050406030204" pitchFamily="18" charset="0"/>
                          </a:rPr>
                          <m:t>)</m:t>
                        </m:r>
                      </m:oMath>
                    </m:oMathPara>
                  </a14:m>
                  <a:endParaRPr lang="zh-TW" altLang="en-US" sz="1400" b="1" dirty="0"/>
                </a:p>
              </p:txBody>
            </p:sp>
          </mc:Choice>
          <mc:Fallback xmlns="">
            <p:sp>
              <p:nvSpPr>
                <p:cNvPr id="16" name="文字方塊 15">
                  <a:extLst>
                    <a:ext uri="{FF2B5EF4-FFF2-40B4-BE49-F238E27FC236}">
                      <a16:creationId xmlns:a16="http://schemas.microsoft.com/office/drawing/2014/main" id="{C7094952-35E6-43E5-BE17-A85B6FDD4727}"/>
                    </a:ext>
                  </a:extLst>
                </p:cNvPr>
                <p:cNvSpPr txBox="1">
                  <a:spLocks noRot="1" noChangeAspect="1" noMove="1" noResize="1" noEditPoints="1" noAdjustHandles="1" noChangeArrowheads="1" noChangeShapeType="1" noTextEdit="1"/>
                </p:cNvSpPr>
                <p:nvPr/>
              </p:nvSpPr>
              <p:spPr>
                <a:xfrm rot="16200000">
                  <a:off x="2169359" y="4450151"/>
                  <a:ext cx="1192585" cy="226537"/>
                </a:xfrm>
                <a:prstGeom prst="rect">
                  <a:avLst/>
                </a:prstGeom>
                <a:blipFill>
                  <a:blip r:embed="rId6"/>
                  <a:stretch>
                    <a:fillRect l="-21951" r="-19512"/>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7" name="文字方塊 16">
                  <a:extLst>
                    <a:ext uri="{FF2B5EF4-FFF2-40B4-BE49-F238E27FC236}">
                      <a16:creationId xmlns:a16="http://schemas.microsoft.com/office/drawing/2014/main" id="{CF01E71D-583C-4777-894D-8568132157A9}"/>
                    </a:ext>
                  </a:extLst>
                </p:cNvPr>
                <p:cNvSpPr txBox="1"/>
                <p:nvPr/>
              </p:nvSpPr>
              <p:spPr>
                <a:xfrm rot="16200000">
                  <a:off x="5208874" y="4408987"/>
                  <a:ext cx="950408" cy="22104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Pre>
                          <m:sPrePr>
                            <m:ctrlPr>
                              <a:rPr lang="en-US" altLang="zh-TW" sz="1400" i="1" smtClean="0">
                                <a:latin typeface="Cambria Math" panose="02040503050406030204" pitchFamily="18" charset="0"/>
                              </a:rPr>
                            </m:ctrlPr>
                          </m:sPrePr>
                          <m:sub/>
                          <m:sup>
                            <m:r>
                              <a:rPr lang="en-US" altLang="zh-TW" sz="1400" b="0" i="1" smtClean="0">
                                <a:latin typeface="Cambria Math" panose="02040503050406030204" pitchFamily="18" charset="0"/>
                              </a:rPr>
                              <m:t>𝐵</m:t>
                            </m:r>
                          </m:sup>
                          <m:e>
                            <m:sSub>
                              <m:sSubPr>
                                <m:ctrlPr>
                                  <a:rPr lang="en-US" altLang="zh-TW" sz="1400" i="1" smtClean="0">
                                    <a:latin typeface="Cambria Math" panose="02040503050406030204" pitchFamily="18" charset="0"/>
                                  </a:rPr>
                                </m:ctrlPr>
                              </m:sSubPr>
                              <m:e>
                                <m:acc>
                                  <m:accPr>
                                    <m:chr m:val="̂"/>
                                    <m:ctrlPr>
                                      <a:rPr lang="en-US" altLang="zh-TW" sz="1400" i="1" smtClean="0">
                                        <a:latin typeface="Cambria Math" panose="02040503050406030204" pitchFamily="18" charset="0"/>
                                      </a:rPr>
                                    </m:ctrlPr>
                                  </m:accPr>
                                  <m:e>
                                    <m:r>
                                      <a:rPr lang="en-US" altLang="zh-TW" sz="1400" b="0" i="1" smtClean="0">
                                        <a:latin typeface="Cambria Math" panose="02040503050406030204" pitchFamily="18" charset="0"/>
                                      </a:rPr>
                                      <m:t>𝑔</m:t>
                                    </m:r>
                                  </m:e>
                                </m:acc>
                              </m:e>
                              <m:sub>
                                <m:r>
                                  <a:rPr lang="en-US" altLang="zh-TW" sz="1400" b="0" i="1" smtClean="0">
                                    <a:latin typeface="Cambria Math" panose="02040503050406030204" pitchFamily="18" charset="0"/>
                                  </a:rPr>
                                  <m:t>𝐼</m:t>
                                </m:r>
                              </m:sub>
                            </m:sSub>
                          </m:e>
                        </m:sPre>
                        <m:r>
                          <a:rPr lang="en-US" altLang="zh-TW" sz="1400" b="0" i="1" smtClean="0">
                            <a:latin typeface="Cambria Math" panose="02040503050406030204" pitchFamily="18" charset="0"/>
                          </a:rPr>
                          <m:t> (</m:t>
                        </m:r>
                        <m:f>
                          <m:fPr>
                            <m:type m:val="lin"/>
                            <m:ctrlPr>
                              <a:rPr lang="en-US" altLang="zh-TW" sz="1400" b="0" i="1" smtClean="0">
                                <a:latin typeface="Cambria Math" panose="02040503050406030204" pitchFamily="18" charset="0"/>
                              </a:rPr>
                            </m:ctrlPr>
                          </m:fPr>
                          <m:num>
                            <m:r>
                              <a:rPr lang="en-US" altLang="zh-TW" sz="1400" b="0" i="1" smtClean="0">
                                <a:latin typeface="Cambria Math" panose="02040503050406030204" pitchFamily="18" charset="0"/>
                              </a:rPr>
                              <m:t>𝑚𝑇</m:t>
                            </m:r>
                          </m:num>
                          <m:den>
                            <m:r>
                              <a:rPr lang="en-US" altLang="zh-TW" sz="1400" b="0" i="1" smtClean="0">
                                <a:latin typeface="Cambria Math" panose="02040503050406030204" pitchFamily="18" charset="0"/>
                              </a:rPr>
                              <m:t>𝐴</m:t>
                            </m:r>
                          </m:den>
                        </m:f>
                        <m:r>
                          <a:rPr lang="en-US" altLang="zh-TW" sz="1400" b="0" i="1" smtClean="0">
                            <a:latin typeface="Cambria Math" panose="02040503050406030204" pitchFamily="18" charset="0"/>
                          </a:rPr>
                          <m:t>)</m:t>
                        </m:r>
                      </m:oMath>
                    </m:oMathPara>
                  </a14:m>
                  <a:endParaRPr lang="zh-TW" altLang="en-US" dirty="0"/>
                </a:p>
              </p:txBody>
            </p:sp>
          </mc:Choice>
          <mc:Fallback xmlns="">
            <p:sp>
              <p:nvSpPr>
                <p:cNvPr id="17" name="文字方塊 16">
                  <a:extLst>
                    <a:ext uri="{FF2B5EF4-FFF2-40B4-BE49-F238E27FC236}">
                      <a16:creationId xmlns:a16="http://schemas.microsoft.com/office/drawing/2014/main" id="{CF01E71D-583C-4777-894D-8568132157A9}"/>
                    </a:ext>
                  </a:extLst>
                </p:cNvPr>
                <p:cNvSpPr txBox="1">
                  <a:spLocks noRot="1" noChangeAspect="1" noMove="1" noResize="1" noEditPoints="1" noAdjustHandles="1" noChangeArrowheads="1" noChangeShapeType="1" noTextEdit="1"/>
                </p:cNvSpPr>
                <p:nvPr/>
              </p:nvSpPr>
              <p:spPr>
                <a:xfrm rot="16200000">
                  <a:off x="5208874" y="4408987"/>
                  <a:ext cx="950408" cy="221040"/>
                </a:xfrm>
                <a:prstGeom prst="rect">
                  <a:avLst/>
                </a:prstGeom>
                <a:blipFill>
                  <a:blip r:embed="rId7"/>
                  <a:stretch>
                    <a:fillRect l="-133333" t="-28409" r="-217949"/>
                  </a:stretch>
                </a:blipFill>
              </p:spPr>
              <p:txBody>
                <a:bodyPr/>
                <a:lstStyle/>
                <a:p>
                  <a:r>
                    <a:rPr lang="zh-TW" altLang="en-US">
                      <a:noFill/>
                    </a:rPr>
                    <a:t> </a:t>
                  </a:r>
                </a:p>
              </p:txBody>
            </p:sp>
          </mc:Fallback>
        </mc:AlternateContent>
      </p:grpSp>
    </p:spTree>
    <p:extLst>
      <p:ext uri="{BB962C8B-B14F-4D97-AF65-F5344CB8AC3E}">
        <p14:creationId xmlns:p14="http://schemas.microsoft.com/office/powerpoint/2010/main" val="42783174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0" name="文字方塊 39">
            <a:extLst>
              <a:ext uri="{FF2B5EF4-FFF2-40B4-BE49-F238E27FC236}">
                <a16:creationId xmlns:a16="http://schemas.microsoft.com/office/drawing/2014/main" id="{B1E82766-E1D8-4AA6-A2B9-6AEA170385C0}"/>
              </a:ext>
            </a:extLst>
          </p:cNvPr>
          <p:cNvSpPr txBox="1"/>
          <p:nvPr/>
        </p:nvSpPr>
        <p:spPr>
          <a:xfrm>
            <a:off x="0" y="308956"/>
            <a:ext cx="6324600" cy="390684"/>
          </a:xfrm>
          <a:prstGeom prst="rect">
            <a:avLst/>
          </a:prstGeom>
          <a:noFill/>
        </p:spPr>
        <p:txBody>
          <a:bodyPr wrap="square" rtlCol="0">
            <a:spAutoFit/>
          </a:bodyPr>
          <a:lstStyle/>
          <a:p>
            <a:pPr>
              <a:lnSpc>
                <a:spcPct val="115000"/>
              </a:lnSpc>
              <a:spcAft>
                <a:spcPts val="800"/>
              </a:spcAft>
            </a:pPr>
            <a:r>
              <a:rPr lang="en-US" altLang="zh-TW"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E</a:t>
            </a:r>
            <a:r>
              <a:rPr lang="en-US" altLang="zh-TW"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 </a:t>
            </a:r>
            <a:r>
              <a:rPr lang="en-US" altLang="zh-TW" i="1"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Validation</a:t>
            </a:r>
            <a:endParaRPr lang="zh-TW" altLang="zh-TW" kern="100" dirty="0">
              <a:effectLst/>
              <a:latin typeface="Aptos"/>
              <a:ea typeface="新細明體" panose="02020500000000000000" pitchFamily="18" charset="-120"/>
              <a:cs typeface="Times New Roman" panose="02020603050405020304" pitchFamily="18" charset="0"/>
            </a:endParaRPr>
          </a:p>
        </p:txBody>
      </p:sp>
      <p:grpSp>
        <p:nvGrpSpPr>
          <p:cNvPr id="5" name="群組 4">
            <a:extLst>
              <a:ext uri="{FF2B5EF4-FFF2-40B4-BE49-F238E27FC236}">
                <a16:creationId xmlns:a16="http://schemas.microsoft.com/office/drawing/2014/main" id="{E73C6DB4-FFCE-4B74-A22D-3447285A5BE2}"/>
              </a:ext>
            </a:extLst>
          </p:cNvPr>
          <p:cNvGrpSpPr/>
          <p:nvPr/>
        </p:nvGrpSpPr>
        <p:grpSpPr>
          <a:xfrm>
            <a:off x="7128967" y="2388388"/>
            <a:ext cx="3281223" cy="2819400"/>
            <a:chOff x="7048110" y="2472267"/>
            <a:chExt cx="3281223" cy="2819400"/>
          </a:xfrm>
        </p:grpSpPr>
        <p:sp>
          <p:nvSpPr>
            <p:cNvPr id="3" name="矩形 2">
              <a:extLst>
                <a:ext uri="{FF2B5EF4-FFF2-40B4-BE49-F238E27FC236}">
                  <a16:creationId xmlns:a16="http://schemas.microsoft.com/office/drawing/2014/main" id="{F66BDAD5-FC86-474B-922D-6119A5E142BE}"/>
                </a:ext>
              </a:extLst>
            </p:cNvPr>
            <p:cNvSpPr/>
            <p:nvPr/>
          </p:nvSpPr>
          <p:spPr>
            <a:xfrm>
              <a:off x="8796867" y="4995333"/>
              <a:ext cx="1532466" cy="29633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 name="矩形 6">
              <a:extLst>
                <a:ext uri="{FF2B5EF4-FFF2-40B4-BE49-F238E27FC236}">
                  <a16:creationId xmlns:a16="http://schemas.microsoft.com/office/drawing/2014/main" id="{64BF8DC2-75C9-420A-9713-1C412FAEB073}"/>
                </a:ext>
              </a:extLst>
            </p:cNvPr>
            <p:cNvSpPr/>
            <p:nvPr/>
          </p:nvSpPr>
          <p:spPr>
            <a:xfrm rot="16200000">
              <a:off x="6430044" y="3090333"/>
              <a:ext cx="1532466" cy="29633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grpSp>
        <p:nvGrpSpPr>
          <p:cNvPr id="14" name="群組 13">
            <a:extLst>
              <a:ext uri="{FF2B5EF4-FFF2-40B4-BE49-F238E27FC236}">
                <a16:creationId xmlns:a16="http://schemas.microsoft.com/office/drawing/2014/main" id="{2DD737F1-79D0-498C-AD2E-96B6E991F4B2}"/>
              </a:ext>
            </a:extLst>
          </p:cNvPr>
          <p:cNvGrpSpPr/>
          <p:nvPr/>
        </p:nvGrpSpPr>
        <p:grpSpPr>
          <a:xfrm>
            <a:off x="7697026" y="1560770"/>
            <a:ext cx="3893861" cy="3041398"/>
            <a:chOff x="7376079" y="1416837"/>
            <a:chExt cx="3893861" cy="3041398"/>
          </a:xfrm>
        </p:grpSpPr>
        <p:grpSp>
          <p:nvGrpSpPr>
            <p:cNvPr id="13" name="群組 12">
              <a:extLst>
                <a:ext uri="{FF2B5EF4-FFF2-40B4-BE49-F238E27FC236}">
                  <a16:creationId xmlns:a16="http://schemas.microsoft.com/office/drawing/2014/main" id="{9E044CCD-18A9-4ED0-803D-09C25E2DC084}"/>
                </a:ext>
              </a:extLst>
            </p:cNvPr>
            <p:cNvGrpSpPr/>
            <p:nvPr/>
          </p:nvGrpSpPr>
          <p:grpSpPr>
            <a:xfrm>
              <a:off x="7425301" y="1416837"/>
              <a:ext cx="3844639" cy="3041398"/>
              <a:chOff x="7425301" y="1416837"/>
              <a:chExt cx="3844639" cy="3041398"/>
            </a:xfrm>
          </p:grpSpPr>
          <p:pic>
            <p:nvPicPr>
              <p:cNvPr id="9" name="圖片 8">
                <a:extLst>
                  <a:ext uri="{FF2B5EF4-FFF2-40B4-BE49-F238E27FC236}">
                    <a16:creationId xmlns:a16="http://schemas.microsoft.com/office/drawing/2014/main" id="{5C237DB9-1DB7-4449-8F79-D4E5C6D77C4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498299" y="1416837"/>
                <a:ext cx="3771641" cy="2937146"/>
              </a:xfrm>
              <a:prstGeom prst="rect">
                <a:avLst/>
              </a:prstGeom>
            </p:spPr>
          </p:pic>
          <p:sp>
            <p:nvSpPr>
              <p:cNvPr id="12" name="矩形 11">
                <a:extLst>
                  <a:ext uri="{FF2B5EF4-FFF2-40B4-BE49-F238E27FC236}">
                    <a16:creationId xmlns:a16="http://schemas.microsoft.com/office/drawing/2014/main" id="{D0CE3E51-43DC-4E17-866A-933141C91C15}"/>
                  </a:ext>
                </a:extLst>
              </p:cNvPr>
              <p:cNvSpPr/>
              <p:nvPr/>
            </p:nvSpPr>
            <p:spPr>
              <a:xfrm>
                <a:off x="7425301" y="2252133"/>
                <a:ext cx="296334" cy="10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矩形 14">
                <a:extLst>
                  <a:ext uri="{FF2B5EF4-FFF2-40B4-BE49-F238E27FC236}">
                    <a16:creationId xmlns:a16="http://schemas.microsoft.com/office/drawing/2014/main" id="{6F767F21-8108-48BC-9FF8-4D48706CC9E8}"/>
                  </a:ext>
                </a:extLst>
              </p:cNvPr>
              <p:cNvSpPr/>
              <p:nvPr/>
            </p:nvSpPr>
            <p:spPr>
              <a:xfrm rot="5400000">
                <a:off x="9422082" y="3534050"/>
                <a:ext cx="296334" cy="155203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4C3849D6-2303-4245-94EB-A3E3CD04C5BC}"/>
                    </a:ext>
                  </a:extLst>
                </p:cNvPr>
                <p:cNvSpPr txBox="1"/>
                <p:nvPr/>
              </p:nvSpPr>
              <p:spPr>
                <a:xfrm rot="16200000">
                  <a:off x="6492095" y="2505884"/>
                  <a:ext cx="213729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altLang="zh-TW" b="0" i="0" smtClean="0">
                            <a:latin typeface="Cambria Math" panose="02040503050406030204" pitchFamily="18" charset="0"/>
                            <a:ea typeface="Cambria Math" panose="02040503050406030204" pitchFamily="18" charset="0"/>
                          </a:rPr>
                          <m:t>Residual</m:t>
                        </m:r>
                        <m:r>
                          <a:rPr lang="en-US" altLang="zh-TW" b="0" i="0" smtClean="0">
                            <a:latin typeface="Cambria Math" panose="02040503050406030204" pitchFamily="18" charset="0"/>
                            <a:ea typeface="Cambria Math" panose="02040503050406030204" pitchFamily="18" charset="0"/>
                          </a:rPr>
                          <m:t> </m:t>
                        </m:r>
                        <m:r>
                          <m:rPr>
                            <m:sty m:val="p"/>
                          </m:rPr>
                          <a:rPr lang="en-US" altLang="zh-TW" b="0" i="0" smtClean="0">
                            <a:latin typeface="Cambria Math" panose="02040503050406030204" pitchFamily="18" charset="0"/>
                            <a:ea typeface="Cambria Math" panose="02040503050406030204" pitchFamily="18" charset="0"/>
                          </a:rPr>
                          <m:t>error</m:t>
                        </m:r>
                        <m:r>
                          <a:rPr lang="en-US" altLang="zh-TW" b="0" i="0" smtClean="0">
                            <a:latin typeface="Cambria Math" panose="02040503050406030204" pitchFamily="18" charset="0"/>
                            <a:ea typeface="Cambria Math" panose="02040503050406030204" pitchFamily="18" charset="0"/>
                          </a:rPr>
                          <m:t> </m:t>
                        </m:r>
                        <m:r>
                          <a:rPr lang="en-US" altLang="zh-TW" b="0" i="1" smtClean="0">
                            <a:latin typeface="Cambria Math" panose="02040503050406030204" pitchFamily="18" charset="0"/>
                            <a:ea typeface="Cambria Math" panose="02040503050406030204" pitchFamily="18" charset="0"/>
                          </a:rPr>
                          <m:t>(</m:t>
                        </m:r>
                        <m:r>
                          <a:rPr lang="en-US" altLang="zh-TW" b="0" i="1" smtClean="0">
                            <a:latin typeface="Cambria Math" panose="02040503050406030204" pitchFamily="18" charset="0"/>
                            <a:ea typeface="Cambria Math" panose="02040503050406030204" pitchFamily="18" charset="0"/>
                          </a:rPr>
                          <m:t>𝑚𝑇</m:t>
                        </m:r>
                        <m:r>
                          <a:rPr lang="en-US" altLang="zh-TW" b="0" i="1" smtClean="0">
                            <a:latin typeface="Cambria Math" panose="02040503050406030204" pitchFamily="18" charset="0"/>
                            <a:ea typeface="Cambria Math" panose="02040503050406030204" pitchFamily="18" charset="0"/>
                          </a:rPr>
                          <m:t>)</m:t>
                        </m:r>
                      </m:oMath>
                    </m:oMathPara>
                  </a14:m>
                  <a:endParaRPr lang="zh-TW" altLang="en-US" dirty="0"/>
                </a:p>
              </p:txBody>
            </p:sp>
          </mc:Choice>
          <mc:Fallback xmlns="">
            <p:sp>
              <p:nvSpPr>
                <p:cNvPr id="10" name="文字方塊 9">
                  <a:extLst>
                    <a:ext uri="{FF2B5EF4-FFF2-40B4-BE49-F238E27FC236}">
                      <a16:creationId xmlns:a16="http://schemas.microsoft.com/office/drawing/2014/main" id="{4C3849D6-2303-4245-94EB-A3E3CD04C5BC}"/>
                    </a:ext>
                  </a:extLst>
                </p:cNvPr>
                <p:cNvSpPr txBox="1">
                  <a:spLocks noRot="1" noChangeAspect="1" noMove="1" noResize="1" noEditPoints="1" noAdjustHandles="1" noChangeArrowheads="1" noChangeShapeType="1" noTextEdit="1"/>
                </p:cNvSpPr>
                <p:nvPr/>
              </p:nvSpPr>
              <p:spPr>
                <a:xfrm rot="16200000">
                  <a:off x="6492095" y="2505884"/>
                  <a:ext cx="2137299" cy="369332"/>
                </a:xfrm>
                <a:prstGeom prst="rect">
                  <a:avLst/>
                </a:prstGeom>
                <a:blipFill>
                  <a:blip r:embed="rId3"/>
                  <a:stretch>
                    <a:fillRect t="-2279" r="-1147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42506FCA-AD85-4D09-9F6E-FA92DD820306}"/>
                    </a:ext>
                  </a:extLst>
                </p:cNvPr>
                <p:cNvSpPr txBox="1"/>
                <p:nvPr/>
              </p:nvSpPr>
              <p:spPr>
                <a:xfrm>
                  <a:off x="8512135" y="4129110"/>
                  <a:ext cx="2406877"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altLang="zh-TW" i="1" smtClean="0">
                            <a:latin typeface="Cambria Math" panose="02040503050406030204" pitchFamily="18" charset="0"/>
                          </a:rPr>
                          <m:t>W</m:t>
                        </m:r>
                        <m:r>
                          <m:rPr>
                            <m:sty m:val="p"/>
                          </m:rPr>
                          <a:rPr lang="en-US" altLang="zh-TW">
                            <a:latin typeface="Cambria Math" panose="02040503050406030204" pitchFamily="18" charset="0"/>
                          </a:rPr>
                          <m:t>orkspace</m:t>
                        </m:r>
                        <m:r>
                          <a:rPr lang="en-US" altLang="zh-TW">
                            <a:latin typeface="Cambria Math" panose="02040503050406030204" pitchFamily="18" charset="0"/>
                          </a:rPr>
                          <m:t> </m:t>
                        </m:r>
                        <m:r>
                          <m:rPr>
                            <m:sty m:val="p"/>
                          </m:rPr>
                          <a:rPr lang="en-US" altLang="zh-TW">
                            <a:latin typeface="Cambria Math" panose="02040503050406030204" pitchFamily="18" charset="0"/>
                          </a:rPr>
                          <m:t>radius</m:t>
                        </m:r>
                        <m:r>
                          <a:rPr lang="en-US" altLang="zh-TW" b="0" i="0" smtClean="0">
                            <a:latin typeface="Cambria Math" panose="02040503050406030204" pitchFamily="18" charset="0"/>
                          </a:rPr>
                          <m:t> (</m:t>
                        </m:r>
                        <m:r>
                          <a:rPr lang="zh-TW" altLang="en-US" b="0" i="1" smtClean="0">
                            <a:latin typeface="Cambria Math" panose="02040503050406030204" pitchFamily="18" charset="0"/>
                          </a:rPr>
                          <m:t>𝜇</m:t>
                        </m:r>
                        <m:r>
                          <a:rPr lang="en-US" altLang="zh-TW" b="0" i="1" smtClean="0">
                            <a:latin typeface="Cambria Math" panose="02040503050406030204" pitchFamily="18" charset="0"/>
                          </a:rPr>
                          <m:t>𝑚</m:t>
                        </m:r>
                        <m:r>
                          <a:rPr lang="en-US" altLang="zh-TW" b="0" i="0" smtClean="0">
                            <a:latin typeface="Cambria Math" panose="02040503050406030204" pitchFamily="18" charset="0"/>
                          </a:rPr>
                          <m:t>)</m:t>
                        </m:r>
                      </m:oMath>
                    </m:oMathPara>
                  </a14:m>
                  <a:endParaRPr lang="zh-TW" altLang="en-US" dirty="0"/>
                </a:p>
              </p:txBody>
            </p:sp>
          </mc:Choice>
          <mc:Fallback xmlns="">
            <p:sp>
              <p:nvSpPr>
                <p:cNvPr id="11" name="文字方塊 10">
                  <a:extLst>
                    <a:ext uri="{FF2B5EF4-FFF2-40B4-BE49-F238E27FC236}">
                      <a16:creationId xmlns:a16="http://schemas.microsoft.com/office/drawing/2014/main" id="{42506FCA-AD85-4D09-9F6E-FA92DD820306}"/>
                    </a:ext>
                  </a:extLst>
                </p:cNvPr>
                <p:cNvSpPr txBox="1">
                  <a:spLocks noRot="1" noChangeAspect="1" noMove="1" noResize="1" noEditPoints="1" noAdjustHandles="1" noChangeArrowheads="1" noChangeShapeType="1" noTextEdit="1"/>
                </p:cNvSpPr>
                <p:nvPr/>
              </p:nvSpPr>
              <p:spPr>
                <a:xfrm>
                  <a:off x="8512135" y="4129110"/>
                  <a:ext cx="2406877" cy="276999"/>
                </a:xfrm>
                <a:prstGeom prst="rect">
                  <a:avLst/>
                </a:prstGeom>
                <a:blipFill>
                  <a:blip r:embed="rId4"/>
                  <a:stretch>
                    <a:fillRect l="-1772" t="-2174" r="-3038" b="-32609"/>
                  </a:stretch>
                </a:blipFill>
              </p:spPr>
              <p:txBody>
                <a:bodyPr/>
                <a:lstStyle/>
                <a:p>
                  <a:r>
                    <a:rPr lang="zh-TW" altLang="en-US">
                      <a:noFill/>
                    </a:rPr>
                    <a:t> </a:t>
                  </a:r>
                </a:p>
              </p:txBody>
            </p:sp>
          </mc:Fallback>
        </mc:AlternateContent>
      </p:grpSp>
      <p:sp>
        <p:nvSpPr>
          <p:cNvPr id="41" name="auto caption"/>
          <p:cNvSpPr txBox="1"/>
          <p:nvPr/>
        </p:nvSpPr>
        <p:spPr>
          <a:xfrm>
            <a:off x="457200" y="699641"/>
            <a:ext cx="6309360" cy="5692692"/>
          </a:xfrm>
          <a:prstGeom prst="rect">
            <a:avLst/>
          </a:prstGeom>
          <a:noFill/>
        </p:spPr>
        <p:txBody>
          <a:bodyPr wrap="square" rtlCol="0">
            <a:normAutofit/>
          </a:bodyPr>
          <a:lstStyle/>
          <a:p>
            <a:pPr marL="285750" indent="-285750">
              <a:buFont typeface="Arial" panose="020B0604020202020204" pitchFamily="34" charset="0"/>
              <a:buChar char="•"/>
            </a:pPr>
            <a:r>
              <a:rPr lang="en-US" altLang="zh-TW" dirty="0"/>
              <a:t>Setup: The calibration side is identical to the previous slide: the same R sweep, the same converged reduced design at each R. What changes is the evaluation: the residual is computed on every real FEM node inside R.</a:t>
            </a:r>
          </a:p>
          <a:p>
            <a:pPr marL="285750" indent="-285750">
              <a:buFont typeface="Arial" panose="020B0604020202020204" pitchFamily="34" charset="0"/>
              <a:buChar char="•"/>
            </a:pPr>
            <a:endParaRPr lang="en-US" altLang="zh-TW" dirty="0"/>
          </a:p>
          <a:p>
            <a:pPr marL="285750" indent="-285750">
              <a:buFont typeface="Arial" panose="020B0604020202020204" pitchFamily="34" charset="0"/>
              <a:buChar char="•"/>
            </a:pPr>
            <a:r>
              <a:rPr lang="en-US" altLang="zh-TW" dirty="0"/>
              <a:t>The residual grows monotonically with the workspace radius for both models, as expected: the point-charge model is an inner expansion, so it degrades as the workspace boundary approaches the tip sphere (R = 500 µm). The eighteen-parameter model is better at every radius, but the gap between the two closes rapidly as R grows — 13× at R = 100 µm, 10× at R = 150 µm, 3.4× at R = 300 µm (0.449 vs 0.132 </a:t>
            </a:r>
            <a:r>
              <a:rPr lang="en-US" altLang="zh-TW" dirty="0" err="1"/>
              <a:t>mT</a:t>
            </a:r>
            <a:r>
              <a:rPr lang="en-US" altLang="zh-TW" dirty="0"/>
              <a:t>), and only 15% at R = 500 µm (1.98 vs 1.73 </a:t>
            </a:r>
            <a:r>
              <a:rPr lang="en-US" altLang="zh-TW" dirty="0" err="1"/>
              <a:t>mT</a:t>
            </a:r>
            <a:r>
              <a:rPr lang="en-US" altLang="zh-TW" dirty="0"/>
              <a:t>). The seventeen extra degrees of freedom therefore improve the fit only while the workspace is small compared with R; once its boundary reaches the pole tips both models fail alike.</a:t>
            </a:r>
          </a:p>
        </p:txBody>
      </p:sp>
    </p:spTree>
    <p:extLst>
      <p:ext uri="{BB962C8B-B14F-4D97-AF65-F5344CB8AC3E}">
        <p14:creationId xmlns:p14="http://schemas.microsoft.com/office/powerpoint/2010/main" val="33864427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0" name="文字方塊 39">
            <a:extLst>
              <a:ext uri="{FF2B5EF4-FFF2-40B4-BE49-F238E27FC236}">
                <a16:creationId xmlns:a16="http://schemas.microsoft.com/office/drawing/2014/main" id="{B1E82766-E1D8-4AA6-A2B9-6AEA170385C0}"/>
              </a:ext>
            </a:extLst>
          </p:cNvPr>
          <p:cNvSpPr txBox="1"/>
          <p:nvPr/>
        </p:nvSpPr>
        <p:spPr>
          <a:xfrm>
            <a:off x="0" y="324377"/>
            <a:ext cx="6324600" cy="390684"/>
          </a:xfrm>
          <a:prstGeom prst="rect">
            <a:avLst/>
          </a:prstGeom>
          <a:noFill/>
        </p:spPr>
        <p:txBody>
          <a:bodyPr wrap="square" rtlCol="0">
            <a:spAutoFit/>
          </a:bodyPr>
          <a:lstStyle/>
          <a:p>
            <a:pPr>
              <a:lnSpc>
                <a:spcPct val="115000"/>
              </a:lnSpc>
              <a:spcAft>
                <a:spcPts val="800"/>
              </a:spcAft>
            </a:pPr>
            <a:r>
              <a:rPr lang="en-US" altLang="zh-TW"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E</a:t>
            </a:r>
            <a:r>
              <a:rPr lang="en-US" altLang="zh-TW"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 </a:t>
            </a:r>
            <a:r>
              <a:rPr lang="en-US" altLang="zh-TW" i="1"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Validation</a:t>
            </a:r>
            <a:endParaRPr lang="zh-TW" altLang="zh-TW" kern="100" dirty="0">
              <a:effectLst/>
              <a:latin typeface="Aptos"/>
              <a:ea typeface="新細明體" panose="02020500000000000000" pitchFamily="18" charset="-12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文字方塊 2">
                <a:extLst>
                  <a:ext uri="{FF2B5EF4-FFF2-40B4-BE49-F238E27FC236}">
                    <a16:creationId xmlns:a16="http://schemas.microsoft.com/office/drawing/2014/main" id="{B6964577-860D-4EB3-8219-1A6240335DA6}"/>
                  </a:ext>
                </a:extLst>
              </p:cNvPr>
              <p:cNvSpPr txBox="1"/>
              <p:nvPr/>
            </p:nvSpPr>
            <p:spPr>
              <a:xfrm>
                <a:off x="8217453" y="423838"/>
                <a:ext cx="3564053" cy="3215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𝐶𝑎𝑙𝑖𝑏𝑟𝑎𝑡𝑒</m:t>
                      </m:r>
                      <m:r>
                        <a:rPr lang="en-US" altLang="zh-TW" b="0" i="1" smtClean="0">
                          <a:latin typeface="Cambria Math" panose="02040503050406030204" pitchFamily="18" charset="0"/>
                        </a:rPr>
                        <m:t> </m:t>
                      </m:r>
                      <m:r>
                        <a:rPr lang="en-US" altLang="zh-TW" b="0" i="1" smtClean="0">
                          <a:latin typeface="Cambria Math" panose="02040503050406030204" pitchFamily="18" charset="0"/>
                        </a:rPr>
                        <m:t>𝑚𝑜𝑑𝑒𝑙</m:t>
                      </m:r>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𝑏</m:t>
                          </m:r>
                        </m:e>
                        <m:sub>
                          <m:r>
                            <a:rPr lang="en-US" altLang="zh-TW" b="0" i="1" smtClean="0">
                              <a:latin typeface="Cambria Math" panose="02040503050406030204" pitchFamily="18" charset="0"/>
                              <a:ea typeface="Cambria Math" panose="02040503050406030204" pitchFamily="18" charset="0"/>
                            </a:rPr>
                            <m:t>𝑖𝑗</m:t>
                          </m:r>
                        </m:sub>
                      </m:sSub>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𝑆</m:t>
                          </m:r>
                        </m:e>
                        <m:sub>
                          <m:r>
                            <a:rPr lang="en-US" altLang="zh-TW" b="0" i="1" smtClean="0">
                              <a:latin typeface="Cambria Math" panose="02040503050406030204" pitchFamily="18" charset="0"/>
                              <a:ea typeface="Cambria Math" panose="02040503050406030204" pitchFamily="18" charset="0"/>
                            </a:rPr>
                            <m:t>𝑖</m:t>
                          </m:r>
                        </m:sub>
                      </m:sSub>
                      <m:sPre>
                        <m:sPrePr>
                          <m:ctrlPr>
                            <a:rPr lang="en-US" altLang="zh-TW" b="0" i="1" smtClean="0">
                              <a:latin typeface="Cambria Math" panose="02040503050406030204" pitchFamily="18" charset="0"/>
                              <a:ea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𝐼</m:t>
                              </m:r>
                            </m:sub>
                          </m:sSub>
                        </m:e>
                      </m:sPre>
                      <m:sSub>
                        <m:sSubPr>
                          <m:ctrlPr>
                            <a:rPr lang="en-US" altLang="zh-TW" b="0"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𝐾</m:t>
                              </m:r>
                            </m:e>
                          </m:acc>
                        </m:e>
                        <m:sub>
                          <m:r>
                            <a:rPr lang="en-US" altLang="zh-TW" b="0" i="1" smtClean="0">
                              <a:latin typeface="Cambria Math" panose="02040503050406030204" pitchFamily="18" charset="0"/>
                            </a:rPr>
                            <m:t>𝐼</m:t>
                          </m:r>
                        </m:sub>
                      </m:sSub>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𝐼</m:t>
                          </m:r>
                        </m:e>
                        <m:sub>
                          <m:r>
                            <a:rPr lang="en-US" altLang="zh-TW" b="0" i="1" smtClean="0">
                              <a:latin typeface="Cambria Math" panose="02040503050406030204" pitchFamily="18" charset="0"/>
                            </a:rPr>
                            <m:t>𝑗</m:t>
                          </m:r>
                        </m:sub>
                      </m:sSub>
                    </m:oMath>
                  </m:oMathPara>
                </a14:m>
                <a:endParaRPr lang="zh-TW" altLang="en-US" dirty="0"/>
              </a:p>
            </p:txBody>
          </p:sp>
        </mc:Choice>
        <mc:Fallback xmlns="">
          <p:sp>
            <p:nvSpPr>
              <p:cNvPr id="3" name="文字方塊 2">
                <a:extLst>
                  <a:ext uri="{FF2B5EF4-FFF2-40B4-BE49-F238E27FC236}">
                    <a16:creationId xmlns:a16="http://schemas.microsoft.com/office/drawing/2014/main" id="{B6964577-860D-4EB3-8219-1A6240335DA6}"/>
                  </a:ext>
                </a:extLst>
              </p:cNvPr>
              <p:cNvSpPr txBox="1">
                <a:spLocks noRot="1" noChangeAspect="1" noMove="1" noResize="1" noEditPoints="1" noAdjustHandles="1" noChangeArrowheads="1" noChangeShapeType="1" noTextEdit="1"/>
              </p:cNvSpPr>
              <p:nvPr/>
            </p:nvSpPr>
            <p:spPr>
              <a:xfrm>
                <a:off x="8217453" y="423838"/>
                <a:ext cx="3564053" cy="321563"/>
              </a:xfrm>
              <a:prstGeom prst="rect">
                <a:avLst/>
              </a:prstGeom>
              <a:blipFill>
                <a:blip r:embed="rId2"/>
                <a:stretch>
                  <a:fillRect l="-1197" t="-15385" r="-5299" b="-2500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54C8E874-6E04-4F06-97C3-1C58F72C5F9C}"/>
                  </a:ext>
                </a:extLst>
              </p:cNvPr>
              <p:cNvSpPr txBox="1"/>
              <p:nvPr/>
            </p:nvSpPr>
            <p:spPr>
              <a:xfrm>
                <a:off x="5775771" y="715061"/>
                <a:ext cx="6005735" cy="5034648"/>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altLang="zh-TW" b="1" dirty="0"/>
                  <a:t>This figure shows the fitting results for the FEM nodes within R≤150μm after both models were calibrated over the same region using their respective convergence </a:t>
                </a:r>
                <a:r>
                  <a:rPr lang="en-US" altLang="zh-TW" b="1" dirty="0" err="1"/>
                  <a:t>points</a:t>
                </a:r>
                <a:r>
                  <a:rPr lang="en-US" altLang="zh-TW" dirty="0" err="1"/>
                  <a:t>.This</a:t>
                </a:r>
                <a:r>
                  <a:rPr lang="en-US" altLang="zh-TW" dirty="0"/>
                  <a:t> figure overlays the distributions of the two models. The red distribution is noticeably more concentrated than the blue one, indicating that the eighteen-parameter model performs better than the one-parameter model in fitting the magnetic field.</a:t>
                </a:r>
              </a:p>
              <a:p>
                <a:pPr marL="285750" indent="-285750">
                  <a:lnSpc>
                    <a:spcPct val="150000"/>
                  </a:lnSpc>
                  <a:buFont typeface="Arial" panose="020B0604020202020204" pitchFamily="34" charset="0"/>
                  <a:buChar char="•"/>
                </a:pPr>
                <a:endParaRPr lang="en-US" altLang="zh-TW" dirty="0"/>
              </a:p>
              <a:p>
                <a:pPr marL="285750" indent="-285750">
                  <a:lnSpc>
                    <a:spcPct val="150000"/>
                  </a:lnSpc>
                  <a:buFont typeface="Arial" panose="020B0604020202020204" pitchFamily="34" charset="0"/>
                  <a:buChar char="•"/>
                </a:pPr>
                <a:r>
                  <a:rPr lang="en-US" altLang="zh-TW" dirty="0"/>
                  <a:t>Both histograms have the same resolution (2.8 </a:t>
                </a:r>
                <a:r>
                  <a:rPr lang="en-US" altLang="zh-TW" dirty="0" err="1"/>
                  <a:t>μT</a:t>
                </a:r>
                <a:r>
                  <a:rPr lang="en-US" altLang="zh-TW" dirty="0"/>
                  <a:t>).</a:t>
                </a:r>
              </a:p>
              <a:p>
                <a:pPr marL="285750" indent="-285750">
                  <a:lnSpc>
                    <a:spcPct val="150000"/>
                  </a:lnSpc>
                  <a:buFont typeface="Arial" panose="020B0604020202020204" pitchFamily="34" charset="0"/>
                  <a:buChar char="•"/>
                </a:pPr>
                <a:endParaRPr lang="en-US" altLang="zh-TW" dirty="0"/>
              </a:p>
              <a:p>
                <a:pPr marL="285750" indent="-285750">
                  <a:lnSpc>
                    <a:spcPct val="150000"/>
                  </a:lnSpc>
                  <a:buFont typeface="Arial" panose="020B0604020202020204" pitchFamily="34" charset="0"/>
                  <a:buChar char="•"/>
                </a:pPr>
                <a:r>
                  <a:rPr lang="en-US" altLang="zh-TW" dirty="0"/>
                  <a:t>Workspace radius:</a:t>
                </a:r>
                <a14:m>
                  <m:oMath xmlns:m="http://schemas.openxmlformats.org/officeDocument/2006/math">
                    <m:r>
                      <a:rPr lang="en-US" altLang="zh-TW" b="0" i="1" smtClean="0">
                        <a:latin typeface="Cambria Math" panose="02040503050406030204" pitchFamily="18" charset="0"/>
                      </a:rPr>
                      <m:t>𝑅</m:t>
                    </m:r>
                    <m:r>
                      <a:rPr lang="en-US" altLang="zh-TW" b="0" i="1" smtClean="0">
                        <a:latin typeface="Cambria Math" panose="02040503050406030204" pitchFamily="18" charset="0"/>
                        <a:ea typeface="Cambria Math" panose="02040503050406030204" pitchFamily="18" charset="0"/>
                      </a:rPr>
                      <m:t>≤150</m:t>
                    </m:r>
                    <m:r>
                      <a:rPr lang="zh-TW" altLang="en-US" b="0" i="1" smtClean="0">
                        <a:latin typeface="Cambria Math" panose="02040503050406030204" pitchFamily="18" charset="0"/>
                        <a:ea typeface="Cambria Math" panose="02040503050406030204" pitchFamily="18" charset="0"/>
                      </a:rPr>
                      <m:t>𝜇</m:t>
                    </m:r>
                    <m:r>
                      <a:rPr lang="en-US" altLang="zh-TW" b="0" i="1" smtClean="0">
                        <a:latin typeface="Cambria Math" panose="02040503050406030204" pitchFamily="18" charset="0"/>
                        <a:ea typeface="Cambria Math" panose="02040503050406030204" pitchFamily="18" charset="0"/>
                      </a:rPr>
                      <m:t>𝑚</m:t>
                    </m:r>
                  </m:oMath>
                </a14:m>
                <a:endParaRPr lang="zh-TW" altLang="en-US" dirty="0"/>
              </a:p>
            </p:txBody>
          </p:sp>
        </mc:Choice>
        <mc:Fallback xmlns="">
          <p:sp>
            <p:nvSpPr>
              <p:cNvPr id="11" name="文字方塊 10">
                <a:extLst>
                  <a:ext uri="{FF2B5EF4-FFF2-40B4-BE49-F238E27FC236}">
                    <a16:creationId xmlns:a16="http://schemas.microsoft.com/office/drawing/2014/main" id="{54C8E874-6E04-4F06-97C3-1C58F72C5F9C}"/>
                  </a:ext>
                </a:extLst>
              </p:cNvPr>
              <p:cNvSpPr txBox="1">
                <a:spLocks noRot="1" noChangeAspect="1" noMove="1" noResize="1" noEditPoints="1" noAdjustHandles="1" noChangeArrowheads="1" noChangeShapeType="1" noTextEdit="1"/>
              </p:cNvSpPr>
              <p:nvPr/>
            </p:nvSpPr>
            <p:spPr>
              <a:xfrm>
                <a:off x="5775771" y="715061"/>
                <a:ext cx="6005735" cy="5034648"/>
              </a:xfrm>
              <a:prstGeom prst="rect">
                <a:avLst/>
              </a:prstGeom>
              <a:blipFill>
                <a:blip r:embed="rId3"/>
                <a:stretch>
                  <a:fillRect l="-609" b="-969"/>
                </a:stretch>
              </a:blipFill>
            </p:spPr>
            <p:txBody>
              <a:bodyPr/>
              <a:lstStyle/>
              <a:p>
                <a:r>
                  <a:rPr lang="zh-TW" altLang="en-US">
                    <a:noFill/>
                  </a:rPr>
                  <a:t> </a:t>
                </a:r>
              </a:p>
            </p:txBody>
          </p:sp>
        </mc:Fallback>
      </mc:AlternateContent>
      <p:grpSp>
        <p:nvGrpSpPr>
          <p:cNvPr id="10" name="群組 9">
            <a:extLst>
              <a:ext uri="{FF2B5EF4-FFF2-40B4-BE49-F238E27FC236}">
                <a16:creationId xmlns:a16="http://schemas.microsoft.com/office/drawing/2014/main" id="{23A70D0A-AAC3-4B49-B53D-4C8ECA5E91B3}"/>
              </a:ext>
            </a:extLst>
          </p:cNvPr>
          <p:cNvGrpSpPr/>
          <p:nvPr/>
        </p:nvGrpSpPr>
        <p:grpSpPr>
          <a:xfrm>
            <a:off x="503421" y="824438"/>
            <a:ext cx="3662179" cy="2989700"/>
            <a:chOff x="562688" y="1245891"/>
            <a:chExt cx="3933864" cy="3165912"/>
          </a:xfrm>
        </p:grpSpPr>
        <p:pic>
          <p:nvPicPr>
            <p:cNvPr id="9" name="圖片 8">
              <a:extLst>
                <a:ext uri="{FF2B5EF4-FFF2-40B4-BE49-F238E27FC236}">
                  <a16:creationId xmlns:a16="http://schemas.microsoft.com/office/drawing/2014/main" id="{580F5769-9BA4-4EF1-A00E-82CB027DB13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59604" y="1245891"/>
              <a:ext cx="3836948" cy="3099558"/>
            </a:xfrm>
            <a:prstGeom prst="rect">
              <a:avLst/>
            </a:prstGeom>
          </p:spPr>
        </p:pic>
        <p:grpSp>
          <p:nvGrpSpPr>
            <p:cNvPr id="24" name="群組 23">
              <a:extLst>
                <a:ext uri="{FF2B5EF4-FFF2-40B4-BE49-F238E27FC236}">
                  <a16:creationId xmlns:a16="http://schemas.microsoft.com/office/drawing/2014/main" id="{736B9DAB-E3B5-4F04-9A4C-16D89A3418FB}"/>
                </a:ext>
              </a:extLst>
            </p:cNvPr>
            <p:cNvGrpSpPr/>
            <p:nvPr/>
          </p:nvGrpSpPr>
          <p:grpSpPr>
            <a:xfrm>
              <a:off x="562688" y="1465948"/>
              <a:ext cx="3107451" cy="2945855"/>
              <a:chOff x="638889" y="1685413"/>
              <a:chExt cx="3107451" cy="2945855"/>
            </a:xfrm>
          </p:grpSpPr>
          <p:grpSp>
            <p:nvGrpSpPr>
              <p:cNvPr id="22" name="群組 21">
                <a:extLst>
                  <a:ext uri="{FF2B5EF4-FFF2-40B4-BE49-F238E27FC236}">
                    <a16:creationId xmlns:a16="http://schemas.microsoft.com/office/drawing/2014/main" id="{A4A560D3-71C7-4CB4-8189-12B276A02F3D}"/>
                  </a:ext>
                </a:extLst>
              </p:cNvPr>
              <p:cNvGrpSpPr/>
              <p:nvPr/>
            </p:nvGrpSpPr>
            <p:grpSpPr>
              <a:xfrm>
                <a:off x="638889" y="2161355"/>
                <a:ext cx="3010243" cy="2469913"/>
                <a:chOff x="638889" y="2161355"/>
                <a:chExt cx="3010243" cy="2469913"/>
              </a:xfrm>
            </p:grpSpPr>
            <p:sp>
              <p:nvSpPr>
                <p:cNvPr id="19" name="矩形 18">
                  <a:extLst>
                    <a:ext uri="{FF2B5EF4-FFF2-40B4-BE49-F238E27FC236}">
                      <a16:creationId xmlns:a16="http://schemas.microsoft.com/office/drawing/2014/main" id="{43ED5006-814D-4846-B24D-AE6159A9C482}"/>
                    </a:ext>
                  </a:extLst>
                </p:cNvPr>
                <p:cNvSpPr/>
                <p:nvPr/>
              </p:nvSpPr>
              <p:spPr>
                <a:xfrm>
                  <a:off x="638889" y="2161355"/>
                  <a:ext cx="287866" cy="14393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3" name="矩形 22">
                  <a:extLst>
                    <a:ext uri="{FF2B5EF4-FFF2-40B4-BE49-F238E27FC236}">
                      <a16:creationId xmlns:a16="http://schemas.microsoft.com/office/drawing/2014/main" id="{2D0C6A87-3CD1-4B1B-A571-0BAF86B0C5C6}"/>
                    </a:ext>
                  </a:extLst>
                </p:cNvPr>
                <p:cNvSpPr/>
                <p:nvPr/>
              </p:nvSpPr>
              <p:spPr>
                <a:xfrm rot="5400000">
                  <a:off x="2667215" y="3649350"/>
                  <a:ext cx="287866" cy="1675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A2DF51AA-0F9C-4EED-9B62-90FB9ABAA407}"/>
                      </a:ext>
                    </a:extLst>
                  </p:cNvPr>
                  <p:cNvSpPr txBox="1"/>
                  <p:nvPr/>
                </p:nvSpPr>
                <p:spPr>
                  <a:xfrm>
                    <a:off x="1875956" y="4318693"/>
                    <a:ext cx="1870384" cy="24622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altLang="zh-TW" sz="1600" b="0" i="0" smtClean="0">
                              <a:latin typeface="Cambria Math" panose="02040503050406030204" pitchFamily="18" charset="0"/>
                            </a:rPr>
                            <m:t>Residual</m:t>
                          </m:r>
                          <m:r>
                            <a:rPr lang="en-US" altLang="zh-TW" sz="1600" b="0" i="0" smtClean="0">
                              <a:latin typeface="Cambria Math" panose="02040503050406030204" pitchFamily="18" charset="0"/>
                            </a:rPr>
                            <m:t> </m:t>
                          </m:r>
                          <m:r>
                            <m:rPr>
                              <m:sty m:val="p"/>
                            </m:rPr>
                            <a:rPr lang="en-US" altLang="zh-TW" sz="1600" b="0" i="0" smtClean="0">
                              <a:latin typeface="Cambria Math" panose="02040503050406030204" pitchFamily="18" charset="0"/>
                            </a:rPr>
                            <m:t>error</m:t>
                          </m:r>
                          <m:r>
                            <a:rPr lang="en-US" altLang="zh-TW" sz="1600" b="0" i="0" smtClean="0">
                              <a:latin typeface="Cambria Math" panose="02040503050406030204" pitchFamily="18" charset="0"/>
                            </a:rPr>
                            <m:t> </m:t>
                          </m:r>
                          <m:r>
                            <a:rPr lang="en-US" altLang="zh-TW" sz="1600" b="0" i="1" smtClean="0">
                              <a:latin typeface="Cambria Math" panose="02040503050406030204" pitchFamily="18" charset="0"/>
                            </a:rPr>
                            <m:t>(</m:t>
                          </m:r>
                          <m:r>
                            <a:rPr lang="en-US" altLang="zh-TW" sz="1600" b="0" i="1" smtClean="0">
                              <a:latin typeface="Cambria Math" panose="02040503050406030204" pitchFamily="18" charset="0"/>
                            </a:rPr>
                            <m:t>𝑚𝑇</m:t>
                          </m:r>
                          <m:r>
                            <a:rPr lang="en-US" altLang="zh-TW" sz="1600" b="0" i="1" smtClean="0">
                              <a:latin typeface="Cambria Math" panose="02040503050406030204" pitchFamily="18" charset="0"/>
                            </a:rPr>
                            <m:t>) </m:t>
                          </m:r>
                        </m:oMath>
                      </m:oMathPara>
                    </a14:m>
                    <a:endParaRPr lang="zh-TW" altLang="en-US" sz="2000" dirty="0"/>
                  </a:p>
                </p:txBody>
              </p:sp>
            </mc:Choice>
            <mc:Fallback xmlns="">
              <p:sp>
                <p:nvSpPr>
                  <p:cNvPr id="25" name="文字方塊 24">
                    <a:extLst>
                      <a:ext uri="{FF2B5EF4-FFF2-40B4-BE49-F238E27FC236}">
                        <a16:creationId xmlns:a16="http://schemas.microsoft.com/office/drawing/2014/main" id="{A2DF51AA-0F9C-4EED-9B62-90FB9ABAA407}"/>
                      </a:ext>
                    </a:extLst>
                  </p:cNvPr>
                  <p:cNvSpPr txBox="1">
                    <a:spLocks noRot="1" noChangeAspect="1" noMove="1" noResize="1" noEditPoints="1" noAdjustHandles="1" noChangeArrowheads="1" noChangeShapeType="1" noTextEdit="1"/>
                  </p:cNvSpPr>
                  <p:nvPr/>
                </p:nvSpPr>
                <p:spPr>
                  <a:xfrm>
                    <a:off x="1875956" y="4318693"/>
                    <a:ext cx="1870384" cy="246221"/>
                  </a:xfrm>
                  <a:prstGeom prst="rect">
                    <a:avLst/>
                  </a:prstGeom>
                  <a:blipFill>
                    <a:blip r:embed="rId5"/>
                    <a:stretch>
                      <a:fillRect l="-2280" r="-1303" b="-3250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6" name="文字方塊 25">
                    <a:extLst>
                      <a:ext uri="{FF2B5EF4-FFF2-40B4-BE49-F238E27FC236}">
                        <a16:creationId xmlns:a16="http://schemas.microsoft.com/office/drawing/2014/main" id="{3958413D-FBA3-41F1-A1D7-B896CB461548}"/>
                      </a:ext>
                    </a:extLst>
                  </p:cNvPr>
                  <p:cNvSpPr txBox="1"/>
                  <p:nvPr/>
                </p:nvSpPr>
                <p:spPr>
                  <a:xfrm rot="16200000">
                    <a:off x="-257643" y="2581946"/>
                    <a:ext cx="2057554" cy="2644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altLang="zh-TW" sz="1600" b="0" i="0" smtClean="0">
                              <a:latin typeface="Cambria Math" panose="02040503050406030204" pitchFamily="18" charset="0"/>
                            </a:rPr>
                            <m:t>Percentage</m:t>
                          </m:r>
                          <m:r>
                            <a:rPr lang="zh-TW" altLang="en-US" sz="1600" i="1">
                              <a:latin typeface="Cambria Math" panose="02040503050406030204" pitchFamily="18" charset="0"/>
                            </a:rPr>
                            <m:t> </m:t>
                          </m:r>
                          <m:r>
                            <m:rPr>
                              <m:sty m:val="p"/>
                            </m:rPr>
                            <a:rPr lang="en-US" altLang="zh-TW" sz="1600" b="0" i="0" smtClean="0">
                              <a:latin typeface="Cambria Math" panose="02040503050406030204" pitchFamily="18" charset="0"/>
                            </a:rPr>
                            <m:t>count</m:t>
                          </m:r>
                          <m:r>
                            <a:rPr lang="en-US" altLang="zh-TW" sz="1600" b="0" i="1" smtClean="0">
                              <a:latin typeface="Cambria Math" panose="02040503050406030204" pitchFamily="18" charset="0"/>
                            </a:rPr>
                            <m:t>(%)</m:t>
                          </m:r>
                        </m:oMath>
                      </m:oMathPara>
                    </a14:m>
                    <a:endParaRPr lang="zh-TW" altLang="en-US" sz="2000" dirty="0"/>
                  </a:p>
                </p:txBody>
              </p:sp>
            </mc:Choice>
            <mc:Fallback xmlns="">
              <p:sp>
                <p:nvSpPr>
                  <p:cNvPr id="26" name="文字方塊 25">
                    <a:extLst>
                      <a:ext uri="{FF2B5EF4-FFF2-40B4-BE49-F238E27FC236}">
                        <a16:creationId xmlns:a16="http://schemas.microsoft.com/office/drawing/2014/main" id="{3958413D-FBA3-41F1-A1D7-B896CB461548}"/>
                      </a:ext>
                    </a:extLst>
                  </p:cNvPr>
                  <p:cNvSpPr txBox="1">
                    <a:spLocks noRot="1" noChangeAspect="1" noMove="1" noResize="1" noEditPoints="1" noAdjustHandles="1" noChangeArrowheads="1" noChangeShapeType="1" noTextEdit="1"/>
                  </p:cNvSpPr>
                  <p:nvPr/>
                </p:nvSpPr>
                <p:spPr>
                  <a:xfrm rot="16200000">
                    <a:off x="-257643" y="2581946"/>
                    <a:ext cx="2057554" cy="264487"/>
                  </a:xfrm>
                  <a:prstGeom prst="rect">
                    <a:avLst/>
                  </a:prstGeom>
                  <a:blipFill>
                    <a:blip r:embed="rId6"/>
                    <a:stretch>
                      <a:fillRect t="-2194" r="-32500" b="-2194"/>
                    </a:stretch>
                  </a:blipFill>
                </p:spPr>
                <p:txBody>
                  <a:bodyPr/>
                  <a:lstStyle/>
                  <a:p>
                    <a:r>
                      <a:rPr lang="zh-TW" altLang="en-US">
                        <a:noFill/>
                      </a:rPr>
                      <a:t> </a:t>
                    </a:r>
                  </a:p>
                </p:txBody>
              </p:sp>
            </mc:Fallback>
          </mc:AlternateContent>
        </p:grpSp>
      </p:grpSp>
      <p:graphicFrame>
        <p:nvGraphicFramePr>
          <p:cNvPr id="14" name="表格 14">
            <a:extLst>
              <a:ext uri="{FF2B5EF4-FFF2-40B4-BE49-F238E27FC236}">
                <a16:creationId xmlns:a16="http://schemas.microsoft.com/office/drawing/2014/main" id="{669D49AD-E8AD-4123-BA4B-4C406F1D844B}"/>
              </a:ext>
            </a:extLst>
          </p:cNvPr>
          <p:cNvGraphicFramePr>
            <a:graphicFrameLocks noGrp="1"/>
          </p:cNvGraphicFramePr>
          <p:nvPr>
            <p:extLst>
              <p:ext uri="{D42A27DB-BD31-4B8C-83A1-F6EECF244321}">
                <p14:modId xmlns:p14="http://schemas.microsoft.com/office/powerpoint/2010/main" val="697380596"/>
              </p:ext>
            </p:extLst>
          </p:nvPr>
        </p:nvGraphicFramePr>
        <p:xfrm>
          <a:off x="503421" y="4087716"/>
          <a:ext cx="5143845" cy="2567084"/>
        </p:xfrm>
        <a:graphic>
          <a:graphicData uri="http://schemas.openxmlformats.org/drawingml/2006/table">
            <a:tbl>
              <a:tblPr firstRow="1" bandRow="1">
                <a:tableStyleId>{5940675A-B579-460E-94D1-54222C63F5DA}</a:tableStyleId>
              </a:tblPr>
              <a:tblGrid>
                <a:gridCol w="1714615">
                  <a:extLst>
                    <a:ext uri="{9D8B030D-6E8A-4147-A177-3AD203B41FA5}">
                      <a16:colId xmlns:a16="http://schemas.microsoft.com/office/drawing/2014/main" val="2949357934"/>
                    </a:ext>
                  </a:extLst>
                </a:gridCol>
                <a:gridCol w="1714615">
                  <a:extLst>
                    <a:ext uri="{9D8B030D-6E8A-4147-A177-3AD203B41FA5}">
                      <a16:colId xmlns:a16="http://schemas.microsoft.com/office/drawing/2014/main" val="3764907268"/>
                    </a:ext>
                  </a:extLst>
                </a:gridCol>
                <a:gridCol w="1714615">
                  <a:extLst>
                    <a:ext uri="{9D8B030D-6E8A-4147-A177-3AD203B41FA5}">
                      <a16:colId xmlns:a16="http://schemas.microsoft.com/office/drawing/2014/main" val="855758062"/>
                    </a:ext>
                  </a:extLst>
                </a:gridCol>
              </a:tblGrid>
              <a:tr h="1317043">
                <a:tc>
                  <a:txBody>
                    <a:bodyPr/>
                    <a:lstStyle/>
                    <a:p>
                      <a:endParaRPr lang="zh-TW" altLang="en-US" dirty="0"/>
                    </a:p>
                  </a:txBody>
                  <a:tcPr>
                    <a:lnTlToBr w="12700" cap="flat" cmpd="sng" algn="ctr">
                      <a:solidFill>
                        <a:schemeClr val="tx1"/>
                      </a:solidFill>
                      <a:prstDash val="solid"/>
                      <a:round/>
                      <a:headEnd type="none" w="med" len="med"/>
                      <a:tailEnd type="none" w="med" len="med"/>
                    </a:lnTlToBr>
                  </a:tcPr>
                </a:tc>
                <a:tc>
                  <a:txBody>
                    <a:bodyPr/>
                    <a:lstStyle/>
                    <a:p>
                      <a:pPr algn="ctr"/>
                      <a:r>
                        <a:rPr lang="en-US" altLang="zh-TW" dirty="0"/>
                        <a:t>Single</a:t>
                      </a:r>
                      <a:endParaRPr lang="zh-TW" altLang="en-US" dirty="0"/>
                    </a:p>
                  </a:txBody>
                  <a:tcPr/>
                </a:tc>
                <a:tc>
                  <a:txBody>
                    <a:bodyPr/>
                    <a:lstStyle/>
                    <a:p>
                      <a:pPr algn="ctr"/>
                      <a:r>
                        <a:rPr lang="en-US" altLang="zh-TW" dirty="0"/>
                        <a:t>Eighteen</a:t>
                      </a:r>
                      <a:endParaRPr lang="zh-TW" altLang="en-US" dirty="0"/>
                    </a:p>
                  </a:txBody>
                  <a:tcPr/>
                </a:tc>
                <a:extLst>
                  <a:ext uri="{0D108BD9-81ED-4DB2-BD59-A6C34878D82A}">
                    <a16:rowId xmlns:a16="http://schemas.microsoft.com/office/drawing/2014/main" val="2420780242"/>
                  </a:ext>
                </a:extLst>
              </a:tr>
              <a:tr h="1250041">
                <a:tc>
                  <a:txBody>
                    <a:bodyPr/>
                    <a:lstStyle/>
                    <a:p>
                      <a:pPr algn="ctr"/>
                      <a:r>
                        <a:rPr lang="en-US" altLang="zh-TW" dirty="0"/>
                        <a:t>Mean error</a:t>
                      </a:r>
                      <a:endParaRPr lang="zh-TW" altLang="en-US" dirty="0"/>
                    </a:p>
                  </a:txBody>
                  <a:tcPr/>
                </a:tc>
                <a:tc>
                  <a:txBody>
                    <a:bodyPr/>
                    <a:lstStyle/>
                    <a:p>
                      <a:pPr algn="ctr"/>
                      <a:r>
                        <a:rPr lang="en-US" altLang="zh-TW" dirty="0"/>
                        <a:t>0.2876mT</a:t>
                      </a:r>
                      <a:endParaRPr lang="zh-TW" altLang="en-US" dirty="0"/>
                    </a:p>
                  </a:txBody>
                  <a:tcPr/>
                </a:tc>
                <a:tc>
                  <a:txBody>
                    <a:bodyPr/>
                    <a:lstStyle/>
                    <a:p>
                      <a:pPr algn="ctr"/>
                      <a:r>
                        <a:rPr lang="en-US" altLang="zh-TW" dirty="0"/>
                        <a:t>0.0277mT</a:t>
                      </a:r>
                      <a:endParaRPr lang="zh-TW" altLang="en-US" dirty="0"/>
                    </a:p>
                  </a:txBody>
                  <a:tcPr/>
                </a:tc>
                <a:extLst>
                  <a:ext uri="{0D108BD9-81ED-4DB2-BD59-A6C34878D82A}">
                    <a16:rowId xmlns:a16="http://schemas.microsoft.com/office/drawing/2014/main" val="2702200097"/>
                  </a:ext>
                </a:extLst>
              </a:tr>
            </a:tbl>
          </a:graphicData>
        </a:graphic>
      </p:graphicFrame>
    </p:spTree>
    <p:extLst>
      <p:ext uri="{BB962C8B-B14F-4D97-AF65-F5344CB8AC3E}">
        <p14:creationId xmlns:p14="http://schemas.microsoft.com/office/powerpoint/2010/main" val="39634389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0" name="文字方塊 39">
            <a:extLst>
              <a:ext uri="{FF2B5EF4-FFF2-40B4-BE49-F238E27FC236}">
                <a16:creationId xmlns:a16="http://schemas.microsoft.com/office/drawing/2014/main" id="{B1E82766-E1D8-4AA6-A2B9-6AEA170385C0}"/>
              </a:ext>
            </a:extLst>
          </p:cNvPr>
          <p:cNvSpPr txBox="1"/>
          <p:nvPr/>
        </p:nvSpPr>
        <p:spPr>
          <a:xfrm>
            <a:off x="0" y="290509"/>
            <a:ext cx="6324600" cy="390684"/>
          </a:xfrm>
          <a:prstGeom prst="rect">
            <a:avLst/>
          </a:prstGeom>
          <a:noFill/>
        </p:spPr>
        <p:txBody>
          <a:bodyPr wrap="square" rtlCol="0">
            <a:spAutoFit/>
          </a:bodyPr>
          <a:lstStyle/>
          <a:p>
            <a:pPr>
              <a:lnSpc>
                <a:spcPct val="115000"/>
              </a:lnSpc>
              <a:spcAft>
                <a:spcPts val="800"/>
              </a:spcAft>
            </a:pPr>
            <a:r>
              <a:rPr lang="en-US" altLang="zh-TW"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E</a:t>
            </a:r>
            <a:r>
              <a:rPr lang="en-US" altLang="zh-TW"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 </a:t>
            </a:r>
            <a:r>
              <a:rPr lang="en-US" altLang="zh-TW" i="1"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Validation</a:t>
            </a:r>
            <a:endParaRPr lang="zh-TW" altLang="zh-TW" kern="100" dirty="0">
              <a:effectLst/>
              <a:latin typeface="Aptos"/>
              <a:ea typeface="新細明體" panose="02020500000000000000" pitchFamily="18" charset="-120"/>
              <a:cs typeface="Times New Roman" panose="02020603050405020304" pitchFamily="18" charset="0"/>
            </a:endParaRPr>
          </a:p>
        </p:txBody>
      </p:sp>
      <p:sp>
        <p:nvSpPr>
          <p:cNvPr id="34" name="矩形 33">
            <a:extLst>
              <a:ext uri="{FF2B5EF4-FFF2-40B4-BE49-F238E27FC236}">
                <a16:creationId xmlns:a16="http://schemas.microsoft.com/office/drawing/2014/main" id="{8659A643-E450-4CA6-88EB-0AE5D5F0627F}"/>
              </a:ext>
            </a:extLst>
          </p:cNvPr>
          <p:cNvSpPr/>
          <p:nvPr/>
        </p:nvSpPr>
        <p:spPr>
          <a:xfrm>
            <a:off x="9674200" y="2996360"/>
            <a:ext cx="1176867" cy="16669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7" name="矩形 36">
            <a:extLst>
              <a:ext uri="{FF2B5EF4-FFF2-40B4-BE49-F238E27FC236}">
                <a16:creationId xmlns:a16="http://schemas.microsoft.com/office/drawing/2014/main" id="{CC076215-4C1E-4750-B734-07194AED0FD8}"/>
              </a:ext>
            </a:extLst>
          </p:cNvPr>
          <p:cNvSpPr/>
          <p:nvPr/>
        </p:nvSpPr>
        <p:spPr>
          <a:xfrm rot="16200000">
            <a:off x="7091804" y="1694224"/>
            <a:ext cx="1176867" cy="16669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46" name="auto caption"/>
              <p:cNvSpPr txBox="1"/>
              <p:nvPr/>
            </p:nvSpPr>
            <p:spPr>
              <a:xfrm>
                <a:off x="-33942" y="586474"/>
                <a:ext cx="7714179" cy="3044893"/>
              </a:xfrm>
              <a:prstGeom prst="rect">
                <a:avLst/>
              </a:prstGeom>
              <a:noFill/>
            </p:spPr>
            <p:txBody>
              <a:bodyPr wrap="square" rtlCol="0">
                <a:normAutofit fontScale="85000" lnSpcReduction="20000"/>
              </a:bodyPr>
              <a:lstStyle/>
              <a:p>
                <a:pPr marL="285750" indent="-285750">
                  <a:buFont typeface="Arial" panose="020B0604020202020204" pitchFamily="34" charset="0"/>
                  <a:buChar char="•"/>
                </a:pPr>
                <a:r>
                  <a:rPr lang="en-US" altLang="zh-TW" dirty="0"/>
                  <a:t>Setup: </a:t>
                </a:r>
                <a:r>
                  <a:rPr lang="en-US" altLang="zh-TW" b="1" dirty="0"/>
                  <a:t>Calibration is performed using the eighteen-parameter model with 80 calibration points, followed by fitting to the FEM nodes within the workspace</a:t>
                </a:r>
                <a:r>
                  <a:rPr lang="en-US" altLang="zh-TW" dirty="0"/>
                  <a:t>. The top histogram is the model calibrated at </a:t>
                </a:r>
                <a14:m>
                  <m:oMath xmlns:m="http://schemas.openxmlformats.org/officeDocument/2006/math">
                    <m:r>
                      <a:rPr lang="en-US" altLang="zh-TW" b="0" i="1" smtClean="0">
                        <a:latin typeface="Cambria Math" panose="02040503050406030204" pitchFamily="18" charset="0"/>
                      </a:rPr>
                      <m:t>𝑅</m:t>
                    </m:r>
                    <m:r>
                      <a:rPr lang="en-US" altLang="zh-TW" b="0" i="1" smtClean="0">
                        <a:latin typeface="Cambria Math" panose="02040503050406030204" pitchFamily="18" charset="0"/>
                        <a:ea typeface="Cambria Math" panose="02040503050406030204" pitchFamily="18" charset="0"/>
                      </a:rPr>
                      <m:t>≤150</m:t>
                    </m:r>
                  </m:oMath>
                </a14:m>
                <a:r>
                  <a:rPr lang="en-US" altLang="zh-TW" dirty="0"/>
                  <a:t> µm and evaluated inside </a:t>
                </a:r>
                <a14:m>
                  <m:oMath xmlns:m="http://schemas.openxmlformats.org/officeDocument/2006/math">
                    <m:r>
                      <a:rPr lang="en-US" altLang="zh-TW" i="1">
                        <a:latin typeface="Cambria Math" panose="02040503050406030204" pitchFamily="18" charset="0"/>
                      </a:rPr>
                      <m:t>𝑅</m:t>
                    </m:r>
                    <m:r>
                      <a:rPr lang="en-US" altLang="zh-TW" i="1">
                        <a:latin typeface="Cambria Math" panose="02040503050406030204" pitchFamily="18" charset="0"/>
                        <a:ea typeface="Cambria Math" panose="02040503050406030204" pitchFamily="18" charset="0"/>
                      </a:rPr>
                      <m:t>≤150</m:t>
                    </m:r>
                  </m:oMath>
                </a14:m>
                <a:r>
                  <a:rPr lang="en-US" altLang="zh-TW" dirty="0"/>
                  <a:t> µm. The bottom histogram is the model calibrated at </a:t>
                </a:r>
                <a14:m>
                  <m:oMath xmlns:m="http://schemas.openxmlformats.org/officeDocument/2006/math">
                    <m:r>
                      <a:rPr lang="en-US" altLang="zh-TW" i="1">
                        <a:latin typeface="Cambria Math" panose="02040503050406030204" pitchFamily="18" charset="0"/>
                      </a:rPr>
                      <m:t>𝑅</m:t>
                    </m:r>
                    <m:r>
                      <a:rPr lang="en-US" altLang="zh-TW" i="1">
                        <a:latin typeface="Cambria Math" panose="02040503050406030204" pitchFamily="18" charset="0"/>
                        <a:ea typeface="Cambria Math" panose="02040503050406030204" pitchFamily="18" charset="0"/>
                      </a:rPr>
                      <m:t>≤</m:t>
                    </m:r>
                    <m:r>
                      <a:rPr lang="en-US" altLang="zh-TW" b="0" i="1" smtClean="0">
                        <a:latin typeface="Cambria Math" panose="02040503050406030204" pitchFamily="18" charset="0"/>
                        <a:ea typeface="Cambria Math" panose="02040503050406030204" pitchFamily="18" charset="0"/>
                      </a:rPr>
                      <m:t>30</m:t>
                    </m:r>
                    <m:r>
                      <a:rPr lang="en-US" altLang="zh-TW" i="1">
                        <a:latin typeface="Cambria Math" panose="02040503050406030204" pitchFamily="18" charset="0"/>
                        <a:ea typeface="Cambria Math" panose="02040503050406030204" pitchFamily="18" charset="0"/>
                      </a:rPr>
                      <m:t>0</m:t>
                    </m:r>
                  </m:oMath>
                </a14:m>
                <a:r>
                  <a:rPr lang="en-US" altLang="zh-TW" dirty="0"/>
                  <a:t> µm and evaluated inside </a:t>
                </a:r>
                <a14:m>
                  <m:oMath xmlns:m="http://schemas.openxmlformats.org/officeDocument/2006/math">
                    <m:r>
                      <a:rPr lang="en-US" altLang="zh-TW" i="1">
                        <a:latin typeface="Cambria Math" panose="02040503050406030204" pitchFamily="18" charset="0"/>
                      </a:rPr>
                      <m:t>𝑅</m:t>
                    </m:r>
                    <m:r>
                      <a:rPr lang="en-US" altLang="zh-TW" i="1">
                        <a:latin typeface="Cambria Math" panose="02040503050406030204" pitchFamily="18" charset="0"/>
                        <a:ea typeface="Cambria Math" panose="02040503050406030204" pitchFamily="18" charset="0"/>
                      </a:rPr>
                      <m:t>≤300</m:t>
                    </m:r>
                  </m:oMath>
                </a14:m>
                <a:r>
                  <a:rPr lang="en-US" altLang="zh-TW" dirty="0"/>
                  <a:t> , with the points split by radius into an inner core (</a:t>
                </a:r>
                <a:r>
                  <a:rPr lang="en-US" altLang="zh-TW" i="1" dirty="0"/>
                  <a:t>R ≤ 150 </a:t>
                </a:r>
                <a:r>
                  <a:rPr lang="en-US" altLang="zh-TW" dirty="0"/>
                  <a:t>µm, blue) and an outer shell (150 &lt; R ≤ 300 µm, red).</a:t>
                </a:r>
              </a:p>
              <a:p>
                <a:pPr marL="285750" indent="-285750">
                  <a:buFont typeface="Arial" panose="020B0604020202020204" pitchFamily="34" charset="0"/>
                  <a:buChar char="•"/>
                </a:pPr>
                <a:endParaRPr lang="en-US" altLang="zh-TW" dirty="0"/>
              </a:p>
              <a:p>
                <a:pPr marL="285750" indent="-285750">
                  <a:buFont typeface="Arial" panose="020B0604020202020204" pitchFamily="34" charset="0"/>
                  <a:buChar char="•"/>
                </a:pPr>
                <a:r>
                  <a:rPr lang="en-US" altLang="zh-TW" dirty="0"/>
                  <a:t>Inside the calibrated workspace the residual is only 0.27% of the average field (0.0277 </a:t>
                </a:r>
                <a:r>
                  <a:rPr lang="en-US" altLang="zh-TW" dirty="0" err="1"/>
                  <a:t>mT</a:t>
                </a:r>
                <a:r>
                  <a:rPr lang="en-US" altLang="zh-TW" dirty="0"/>
                  <a:t> against 10.2452 </a:t>
                </a:r>
                <a:r>
                  <a:rPr lang="en-US" altLang="zh-TW" dirty="0" err="1"/>
                  <a:t>mT</a:t>
                </a:r>
                <a:r>
                  <a:rPr lang="en-US" altLang="zh-TW" dirty="0"/>
                  <a:t>), so the six-pole system is quantitatively captured by</a:t>
                </a:r>
                <a:r>
                  <a:rPr lang="en-US" altLang="zh-TW" sz="1800" dirty="0"/>
                  <a:t> </a:t>
                </a:r>
                <a14:m>
                  <m:oMath xmlns:m="http://schemas.openxmlformats.org/officeDocument/2006/math">
                    <m:acc>
                      <m:accPr>
                        <m:chr m:val="̂"/>
                        <m:ctrlPr>
                          <a:rPr lang="en-US" altLang="zh-TW" sz="1800" i="1" smtClean="0">
                            <a:latin typeface="Cambria Math" panose="02040503050406030204" pitchFamily="18" charset="0"/>
                          </a:rPr>
                        </m:ctrlPr>
                      </m:accPr>
                      <m:e>
                        <m:r>
                          <a:rPr lang="en-US" altLang="zh-TW" sz="1800" i="1" smtClean="0">
                            <a:latin typeface="Cambria Math" panose="02040503050406030204" pitchFamily="18" charset="0"/>
                            <a:ea typeface="Cambria Math" panose="02040503050406030204" pitchFamily="18" charset="0"/>
                          </a:rPr>
                          <m:t>ℓ</m:t>
                        </m:r>
                      </m:e>
                    </m:acc>
                  </m:oMath>
                </a14:m>
                <a:r>
                  <a:rPr lang="en-US" altLang="zh-TW" dirty="0"/>
                  <a:t>, </a:t>
                </a:r>
                <a14:m>
                  <m:oMath xmlns:m="http://schemas.openxmlformats.org/officeDocument/2006/math">
                    <m:sPre>
                      <m:sPrePr>
                        <m:ctrlPr>
                          <a:rPr lang="en-US" altLang="zh-TW" i="1">
                            <a:latin typeface="Cambria Math" panose="02040503050406030204" pitchFamily="18" charset="0"/>
                          </a:rPr>
                        </m:ctrlPr>
                      </m:sPrePr>
                      <m:sub/>
                      <m:sup>
                        <m:r>
                          <a:rPr lang="en-US" altLang="zh-TW" i="1">
                            <a:latin typeface="Cambria Math" panose="02040503050406030204" pitchFamily="18" charset="0"/>
                          </a:rPr>
                          <m:t>𝐵</m:t>
                        </m:r>
                      </m:sup>
                      <m:e>
                        <m:sSub>
                          <m:sSubPr>
                            <m:ctrlPr>
                              <a:rPr lang="en-US" altLang="zh-TW" i="1">
                                <a:latin typeface="Cambria Math" panose="02040503050406030204" pitchFamily="18" charset="0"/>
                              </a:rPr>
                            </m:ctrlPr>
                          </m:sSubPr>
                          <m:e>
                            <m:acc>
                              <m:accPr>
                                <m:chr m:val="̂"/>
                                <m:ctrlPr>
                                  <a:rPr lang="en-US" altLang="zh-TW" i="1">
                                    <a:latin typeface="Cambria Math" panose="02040503050406030204" pitchFamily="18" charset="0"/>
                                  </a:rPr>
                                </m:ctrlPr>
                              </m:accPr>
                              <m:e>
                                <m:r>
                                  <a:rPr lang="en-US" altLang="zh-TW" i="1">
                                    <a:latin typeface="Cambria Math" panose="02040503050406030204" pitchFamily="18" charset="0"/>
                                  </a:rPr>
                                  <m:t>𝑔</m:t>
                                </m:r>
                              </m:e>
                            </m:acc>
                          </m:e>
                          <m:sub>
                            <m:r>
                              <a:rPr lang="en-US" altLang="zh-TW" i="1">
                                <a:latin typeface="Cambria Math" panose="02040503050406030204" pitchFamily="18" charset="0"/>
                              </a:rPr>
                              <m:t>𝐼</m:t>
                            </m:r>
                          </m:sub>
                        </m:sSub>
                      </m:e>
                    </m:sPre>
                    <m:r>
                      <a:rPr lang="en-US" altLang="zh-TW" i="1">
                        <a:latin typeface="Cambria Math" panose="02040503050406030204" pitchFamily="18" charset="0"/>
                      </a:rPr>
                      <m:t> </m:t>
                    </m:r>
                  </m:oMath>
                </a14:m>
                <a:r>
                  <a:rPr lang="en-US" altLang="zh-TW" dirty="0"/>
                  <a:t>and </a:t>
                </a:r>
                <a14:m>
                  <m:oMath xmlns:m="http://schemas.openxmlformats.org/officeDocument/2006/math">
                    <m:sSub>
                      <m:sSubPr>
                        <m:ctrlPr>
                          <a:rPr lang="en-US" altLang="zh-TW" i="1">
                            <a:latin typeface="Cambria Math" panose="02040503050406030204" pitchFamily="18" charset="0"/>
                          </a:rPr>
                        </m:ctrlPr>
                      </m:sSubPr>
                      <m:e>
                        <m:acc>
                          <m:accPr>
                            <m:chr m:val="̄"/>
                            <m:ctrlPr>
                              <a:rPr lang="en-US" altLang="zh-TW" i="1">
                                <a:latin typeface="Cambria Math" panose="02040503050406030204" pitchFamily="18" charset="0"/>
                              </a:rPr>
                            </m:ctrlPr>
                          </m:accPr>
                          <m:e>
                            <m:r>
                              <a:rPr lang="en-US" altLang="zh-TW" i="1">
                                <a:latin typeface="Cambria Math" panose="02040503050406030204" pitchFamily="18" charset="0"/>
                              </a:rPr>
                              <m:t>𝐾</m:t>
                            </m:r>
                          </m:e>
                        </m:acc>
                      </m:e>
                      <m:sub>
                        <m:r>
                          <a:rPr lang="en-US" altLang="zh-TW" i="1">
                            <a:latin typeface="Cambria Math" panose="02040503050406030204" pitchFamily="18" charset="0"/>
                          </a:rPr>
                          <m:t>𝐼</m:t>
                        </m:r>
                      </m:sub>
                    </m:sSub>
                    <m:r>
                      <a:rPr lang="en-US" altLang="zh-TW" i="1">
                        <a:latin typeface="Cambria Math" panose="02040503050406030204" pitchFamily="18" charset="0"/>
                      </a:rPr>
                      <m:t> </m:t>
                    </m:r>
                  </m:oMath>
                </a14:m>
                <a:r>
                  <a:rPr lang="zh-TW" altLang="en-US" dirty="0"/>
                  <a:t>，</a:t>
                </a:r>
                <a:r>
                  <a:rPr lang="en-US" altLang="zh-TW" dirty="0"/>
                  <a:t> changes the accuracy is the calibration range — widening it from R = 150 to 300 µm raises the error in the same inner core by 59% (0.0277 → 0.0441 </a:t>
                </a:r>
                <a:r>
                  <a:rPr lang="en-US" altLang="zh-TW" dirty="0" err="1"/>
                  <a:t>mT</a:t>
                </a:r>
                <a:r>
                  <a:rPr lang="en-US" altLang="zh-TW" dirty="0"/>
                  <a:t>). The error is also concentrated near the outer boundary, the shell carrying 4.5× the core error (0.2006 vs 0.0441 </a:t>
                </a:r>
                <a:r>
                  <a:rPr lang="en-US" altLang="zh-TW" dirty="0" err="1"/>
                  <a:t>mT</a:t>
                </a:r>
                <a:r>
                  <a:rPr lang="en-US" altLang="zh-TW" dirty="0"/>
                  <a:t>), which is the signature of the point-charge model as an inner expansion: accuracy is lost by approaching the pole tips, not by a poor fit, and it degrades predictably — the relative error rises from 0.27% to 1.73% when the workspace radius is doubled.</a:t>
                </a:r>
              </a:p>
              <a:p>
                <a:pPr marL="285750" indent="-285750">
                  <a:buFont typeface="Arial" panose="020B0604020202020204" pitchFamily="34" charset="0"/>
                  <a:buChar char="•"/>
                </a:pPr>
                <a:endParaRPr lang="en-US" altLang="zh-TW" dirty="0"/>
              </a:p>
              <a:p>
                <a:pPr marL="285750" indent="-285750">
                  <a:buFont typeface="Arial" panose="020B0604020202020204" pitchFamily="34" charset="0"/>
                  <a:buChar char="•"/>
                </a:pPr>
                <a:r>
                  <a:rPr lang="en-US" altLang="zh-TW" dirty="0"/>
                  <a:t>Both histograms have the same resolution (2.8μT).</a:t>
                </a:r>
              </a:p>
              <a:p>
                <a:pPr marL="285750" indent="-285750">
                  <a:buFont typeface="Arial" panose="020B0604020202020204" pitchFamily="34" charset="0"/>
                  <a:buChar char="•"/>
                </a:pPr>
                <a:endParaRPr lang="en-US" altLang="zh-TW" dirty="0"/>
              </a:p>
            </p:txBody>
          </p:sp>
        </mc:Choice>
        <mc:Fallback xmlns="">
          <p:sp>
            <p:nvSpPr>
              <p:cNvPr id="46" name="auto caption"/>
              <p:cNvSpPr txBox="1">
                <a:spLocks noRot="1" noChangeAspect="1" noMove="1" noResize="1" noEditPoints="1" noAdjustHandles="1" noChangeArrowheads="1" noChangeShapeType="1" noTextEdit="1"/>
              </p:cNvSpPr>
              <p:nvPr/>
            </p:nvSpPr>
            <p:spPr>
              <a:xfrm>
                <a:off x="-33942" y="586474"/>
                <a:ext cx="7714179" cy="3044893"/>
              </a:xfrm>
              <a:prstGeom prst="rect">
                <a:avLst/>
              </a:prstGeom>
              <a:blipFill>
                <a:blip r:embed="rId2"/>
                <a:stretch>
                  <a:fillRect l="-237" t="-1600" r="-632" b="-2200"/>
                </a:stretch>
              </a:blipFill>
            </p:spPr>
            <p:txBody>
              <a:bodyPr/>
              <a:lstStyle/>
              <a:p>
                <a:r>
                  <a:rPr lang="zh-TW" altLang="en-US">
                    <a:noFill/>
                  </a:rPr>
                  <a:t> </a:t>
                </a:r>
              </a:p>
            </p:txBody>
          </p:sp>
        </mc:Fallback>
      </mc:AlternateContent>
      <p:grpSp>
        <p:nvGrpSpPr>
          <p:cNvPr id="17" name="群組 16">
            <a:extLst>
              <a:ext uri="{FF2B5EF4-FFF2-40B4-BE49-F238E27FC236}">
                <a16:creationId xmlns:a16="http://schemas.microsoft.com/office/drawing/2014/main" id="{1DFB45FC-9DFC-4FC9-A9F3-1169414D7357}"/>
              </a:ext>
            </a:extLst>
          </p:cNvPr>
          <p:cNvGrpSpPr/>
          <p:nvPr/>
        </p:nvGrpSpPr>
        <p:grpSpPr>
          <a:xfrm>
            <a:off x="8761063" y="605024"/>
            <a:ext cx="3104892" cy="2433301"/>
            <a:chOff x="8539479" y="812926"/>
            <a:chExt cx="3104892" cy="2433301"/>
          </a:xfrm>
        </p:grpSpPr>
        <p:pic>
          <p:nvPicPr>
            <p:cNvPr id="16" name="圖片 15">
              <a:extLst>
                <a:ext uri="{FF2B5EF4-FFF2-40B4-BE49-F238E27FC236}">
                  <a16:creationId xmlns:a16="http://schemas.microsoft.com/office/drawing/2014/main" id="{D93D5404-D40C-45AC-ACAC-A03C2B6D7B9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708318" y="812926"/>
              <a:ext cx="2936053" cy="2366002"/>
            </a:xfrm>
            <a:prstGeom prst="rect">
              <a:avLst/>
            </a:prstGeom>
          </p:spPr>
        </p:pic>
        <p:grpSp>
          <p:nvGrpSpPr>
            <p:cNvPr id="26" name="群組 25">
              <a:extLst>
                <a:ext uri="{FF2B5EF4-FFF2-40B4-BE49-F238E27FC236}">
                  <a16:creationId xmlns:a16="http://schemas.microsoft.com/office/drawing/2014/main" id="{70478066-310B-4F80-997B-F860B06EC624}"/>
                </a:ext>
              </a:extLst>
            </p:cNvPr>
            <p:cNvGrpSpPr/>
            <p:nvPr/>
          </p:nvGrpSpPr>
          <p:grpSpPr>
            <a:xfrm>
              <a:off x="8539479" y="922869"/>
              <a:ext cx="2682852" cy="2323358"/>
              <a:chOff x="8290300" y="811678"/>
              <a:chExt cx="2682852" cy="2323358"/>
            </a:xfrm>
          </p:grpSpPr>
          <p:grpSp>
            <p:nvGrpSpPr>
              <p:cNvPr id="14" name="群組 13">
                <a:extLst>
                  <a:ext uri="{FF2B5EF4-FFF2-40B4-BE49-F238E27FC236}">
                    <a16:creationId xmlns:a16="http://schemas.microsoft.com/office/drawing/2014/main" id="{98E2DA52-7382-44DD-9802-8F4A47DA9DEE}"/>
                  </a:ext>
                </a:extLst>
              </p:cNvPr>
              <p:cNvGrpSpPr/>
              <p:nvPr/>
            </p:nvGrpSpPr>
            <p:grpSpPr>
              <a:xfrm>
                <a:off x="8459139" y="1134150"/>
                <a:ext cx="2167387" cy="1933587"/>
                <a:chOff x="8459139" y="1134150"/>
                <a:chExt cx="2167387" cy="1933587"/>
              </a:xfrm>
            </p:grpSpPr>
            <p:sp>
              <p:nvSpPr>
                <p:cNvPr id="13" name="矩形 12">
                  <a:extLst>
                    <a:ext uri="{FF2B5EF4-FFF2-40B4-BE49-F238E27FC236}">
                      <a16:creationId xmlns:a16="http://schemas.microsoft.com/office/drawing/2014/main" id="{62D9AAFB-45CB-41B6-A7DA-A163C76C7C70}"/>
                    </a:ext>
                  </a:extLst>
                </p:cNvPr>
                <p:cNvSpPr/>
                <p:nvPr/>
              </p:nvSpPr>
              <p:spPr>
                <a:xfrm>
                  <a:off x="9381066" y="2926271"/>
                  <a:ext cx="1245460" cy="14146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1" name="矩形 30">
                  <a:extLst>
                    <a:ext uri="{FF2B5EF4-FFF2-40B4-BE49-F238E27FC236}">
                      <a16:creationId xmlns:a16="http://schemas.microsoft.com/office/drawing/2014/main" id="{94D5CEEC-4BD3-41C5-AEA4-00E812C48194}"/>
                    </a:ext>
                  </a:extLst>
                </p:cNvPr>
                <p:cNvSpPr/>
                <p:nvPr/>
              </p:nvSpPr>
              <p:spPr>
                <a:xfrm rot="16200000">
                  <a:off x="7993276" y="1600013"/>
                  <a:ext cx="1092200" cy="16047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76C41D3C-8E9A-426D-BF6B-D03547810A62}"/>
                      </a:ext>
                    </a:extLst>
                  </p:cNvPr>
                  <p:cNvSpPr txBox="1"/>
                  <p:nvPr/>
                </p:nvSpPr>
                <p:spPr>
                  <a:xfrm>
                    <a:off x="9102768" y="2888815"/>
                    <a:ext cx="1870384" cy="24622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altLang="zh-TW" sz="1600" b="0" i="0" smtClean="0">
                              <a:latin typeface="Cambria Math" panose="02040503050406030204" pitchFamily="18" charset="0"/>
                            </a:rPr>
                            <m:t>Residual</m:t>
                          </m:r>
                          <m:r>
                            <a:rPr lang="en-US" altLang="zh-TW" sz="1600" b="0" i="0" smtClean="0">
                              <a:latin typeface="Cambria Math" panose="02040503050406030204" pitchFamily="18" charset="0"/>
                            </a:rPr>
                            <m:t> </m:t>
                          </m:r>
                          <m:r>
                            <m:rPr>
                              <m:sty m:val="p"/>
                            </m:rPr>
                            <a:rPr lang="en-US" altLang="zh-TW" sz="1600" b="0" i="0" smtClean="0">
                              <a:latin typeface="Cambria Math" panose="02040503050406030204" pitchFamily="18" charset="0"/>
                            </a:rPr>
                            <m:t>error</m:t>
                          </m:r>
                          <m:r>
                            <a:rPr lang="en-US" altLang="zh-TW" sz="1600" b="0" i="0" smtClean="0">
                              <a:latin typeface="Cambria Math" panose="02040503050406030204" pitchFamily="18" charset="0"/>
                            </a:rPr>
                            <m:t> </m:t>
                          </m:r>
                          <m:r>
                            <a:rPr lang="en-US" altLang="zh-TW" sz="1600" b="0" i="1" smtClean="0">
                              <a:latin typeface="Cambria Math" panose="02040503050406030204" pitchFamily="18" charset="0"/>
                            </a:rPr>
                            <m:t>(</m:t>
                          </m:r>
                          <m:r>
                            <a:rPr lang="en-US" altLang="zh-TW" sz="1600" b="0" i="1" smtClean="0">
                              <a:latin typeface="Cambria Math" panose="02040503050406030204" pitchFamily="18" charset="0"/>
                            </a:rPr>
                            <m:t>𝑚𝑇</m:t>
                          </m:r>
                          <m:r>
                            <a:rPr lang="en-US" altLang="zh-TW" sz="1600" b="0" i="1" smtClean="0">
                              <a:latin typeface="Cambria Math" panose="02040503050406030204" pitchFamily="18" charset="0"/>
                            </a:rPr>
                            <m:t>) </m:t>
                          </m:r>
                        </m:oMath>
                      </m:oMathPara>
                    </a14:m>
                    <a:endParaRPr lang="zh-TW" altLang="en-US" sz="2000" dirty="0"/>
                  </a:p>
                </p:txBody>
              </p:sp>
            </mc:Choice>
            <mc:Fallback xmlns="">
              <p:sp>
                <p:nvSpPr>
                  <p:cNvPr id="36" name="文字方塊 35">
                    <a:extLst>
                      <a:ext uri="{FF2B5EF4-FFF2-40B4-BE49-F238E27FC236}">
                        <a16:creationId xmlns:a16="http://schemas.microsoft.com/office/drawing/2014/main" id="{76C41D3C-8E9A-426D-BF6B-D03547810A62}"/>
                      </a:ext>
                    </a:extLst>
                  </p:cNvPr>
                  <p:cNvSpPr txBox="1">
                    <a:spLocks noRot="1" noChangeAspect="1" noMove="1" noResize="1" noEditPoints="1" noAdjustHandles="1" noChangeArrowheads="1" noChangeShapeType="1" noTextEdit="1"/>
                  </p:cNvSpPr>
                  <p:nvPr/>
                </p:nvSpPr>
                <p:spPr>
                  <a:xfrm>
                    <a:off x="9102768" y="2888815"/>
                    <a:ext cx="1870384" cy="246221"/>
                  </a:xfrm>
                  <a:prstGeom prst="rect">
                    <a:avLst/>
                  </a:prstGeom>
                  <a:blipFill>
                    <a:blip r:embed="rId4"/>
                    <a:stretch>
                      <a:fillRect l="-2280" r="-1303" b="-3500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8" name="文字方塊 37">
                    <a:extLst>
                      <a:ext uri="{FF2B5EF4-FFF2-40B4-BE49-F238E27FC236}">
                        <a16:creationId xmlns:a16="http://schemas.microsoft.com/office/drawing/2014/main" id="{BACF366E-8A86-48E7-B656-FA0D777C2587}"/>
                      </a:ext>
                    </a:extLst>
                  </p:cNvPr>
                  <p:cNvSpPr txBox="1"/>
                  <p:nvPr/>
                </p:nvSpPr>
                <p:spPr>
                  <a:xfrm rot="16200000">
                    <a:off x="7441895" y="1660083"/>
                    <a:ext cx="1943032" cy="24622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altLang="zh-TW" sz="1600" b="0" i="0" smtClean="0">
                              <a:latin typeface="Cambria Math" panose="02040503050406030204" pitchFamily="18" charset="0"/>
                            </a:rPr>
                            <m:t>Percentage</m:t>
                          </m:r>
                          <m:r>
                            <a:rPr lang="zh-TW" altLang="en-US" sz="1600" i="1">
                              <a:latin typeface="Cambria Math" panose="02040503050406030204" pitchFamily="18" charset="0"/>
                            </a:rPr>
                            <m:t> </m:t>
                          </m:r>
                          <m:r>
                            <m:rPr>
                              <m:sty m:val="p"/>
                            </m:rPr>
                            <a:rPr lang="en-US" altLang="zh-TW" sz="1600" b="0" i="0" smtClean="0">
                              <a:latin typeface="Cambria Math" panose="02040503050406030204" pitchFamily="18" charset="0"/>
                            </a:rPr>
                            <m:t>count</m:t>
                          </m:r>
                          <m:r>
                            <a:rPr lang="en-US" altLang="zh-TW" sz="1600" b="0" i="1" smtClean="0">
                              <a:latin typeface="Cambria Math" panose="02040503050406030204" pitchFamily="18" charset="0"/>
                            </a:rPr>
                            <m:t>(%)</m:t>
                          </m:r>
                        </m:oMath>
                      </m:oMathPara>
                    </a14:m>
                    <a:endParaRPr lang="zh-TW" altLang="en-US" sz="2000" dirty="0"/>
                  </a:p>
                </p:txBody>
              </p:sp>
            </mc:Choice>
            <mc:Fallback xmlns="">
              <p:sp>
                <p:nvSpPr>
                  <p:cNvPr id="38" name="文字方塊 37">
                    <a:extLst>
                      <a:ext uri="{FF2B5EF4-FFF2-40B4-BE49-F238E27FC236}">
                        <a16:creationId xmlns:a16="http://schemas.microsoft.com/office/drawing/2014/main" id="{BACF366E-8A86-48E7-B656-FA0D777C2587}"/>
                      </a:ext>
                    </a:extLst>
                  </p:cNvPr>
                  <p:cNvSpPr txBox="1">
                    <a:spLocks noRot="1" noChangeAspect="1" noMove="1" noResize="1" noEditPoints="1" noAdjustHandles="1" noChangeArrowheads="1" noChangeShapeType="1" noTextEdit="1"/>
                  </p:cNvSpPr>
                  <p:nvPr/>
                </p:nvSpPr>
                <p:spPr>
                  <a:xfrm rot="16200000">
                    <a:off x="7441895" y="1660083"/>
                    <a:ext cx="1943032" cy="246221"/>
                  </a:xfrm>
                  <a:prstGeom prst="rect">
                    <a:avLst/>
                  </a:prstGeom>
                  <a:blipFill>
                    <a:blip r:embed="rId5"/>
                    <a:stretch>
                      <a:fillRect t="-2194" r="-31707" b="-2194"/>
                    </a:stretch>
                  </a:blipFill>
                </p:spPr>
                <p:txBody>
                  <a:bodyPr/>
                  <a:lstStyle/>
                  <a:p>
                    <a:r>
                      <a:rPr lang="zh-TW" altLang="en-US">
                        <a:noFill/>
                      </a:rPr>
                      <a:t> </a:t>
                    </a:r>
                  </a:p>
                </p:txBody>
              </p:sp>
            </mc:Fallback>
          </mc:AlternateContent>
        </p:grpSp>
      </p:grpSp>
      <p:grpSp>
        <p:nvGrpSpPr>
          <p:cNvPr id="20" name="群組 19">
            <a:extLst>
              <a:ext uri="{FF2B5EF4-FFF2-40B4-BE49-F238E27FC236}">
                <a16:creationId xmlns:a16="http://schemas.microsoft.com/office/drawing/2014/main" id="{3CADBCF9-4A23-4F71-BFF4-FCE678BC8992}"/>
              </a:ext>
            </a:extLst>
          </p:cNvPr>
          <p:cNvGrpSpPr/>
          <p:nvPr/>
        </p:nvGrpSpPr>
        <p:grpSpPr>
          <a:xfrm>
            <a:off x="8716104" y="3530302"/>
            <a:ext cx="3187467" cy="2456450"/>
            <a:chOff x="8445514" y="3721335"/>
            <a:chExt cx="3187467" cy="2456450"/>
          </a:xfrm>
        </p:grpSpPr>
        <p:pic>
          <p:nvPicPr>
            <p:cNvPr id="19" name="圖片 18">
              <a:extLst>
                <a:ext uri="{FF2B5EF4-FFF2-40B4-BE49-F238E27FC236}">
                  <a16:creationId xmlns:a16="http://schemas.microsoft.com/office/drawing/2014/main" id="{204FAE90-D1C7-4DC9-80A7-911AB630659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549208" y="3721335"/>
              <a:ext cx="3083773" cy="2420308"/>
            </a:xfrm>
            <a:prstGeom prst="rect">
              <a:avLst/>
            </a:prstGeom>
          </p:spPr>
        </p:pic>
        <p:grpSp>
          <p:nvGrpSpPr>
            <p:cNvPr id="4" name="群組 3">
              <a:extLst>
                <a:ext uri="{FF2B5EF4-FFF2-40B4-BE49-F238E27FC236}">
                  <a16:creationId xmlns:a16="http://schemas.microsoft.com/office/drawing/2014/main" id="{933C1DEA-2A25-4CD8-B1F2-559B13368157}"/>
                </a:ext>
              </a:extLst>
            </p:cNvPr>
            <p:cNvGrpSpPr/>
            <p:nvPr/>
          </p:nvGrpSpPr>
          <p:grpSpPr>
            <a:xfrm>
              <a:off x="8445514" y="3782124"/>
              <a:ext cx="2890057" cy="2395661"/>
              <a:chOff x="8244845" y="3930845"/>
              <a:chExt cx="2890057" cy="2395661"/>
            </a:xfrm>
          </p:grpSpPr>
          <p:grpSp>
            <p:nvGrpSpPr>
              <p:cNvPr id="27" name="群組 26">
                <a:extLst>
                  <a:ext uri="{FF2B5EF4-FFF2-40B4-BE49-F238E27FC236}">
                    <a16:creationId xmlns:a16="http://schemas.microsoft.com/office/drawing/2014/main" id="{AC662A1D-67BC-4890-A4F8-3F3FC002A9EE}"/>
                  </a:ext>
                </a:extLst>
              </p:cNvPr>
              <p:cNvGrpSpPr/>
              <p:nvPr/>
            </p:nvGrpSpPr>
            <p:grpSpPr>
              <a:xfrm>
                <a:off x="8331004" y="4412505"/>
                <a:ext cx="2803898" cy="1914001"/>
                <a:chOff x="8331004" y="4412505"/>
                <a:chExt cx="2803898" cy="1914001"/>
              </a:xfrm>
            </p:grpSpPr>
            <p:grpSp>
              <p:nvGrpSpPr>
                <p:cNvPr id="23" name="群組 22">
                  <a:extLst>
                    <a:ext uri="{FF2B5EF4-FFF2-40B4-BE49-F238E27FC236}">
                      <a16:creationId xmlns:a16="http://schemas.microsoft.com/office/drawing/2014/main" id="{8A0D190F-A149-479A-B4CF-2466476579D5}"/>
                    </a:ext>
                  </a:extLst>
                </p:cNvPr>
                <p:cNvGrpSpPr/>
                <p:nvPr/>
              </p:nvGrpSpPr>
              <p:grpSpPr>
                <a:xfrm>
                  <a:off x="8331004" y="4412505"/>
                  <a:ext cx="2363085" cy="1909281"/>
                  <a:chOff x="8331004" y="4412505"/>
                  <a:chExt cx="2363085" cy="1909281"/>
                </a:xfrm>
              </p:grpSpPr>
              <p:sp>
                <p:nvSpPr>
                  <p:cNvPr id="32" name="矩形 31">
                    <a:extLst>
                      <a:ext uri="{FF2B5EF4-FFF2-40B4-BE49-F238E27FC236}">
                        <a16:creationId xmlns:a16="http://schemas.microsoft.com/office/drawing/2014/main" id="{121C5590-E60E-40CA-90CE-72EB5B131EAA}"/>
                      </a:ext>
                    </a:extLst>
                  </p:cNvPr>
                  <p:cNvSpPr/>
                  <p:nvPr/>
                </p:nvSpPr>
                <p:spPr>
                  <a:xfrm rot="16200000">
                    <a:off x="7865141" y="4878368"/>
                    <a:ext cx="1092200" cy="16047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33" name="矩形 32">
                    <a:extLst>
                      <a:ext uri="{FF2B5EF4-FFF2-40B4-BE49-F238E27FC236}">
                        <a16:creationId xmlns:a16="http://schemas.microsoft.com/office/drawing/2014/main" id="{28DA81AC-D8F6-40B2-92CE-B56A4FCF8FB1}"/>
                      </a:ext>
                    </a:extLst>
                  </p:cNvPr>
                  <p:cNvSpPr/>
                  <p:nvPr/>
                </p:nvSpPr>
                <p:spPr>
                  <a:xfrm>
                    <a:off x="9429576" y="6117004"/>
                    <a:ext cx="1264513" cy="20478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39" name="文字方塊 38">
                      <a:extLst>
                        <a:ext uri="{FF2B5EF4-FFF2-40B4-BE49-F238E27FC236}">
                          <a16:creationId xmlns:a16="http://schemas.microsoft.com/office/drawing/2014/main" id="{6B367B9D-C1D1-403F-8DEB-C37529FC5139}"/>
                        </a:ext>
                      </a:extLst>
                    </p:cNvPr>
                    <p:cNvSpPr txBox="1"/>
                    <p:nvPr/>
                  </p:nvSpPr>
                  <p:spPr>
                    <a:xfrm>
                      <a:off x="9264518" y="6080285"/>
                      <a:ext cx="1870384" cy="24622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altLang="zh-TW" sz="1600" b="0" i="0" smtClean="0">
                                <a:latin typeface="Cambria Math" panose="02040503050406030204" pitchFamily="18" charset="0"/>
                              </a:rPr>
                              <m:t>Residual</m:t>
                            </m:r>
                            <m:r>
                              <a:rPr lang="en-US" altLang="zh-TW" sz="1600" b="0" i="0" smtClean="0">
                                <a:latin typeface="Cambria Math" panose="02040503050406030204" pitchFamily="18" charset="0"/>
                              </a:rPr>
                              <m:t> </m:t>
                            </m:r>
                            <m:r>
                              <m:rPr>
                                <m:sty m:val="p"/>
                              </m:rPr>
                              <a:rPr lang="en-US" altLang="zh-TW" sz="1600" b="0" i="0" smtClean="0">
                                <a:latin typeface="Cambria Math" panose="02040503050406030204" pitchFamily="18" charset="0"/>
                              </a:rPr>
                              <m:t>error</m:t>
                            </m:r>
                            <m:r>
                              <a:rPr lang="en-US" altLang="zh-TW" sz="1600" b="0" i="0" smtClean="0">
                                <a:latin typeface="Cambria Math" panose="02040503050406030204" pitchFamily="18" charset="0"/>
                              </a:rPr>
                              <m:t> </m:t>
                            </m:r>
                            <m:r>
                              <a:rPr lang="en-US" altLang="zh-TW" sz="1600" b="0" i="1" smtClean="0">
                                <a:latin typeface="Cambria Math" panose="02040503050406030204" pitchFamily="18" charset="0"/>
                              </a:rPr>
                              <m:t>(</m:t>
                            </m:r>
                            <m:r>
                              <a:rPr lang="en-US" altLang="zh-TW" sz="1600" b="0" i="1" smtClean="0">
                                <a:latin typeface="Cambria Math" panose="02040503050406030204" pitchFamily="18" charset="0"/>
                              </a:rPr>
                              <m:t>𝑚𝑇</m:t>
                            </m:r>
                            <m:r>
                              <a:rPr lang="en-US" altLang="zh-TW" sz="1600" b="0" i="1" smtClean="0">
                                <a:latin typeface="Cambria Math" panose="02040503050406030204" pitchFamily="18" charset="0"/>
                              </a:rPr>
                              <m:t>) </m:t>
                            </m:r>
                          </m:oMath>
                        </m:oMathPara>
                      </a14:m>
                      <a:endParaRPr lang="zh-TW" altLang="en-US" sz="2000" dirty="0"/>
                    </a:p>
                  </p:txBody>
                </p:sp>
              </mc:Choice>
              <mc:Fallback xmlns="">
                <p:sp>
                  <p:nvSpPr>
                    <p:cNvPr id="39" name="文字方塊 38">
                      <a:extLst>
                        <a:ext uri="{FF2B5EF4-FFF2-40B4-BE49-F238E27FC236}">
                          <a16:creationId xmlns:a16="http://schemas.microsoft.com/office/drawing/2014/main" id="{6B367B9D-C1D1-403F-8DEB-C37529FC5139}"/>
                        </a:ext>
                      </a:extLst>
                    </p:cNvPr>
                    <p:cNvSpPr txBox="1">
                      <a:spLocks noRot="1" noChangeAspect="1" noMove="1" noResize="1" noEditPoints="1" noAdjustHandles="1" noChangeArrowheads="1" noChangeShapeType="1" noTextEdit="1"/>
                    </p:cNvSpPr>
                    <p:nvPr/>
                  </p:nvSpPr>
                  <p:spPr>
                    <a:xfrm>
                      <a:off x="9264518" y="6080285"/>
                      <a:ext cx="1870384" cy="246221"/>
                    </a:xfrm>
                    <a:prstGeom prst="rect">
                      <a:avLst/>
                    </a:prstGeom>
                    <a:blipFill>
                      <a:blip r:embed="rId7"/>
                      <a:stretch>
                        <a:fillRect l="-2280" r="-1303" b="-32500"/>
                      </a:stretch>
                    </a:blipFill>
                  </p:spPr>
                  <p:txBody>
                    <a:bodyPr/>
                    <a:lstStyle/>
                    <a:p>
                      <a:r>
                        <a:rPr lang="zh-TW" altLang="en-US">
                          <a:noFill/>
                        </a:rPr>
                        <a:t> </a:t>
                      </a:r>
                    </a:p>
                  </p:txBody>
                </p:sp>
              </mc:Fallback>
            </mc:AlternateContent>
          </p:grpSp>
          <mc:AlternateContent xmlns:mc="http://schemas.openxmlformats.org/markup-compatibility/2006" xmlns:a14="http://schemas.microsoft.com/office/drawing/2010/main">
            <mc:Choice Requires="a14">
              <p:sp>
                <p:nvSpPr>
                  <p:cNvPr id="28" name="文字方塊 27">
                    <a:extLst>
                      <a:ext uri="{FF2B5EF4-FFF2-40B4-BE49-F238E27FC236}">
                        <a16:creationId xmlns:a16="http://schemas.microsoft.com/office/drawing/2014/main" id="{9AAFCE20-3EC1-4EF5-886A-490516CB6BF3}"/>
                      </a:ext>
                    </a:extLst>
                  </p:cNvPr>
                  <p:cNvSpPr txBox="1"/>
                  <p:nvPr/>
                </p:nvSpPr>
                <p:spPr>
                  <a:xfrm rot="16200000">
                    <a:off x="7396440" y="4779250"/>
                    <a:ext cx="1943032" cy="24622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altLang="zh-TW" sz="1600" b="0" i="0" smtClean="0">
                              <a:latin typeface="Cambria Math" panose="02040503050406030204" pitchFamily="18" charset="0"/>
                            </a:rPr>
                            <m:t>Percentage</m:t>
                          </m:r>
                          <m:r>
                            <a:rPr lang="zh-TW" altLang="en-US" sz="1600" i="1">
                              <a:latin typeface="Cambria Math" panose="02040503050406030204" pitchFamily="18" charset="0"/>
                            </a:rPr>
                            <m:t> </m:t>
                          </m:r>
                          <m:r>
                            <m:rPr>
                              <m:sty m:val="p"/>
                            </m:rPr>
                            <a:rPr lang="en-US" altLang="zh-TW" sz="1600" b="0" i="0" smtClean="0">
                              <a:latin typeface="Cambria Math" panose="02040503050406030204" pitchFamily="18" charset="0"/>
                            </a:rPr>
                            <m:t>count</m:t>
                          </m:r>
                          <m:r>
                            <a:rPr lang="en-US" altLang="zh-TW" sz="1600" b="0" i="1" smtClean="0">
                              <a:latin typeface="Cambria Math" panose="02040503050406030204" pitchFamily="18" charset="0"/>
                            </a:rPr>
                            <m:t>(%)</m:t>
                          </m:r>
                        </m:oMath>
                      </m:oMathPara>
                    </a14:m>
                    <a:endParaRPr lang="zh-TW" altLang="en-US" sz="2000" dirty="0"/>
                  </a:p>
                </p:txBody>
              </p:sp>
            </mc:Choice>
            <mc:Fallback xmlns="">
              <p:sp>
                <p:nvSpPr>
                  <p:cNvPr id="28" name="文字方塊 27">
                    <a:extLst>
                      <a:ext uri="{FF2B5EF4-FFF2-40B4-BE49-F238E27FC236}">
                        <a16:creationId xmlns:a16="http://schemas.microsoft.com/office/drawing/2014/main" id="{9AAFCE20-3EC1-4EF5-886A-490516CB6BF3}"/>
                      </a:ext>
                    </a:extLst>
                  </p:cNvPr>
                  <p:cNvSpPr txBox="1">
                    <a:spLocks noRot="1" noChangeAspect="1" noMove="1" noResize="1" noEditPoints="1" noAdjustHandles="1" noChangeArrowheads="1" noChangeShapeType="1" noTextEdit="1"/>
                  </p:cNvSpPr>
                  <p:nvPr/>
                </p:nvSpPr>
                <p:spPr>
                  <a:xfrm rot="16200000">
                    <a:off x="7396440" y="4779250"/>
                    <a:ext cx="1943032" cy="246221"/>
                  </a:xfrm>
                  <a:prstGeom prst="rect">
                    <a:avLst/>
                  </a:prstGeom>
                  <a:blipFill>
                    <a:blip r:embed="rId8"/>
                    <a:stretch>
                      <a:fillRect t="-2508" r="-32500" b="-2194"/>
                    </a:stretch>
                  </a:blipFill>
                </p:spPr>
                <p:txBody>
                  <a:bodyPr/>
                  <a:lstStyle/>
                  <a:p>
                    <a:r>
                      <a:rPr lang="zh-TW" altLang="en-US">
                        <a:noFill/>
                      </a:rPr>
                      <a:t> </a:t>
                    </a:r>
                  </a:p>
                </p:txBody>
              </p:sp>
            </mc:Fallback>
          </mc:AlternateContent>
        </p:grpSp>
      </p:grpSp>
      <mc:AlternateContent xmlns:mc="http://schemas.openxmlformats.org/markup-compatibility/2006" xmlns:a14="http://schemas.microsoft.com/office/drawing/2010/main">
        <mc:Choice Requires="a14">
          <p:graphicFrame>
            <p:nvGraphicFramePr>
              <p:cNvPr id="21" name="表格 21">
                <a:extLst>
                  <a:ext uri="{FF2B5EF4-FFF2-40B4-BE49-F238E27FC236}">
                    <a16:creationId xmlns:a16="http://schemas.microsoft.com/office/drawing/2014/main" id="{8650AF4A-7868-4FE8-AAFF-ECABEEB37AD3}"/>
                  </a:ext>
                </a:extLst>
              </p:cNvPr>
              <p:cNvGraphicFramePr>
                <a:graphicFrameLocks noGrp="1"/>
              </p:cNvGraphicFramePr>
              <p:nvPr>
                <p:extLst>
                  <p:ext uri="{D42A27DB-BD31-4B8C-83A1-F6EECF244321}">
                    <p14:modId xmlns:p14="http://schemas.microsoft.com/office/powerpoint/2010/main" val="2530742811"/>
                  </p:ext>
                </p:extLst>
              </p:nvPr>
            </p:nvGraphicFramePr>
            <p:xfrm>
              <a:off x="203708" y="3570579"/>
              <a:ext cx="8310720" cy="1667129"/>
            </p:xfrm>
            <a:graphic>
              <a:graphicData uri="http://schemas.openxmlformats.org/drawingml/2006/table">
                <a:tbl>
                  <a:tblPr firstRow="1" bandRow="1">
                    <a:tableStyleId>{5940675A-B579-460E-94D1-54222C63F5DA}</a:tableStyleId>
                  </a:tblPr>
                  <a:tblGrid>
                    <a:gridCol w="931889">
                      <a:extLst>
                        <a:ext uri="{9D8B030D-6E8A-4147-A177-3AD203B41FA5}">
                          <a16:colId xmlns:a16="http://schemas.microsoft.com/office/drawing/2014/main" val="2220848039"/>
                        </a:ext>
                      </a:extLst>
                    </a:gridCol>
                    <a:gridCol w="896403">
                      <a:extLst>
                        <a:ext uri="{9D8B030D-6E8A-4147-A177-3AD203B41FA5}">
                          <a16:colId xmlns:a16="http://schemas.microsoft.com/office/drawing/2014/main" val="2517592409"/>
                        </a:ext>
                      </a:extLst>
                    </a:gridCol>
                    <a:gridCol w="2590800">
                      <a:extLst>
                        <a:ext uri="{9D8B030D-6E8A-4147-A177-3AD203B41FA5}">
                          <a16:colId xmlns:a16="http://schemas.microsoft.com/office/drawing/2014/main" val="1542711824"/>
                        </a:ext>
                      </a:extLst>
                    </a:gridCol>
                    <a:gridCol w="2167467">
                      <a:extLst>
                        <a:ext uri="{9D8B030D-6E8A-4147-A177-3AD203B41FA5}">
                          <a16:colId xmlns:a16="http://schemas.microsoft.com/office/drawing/2014/main" val="1951294256"/>
                        </a:ext>
                      </a:extLst>
                    </a:gridCol>
                    <a:gridCol w="1724161">
                      <a:extLst>
                        <a:ext uri="{9D8B030D-6E8A-4147-A177-3AD203B41FA5}">
                          <a16:colId xmlns:a16="http://schemas.microsoft.com/office/drawing/2014/main" val="2486765925"/>
                        </a:ext>
                      </a:extLst>
                    </a:gridCol>
                  </a:tblGrid>
                  <a:tr h="370840">
                    <a:tc>
                      <a:txBody>
                        <a:bodyPr/>
                        <a:lstStyle/>
                        <a:p>
                          <a:endParaRPr lang="zh-TW" altLang="en-US" dirty="0"/>
                        </a:p>
                      </a:txBody>
                      <a:tcPr>
                        <a:lnTlToBr w="12700" cap="flat" cmpd="sng" algn="ctr">
                          <a:solidFill>
                            <a:schemeClr val="tx1"/>
                          </a:solidFill>
                          <a:prstDash val="solid"/>
                          <a:round/>
                          <a:headEnd type="none" w="med" len="med"/>
                          <a:tailEnd type="none" w="med" len="med"/>
                        </a:lnTlToBr>
                      </a:tcPr>
                    </a:tc>
                    <a:tc>
                      <a:txBody>
                        <a:bodyPr/>
                        <a:lstStyle/>
                        <a:p>
                          <a:pPr algn="ctr"/>
                          <a14:m>
                            <m:oMathPara xmlns:m="http://schemas.openxmlformats.org/officeDocument/2006/math">
                              <m:oMathParaPr>
                                <m:jc m:val="centerGroup"/>
                              </m:oMathParaPr>
                              <m:oMath xmlns:m="http://schemas.openxmlformats.org/officeDocument/2006/math">
                                <m:sSub>
                                  <m:sSubPr>
                                    <m:ctrlPr>
                                      <a:rPr lang="en-US" altLang="zh-TW" i="1" smtClean="0">
                                        <a:latin typeface="Cambria Math" panose="02040503050406030204" pitchFamily="18" charset="0"/>
                                      </a:rPr>
                                    </m:ctrlPr>
                                  </m:sSubPr>
                                  <m:e>
                                    <m:r>
                                      <a:rPr lang="en-US" altLang="zh-TW" b="0" i="1" smtClean="0">
                                        <a:latin typeface="Cambria Math" panose="02040503050406030204" pitchFamily="18" charset="0"/>
                                      </a:rPr>
                                      <m:t>𝑁</m:t>
                                    </m:r>
                                  </m:e>
                                  <m:sub>
                                    <m:r>
                                      <a:rPr lang="en-US" altLang="zh-TW" b="0" i="1" smtClean="0">
                                        <a:latin typeface="Cambria Math" panose="02040503050406030204" pitchFamily="18" charset="0"/>
                                      </a:rPr>
                                      <m:t>𝑝</m:t>
                                    </m:r>
                                  </m:sub>
                                </m:sSub>
                              </m:oMath>
                            </m:oMathPara>
                          </a14:m>
                          <a:endParaRPr lang="zh-TW" altLang="en-US" dirty="0"/>
                        </a:p>
                      </a:txBody>
                      <a:tcPr/>
                    </a:tc>
                    <a:tc>
                      <a:txBody>
                        <a:bodyPr/>
                        <a:lstStyle/>
                        <a:p>
                          <a:pPr algn="ctr"/>
                          <a:r>
                            <a:rPr lang="en-US" altLang="zh-TW" dirty="0"/>
                            <a:t>Peak value</a:t>
                          </a:r>
                          <a14:m>
                            <m:oMath xmlns:m="http://schemas.openxmlformats.org/officeDocument/2006/math">
                              <m:r>
                                <a:rPr lang="en-US" altLang="zh-TW" b="0" i="1" smtClean="0">
                                  <a:latin typeface="Cambria Math" panose="02040503050406030204" pitchFamily="18" charset="0"/>
                                </a:rPr>
                                <m:t>(</m:t>
                              </m:r>
                              <m:r>
                                <a:rPr lang="en-US" altLang="zh-TW" b="0" i="1" smtClean="0">
                                  <a:latin typeface="Cambria Math" panose="02040503050406030204" pitchFamily="18" charset="0"/>
                                </a:rPr>
                                <m:t>𝑅</m:t>
                              </m:r>
                              <m:r>
                                <a:rPr lang="en-US" altLang="zh-TW" b="0" i="1" smtClean="0">
                                  <a:latin typeface="Cambria Math" panose="02040503050406030204" pitchFamily="18" charset="0"/>
                                  <a:ea typeface="Cambria Math" panose="02040503050406030204" pitchFamily="18" charset="0"/>
                                </a:rPr>
                                <m:t>≤150</m:t>
                              </m:r>
                              <m:r>
                                <a:rPr lang="zh-TW" altLang="en-US" b="0" i="1" smtClean="0">
                                  <a:latin typeface="Cambria Math" panose="02040503050406030204" pitchFamily="18" charset="0"/>
                                  <a:ea typeface="Cambria Math" panose="02040503050406030204" pitchFamily="18" charset="0"/>
                                </a:rPr>
                                <m:t>𝜇</m:t>
                              </m:r>
                              <m:r>
                                <a:rPr lang="en-US" altLang="zh-TW" b="0" i="1" smtClean="0">
                                  <a:latin typeface="Cambria Math" panose="02040503050406030204" pitchFamily="18" charset="0"/>
                                  <a:ea typeface="Cambria Math" panose="02040503050406030204" pitchFamily="18" charset="0"/>
                                </a:rPr>
                                <m:t>𝑚</m:t>
                              </m:r>
                              <m:r>
                                <a:rPr lang="en-US" altLang="zh-TW" b="0" i="1" smtClean="0">
                                  <a:latin typeface="Cambria Math" panose="02040503050406030204" pitchFamily="18" charset="0"/>
                                  <a:ea typeface="Cambria Math" panose="02040503050406030204" pitchFamily="18" charset="0"/>
                                </a:rPr>
                                <m:t>)</m:t>
                              </m:r>
                            </m:oMath>
                          </a14:m>
                          <a:endParaRPr lang="zh-TW" altLang="en-US" dirty="0"/>
                        </a:p>
                      </a:txBody>
                      <a:tcPr/>
                    </a:tc>
                    <a:tc>
                      <a:txBody>
                        <a:bodyPr/>
                        <a:lstStyle/>
                        <a:p>
                          <a:pPr/>
                          <a14:m>
                            <m:oMathPara xmlns:m="http://schemas.openxmlformats.org/officeDocument/2006/math">
                              <m:oMathParaPr>
                                <m:jc m:val="centerGroup"/>
                              </m:oMathParaPr>
                              <m:oMath xmlns:m="http://schemas.openxmlformats.org/officeDocument/2006/math">
                                <m:r>
                                  <m:rPr>
                                    <m:sty m:val="p"/>
                                  </m:rPr>
                                  <a:rPr lang="en-US" altLang="zh-TW" sz="1800" b="0" i="0" smtClean="0">
                                    <a:latin typeface="Cambria Math" panose="02040503050406030204" pitchFamily="18" charset="0"/>
                                    <a:ea typeface="Cambria Math" panose="02040503050406030204" pitchFamily="18" charset="0"/>
                                  </a:rPr>
                                  <m:t>Average</m:t>
                                </m:r>
                                <m:r>
                                  <a:rPr lang="en-US" altLang="zh-TW" sz="1800" b="0" i="0" smtClean="0">
                                    <a:latin typeface="Cambria Math" panose="02040503050406030204" pitchFamily="18" charset="0"/>
                                    <a:ea typeface="Cambria Math" panose="02040503050406030204" pitchFamily="18" charset="0"/>
                                  </a:rPr>
                                  <m:t> </m:t>
                                </m:r>
                                <m:r>
                                  <m:rPr>
                                    <m:sty m:val="p"/>
                                  </m:rPr>
                                  <a:rPr lang="en-US" altLang="zh-TW" sz="1800" b="0" i="0" smtClean="0">
                                    <a:latin typeface="Cambria Math" panose="02040503050406030204" pitchFamily="18" charset="0"/>
                                    <a:ea typeface="Cambria Math" panose="02040503050406030204" pitchFamily="18" charset="0"/>
                                  </a:rPr>
                                  <m:t>field</m:t>
                                </m:r>
                              </m:oMath>
                            </m:oMathPara>
                          </a14:m>
                          <a:endParaRPr lang="zh-TW" altLang="en-US" i="0" dirty="0"/>
                        </a:p>
                      </a:txBody>
                      <a:tcPr/>
                    </a:tc>
                    <a:tc>
                      <a:txBody>
                        <a:bodyPr/>
                        <a:lstStyle/>
                        <a:p>
                          <a:pPr algn="ctr"/>
                          <a:r>
                            <a:rPr lang="en-US" altLang="zh-TW" i="0" dirty="0"/>
                            <a:t>Mean error</a:t>
                          </a:r>
                          <a:endParaRPr lang="zh-TW" altLang="en-US" i="0" dirty="0"/>
                        </a:p>
                      </a:txBody>
                      <a:tcPr/>
                    </a:tc>
                    <a:extLst>
                      <a:ext uri="{0D108BD9-81ED-4DB2-BD59-A6C34878D82A}">
                        <a16:rowId xmlns:a16="http://schemas.microsoft.com/office/drawing/2014/main" val="3860471253"/>
                      </a:ext>
                    </a:extLst>
                  </a:tr>
                  <a:tr h="370840">
                    <a:tc>
                      <a:txBody>
                        <a:bodyPr/>
                        <a:lstStyle/>
                        <a:p>
                          <a:r>
                            <a:rPr lang="en-US" altLang="zh-TW" dirty="0"/>
                            <a:t>Top figure</a:t>
                          </a:r>
                          <a:endParaRPr lang="zh-TW" altLang="en-US" dirty="0"/>
                        </a:p>
                      </a:txBody>
                      <a:tcPr/>
                    </a:tc>
                    <a:tc>
                      <a:txBody>
                        <a:bodyPr/>
                        <a:lstStyle/>
                        <a:p>
                          <a:pPr algn="ctr"/>
                          <a:r>
                            <a:rPr lang="en-US" altLang="zh-TW" dirty="0"/>
                            <a:t>1771</a:t>
                          </a:r>
                          <a:endParaRPr lang="zh-TW" altLang="en-US" dirty="0"/>
                        </a:p>
                      </a:txBody>
                      <a:tcPr/>
                    </a:tc>
                    <a:tc>
                      <a:txBody>
                        <a:bodyPr/>
                        <a:lstStyle/>
                        <a:p>
                          <a:pPr algn="ctr"/>
                          <a:r>
                            <a:rPr lang="en-US" altLang="zh-TW" dirty="0"/>
                            <a:t>7.9804%</a:t>
                          </a:r>
                          <a:endParaRPr lang="zh-TW" altLang="en-US" dirty="0"/>
                        </a:p>
                      </a:txBody>
                      <a:tcPr/>
                    </a:tc>
                    <a:tc>
                      <a:txBody>
                        <a:bodyPr/>
                        <a:lstStyle/>
                        <a:p>
                          <a:pPr algn="ctr"/>
                          <a:r>
                            <a:rPr lang="en-US" altLang="zh-TW" dirty="0"/>
                            <a:t>10.2452mT</a:t>
                          </a:r>
                          <a:endParaRPr lang="zh-TW" altLang="en-US" dirty="0"/>
                        </a:p>
                      </a:txBody>
                      <a:tcPr/>
                    </a:tc>
                    <a:tc>
                      <a:txBody>
                        <a:bodyPr/>
                        <a:lstStyle/>
                        <a:p>
                          <a:pPr algn="ctr"/>
                          <a:r>
                            <a:rPr lang="en-US" altLang="zh-TW" dirty="0"/>
                            <a:t>0.0277mT</a:t>
                          </a:r>
                          <a:endParaRPr lang="zh-TW" altLang="en-US" dirty="0"/>
                        </a:p>
                      </a:txBody>
                      <a:tcPr/>
                    </a:tc>
                    <a:extLst>
                      <a:ext uri="{0D108BD9-81ED-4DB2-BD59-A6C34878D82A}">
                        <a16:rowId xmlns:a16="http://schemas.microsoft.com/office/drawing/2014/main" val="142448062"/>
                      </a:ext>
                    </a:extLst>
                  </a:tr>
                  <a:tr h="370840">
                    <a:tc>
                      <a:txBody>
                        <a:bodyPr/>
                        <a:lstStyle/>
                        <a:p>
                          <a:r>
                            <a:rPr lang="en-US" altLang="zh-TW" dirty="0"/>
                            <a:t>Bottom figure</a:t>
                          </a:r>
                          <a:endParaRPr lang="zh-TW" altLang="en-US" dirty="0"/>
                        </a:p>
                      </a:txBody>
                      <a:tcPr/>
                    </a:tc>
                    <a:tc>
                      <a:txBody>
                        <a:bodyPr/>
                        <a:lstStyle/>
                        <a:p>
                          <a:pPr algn="ctr"/>
                          <a:r>
                            <a:rPr lang="en-US" altLang="zh-TW" dirty="0"/>
                            <a:t>14082</a:t>
                          </a:r>
                          <a:endParaRPr lang="zh-TW" altLang="en-US" dirty="0"/>
                        </a:p>
                      </a:txBody>
                      <a:tcPr/>
                    </a:tc>
                    <a:tc>
                      <a:txBody>
                        <a:bodyPr/>
                        <a:lstStyle/>
                        <a:p>
                          <a:pPr algn="ctr"/>
                          <a:r>
                            <a:rPr lang="en-US" altLang="zh-TW" dirty="0"/>
                            <a:t>0.7326%</a:t>
                          </a:r>
                          <a:endParaRPr lang="zh-TW" altLang="en-US" dirty="0"/>
                        </a:p>
                      </a:txBody>
                      <a:tcPr/>
                    </a:tc>
                    <a:tc>
                      <a:txBody>
                        <a:bodyPr/>
                        <a:lstStyle/>
                        <a:p>
                          <a:pPr algn="ctr"/>
                          <a:r>
                            <a:rPr lang="en-US" altLang="zh-TW" dirty="0"/>
                            <a:t>10.4684mT</a:t>
                          </a:r>
                          <a:endParaRPr lang="zh-TW" altLang="en-US" dirty="0"/>
                        </a:p>
                      </a:txBody>
                      <a:tcPr/>
                    </a:tc>
                    <a:tc>
                      <a:txBody>
                        <a:bodyPr/>
                        <a:lstStyle/>
                        <a:p>
                          <a:pPr algn="ctr"/>
                          <a:r>
                            <a:rPr lang="en-US" altLang="zh-TW" dirty="0"/>
                            <a:t>0.0441mT</a:t>
                          </a:r>
                          <a:endParaRPr lang="zh-TW" altLang="en-US" dirty="0"/>
                        </a:p>
                      </a:txBody>
                      <a:tcPr/>
                    </a:tc>
                    <a:extLst>
                      <a:ext uri="{0D108BD9-81ED-4DB2-BD59-A6C34878D82A}">
                        <a16:rowId xmlns:a16="http://schemas.microsoft.com/office/drawing/2014/main" val="1327120116"/>
                      </a:ext>
                    </a:extLst>
                  </a:tr>
                </a:tbl>
              </a:graphicData>
            </a:graphic>
          </p:graphicFrame>
        </mc:Choice>
        <mc:Fallback xmlns="">
          <p:graphicFrame>
            <p:nvGraphicFramePr>
              <p:cNvPr id="21" name="表格 21">
                <a:extLst>
                  <a:ext uri="{FF2B5EF4-FFF2-40B4-BE49-F238E27FC236}">
                    <a16:creationId xmlns:a16="http://schemas.microsoft.com/office/drawing/2014/main" id="{8650AF4A-7868-4FE8-AAFF-ECABEEB37AD3}"/>
                  </a:ext>
                </a:extLst>
              </p:cNvPr>
              <p:cNvGraphicFramePr>
                <a:graphicFrameLocks noGrp="1"/>
              </p:cNvGraphicFramePr>
              <p:nvPr>
                <p:extLst>
                  <p:ext uri="{D42A27DB-BD31-4B8C-83A1-F6EECF244321}">
                    <p14:modId xmlns:p14="http://schemas.microsoft.com/office/powerpoint/2010/main" val="2530742811"/>
                  </p:ext>
                </p:extLst>
              </p:nvPr>
            </p:nvGraphicFramePr>
            <p:xfrm>
              <a:off x="203708" y="3570579"/>
              <a:ext cx="8310720" cy="1667129"/>
            </p:xfrm>
            <a:graphic>
              <a:graphicData uri="http://schemas.openxmlformats.org/drawingml/2006/table">
                <a:tbl>
                  <a:tblPr firstRow="1" bandRow="1">
                    <a:tableStyleId>{5940675A-B579-460E-94D1-54222C63F5DA}</a:tableStyleId>
                  </a:tblPr>
                  <a:tblGrid>
                    <a:gridCol w="931889">
                      <a:extLst>
                        <a:ext uri="{9D8B030D-6E8A-4147-A177-3AD203B41FA5}">
                          <a16:colId xmlns:a16="http://schemas.microsoft.com/office/drawing/2014/main" val="2220848039"/>
                        </a:ext>
                      </a:extLst>
                    </a:gridCol>
                    <a:gridCol w="896403">
                      <a:extLst>
                        <a:ext uri="{9D8B030D-6E8A-4147-A177-3AD203B41FA5}">
                          <a16:colId xmlns:a16="http://schemas.microsoft.com/office/drawing/2014/main" val="2517592409"/>
                        </a:ext>
                      </a:extLst>
                    </a:gridCol>
                    <a:gridCol w="2590800">
                      <a:extLst>
                        <a:ext uri="{9D8B030D-6E8A-4147-A177-3AD203B41FA5}">
                          <a16:colId xmlns:a16="http://schemas.microsoft.com/office/drawing/2014/main" val="1542711824"/>
                        </a:ext>
                      </a:extLst>
                    </a:gridCol>
                    <a:gridCol w="2167467">
                      <a:extLst>
                        <a:ext uri="{9D8B030D-6E8A-4147-A177-3AD203B41FA5}">
                          <a16:colId xmlns:a16="http://schemas.microsoft.com/office/drawing/2014/main" val="1951294256"/>
                        </a:ext>
                      </a:extLst>
                    </a:gridCol>
                    <a:gridCol w="1724161">
                      <a:extLst>
                        <a:ext uri="{9D8B030D-6E8A-4147-A177-3AD203B41FA5}">
                          <a16:colId xmlns:a16="http://schemas.microsoft.com/office/drawing/2014/main" val="2486765925"/>
                        </a:ext>
                      </a:extLst>
                    </a:gridCol>
                  </a:tblGrid>
                  <a:tr h="386969">
                    <a:tc>
                      <a:txBody>
                        <a:bodyPr/>
                        <a:lstStyle/>
                        <a:p>
                          <a:endParaRPr lang="zh-TW" altLang="en-US" dirty="0"/>
                        </a:p>
                      </a:txBody>
                      <a:tcPr>
                        <a:lnTlToBr w="12700" cap="flat" cmpd="sng" algn="ctr">
                          <a:solidFill>
                            <a:schemeClr val="tx1"/>
                          </a:solidFill>
                          <a:prstDash val="solid"/>
                          <a:round/>
                          <a:headEnd type="none" w="med" len="med"/>
                          <a:tailEnd type="none" w="med" len="med"/>
                        </a:lnTlToBr>
                      </a:tcPr>
                    </a:tc>
                    <a:tc>
                      <a:txBody>
                        <a:bodyPr/>
                        <a:lstStyle/>
                        <a:p>
                          <a:endParaRPr lang="zh-TW"/>
                        </a:p>
                      </a:txBody>
                      <a:tcPr>
                        <a:blipFill>
                          <a:blip r:embed="rId9"/>
                          <a:stretch>
                            <a:fillRect l="-104762" t="-7813" r="-725170" b="-353125"/>
                          </a:stretch>
                        </a:blipFill>
                      </a:tcPr>
                    </a:tc>
                    <a:tc>
                      <a:txBody>
                        <a:bodyPr/>
                        <a:lstStyle/>
                        <a:p>
                          <a:endParaRPr lang="zh-TW"/>
                        </a:p>
                      </a:txBody>
                      <a:tcPr>
                        <a:blipFill>
                          <a:blip r:embed="rId9"/>
                          <a:stretch>
                            <a:fillRect l="-70824" t="-7813" r="-150824" b="-353125"/>
                          </a:stretch>
                        </a:blipFill>
                      </a:tcPr>
                    </a:tc>
                    <a:tc>
                      <a:txBody>
                        <a:bodyPr/>
                        <a:lstStyle/>
                        <a:p>
                          <a:endParaRPr lang="zh-TW"/>
                        </a:p>
                      </a:txBody>
                      <a:tcPr>
                        <a:blipFill>
                          <a:blip r:embed="rId9"/>
                          <a:stretch>
                            <a:fillRect l="-203933" t="-7813" r="-80056" b="-353125"/>
                          </a:stretch>
                        </a:blipFill>
                      </a:tcPr>
                    </a:tc>
                    <a:tc>
                      <a:txBody>
                        <a:bodyPr/>
                        <a:lstStyle/>
                        <a:p>
                          <a:pPr algn="ctr"/>
                          <a:r>
                            <a:rPr lang="en-US" altLang="zh-TW" i="0" dirty="0"/>
                            <a:t>Mean error</a:t>
                          </a:r>
                          <a:endParaRPr lang="zh-TW" altLang="en-US" i="0" dirty="0"/>
                        </a:p>
                      </a:txBody>
                      <a:tcPr/>
                    </a:tc>
                    <a:extLst>
                      <a:ext uri="{0D108BD9-81ED-4DB2-BD59-A6C34878D82A}">
                        <a16:rowId xmlns:a16="http://schemas.microsoft.com/office/drawing/2014/main" val="3860471253"/>
                      </a:ext>
                    </a:extLst>
                  </a:tr>
                  <a:tr h="640080">
                    <a:tc>
                      <a:txBody>
                        <a:bodyPr/>
                        <a:lstStyle/>
                        <a:p>
                          <a:r>
                            <a:rPr lang="en-US" altLang="zh-TW" dirty="0"/>
                            <a:t>Top figure</a:t>
                          </a:r>
                          <a:endParaRPr lang="zh-TW" altLang="en-US" dirty="0"/>
                        </a:p>
                      </a:txBody>
                      <a:tcPr/>
                    </a:tc>
                    <a:tc>
                      <a:txBody>
                        <a:bodyPr/>
                        <a:lstStyle/>
                        <a:p>
                          <a:pPr algn="ctr"/>
                          <a:r>
                            <a:rPr lang="en-US" altLang="zh-TW" dirty="0"/>
                            <a:t>1771</a:t>
                          </a:r>
                          <a:endParaRPr lang="zh-TW" altLang="en-US" dirty="0"/>
                        </a:p>
                      </a:txBody>
                      <a:tcPr/>
                    </a:tc>
                    <a:tc>
                      <a:txBody>
                        <a:bodyPr/>
                        <a:lstStyle/>
                        <a:p>
                          <a:pPr algn="ctr"/>
                          <a:r>
                            <a:rPr lang="en-US" altLang="zh-TW" dirty="0"/>
                            <a:t>7.9804%</a:t>
                          </a:r>
                          <a:endParaRPr lang="zh-TW" altLang="en-US" dirty="0"/>
                        </a:p>
                      </a:txBody>
                      <a:tcPr/>
                    </a:tc>
                    <a:tc>
                      <a:txBody>
                        <a:bodyPr/>
                        <a:lstStyle/>
                        <a:p>
                          <a:pPr algn="ctr"/>
                          <a:r>
                            <a:rPr lang="en-US" altLang="zh-TW" dirty="0"/>
                            <a:t>10.2452mT</a:t>
                          </a:r>
                          <a:endParaRPr lang="zh-TW" altLang="en-US" dirty="0"/>
                        </a:p>
                      </a:txBody>
                      <a:tcPr/>
                    </a:tc>
                    <a:tc>
                      <a:txBody>
                        <a:bodyPr/>
                        <a:lstStyle/>
                        <a:p>
                          <a:pPr algn="ctr"/>
                          <a:r>
                            <a:rPr lang="en-US" altLang="zh-TW" dirty="0"/>
                            <a:t>0.0277mT</a:t>
                          </a:r>
                          <a:endParaRPr lang="zh-TW" altLang="en-US" dirty="0"/>
                        </a:p>
                      </a:txBody>
                      <a:tcPr/>
                    </a:tc>
                    <a:extLst>
                      <a:ext uri="{0D108BD9-81ED-4DB2-BD59-A6C34878D82A}">
                        <a16:rowId xmlns:a16="http://schemas.microsoft.com/office/drawing/2014/main" val="142448062"/>
                      </a:ext>
                    </a:extLst>
                  </a:tr>
                  <a:tr h="640080">
                    <a:tc>
                      <a:txBody>
                        <a:bodyPr/>
                        <a:lstStyle/>
                        <a:p>
                          <a:r>
                            <a:rPr lang="en-US" altLang="zh-TW" dirty="0"/>
                            <a:t>Bottom figure</a:t>
                          </a:r>
                          <a:endParaRPr lang="zh-TW" altLang="en-US" dirty="0"/>
                        </a:p>
                      </a:txBody>
                      <a:tcPr/>
                    </a:tc>
                    <a:tc>
                      <a:txBody>
                        <a:bodyPr/>
                        <a:lstStyle/>
                        <a:p>
                          <a:pPr algn="ctr"/>
                          <a:r>
                            <a:rPr lang="en-US" altLang="zh-TW" dirty="0"/>
                            <a:t>14082</a:t>
                          </a:r>
                          <a:endParaRPr lang="zh-TW" altLang="en-US" dirty="0"/>
                        </a:p>
                      </a:txBody>
                      <a:tcPr/>
                    </a:tc>
                    <a:tc>
                      <a:txBody>
                        <a:bodyPr/>
                        <a:lstStyle/>
                        <a:p>
                          <a:pPr algn="ctr"/>
                          <a:r>
                            <a:rPr lang="en-US" altLang="zh-TW" dirty="0"/>
                            <a:t>0.7326%</a:t>
                          </a:r>
                          <a:endParaRPr lang="zh-TW" altLang="en-US" dirty="0"/>
                        </a:p>
                      </a:txBody>
                      <a:tcPr/>
                    </a:tc>
                    <a:tc>
                      <a:txBody>
                        <a:bodyPr/>
                        <a:lstStyle/>
                        <a:p>
                          <a:pPr algn="ctr"/>
                          <a:r>
                            <a:rPr lang="en-US" altLang="zh-TW" dirty="0"/>
                            <a:t>10.4684mT</a:t>
                          </a:r>
                          <a:endParaRPr lang="zh-TW" altLang="en-US" dirty="0"/>
                        </a:p>
                      </a:txBody>
                      <a:tcPr/>
                    </a:tc>
                    <a:tc>
                      <a:txBody>
                        <a:bodyPr/>
                        <a:lstStyle/>
                        <a:p>
                          <a:pPr algn="ctr"/>
                          <a:r>
                            <a:rPr lang="en-US" altLang="zh-TW" dirty="0"/>
                            <a:t>0.0441mT</a:t>
                          </a:r>
                          <a:endParaRPr lang="zh-TW" altLang="en-US" dirty="0"/>
                        </a:p>
                      </a:txBody>
                      <a:tcPr/>
                    </a:tc>
                    <a:extLst>
                      <a:ext uri="{0D108BD9-81ED-4DB2-BD59-A6C34878D82A}">
                        <a16:rowId xmlns:a16="http://schemas.microsoft.com/office/drawing/2014/main" val="1327120116"/>
                      </a:ext>
                    </a:extLst>
                  </a:tr>
                </a:tbl>
              </a:graphicData>
            </a:graphic>
          </p:graphicFrame>
        </mc:Fallback>
      </mc:AlternateContent>
      <mc:AlternateContent xmlns:mc="http://schemas.openxmlformats.org/markup-compatibility/2006" xmlns:a14="http://schemas.microsoft.com/office/drawing/2010/main">
        <mc:Choice Requires="a14">
          <p:sp>
            <p:nvSpPr>
              <p:cNvPr id="22" name="文字方塊 21">
                <a:extLst>
                  <a:ext uri="{FF2B5EF4-FFF2-40B4-BE49-F238E27FC236}">
                    <a16:creationId xmlns:a16="http://schemas.microsoft.com/office/drawing/2014/main" id="{4DE95F52-EE17-4F7F-8E9E-EA06983672A7}"/>
                  </a:ext>
                </a:extLst>
              </p:cNvPr>
              <p:cNvSpPr txBox="1"/>
              <p:nvPr/>
            </p:nvSpPr>
            <p:spPr>
              <a:xfrm>
                <a:off x="149923" y="5326442"/>
                <a:ext cx="3078535" cy="107439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en-US" altLang="zh-TW" i="1" smtClean="0">
                              <a:latin typeface="Cambria Math" panose="02040503050406030204" pitchFamily="18" charset="0"/>
                            </a:rPr>
                          </m:ctrlPr>
                        </m:fPr>
                        <m:num>
                          <m:r>
                            <a:rPr lang="en-US" altLang="zh-TW" b="0" i="1" smtClean="0">
                              <a:latin typeface="Cambria Math" panose="02040503050406030204" pitchFamily="18" charset="0"/>
                            </a:rPr>
                            <m:t>14082</m:t>
                          </m:r>
                        </m:num>
                        <m:den>
                          <m:r>
                            <a:rPr lang="en-US" altLang="zh-TW" b="0" i="1" smtClean="0">
                              <a:latin typeface="Cambria Math" panose="02040503050406030204" pitchFamily="18" charset="0"/>
                            </a:rPr>
                            <m:t>1771</m:t>
                          </m:r>
                        </m:den>
                      </m:f>
                      <m:r>
                        <a:rPr lang="en-US" altLang="zh-TW" b="0" i="1" smtClean="0">
                          <a:latin typeface="Cambria Math" panose="02040503050406030204" pitchFamily="18" charset="0"/>
                        </a:rPr>
                        <m:t>=7.95  ,</m:t>
                      </m:r>
                      <m:f>
                        <m:fPr>
                          <m:ctrlPr>
                            <a:rPr lang="en-US" altLang="zh-TW" b="0" i="1" smtClean="0">
                              <a:latin typeface="Cambria Math" panose="02040503050406030204" pitchFamily="18" charset="0"/>
                            </a:rPr>
                          </m:ctrlPr>
                        </m:fPr>
                        <m:num>
                          <m:r>
                            <a:rPr lang="en-US" altLang="zh-TW" b="0" i="1" smtClean="0">
                              <a:latin typeface="Cambria Math" panose="02040503050406030204" pitchFamily="18" charset="0"/>
                            </a:rPr>
                            <m:t>7.9804</m:t>
                          </m:r>
                        </m:num>
                        <m:den>
                          <m:r>
                            <a:rPr lang="en-US" altLang="zh-TW" b="0" i="1" smtClean="0">
                              <a:latin typeface="Cambria Math" panose="02040503050406030204" pitchFamily="18" charset="0"/>
                            </a:rPr>
                            <m:t>0.7326</m:t>
                          </m:r>
                        </m:den>
                      </m:f>
                      <m:r>
                        <a:rPr lang="en-US" altLang="zh-TW" b="0" i="1" smtClean="0">
                          <a:latin typeface="Cambria Math" panose="02040503050406030204" pitchFamily="18" charset="0"/>
                        </a:rPr>
                        <m:t>=10.9</m:t>
                      </m:r>
                    </m:oMath>
                  </m:oMathPara>
                </a14:m>
                <a:endParaRPr lang="en-US" altLang="zh-TW" b="0" dirty="0"/>
              </a:p>
              <a:p>
                <a:endParaRPr lang="en-US" altLang="zh-TW" dirty="0"/>
              </a:p>
              <a:p>
                <a:endParaRPr lang="zh-TW" altLang="en-US" dirty="0"/>
              </a:p>
            </p:txBody>
          </p:sp>
        </mc:Choice>
        <mc:Fallback xmlns="">
          <p:sp>
            <p:nvSpPr>
              <p:cNvPr id="22" name="文字方塊 21">
                <a:extLst>
                  <a:ext uri="{FF2B5EF4-FFF2-40B4-BE49-F238E27FC236}">
                    <a16:creationId xmlns:a16="http://schemas.microsoft.com/office/drawing/2014/main" id="{4DE95F52-EE17-4F7F-8E9E-EA06983672A7}"/>
                  </a:ext>
                </a:extLst>
              </p:cNvPr>
              <p:cNvSpPr txBox="1">
                <a:spLocks noRot="1" noChangeAspect="1" noMove="1" noResize="1" noEditPoints="1" noAdjustHandles="1" noChangeArrowheads="1" noChangeShapeType="1" noTextEdit="1"/>
              </p:cNvSpPr>
              <p:nvPr/>
            </p:nvSpPr>
            <p:spPr>
              <a:xfrm>
                <a:off x="149923" y="5326442"/>
                <a:ext cx="3078535" cy="1074397"/>
              </a:xfrm>
              <a:prstGeom prst="rect">
                <a:avLst/>
              </a:prstGeom>
              <a:blipFill>
                <a:blip r:embed="rId10"/>
                <a:stretch>
                  <a:fillRect/>
                </a:stretch>
              </a:blipFill>
            </p:spPr>
            <p:txBody>
              <a:bodyPr/>
              <a:lstStyle/>
              <a:p>
                <a:r>
                  <a:rPr lang="zh-TW" altLang="en-US">
                    <a:noFill/>
                  </a:rPr>
                  <a:t> </a:t>
                </a:r>
              </a:p>
            </p:txBody>
          </p:sp>
        </mc:Fallback>
      </mc:AlternateContent>
      <p:sp>
        <p:nvSpPr>
          <p:cNvPr id="41" name="文字方塊 40">
            <a:extLst>
              <a:ext uri="{FF2B5EF4-FFF2-40B4-BE49-F238E27FC236}">
                <a16:creationId xmlns:a16="http://schemas.microsoft.com/office/drawing/2014/main" id="{637BCB09-25D3-4AAB-A541-35EC44243A85}"/>
              </a:ext>
            </a:extLst>
          </p:cNvPr>
          <p:cNvSpPr txBox="1"/>
          <p:nvPr/>
        </p:nvSpPr>
        <p:spPr>
          <a:xfrm>
            <a:off x="66211" y="5888239"/>
            <a:ext cx="8419886" cy="923330"/>
          </a:xfrm>
          <a:prstGeom prst="rect">
            <a:avLst/>
          </a:prstGeom>
          <a:noFill/>
        </p:spPr>
        <p:txBody>
          <a:bodyPr wrap="square">
            <a:spAutoFit/>
          </a:bodyPr>
          <a:lstStyle/>
          <a:p>
            <a:r>
              <a:rPr lang="en-US" altLang="zh-TW" dirty="0"/>
              <a:t>Under the condition of equal area, a peak height that is 1.37 times lower is equivalent to an effective distribution width that is 1.37 times wider (48.07 vs. 35.09 µT). This difference arises from the use of different calibration models.</a:t>
            </a:r>
            <a:endParaRPr lang="zh-TW" altLang="en-US" dirty="0"/>
          </a:p>
        </p:txBody>
      </p:sp>
    </p:spTree>
    <p:extLst>
      <p:ext uri="{BB962C8B-B14F-4D97-AF65-F5344CB8AC3E}">
        <p14:creationId xmlns:p14="http://schemas.microsoft.com/office/powerpoint/2010/main" val="30565722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0" name="文字方塊 39">
            <a:extLst>
              <a:ext uri="{FF2B5EF4-FFF2-40B4-BE49-F238E27FC236}">
                <a16:creationId xmlns:a16="http://schemas.microsoft.com/office/drawing/2014/main" id="{B1E82766-E1D8-4AA6-A2B9-6AEA170385C0}"/>
              </a:ext>
            </a:extLst>
          </p:cNvPr>
          <p:cNvSpPr txBox="1"/>
          <p:nvPr/>
        </p:nvSpPr>
        <p:spPr>
          <a:xfrm>
            <a:off x="0" y="324377"/>
            <a:ext cx="6324600" cy="390684"/>
          </a:xfrm>
          <a:prstGeom prst="rect">
            <a:avLst/>
          </a:prstGeom>
          <a:noFill/>
        </p:spPr>
        <p:txBody>
          <a:bodyPr wrap="square" rtlCol="0">
            <a:spAutoFit/>
          </a:bodyPr>
          <a:lstStyle/>
          <a:p>
            <a:pPr>
              <a:lnSpc>
                <a:spcPct val="115000"/>
              </a:lnSpc>
              <a:spcAft>
                <a:spcPts val="800"/>
              </a:spcAft>
            </a:pPr>
            <a:r>
              <a:rPr lang="en-US" altLang="zh-TW"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E</a:t>
            </a:r>
            <a:r>
              <a:rPr lang="en-US" altLang="zh-TW"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 </a:t>
            </a:r>
            <a:r>
              <a:rPr lang="en-US" altLang="zh-TW" i="1"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Validation</a:t>
            </a:r>
            <a:endParaRPr lang="zh-TW" altLang="zh-TW" kern="100" dirty="0">
              <a:effectLst/>
              <a:latin typeface="Aptos"/>
              <a:ea typeface="新細明體" panose="02020500000000000000" pitchFamily="18" charset="-120"/>
              <a:cs typeface="Times New Roman" panose="02020603050405020304" pitchFamily="18" charset="0"/>
            </a:endParaRPr>
          </a:p>
        </p:txBody>
      </p:sp>
      <p:sp>
        <p:nvSpPr>
          <p:cNvPr id="19" name="文字方塊 18">
            <a:extLst>
              <a:ext uri="{FF2B5EF4-FFF2-40B4-BE49-F238E27FC236}">
                <a16:creationId xmlns:a16="http://schemas.microsoft.com/office/drawing/2014/main" id="{7AEE1245-C1D7-468D-B66E-D359C98E02EC}"/>
              </a:ext>
            </a:extLst>
          </p:cNvPr>
          <p:cNvSpPr txBox="1"/>
          <p:nvPr/>
        </p:nvSpPr>
        <p:spPr>
          <a:xfrm>
            <a:off x="6885600" y="840717"/>
            <a:ext cx="5384798" cy="4801314"/>
          </a:xfrm>
          <a:prstGeom prst="rect">
            <a:avLst/>
          </a:prstGeom>
          <a:noFill/>
        </p:spPr>
        <p:txBody>
          <a:bodyPr wrap="square" rtlCol="0">
            <a:spAutoFit/>
          </a:bodyPr>
          <a:lstStyle/>
          <a:p>
            <a:pPr marL="285750" indent="-285750">
              <a:buFont typeface="Arial" panose="020B0604020202020204" pitchFamily="34" charset="0"/>
              <a:buChar char="•"/>
            </a:pPr>
            <a:r>
              <a:rPr lang="en-US" altLang="zh-TW" dirty="0"/>
              <a:t>These two figures show the differences in the calibrated magnetic charge locations between the two models. The upper row presents the magnetic charge locations calibrated by the one-parameter model, shown using side views of poles P1 and P2. It can be clearly seen that, for the lower pole, some of the magnetic charge locations are located outside the pole. This is because the one-parameter model constrains the magnetic charges to lie along the actuator coordinate axes. The lower row presents the results of the eighteen-parameter model, in which the magnetic charge locations of the lower pole move inside the pole. This is more consistent with the expected physical situation. Moreover, the error histograms shown above also indicate that these magnetic charge locations are more consistent with the theoretical positions.</a:t>
            </a:r>
            <a:endParaRPr lang="zh-TW" altLang="en-US" dirty="0"/>
          </a:p>
        </p:txBody>
      </p:sp>
      <mc:AlternateContent xmlns:mc="http://schemas.openxmlformats.org/markup-compatibility/2006" xmlns:a14="http://schemas.microsoft.com/office/drawing/2010/main">
        <mc:Choice Requires="a14">
          <p:sp>
            <p:nvSpPr>
              <p:cNvPr id="29" name="文字方塊 28">
                <a:extLst>
                  <a:ext uri="{FF2B5EF4-FFF2-40B4-BE49-F238E27FC236}">
                    <a16:creationId xmlns:a16="http://schemas.microsoft.com/office/drawing/2014/main" id="{89A87B67-4717-4362-98CB-9141ED7DCE5C}"/>
                  </a:ext>
                </a:extLst>
              </p:cNvPr>
              <p:cNvSpPr txBox="1"/>
              <p:nvPr/>
            </p:nvSpPr>
            <p:spPr>
              <a:xfrm>
                <a:off x="8217453" y="423838"/>
                <a:ext cx="3564053" cy="3215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𝐶𝑎𝑙𝑖𝑏𝑟𝑎𝑡𝑒</m:t>
                      </m:r>
                      <m:r>
                        <a:rPr lang="en-US" altLang="zh-TW" b="0" i="1" smtClean="0">
                          <a:latin typeface="Cambria Math" panose="02040503050406030204" pitchFamily="18" charset="0"/>
                        </a:rPr>
                        <m:t> </m:t>
                      </m:r>
                      <m:r>
                        <a:rPr lang="en-US" altLang="zh-TW" b="0" i="1" smtClean="0">
                          <a:latin typeface="Cambria Math" panose="02040503050406030204" pitchFamily="18" charset="0"/>
                        </a:rPr>
                        <m:t>𝑚𝑜𝑑𝑒𝑙</m:t>
                      </m:r>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𝑏</m:t>
                          </m:r>
                        </m:e>
                        <m:sub>
                          <m:r>
                            <a:rPr lang="en-US" altLang="zh-TW" b="0" i="1" smtClean="0">
                              <a:latin typeface="Cambria Math" panose="02040503050406030204" pitchFamily="18" charset="0"/>
                              <a:ea typeface="Cambria Math" panose="02040503050406030204" pitchFamily="18" charset="0"/>
                            </a:rPr>
                            <m:t>𝑖𝑗</m:t>
                          </m:r>
                        </m:sub>
                      </m:sSub>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𝑆</m:t>
                          </m:r>
                        </m:e>
                        <m:sub>
                          <m:r>
                            <a:rPr lang="en-US" altLang="zh-TW" b="0" i="1" smtClean="0">
                              <a:latin typeface="Cambria Math" panose="02040503050406030204" pitchFamily="18" charset="0"/>
                              <a:ea typeface="Cambria Math" panose="02040503050406030204" pitchFamily="18" charset="0"/>
                            </a:rPr>
                            <m:t>𝑖</m:t>
                          </m:r>
                        </m:sub>
                      </m:sSub>
                      <m:sPre>
                        <m:sPrePr>
                          <m:ctrlPr>
                            <a:rPr lang="en-US" altLang="zh-TW" b="0" i="1" smtClean="0">
                              <a:latin typeface="Cambria Math" panose="02040503050406030204" pitchFamily="18" charset="0"/>
                              <a:ea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𝐼</m:t>
                              </m:r>
                            </m:sub>
                          </m:sSub>
                        </m:e>
                      </m:sPre>
                      <m:sSub>
                        <m:sSubPr>
                          <m:ctrlPr>
                            <a:rPr lang="en-US" altLang="zh-TW" b="0"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𝐾</m:t>
                              </m:r>
                            </m:e>
                          </m:acc>
                        </m:e>
                        <m:sub>
                          <m:r>
                            <a:rPr lang="en-US" altLang="zh-TW" b="0" i="1" smtClean="0">
                              <a:latin typeface="Cambria Math" panose="02040503050406030204" pitchFamily="18" charset="0"/>
                            </a:rPr>
                            <m:t>𝐼</m:t>
                          </m:r>
                        </m:sub>
                      </m:sSub>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𝐼</m:t>
                          </m:r>
                        </m:e>
                        <m:sub>
                          <m:r>
                            <a:rPr lang="en-US" altLang="zh-TW" b="0" i="1" smtClean="0">
                              <a:latin typeface="Cambria Math" panose="02040503050406030204" pitchFamily="18" charset="0"/>
                            </a:rPr>
                            <m:t>𝑗</m:t>
                          </m:r>
                        </m:sub>
                      </m:sSub>
                    </m:oMath>
                  </m:oMathPara>
                </a14:m>
                <a:endParaRPr lang="zh-TW" altLang="en-US" dirty="0"/>
              </a:p>
            </p:txBody>
          </p:sp>
        </mc:Choice>
        <mc:Fallback xmlns="">
          <p:sp>
            <p:nvSpPr>
              <p:cNvPr id="29" name="文字方塊 28">
                <a:extLst>
                  <a:ext uri="{FF2B5EF4-FFF2-40B4-BE49-F238E27FC236}">
                    <a16:creationId xmlns:a16="http://schemas.microsoft.com/office/drawing/2014/main" id="{89A87B67-4717-4362-98CB-9141ED7DCE5C}"/>
                  </a:ext>
                </a:extLst>
              </p:cNvPr>
              <p:cNvSpPr txBox="1">
                <a:spLocks noRot="1" noChangeAspect="1" noMove="1" noResize="1" noEditPoints="1" noAdjustHandles="1" noChangeArrowheads="1" noChangeShapeType="1" noTextEdit="1"/>
              </p:cNvSpPr>
              <p:nvPr/>
            </p:nvSpPr>
            <p:spPr>
              <a:xfrm>
                <a:off x="8217453" y="423838"/>
                <a:ext cx="3564053" cy="321563"/>
              </a:xfrm>
              <a:prstGeom prst="rect">
                <a:avLst/>
              </a:prstGeom>
              <a:blipFill>
                <a:blip r:embed="rId2"/>
                <a:stretch>
                  <a:fillRect l="-1197" t="-15385" r="-5299" b="-25000"/>
                </a:stretch>
              </a:blipFill>
            </p:spPr>
            <p:txBody>
              <a:bodyPr/>
              <a:lstStyle/>
              <a:p>
                <a:r>
                  <a:rPr lang="zh-TW" altLang="en-US">
                    <a:noFill/>
                  </a:rPr>
                  <a:t> </a:t>
                </a:r>
              </a:p>
            </p:txBody>
          </p:sp>
        </mc:Fallback>
      </mc:AlternateContent>
      <p:grpSp>
        <p:nvGrpSpPr>
          <p:cNvPr id="6" name="群組 5">
            <a:extLst>
              <a:ext uri="{FF2B5EF4-FFF2-40B4-BE49-F238E27FC236}">
                <a16:creationId xmlns:a16="http://schemas.microsoft.com/office/drawing/2014/main" id="{C89A0346-8189-4276-A7F0-0B064B6352FC}"/>
              </a:ext>
            </a:extLst>
          </p:cNvPr>
          <p:cNvGrpSpPr/>
          <p:nvPr/>
        </p:nvGrpSpPr>
        <p:grpSpPr>
          <a:xfrm>
            <a:off x="67661" y="1215969"/>
            <a:ext cx="6937032" cy="3354715"/>
            <a:chOff x="101527" y="1144012"/>
            <a:chExt cx="6937032" cy="3354715"/>
          </a:xfrm>
        </p:grpSpPr>
        <p:pic>
          <p:nvPicPr>
            <p:cNvPr id="5" name="圖片 4">
              <a:extLst>
                <a:ext uri="{FF2B5EF4-FFF2-40B4-BE49-F238E27FC236}">
                  <a16:creationId xmlns:a16="http://schemas.microsoft.com/office/drawing/2014/main" id="{A95DCD7E-C4E0-481E-BB54-103FC96112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2235" y="1144012"/>
              <a:ext cx="6503365" cy="3004655"/>
            </a:xfrm>
            <a:prstGeom prst="rect">
              <a:avLst/>
            </a:prstGeom>
          </p:spPr>
        </p:pic>
        <p:grpSp>
          <p:nvGrpSpPr>
            <p:cNvPr id="32" name="群組 31">
              <a:extLst>
                <a:ext uri="{FF2B5EF4-FFF2-40B4-BE49-F238E27FC236}">
                  <a16:creationId xmlns:a16="http://schemas.microsoft.com/office/drawing/2014/main" id="{00AAE3B7-7BF1-4B56-BAE2-3D620CD83099}"/>
                </a:ext>
              </a:extLst>
            </p:cNvPr>
            <p:cNvGrpSpPr/>
            <p:nvPr/>
          </p:nvGrpSpPr>
          <p:grpSpPr>
            <a:xfrm>
              <a:off x="101527" y="1345441"/>
              <a:ext cx="6937032" cy="3153286"/>
              <a:chOff x="1625800" y="1853204"/>
              <a:chExt cx="9002701" cy="3165128"/>
            </a:xfrm>
          </p:grpSpPr>
          <mc:AlternateContent xmlns:mc="http://schemas.openxmlformats.org/markup-compatibility/2006" xmlns:a14="http://schemas.microsoft.com/office/drawing/2010/main">
            <mc:Choice Requires="a14">
              <p:sp>
                <p:nvSpPr>
                  <p:cNvPr id="33" name="文字方塊 32">
                    <a:extLst>
                      <a:ext uri="{FF2B5EF4-FFF2-40B4-BE49-F238E27FC236}">
                        <a16:creationId xmlns:a16="http://schemas.microsoft.com/office/drawing/2014/main" id="{2518E20F-8820-4061-B1C1-9B2B8E6A835C}"/>
                      </a:ext>
                    </a:extLst>
                  </p:cNvPr>
                  <p:cNvSpPr txBox="1"/>
                  <p:nvPr/>
                </p:nvSpPr>
                <p:spPr>
                  <a:xfrm rot="16200000">
                    <a:off x="1059395" y="2788942"/>
                    <a:ext cx="1409810" cy="27700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𝑧</m:t>
                          </m:r>
                          <m:r>
                            <a:rPr lang="en-US" altLang="zh-TW" b="0" i="1" smtClean="0">
                              <a:latin typeface="Cambria Math" panose="02040503050406030204" pitchFamily="18" charset="0"/>
                            </a:rPr>
                            <m:t>−</m:t>
                          </m:r>
                          <m:r>
                            <m:rPr>
                              <m:sty m:val="p"/>
                            </m:rPr>
                            <a:rPr lang="en-US" altLang="zh-TW" b="0" i="0" smtClean="0">
                              <a:latin typeface="Cambria Math" panose="02040503050406030204" pitchFamily="18" charset="0"/>
                            </a:rPr>
                            <m:t>axis</m:t>
                          </m:r>
                          <m:r>
                            <a:rPr lang="en-US" altLang="zh-TW" b="0" i="1" smtClean="0">
                              <a:latin typeface="Cambria Math" panose="02040503050406030204" pitchFamily="18" charset="0"/>
                            </a:rPr>
                            <m:t>(</m:t>
                          </m:r>
                          <m:r>
                            <a:rPr lang="en-US" altLang="zh-TW" b="0" i="1" smtClean="0">
                              <a:latin typeface="Cambria Math" panose="02040503050406030204" pitchFamily="18" charset="0"/>
                            </a:rPr>
                            <m:t>𝑚𝑚</m:t>
                          </m:r>
                          <m:r>
                            <a:rPr lang="en-US" altLang="zh-TW" b="0" i="1" smtClean="0">
                              <a:latin typeface="Cambria Math" panose="02040503050406030204" pitchFamily="18" charset="0"/>
                            </a:rPr>
                            <m:t>)</m:t>
                          </m:r>
                        </m:oMath>
                      </m:oMathPara>
                    </a14:m>
                    <a:endParaRPr lang="zh-TW" altLang="en-US" i="1" dirty="0">
                      <a:latin typeface="Times New Roman" panose="02020603050405020304" pitchFamily="18" charset="0"/>
                      <a:cs typeface="Times New Roman" panose="02020603050405020304" pitchFamily="18" charset="0"/>
                    </a:endParaRPr>
                  </a:p>
                </p:txBody>
              </p:sp>
            </mc:Choice>
            <mc:Fallback xmlns="">
              <p:sp>
                <p:nvSpPr>
                  <p:cNvPr id="33" name="文字方塊 32">
                    <a:extLst>
                      <a:ext uri="{FF2B5EF4-FFF2-40B4-BE49-F238E27FC236}">
                        <a16:creationId xmlns:a16="http://schemas.microsoft.com/office/drawing/2014/main" id="{2518E20F-8820-4061-B1C1-9B2B8E6A835C}"/>
                      </a:ext>
                    </a:extLst>
                  </p:cNvPr>
                  <p:cNvSpPr txBox="1">
                    <a:spLocks noRot="1" noChangeAspect="1" noMove="1" noResize="1" noEditPoints="1" noAdjustHandles="1" noChangeArrowheads="1" noChangeShapeType="1" noTextEdit="1"/>
                  </p:cNvSpPr>
                  <p:nvPr/>
                </p:nvSpPr>
                <p:spPr>
                  <a:xfrm rot="16200000">
                    <a:off x="1059395" y="2788942"/>
                    <a:ext cx="1409810" cy="277000"/>
                  </a:xfrm>
                  <a:prstGeom prst="rect">
                    <a:avLst/>
                  </a:prstGeom>
                  <a:blipFill>
                    <a:blip r:embed="rId4"/>
                    <a:stretch>
                      <a:fillRect t="-6522" r="-77143" b="-260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C76A7CE7-457D-4FFE-A3B1-39E0A8845413}"/>
                      </a:ext>
                    </a:extLst>
                  </p:cNvPr>
                  <p:cNvSpPr txBox="1"/>
                  <p:nvPr/>
                </p:nvSpPr>
                <p:spPr>
                  <a:xfrm>
                    <a:off x="3287298" y="4741333"/>
                    <a:ext cx="143603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𝑥</m:t>
                          </m:r>
                          <m:r>
                            <a:rPr lang="en-US" altLang="zh-TW" b="0" i="1" smtClean="0">
                              <a:latin typeface="Cambria Math" panose="02040503050406030204" pitchFamily="18" charset="0"/>
                            </a:rPr>
                            <m:t>−</m:t>
                          </m:r>
                          <m:r>
                            <m:rPr>
                              <m:sty m:val="p"/>
                            </m:rPr>
                            <a:rPr lang="en-US" altLang="zh-TW" b="0" i="0" smtClean="0">
                              <a:latin typeface="Cambria Math" panose="02040503050406030204" pitchFamily="18" charset="0"/>
                            </a:rPr>
                            <m:t>axis</m:t>
                          </m:r>
                          <m:r>
                            <a:rPr lang="en-US" altLang="zh-TW" b="0" i="1" smtClean="0">
                              <a:latin typeface="Cambria Math" panose="02040503050406030204" pitchFamily="18" charset="0"/>
                            </a:rPr>
                            <m:t>(</m:t>
                          </m:r>
                          <m:r>
                            <a:rPr lang="en-US" altLang="zh-TW" b="0" i="1" smtClean="0">
                              <a:latin typeface="Cambria Math" panose="02040503050406030204" pitchFamily="18" charset="0"/>
                            </a:rPr>
                            <m:t>𝑚𝑚</m:t>
                          </m:r>
                          <m:r>
                            <a:rPr lang="en-US" altLang="zh-TW" b="0" i="1" smtClean="0">
                              <a:latin typeface="Cambria Math" panose="02040503050406030204" pitchFamily="18" charset="0"/>
                            </a:rPr>
                            <m:t>)</m:t>
                          </m:r>
                        </m:oMath>
                      </m:oMathPara>
                    </a14:m>
                    <a:endParaRPr lang="zh-TW" altLang="en-US" i="1" dirty="0">
                      <a:latin typeface="Times New Roman" panose="02020603050405020304" pitchFamily="18" charset="0"/>
                      <a:cs typeface="Times New Roman" panose="02020603050405020304" pitchFamily="18" charset="0"/>
                    </a:endParaRPr>
                  </a:p>
                </p:txBody>
              </p:sp>
            </mc:Choice>
            <mc:Fallback xmlns="">
              <p:sp>
                <p:nvSpPr>
                  <p:cNvPr id="34" name="文字方塊 33">
                    <a:extLst>
                      <a:ext uri="{FF2B5EF4-FFF2-40B4-BE49-F238E27FC236}">
                        <a16:creationId xmlns:a16="http://schemas.microsoft.com/office/drawing/2014/main" id="{C76A7CE7-457D-4FFE-A3B1-39E0A8845413}"/>
                      </a:ext>
                    </a:extLst>
                  </p:cNvPr>
                  <p:cNvSpPr txBox="1">
                    <a:spLocks noRot="1" noChangeAspect="1" noMove="1" noResize="1" noEditPoints="1" noAdjustHandles="1" noChangeArrowheads="1" noChangeShapeType="1" noTextEdit="1"/>
                  </p:cNvSpPr>
                  <p:nvPr/>
                </p:nvSpPr>
                <p:spPr>
                  <a:xfrm>
                    <a:off x="3287298" y="4741333"/>
                    <a:ext cx="1436034" cy="276999"/>
                  </a:xfrm>
                  <a:prstGeom prst="rect">
                    <a:avLst/>
                  </a:prstGeom>
                  <a:blipFill>
                    <a:blip r:embed="rId5"/>
                    <a:stretch>
                      <a:fillRect l="-5495" t="-2222" r="-33516" b="-3777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5" name="文字方塊 34">
                    <a:extLst>
                      <a:ext uri="{FF2B5EF4-FFF2-40B4-BE49-F238E27FC236}">
                        <a16:creationId xmlns:a16="http://schemas.microsoft.com/office/drawing/2014/main" id="{A2AF3DB8-6AEF-4EDC-934E-65275A38ABCE}"/>
                      </a:ext>
                    </a:extLst>
                  </p:cNvPr>
                  <p:cNvSpPr txBox="1"/>
                  <p:nvPr/>
                </p:nvSpPr>
                <p:spPr>
                  <a:xfrm>
                    <a:off x="7265875" y="4741333"/>
                    <a:ext cx="143603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𝑥</m:t>
                          </m:r>
                          <m:r>
                            <a:rPr lang="en-US" altLang="zh-TW" b="0" i="1" smtClean="0">
                              <a:latin typeface="Cambria Math" panose="02040503050406030204" pitchFamily="18" charset="0"/>
                            </a:rPr>
                            <m:t>−</m:t>
                          </m:r>
                          <m:r>
                            <m:rPr>
                              <m:sty m:val="p"/>
                            </m:rPr>
                            <a:rPr lang="en-US" altLang="zh-TW" b="0" i="0" smtClean="0">
                              <a:latin typeface="Cambria Math" panose="02040503050406030204" pitchFamily="18" charset="0"/>
                            </a:rPr>
                            <m:t>axis</m:t>
                          </m:r>
                          <m:r>
                            <a:rPr lang="en-US" altLang="zh-TW" b="0" i="1" smtClean="0">
                              <a:latin typeface="Cambria Math" panose="02040503050406030204" pitchFamily="18" charset="0"/>
                            </a:rPr>
                            <m:t>(</m:t>
                          </m:r>
                          <m:r>
                            <a:rPr lang="en-US" altLang="zh-TW" b="0" i="1" smtClean="0">
                              <a:latin typeface="Cambria Math" panose="02040503050406030204" pitchFamily="18" charset="0"/>
                            </a:rPr>
                            <m:t>𝑚𝑚</m:t>
                          </m:r>
                          <m:r>
                            <a:rPr lang="en-US" altLang="zh-TW" b="0" i="1" smtClean="0">
                              <a:latin typeface="Cambria Math" panose="02040503050406030204" pitchFamily="18" charset="0"/>
                            </a:rPr>
                            <m:t>)</m:t>
                          </m:r>
                        </m:oMath>
                      </m:oMathPara>
                    </a14:m>
                    <a:endParaRPr lang="zh-TW" altLang="en-US" i="1" dirty="0">
                      <a:latin typeface="Times New Roman" panose="02020603050405020304" pitchFamily="18" charset="0"/>
                      <a:cs typeface="Times New Roman" panose="02020603050405020304" pitchFamily="18" charset="0"/>
                    </a:endParaRPr>
                  </a:p>
                </p:txBody>
              </p:sp>
            </mc:Choice>
            <mc:Fallback xmlns="">
              <p:sp>
                <p:nvSpPr>
                  <p:cNvPr id="35" name="文字方塊 34">
                    <a:extLst>
                      <a:ext uri="{FF2B5EF4-FFF2-40B4-BE49-F238E27FC236}">
                        <a16:creationId xmlns:a16="http://schemas.microsoft.com/office/drawing/2014/main" id="{A2AF3DB8-6AEF-4EDC-934E-65275A38ABCE}"/>
                      </a:ext>
                    </a:extLst>
                  </p:cNvPr>
                  <p:cNvSpPr txBox="1">
                    <a:spLocks noRot="1" noChangeAspect="1" noMove="1" noResize="1" noEditPoints="1" noAdjustHandles="1" noChangeArrowheads="1" noChangeShapeType="1" noTextEdit="1"/>
                  </p:cNvSpPr>
                  <p:nvPr/>
                </p:nvSpPr>
                <p:spPr>
                  <a:xfrm>
                    <a:off x="7265875" y="4741333"/>
                    <a:ext cx="1436034" cy="276999"/>
                  </a:xfrm>
                  <a:prstGeom prst="rect">
                    <a:avLst/>
                  </a:prstGeom>
                  <a:blipFill>
                    <a:blip r:embed="rId6"/>
                    <a:stretch>
                      <a:fillRect l="-5495" t="-2222" r="-33516" b="-3777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B76B494B-9CE2-48D5-ABD5-138500987A43}"/>
                      </a:ext>
                    </a:extLst>
                  </p:cNvPr>
                  <p:cNvSpPr txBox="1"/>
                  <p:nvPr/>
                </p:nvSpPr>
                <p:spPr>
                  <a:xfrm>
                    <a:off x="2739450" y="2974322"/>
                    <a:ext cx="51610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TW" sz="2400" b="1" i="1" smtClean="0">
                                  <a:latin typeface="Cambria Math" panose="02040503050406030204" pitchFamily="18" charset="0"/>
                                </a:rPr>
                              </m:ctrlPr>
                            </m:sSubPr>
                            <m:e>
                              <m:r>
                                <a:rPr lang="en-US" altLang="zh-TW" sz="2400" b="1" i="1" smtClean="0">
                                  <a:latin typeface="Cambria Math" panose="02040503050406030204" pitchFamily="18" charset="0"/>
                                </a:rPr>
                                <m:t>𝒒</m:t>
                              </m:r>
                            </m:e>
                            <m:sub>
                              <m:r>
                                <a:rPr lang="en-US" altLang="zh-TW" sz="2400" b="1" i="1" smtClean="0">
                                  <a:latin typeface="Cambria Math" panose="02040503050406030204" pitchFamily="18" charset="0"/>
                                </a:rPr>
                                <m:t>𝒄</m:t>
                              </m:r>
                              <m:r>
                                <a:rPr lang="en-US" altLang="zh-TW" sz="2400" b="1" i="1" smtClean="0">
                                  <a:latin typeface="Cambria Math" panose="02040503050406030204" pitchFamily="18" charset="0"/>
                                </a:rPr>
                                <m:t>𝟐</m:t>
                              </m:r>
                            </m:sub>
                          </m:sSub>
                        </m:oMath>
                      </m:oMathPara>
                    </a14:m>
                    <a:endParaRPr lang="zh-TW" altLang="en-US" b="1" dirty="0"/>
                  </a:p>
                </p:txBody>
              </p:sp>
            </mc:Choice>
            <mc:Fallback xmlns="">
              <p:sp>
                <p:nvSpPr>
                  <p:cNvPr id="36" name="文字方塊 35">
                    <a:extLst>
                      <a:ext uri="{FF2B5EF4-FFF2-40B4-BE49-F238E27FC236}">
                        <a16:creationId xmlns:a16="http://schemas.microsoft.com/office/drawing/2014/main" id="{B76B494B-9CE2-48D5-ABD5-138500987A43}"/>
                      </a:ext>
                    </a:extLst>
                  </p:cNvPr>
                  <p:cNvSpPr txBox="1">
                    <a:spLocks noRot="1" noChangeAspect="1" noMove="1" noResize="1" noEditPoints="1" noAdjustHandles="1" noChangeArrowheads="1" noChangeShapeType="1" noTextEdit="1"/>
                  </p:cNvSpPr>
                  <p:nvPr/>
                </p:nvSpPr>
                <p:spPr>
                  <a:xfrm>
                    <a:off x="2739450" y="2974322"/>
                    <a:ext cx="516103" cy="369332"/>
                  </a:xfrm>
                  <a:prstGeom prst="rect">
                    <a:avLst/>
                  </a:prstGeom>
                  <a:blipFill>
                    <a:blip r:embed="rId7"/>
                    <a:stretch>
                      <a:fillRect l="-27692" r="-29231" b="-2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42FCE35B-7D7F-464A-AA8F-6154C7ED7B93}"/>
                      </a:ext>
                    </a:extLst>
                  </p:cNvPr>
                  <p:cNvSpPr txBox="1"/>
                  <p:nvPr/>
                </p:nvSpPr>
                <p:spPr>
                  <a:xfrm>
                    <a:off x="9075800" y="3612821"/>
                    <a:ext cx="51610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TW" sz="2400" b="1" i="1" smtClean="0">
                                  <a:latin typeface="Cambria Math" panose="02040503050406030204" pitchFamily="18" charset="0"/>
                                </a:rPr>
                              </m:ctrlPr>
                            </m:sSubPr>
                            <m:e>
                              <m:r>
                                <a:rPr lang="en-US" altLang="zh-TW" sz="2400" b="1" i="1" smtClean="0">
                                  <a:latin typeface="Cambria Math" panose="02040503050406030204" pitchFamily="18" charset="0"/>
                                </a:rPr>
                                <m:t>𝒒</m:t>
                              </m:r>
                            </m:e>
                            <m:sub>
                              <m:r>
                                <a:rPr lang="en-US" altLang="zh-TW" sz="2400" b="1" i="1" smtClean="0">
                                  <a:latin typeface="Cambria Math" panose="02040503050406030204" pitchFamily="18" charset="0"/>
                                </a:rPr>
                                <m:t>𝒄</m:t>
                              </m:r>
                              <m:r>
                                <a:rPr lang="en-US" altLang="zh-TW" sz="2400" b="1" i="1" smtClean="0">
                                  <a:latin typeface="Cambria Math" panose="02040503050406030204" pitchFamily="18" charset="0"/>
                                </a:rPr>
                                <m:t>𝟏</m:t>
                              </m:r>
                            </m:sub>
                          </m:sSub>
                        </m:oMath>
                      </m:oMathPara>
                    </a14:m>
                    <a:endParaRPr lang="zh-TW" altLang="en-US" b="1" dirty="0"/>
                  </a:p>
                </p:txBody>
              </p:sp>
            </mc:Choice>
            <mc:Fallback xmlns="">
              <p:sp>
                <p:nvSpPr>
                  <p:cNvPr id="37" name="文字方塊 36">
                    <a:extLst>
                      <a:ext uri="{FF2B5EF4-FFF2-40B4-BE49-F238E27FC236}">
                        <a16:creationId xmlns:a16="http://schemas.microsoft.com/office/drawing/2014/main" id="{42FCE35B-7D7F-464A-AA8F-6154C7ED7B93}"/>
                      </a:ext>
                    </a:extLst>
                  </p:cNvPr>
                  <p:cNvSpPr txBox="1">
                    <a:spLocks noRot="1" noChangeAspect="1" noMove="1" noResize="1" noEditPoints="1" noAdjustHandles="1" noChangeArrowheads="1" noChangeShapeType="1" noTextEdit="1"/>
                  </p:cNvSpPr>
                  <p:nvPr/>
                </p:nvSpPr>
                <p:spPr>
                  <a:xfrm>
                    <a:off x="9075800" y="3612821"/>
                    <a:ext cx="516103" cy="369332"/>
                  </a:xfrm>
                  <a:prstGeom prst="rect">
                    <a:avLst/>
                  </a:prstGeom>
                  <a:blipFill>
                    <a:blip r:embed="rId8"/>
                    <a:stretch>
                      <a:fillRect l="-29231" r="-29231" b="-2623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8" name="文字方塊 37">
                    <a:extLst>
                      <a:ext uri="{FF2B5EF4-FFF2-40B4-BE49-F238E27FC236}">
                        <a16:creationId xmlns:a16="http://schemas.microsoft.com/office/drawing/2014/main" id="{6CFB1552-A472-4518-825F-20F0BCA04B3E}"/>
                      </a:ext>
                    </a:extLst>
                  </p:cNvPr>
                  <p:cNvSpPr txBox="1"/>
                  <p:nvPr/>
                </p:nvSpPr>
                <p:spPr>
                  <a:xfrm>
                    <a:off x="4602953" y="3561266"/>
                    <a:ext cx="3886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TW" sz="2400" i="1" smtClean="0">
                                  <a:latin typeface="Cambria Math" panose="02040503050406030204" pitchFamily="18" charset="0"/>
                                </a:rPr>
                              </m:ctrlPr>
                            </m:sSubPr>
                            <m:e>
                              <m:acc>
                                <m:accPr>
                                  <m:chr m:val="̂"/>
                                  <m:ctrlPr>
                                    <a:rPr lang="en-US" altLang="zh-TW" sz="2400" i="1" smtClean="0">
                                      <a:latin typeface="Cambria Math" panose="02040503050406030204" pitchFamily="18" charset="0"/>
                                    </a:rPr>
                                  </m:ctrlPr>
                                </m:accPr>
                                <m:e>
                                  <m:r>
                                    <a:rPr lang="en-US" altLang="zh-TW" sz="2400" b="0" i="1" smtClean="0">
                                      <a:latin typeface="Cambria Math" panose="02040503050406030204" pitchFamily="18" charset="0"/>
                                    </a:rPr>
                                    <m:t>𝑥</m:t>
                                  </m:r>
                                </m:e>
                              </m:acc>
                            </m:e>
                            <m:sub>
                              <m:r>
                                <a:rPr lang="en-US" altLang="zh-TW" sz="2400" b="0" i="1" smtClean="0">
                                  <a:latin typeface="Cambria Math" panose="02040503050406030204" pitchFamily="18" charset="0"/>
                                </a:rPr>
                                <m:t>𝑎</m:t>
                              </m:r>
                            </m:sub>
                          </m:sSub>
                        </m:oMath>
                      </m:oMathPara>
                    </a14:m>
                    <a:endParaRPr lang="zh-TW" altLang="en-US" dirty="0"/>
                  </a:p>
                </p:txBody>
              </p:sp>
            </mc:Choice>
            <mc:Fallback xmlns="">
              <p:sp>
                <p:nvSpPr>
                  <p:cNvPr id="38" name="文字方塊 37">
                    <a:extLst>
                      <a:ext uri="{FF2B5EF4-FFF2-40B4-BE49-F238E27FC236}">
                        <a16:creationId xmlns:a16="http://schemas.microsoft.com/office/drawing/2014/main" id="{6CFB1552-A472-4518-825F-20F0BCA04B3E}"/>
                      </a:ext>
                    </a:extLst>
                  </p:cNvPr>
                  <p:cNvSpPr txBox="1">
                    <a:spLocks noRot="1" noChangeAspect="1" noMove="1" noResize="1" noEditPoints="1" noAdjustHandles="1" noChangeArrowheads="1" noChangeShapeType="1" noTextEdit="1"/>
                  </p:cNvSpPr>
                  <p:nvPr/>
                </p:nvSpPr>
                <p:spPr>
                  <a:xfrm>
                    <a:off x="4602953" y="3561266"/>
                    <a:ext cx="388696" cy="369332"/>
                  </a:xfrm>
                  <a:prstGeom prst="rect">
                    <a:avLst/>
                  </a:prstGeom>
                  <a:blipFill>
                    <a:blip r:embed="rId9"/>
                    <a:stretch>
                      <a:fillRect l="-26531" t="-18333" r="-48980" b="-1000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9" name="文字方塊 38">
                    <a:extLst>
                      <a:ext uri="{FF2B5EF4-FFF2-40B4-BE49-F238E27FC236}">
                        <a16:creationId xmlns:a16="http://schemas.microsoft.com/office/drawing/2014/main" id="{48CAC5C3-013E-4DAB-B73B-F3B88B959FF6}"/>
                      </a:ext>
                    </a:extLst>
                  </p:cNvPr>
                  <p:cNvSpPr txBox="1"/>
                  <p:nvPr/>
                </p:nvSpPr>
                <p:spPr>
                  <a:xfrm>
                    <a:off x="6913368" y="1853204"/>
                    <a:ext cx="3886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TW" sz="2400" i="1" smtClean="0">
                                  <a:latin typeface="Cambria Math" panose="02040503050406030204" pitchFamily="18" charset="0"/>
                                </a:rPr>
                              </m:ctrlPr>
                            </m:sSubPr>
                            <m:e>
                              <m:acc>
                                <m:accPr>
                                  <m:chr m:val="̂"/>
                                  <m:ctrlPr>
                                    <a:rPr lang="en-US" altLang="zh-TW" sz="2400" i="1" smtClean="0">
                                      <a:latin typeface="Cambria Math" panose="02040503050406030204" pitchFamily="18" charset="0"/>
                                    </a:rPr>
                                  </m:ctrlPr>
                                </m:accPr>
                                <m:e>
                                  <m:r>
                                    <a:rPr lang="en-US" altLang="zh-TW" sz="2400" b="0" i="1" smtClean="0">
                                      <a:latin typeface="Cambria Math" panose="02040503050406030204" pitchFamily="18" charset="0"/>
                                    </a:rPr>
                                    <m:t>𝑥</m:t>
                                  </m:r>
                                </m:e>
                              </m:acc>
                            </m:e>
                            <m:sub>
                              <m:r>
                                <a:rPr lang="en-US" altLang="zh-TW" sz="2400" b="0" i="1" smtClean="0">
                                  <a:latin typeface="Cambria Math" panose="02040503050406030204" pitchFamily="18" charset="0"/>
                                </a:rPr>
                                <m:t>𝑎</m:t>
                              </m:r>
                            </m:sub>
                          </m:sSub>
                        </m:oMath>
                      </m:oMathPara>
                    </a14:m>
                    <a:endParaRPr lang="zh-TW" altLang="en-US" dirty="0"/>
                  </a:p>
                </p:txBody>
              </p:sp>
            </mc:Choice>
            <mc:Fallback xmlns="">
              <p:sp>
                <p:nvSpPr>
                  <p:cNvPr id="39" name="文字方塊 38">
                    <a:extLst>
                      <a:ext uri="{FF2B5EF4-FFF2-40B4-BE49-F238E27FC236}">
                        <a16:creationId xmlns:a16="http://schemas.microsoft.com/office/drawing/2014/main" id="{48CAC5C3-013E-4DAB-B73B-F3B88B959FF6}"/>
                      </a:ext>
                    </a:extLst>
                  </p:cNvPr>
                  <p:cNvSpPr txBox="1">
                    <a:spLocks noRot="1" noChangeAspect="1" noMove="1" noResize="1" noEditPoints="1" noAdjustHandles="1" noChangeArrowheads="1" noChangeShapeType="1" noTextEdit="1"/>
                  </p:cNvSpPr>
                  <p:nvPr/>
                </p:nvSpPr>
                <p:spPr>
                  <a:xfrm>
                    <a:off x="6913368" y="1853204"/>
                    <a:ext cx="388696" cy="369332"/>
                  </a:xfrm>
                  <a:prstGeom prst="rect">
                    <a:avLst/>
                  </a:prstGeom>
                  <a:blipFill>
                    <a:blip r:embed="rId10"/>
                    <a:stretch>
                      <a:fillRect l="-26531" t="-18333" r="-48980" b="-1000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D9CB3744-E5F2-475B-A7FA-C3CE15D1FA90}"/>
                      </a:ext>
                    </a:extLst>
                  </p:cNvPr>
                  <p:cNvSpPr txBox="1"/>
                  <p:nvPr/>
                </p:nvSpPr>
                <p:spPr>
                  <a:xfrm rot="16200000">
                    <a:off x="9940235" y="2958220"/>
                    <a:ext cx="1068754" cy="30777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altLang="zh-TW" sz="2000" b="1" i="1" smtClean="0">
                                  <a:latin typeface="Cambria Math" panose="02040503050406030204" pitchFamily="18" charset="0"/>
                                </a:rPr>
                              </m:ctrlPr>
                            </m:dPr>
                            <m:e>
                              <m:r>
                                <a:rPr lang="en-US" altLang="zh-TW" sz="2000" b="1" i="0" smtClean="0">
                                  <a:latin typeface="Cambria Math" panose="02040503050406030204" pitchFamily="18" charset="0"/>
                                </a:rPr>
                                <m:t>𝐛</m:t>
                              </m:r>
                            </m:e>
                          </m:d>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𝑚𝑇</m:t>
                          </m:r>
                          <m:r>
                            <a:rPr lang="en-US" altLang="zh-TW" sz="2000" b="0" i="1" smtClean="0">
                              <a:latin typeface="Cambria Math" panose="02040503050406030204" pitchFamily="18" charset="0"/>
                            </a:rPr>
                            <m:t>)</m:t>
                          </m:r>
                        </m:oMath>
                      </m:oMathPara>
                    </a14:m>
                    <a:endParaRPr lang="zh-TW" altLang="en-US" sz="1600" dirty="0"/>
                  </a:p>
                </p:txBody>
              </p:sp>
            </mc:Choice>
            <mc:Fallback xmlns="">
              <p:sp>
                <p:nvSpPr>
                  <p:cNvPr id="41" name="文字方塊 40">
                    <a:extLst>
                      <a:ext uri="{FF2B5EF4-FFF2-40B4-BE49-F238E27FC236}">
                        <a16:creationId xmlns:a16="http://schemas.microsoft.com/office/drawing/2014/main" id="{D9CB3744-E5F2-475B-A7FA-C3CE15D1FA90}"/>
                      </a:ext>
                    </a:extLst>
                  </p:cNvPr>
                  <p:cNvSpPr txBox="1">
                    <a:spLocks noRot="1" noChangeAspect="1" noMove="1" noResize="1" noEditPoints="1" noAdjustHandles="1" noChangeArrowheads="1" noChangeShapeType="1" noTextEdit="1"/>
                  </p:cNvSpPr>
                  <p:nvPr/>
                </p:nvSpPr>
                <p:spPr>
                  <a:xfrm rot="16200000">
                    <a:off x="9940235" y="2958220"/>
                    <a:ext cx="1068754" cy="307778"/>
                  </a:xfrm>
                  <a:prstGeom prst="rect">
                    <a:avLst/>
                  </a:prstGeom>
                  <a:blipFill>
                    <a:blip r:embed="rId11"/>
                    <a:stretch>
                      <a:fillRect l="-2564" t="-8000" r="-74359"/>
                    </a:stretch>
                  </a:blipFill>
                </p:spPr>
                <p:txBody>
                  <a:bodyPr/>
                  <a:lstStyle/>
                  <a:p>
                    <a:r>
                      <a:rPr lang="zh-TW" altLang="en-US">
                        <a:noFill/>
                      </a:rPr>
                      <a:t> </a:t>
                    </a:r>
                  </a:p>
                </p:txBody>
              </p:sp>
            </mc:Fallback>
          </mc:AlternateContent>
        </p:grpSp>
      </p:grpSp>
    </p:spTree>
    <p:extLst>
      <p:ext uri="{BB962C8B-B14F-4D97-AF65-F5344CB8AC3E}">
        <p14:creationId xmlns:p14="http://schemas.microsoft.com/office/powerpoint/2010/main" val="18088995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192000" cy="837142"/>
          </a:xfrm>
        </p:spPr>
        <p:txBody>
          <a:bodyPr>
            <a:normAutofit fontScale="90000"/>
          </a:bodyPr>
          <a:lstStyle/>
          <a:p>
            <a:r>
              <a:rPr lang="en-US" altLang="zh-TW" sz="3600" b="1" kern="100" dirty="0">
                <a:solidFill>
                  <a:srgbClr val="000000"/>
                </a:solidFill>
                <a:latin typeface="Aptos"/>
                <a:ea typeface="新細明體" panose="02020500000000000000" pitchFamily="18" charset="-120"/>
                <a:cs typeface="Times New Roman" panose="02020603050405020304" pitchFamily="18" charset="0"/>
              </a:rPr>
              <a:t>Hall-sensor-voltage-based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grpSp>
        <p:nvGrpSpPr>
          <p:cNvPr id="9" name="群組 8">
            <a:extLst>
              <a:ext uri="{FF2B5EF4-FFF2-40B4-BE49-F238E27FC236}">
                <a16:creationId xmlns:a16="http://schemas.microsoft.com/office/drawing/2014/main" id="{25A00D6E-FD4E-4C44-90C8-33DF18B9660B}"/>
              </a:ext>
            </a:extLst>
          </p:cNvPr>
          <p:cNvGrpSpPr/>
          <p:nvPr/>
        </p:nvGrpSpPr>
        <p:grpSpPr>
          <a:xfrm>
            <a:off x="5805698" y="2065700"/>
            <a:ext cx="6256102" cy="4221833"/>
            <a:chOff x="5695631" y="1608499"/>
            <a:chExt cx="6256102" cy="4221833"/>
          </a:xfrm>
        </p:grpSpPr>
        <p:grpSp>
          <p:nvGrpSpPr>
            <p:cNvPr id="8" name="群組 7">
              <a:extLst>
                <a:ext uri="{FF2B5EF4-FFF2-40B4-BE49-F238E27FC236}">
                  <a16:creationId xmlns:a16="http://schemas.microsoft.com/office/drawing/2014/main" id="{9F80C108-027A-4201-8F65-42784A51CEDA}"/>
                </a:ext>
              </a:extLst>
            </p:cNvPr>
            <p:cNvGrpSpPr/>
            <p:nvPr/>
          </p:nvGrpSpPr>
          <p:grpSpPr>
            <a:xfrm>
              <a:off x="5695631" y="1608499"/>
              <a:ext cx="6256102" cy="4221833"/>
              <a:chOff x="5695631" y="1608499"/>
              <a:chExt cx="6256102" cy="4221833"/>
            </a:xfrm>
          </p:grpSpPr>
          <p:grpSp>
            <p:nvGrpSpPr>
              <p:cNvPr id="3" name="群組 2">
                <a:extLst>
                  <a:ext uri="{FF2B5EF4-FFF2-40B4-BE49-F238E27FC236}">
                    <a16:creationId xmlns:a16="http://schemas.microsoft.com/office/drawing/2014/main" id="{8EF352F0-E9DF-431D-860F-C569ABBF4B20}"/>
                  </a:ext>
                </a:extLst>
              </p:cNvPr>
              <p:cNvGrpSpPr/>
              <p:nvPr/>
            </p:nvGrpSpPr>
            <p:grpSpPr>
              <a:xfrm>
                <a:off x="5695631" y="1608499"/>
                <a:ext cx="6186529" cy="4221833"/>
                <a:chOff x="5695631" y="1608499"/>
                <a:chExt cx="6186529" cy="4221833"/>
              </a:xfrm>
            </p:grpSpPr>
            <p:pic>
              <p:nvPicPr>
                <p:cNvPr id="10" name="圖片 9">
                  <a:extLst>
                    <a:ext uri="{FF2B5EF4-FFF2-40B4-BE49-F238E27FC236}">
                      <a16:creationId xmlns:a16="http://schemas.microsoft.com/office/drawing/2014/main" id="{5CC497E2-F390-4154-8F1C-1D876430105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64962" y="1608499"/>
                  <a:ext cx="5817198" cy="3852501"/>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55A6AAFD-256B-4151-9263-E0EA11C874AB}"/>
                        </a:ext>
                      </a:extLst>
                    </p:cNvPr>
                    <p:cNvSpPr txBox="1"/>
                    <p:nvPr/>
                  </p:nvSpPr>
                  <p:spPr>
                    <a:xfrm>
                      <a:off x="7664062" y="5461000"/>
                      <a:ext cx="19114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2400" b="0" i="1" smtClean="0">
                                <a:latin typeface="Cambria Math" panose="02040503050406030204" pitchFamily="18" charset="0"/>
                              </a:rPr>
                              <m:t>𝑥</m:t>
                            </m:r>
                            <m:r>
                              <a:rPr lang="en-US" altLang="zh-TW" sz="2400" b="0" i="1" smtClean="0">
                                <a:latin typeface="Cambria Math" panose="02040503050406030204" pitchFamily="18" charset="0"/>
                              </a:rPr>
                              <m:t>−</m:t>
                            </m:r>
                            <m:r>
                              <m:rPr>
                                <m:sty m:val="p"/>
                              </m:rPr>
                              <a:rPr lang="en-US" altLang="zh-TW" sz="2400" b="0" i="0" smtClean="0">
                                <a:latin typeface="Cambria Math" panose="02040503050406030204" pitchFamily="18" charset="0"/>
                              </a:rPr>
                              <m:t>axis</m:t>
                            </m:r>
                            <m:r>
                              <a:rPr lang="en-US" altLang="zh-TW" sz="2400" b="0" i="1" smtClean="0">
                                <a:latin typeface="Cambria Math" panose="02040503050406030204" pitchFamily="18" charset="0"/>
                              </a:rPr>
                              <m:t>(</m:t>
                            </m:r>
                            <m:r>
                              <a:rPr lang="en-US" altLang="zh-TW" sz="2400" b="0" i="1" smtClean="0">
                                <a:latin typeface="Cambria Math" panose="02040503050406030204" pitchFamily="18" charset="0"/>
                              </a:rPr>
                              <m:t>𝑚𝑚</m:t>
                            </m:r>
                            <m:r>
                              <a:rPr lang="en-US" altLang="zh-TW" sz="2400" b="0" i="1" smtClean="0">
                                <a:latin typeface="Cambria Math" panose="02040503050406030204" pitchFamily="18" charset="0"/>
                              </a:rPr>
                              <m:t>)</m:t>
                            </m:r>
                          </m:oMath>
                        </m:oMathPara>
                      </a14:m>
                      <a:endParaRPr lang="zh-TW" altLang="en-US" sz="2400" i="1" dirty="0">
                        <a:latin typeface="Times New Roman" panose="02020603050405020304" pitchFamily="18" charset="0"/>
                        <a:cs typeface="Times New Roman" panose="02020603050405020304" pitchFamily="18" charset="0"/>
                      </a:endParaRPr>
                    </a:p>
                  </p:txBody>
                </p:sp>
              </mc:Choice>
              <mc:Fallback xmlns="">
                <p:sp>
                  <p:nvSpPr>
                    <p:cNvPr id="4" name="文字方塊 3">
                      <a:extLst>
                        <a:ext uri="{FF2B5EF4-FFF2-40B4-BE49-F238E27FC236}">
                          <a16:creationId xmlns:a16="http://schemas.microsoft.com/office/drawing/2014/main" id="{55A6AAFD-256B-4151-9263-E0EA11C874AB}"/>
                        </a:ext>
                      </a:extLst>
                    </p:cNvPr>
                    <p:cNvSpPr txBox="1">
                      <a:spLocks noRot="1" noChangeAspect="1" noMove="1" noResize="1" noEditPoints="1" noAdjustHandles="1" noChangeArrowheads="1" noChangeShapeType="1" noTextEdit="1"/>
                    </p:cNvSpPr>
                    <p:nvPr/>
                  </p:nvSpPr>
                  <p:spPr>
                    <a:xfrm>
                      <a:off x="7664062" y="5461000"/>
                      <a:ext cx="1911485" cy="369332"/>
                    </a:xfrm>
                    <a:prstGeom prst="rect">
                      <a:avLst/>
                    </a:prstGeom>
                    <a:blipFill>
                      <a:blip r:embed="rId3"/>
                      <a:stretch>
                        <a:fillRect l="-1274" r="-5096" b="-3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27E30DC-6168-42BC-906D-F547A5F9D1F4}"/>
                        </a:ext>
                      </a:extLst>
                    </p:cNvPr>
                    <p:cNvSpPr txBox="1"/>
                    <p:nvPr/>
                  </p:nvSpPr>
                  <p:spPr>
                    <a:xfrm rot="16200000">
                      <a:off x="4910863" y="3350082"/>
                      <a:ext cx="1938867" cy="36933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2400" b="0" i="1" smtClean="0">
                                <a:latin typeface="Cambria Math" panose="02040503050406030204" pitchFamily="18" charset="0"/>
                              </a:rPr>
                              <m:t>𝑧</m:t>
                            </m:r>
                            <m:r>
                              <a:rPr lang="en-US" altLang="zh-TW" sz="2400" b="0" i="1" smtClean="0">
                                <a:latin typeface="Cambria Math" panose="02040503050406030204" pitchFamily="18" charset="0"/>
                              </a:rPr>
                              <m:t>−</m:t>
                            </m:r>
                            <m:r>
                              <m:rPr>
                                <m:sty m:val="p"/>
                              </m:rPr>
                              <a:rPr lang="en-US" altLang="zh-TW" sz="2400" b="0" i="0" smtClean="0">
                                <a:latin typeface="Cambria Math" panose="02040503050406030204" pitchFamily="18" charset="0"/>
                              </a:rPr>
                              <m:t>axis</m:t>
                            </m:r>
                            <m:r>
                              <a:rPr lang="en-US" altLang="zh-TW" sz="2400" b="0" i="1" smtClean="0">
                                <a:latin typeface="Cambria Math" panose="02040503050406030204" pitchFamily="18" charset="0"/>
                              </a:rPr>
                              <m:t>(</m:t>
                            </m:r>
                            <m:r>
                              <a:rPr lang="en-US" altLang="zh-TW" sz="2400" b="0" i="1" smtClean="0">
                                <a:latin typeface="Cambria Math" panose="02040503050406030204" pitchFamily="18" charset="0"/>
                              </a:rPr>
                              <m:t>𝑚𝑚</m:t>
                            </m:r>
                            <m:r>
                              <a:rPr lang="en-US" altLang="zh-TW" sz="2400" b="0" i="1" smtClean="0">
                                <a:latin typeface="Cambria Math" panose="02040503050406030204" pitchFamily="18" charset="0"/>
                              </a:rPr>
                              <m:t>)</m:t>
                            </m:r>
                          </m:oMath>
                        </m:oMathPara>
                      </a14:m>
                      <a:endParaRPr lang="zh-TW" altLang="en-US" sz="2400" i="1" dirty="0">
                        <a:latin typeface="Times New Roman" panose="02020603050405020304" pitchFamily="18" charset="0"/>
                        <a:cs typeface="Times New Roman" panose="02020603050405020304" pitchFamily="18" charset="0"/>
                      </a:endParaRPr>
                    </a:p>
                  </p:txBody>
                </p:sp>
              </mc:Choice>
              <mc:Fallback xmlns="">
                <p:sp>
                  <p:nvSpPr>
                    <p:cNvPr id="5" name="文字方塊 4">
                      <a:extLst>
                        <a:ext uri="{FF2B5EF4-FFF2-40B4-BE49-F238E27FC236}">
                          <a16:creationId xmlns:a16="http://schemas.microsoft.com/office/drawing/2014/main" id="{C27E30DC-6168-42BC-906D-F547A5F9D1F4}"/>
                        </a:ext>
                      </a:extLst>
                    </p:cNvPr>
                    <p:cNvSpPr txBox="1">
                      <a:spLocks noRot="1" noChangeAspect="1" noMove="1" noResize="1" noEditPoints="1" noAdjustHandles="1" noChangeArrowheads="1" noChangeShapeType="1" noTextEdit="1"/>
                    </p:cNvSpPr>
                    <p:nvPr/>
                  </p:nvSpPr>
                  <p:spPr>
                    <a:xfrm rot="16200000">
                      <a:off x="4910863" y="3350082"/>
                      <a:ext cx="1938867" cy="369332"/>
                    </a:xfrm>
                    <a:prstGeom prst="rect">
                      <a:avLst/>
                    </a:prstGeom>
                    <a:blipFill>
                      <a:blip r:embed="rId4"/>
                      <a:stretch>
                        <a:fillRect t="-4088" r="-36066" b="-314"/>
                      </a:stretch>
                    </a:blipFill>
                  </p:spPr>
                  <p:txBody>
                    <a:bodyPr/>
                    <a:lstStyle/>
                    <a:p>
                      <a:r>
                        <a:rPr lang="zh-TW" altLang="en-US">
                          <a:noFill/>
                        </a:rPr>
                        <a:t> </a:t>
                      </a:r>
                    </a:p>
                  </p:txBody>
                </p:sp>
              </mc:Fallback>
            </mc:AlternateContent>
          </p:grpSp>
          <p:sp>
            <p:nvSpPr>
              <p:cNvPr id="6" name="矩形 5">
                <a:extLst>
                  <a:ext uri="{FF2B5EF4-FFF2-40B4-BE49-F238E27FC236}">
                    <a16:creationId xmlns:a16="http://schemas.microsoft.com/office/drawing/2014/main" id="{5441C166-FB41-4404-9A7D-FEDB224D96EF}"/>
                  </a:ext>
                </a:extLst>
              </p:cNvPr>
              <p:cNvSpPr/>
              <p:nvPr/>
            </p:nvSpPr>
            <p:spPr>
              <a:xfrm>
                <a:off x="11582400" y="2810933"/>
                <a:ext cx="369333" cy="117686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7" name="文字方塊 6">
                  <a:extLst>
                    <a:ext uri="{FF2B5EF4-FFF2-40B4-BE49-F238E27FC236}">
                      <a16:creationId xmlns:a16="http://schemas.microsoft.com/office/drawing/2014/main" id="{3263E904-C403-47A7-8195-AD15D1F1D8B1}"/>
                    </a:ext>
                  </a:extLst>
                </p:cNvPr>
                <p:cNvSpPr txBox="1"/>
                <p:nvPr/>
              </p:nvSpPr>
              <p:spPr>
                <a:xfrm rot="16200000">
                  <a:off x="11168601" y="3224732"/>
                  <a:ext cx="1064755" cy="2371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altLang="zh-TW" sz="2000" b="1" i="1" smtClean="0">
                                <a:latin typeface="Cambria Math" panose="02040503050406030204" pitchFamily="18" charset="0"/>
                              </a:rPr>
                            </m:ctrlPr>
                          </m:dPr>
                          <m:e>
                            <m:r>
                              <a:rPr lang="en-US" altLang="zh-TW" sz="2000" b="1" i="0" smtClean="0">
                                <a:latin typeface="Cambria Math" panose="02040503050406030204" pitchFamily="18" charset="0"/>
                              </a:rPr>
                              <m:t>𝐛</m:t>
                            </m:r>
                          </m:e>
                        </m:d>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𝑚𝑇</m:t>
                        </m:r>
                        <m:r>
                          <a:rPr lang="en-US" altLang="zh-TW" sz="2000" b="0" i="1" smtClean="0">
                            <a:latin typeface="Cambria Math" panose="02040503050406030204" pitchFamily="18" charset="0"/>
                          </a:rPr>
                          <m:t>)</m:t>
                        </m:r>
                      </m:oMath>
                    </m:oMathPara>
                  </a14:m>
                  <a:endParaRPr lang="zh-TW" altLang="en-US" sz="1600" dirty="0"/>
                </a:p>
              </p:txBody>
            </p:sp>
          </mc:Choice>
          <mc:Fallback xmlns="">
            <p:sp>
              <p:nvSpPr>
                <p:cNvPr id="7" name="文字方塊 6">
                  <a:extLst>
                    <a:ext uri="{FF2B5EF4-FFF2-40B4-BE49-F238E27FC236}">
                      <a16:creationId xmlns:a16="http://schemas.microsoft.com/office/drawing/2014/main" id="{3263E904-C403-47A7-8195-AD15D1F1D8B1}"/>
                    </a:ext>
                  </a:extLst>
                </p:cNvPr>
                <p:cNvSpPr txBox="1">
                  <a:spLocks noRot="1" noChangeAspect="1" noMove="1" noResize="1" noEditPoints="1" noAdjustHandles="1" noChangeArrowheads="1" noChangeShapeType="1" noTextEdit="1"/>
                </p:cNvSpPr>
                <p:nvPr/>
              </p:nvSpPr>
              <p:spPr>
                <a:xfrm rot="16200000">
                  <a:off x="11168601" y="3224732"/>
                  <a:ext cx="1064755" cy="237158"/>
                </a:xfrm>
                <a:prstGeom prst="rect">
                  <a:avLst/>
                </a:prstGeom>
                <a:blipFill>
                  <a:blip r:embed="rId5"/>
                  <a:stretch>
                    <a:fillRect l="-2564" t="-8000" r="-74359"/>
                  </a:stretch>
                </a:blipFill>
              </p:spPr>
              <p:txBody>
                <a:bodyPr/>
                <a:lstStyle/>
                <a:p>
                  <a:r>
                    <a:rPr lang="zh-TW" altLang="en-US">
                      <a:noFill/>
                    </a:rPr>
                    <a:t> </a:t>
                  </a:r>
                </a:p>
              </p:txBody>
            </p:sp>
          </mc:Fallback>
        </mc:AlternateContent>
      </p:grpSp>
      <p:sp>
        <p:nvSpPr>
          <p:cNvPr id="12" name="文字方塊 11">
            <a:extLst>
              <a:ext uri="{FF2B5EF4-FFF2-40B4-BE49-F238E27FC236}">
                <a16:creationId xmlns:a16="http://schemas.microsoft.com/office/drawing/2014/main" id="{A6270A5D-701A-4351-8D05-13126AF56E37}"/>
              </a:ext>
            </a:extLst>
          </p:cNvPr>
          <p:cNvSpPr txBox="1"/>
          <p:nvPr/>
        </p:nvSpPr>
        <p:spPr>
          <a:xfrm>
            <a:off x="103717" y="617796"/>
            <a:ext cx="5632407" cy="2862322"/>
          </a:xfrm>
          <a:prstGeom prst="rect">
            <a:avLst/>
          </a:prstGeom>
          <a:noFill/>
        </p:spPr>
        <p:txBody>
          <a:bodyPr wrap="square">
            <a:spAutoFit/>
          </a:bodyPr>
          <a:lstStyle/>
          <a:p>
            <a:pPr marL="285750" indent="-285750">
              <a:buFont typeface="Arial" panose="020B0604020202020204" pitchFamily="34" charset="0"/>
              <a:buChar char="•"/>
            </a:pPr>
            <a:r>
              <a:rPr lang="en-US" altLang="zh-TW" dirty="0"/>
              <a:t>This figure conveys the sensing concept: the Hall sensor measures the pole's leakage flux. The </a:t>
            </a:r>
            <a:r>
              <a:rPr lang="en-US" altLang="zh-TW" dirty="0" err="1"/>
              <a:t>colour</a:t>
            </a:r>
            <a:r>
              <a:rPr lang="en-US" altLang="zh-TW" dirty="0"/>
              <a:t>-coded arrows show the flux </a:t>
            </a:r>
            <a:r>
              <a:rPr lang="en-US" altLang="zh-TW" dirty="0" err="1"/>
              <a:t>channelled</a:t>
            </a:r>
            <a:r>
              <a:rPr lang="en-US" altLang="zh-TW" dirty="0"/>
              <a:t> inside the cone toward the tip, while the dashed arrows around the pole are the part that escapes through the lateral surface and returns through the air. The sensor (green patch) is mounted on that surface, so it sits in the leakage field rather than in the field between the tips, and the red arrow n⁺ marks the positive sense of what it reads (</a:t>
            </a:r>
            <a:r>
              <a:rPr lang="en-US" altLang="zh-TW" dirty="0" err="1"/>
              <a:t>b·n</a:t>
            </a:r>
            <a:r>
              <a:rPr lang="en-US" altLang="zh-TW" dirty="0"/>
              <a:t>⁺).</a:t>
            </a:r>
            <a:endParaRPr lang="zh-TW" altLang="en-US" dirty="0"/>
          </a:p>
        </p:txBody>
      </p:sp>
    </p:spTree>
    <p:extLst>
      <p:ext uri="{BB962C8B-B14F-4D97-AF65-F5344CB8AC3E}">
        <p14:creationId xmlns:p14="http://schemas.microsoft.com/office/powerpoint/2010/main" val="37240646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192000" cy="837142"/>
          </a:xfrm>
        </p:spPr>
        <p:txBody>
          <a:bodyPr>
            <a:normAutofit fontScale="90000"/>
          </a:bodyPr>
          <a:lstStyle/>
          <a:p>
            <a:r>
              <a:rPr lang="en-US" altLang="zh-TW" sz="3600" b="1" kern="100" dirty="0">
                <a:solidFill>
                  <a:srgbClr val="000000"/>
                </a:solidFill>
                <a:latin typeface="Aptos"/>
                <a:ea typeface="新細明體" panose="02020500000000000000" pitchFamily="18" charset="-120"/>
                <a:cs typeface="Times New Roman" panose="02020603050405020304" pitchFamily="18" charset="0"/>
              </a:rPr>
              <a:t>Hall-sensor-voltage-based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13" name="文字方塊 12">
            <a:extLst>
              <a:ext uri="{FF2B5EF4-FFF2-40B4-BE49-F238E27FC236}">
                <a16:creationId xmlns:a16="http://schemas.microsoft.com/office/drawing/2014/main" id="{07D0BEBD-A632-4258-A649-75AA4269318D}"/>
              </a:ext>
            </a:extLst>
          </p:cNvPr>
          <p:cNvSpPr txBox="1"/>
          <p:nvPr/>
        </p:nvSpPr>
        <p:spPr>
          <a:xfrm>
            <a:off x="27458" y="425713"/>
            <a:ext cx="6068542" cy="369332"/>
          </a:xfrm>
          <a:prstGeom prst="rect">
            <a:avLst/>
          </a:prstGeom>
          <a:noFill/>
        </p:spPr>
        <p:txBody>
          <a:bodyPr wrap="square" rtlCol="0">
            <a:spAutoFit/>
          </a:bodyPr>
          <a:lstStyle/>
          <a:p>
            <a:pPr marL="285750" indent="-285750">
              <a:buFont typeface="Wingdings" panose="05000000000000000000" pitchFamily="2" charset="2"/>
              <a:buChar char="l"/>
            </a:pPr>
            <a:r>
              <a:rPr lang="en-US" altLang="zh-TW" dirty="0">
                <a:latin typeface="Times New Roman" panose="02020603050405020304" pitchFamily="18" charset="0"/>
                <a:cs typeface="Times New Roman" panose="02020603050405020304" pitchFamily="18" charset="0"/>
              </a:rPr>
              <a:t>Interpolation Point Algorithm for sensor area</a:t>
            </a:r>
            <a:endParaRPr lang="zh-TW" alt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789F05BF-8DE1-4EC6-87D7-D20943E065CD}"/>
                  </a:ext>
                </a:extLst>
              </p:cNvPr>
              <p:cNvSpPr txBox="1"/>
              <p:nvPr/>
            </p:nvSpPr>
            <p:spPr>
              <a:xfrm>
                <a:off x="152401" y="922869"/>
                <a:ext cx="5232404" cy="5620385"/>
              </a:xfrm>
              <a:prstGeom prst="rect">
                <a:avLst/>
              </a:prstGeom>
              <a:noFill/>
            </p:spPr>
            <p:txBody>
              <a:bodyPr wrap="square" rtlCol="0">
                <a:spAutoFit/>
              </a:bodyPr>
              <a:lstStyle/>
              <a:p>
                <a:pPr marL="342900" indent="-342900">
                  <a:buFont typeface="+mj-lt"/>
                  <a:buAutoNum type="arabicPeriod"/>
                </a:pPr>
                <a:r>
                  <a:rPr lang="en-US" altLang="zh-TW" dirty="0"/>
                  <a:t>Input </a:t>
                </a:r>
                <a14:m>
                  <m:oMath xmlns:m="http://schemas.openxmlformats.org/officeDocument/2006/math">
                    <m:sSub>
                      <m:sSubPr>
                        <m:ctrlPr>
                          <a:rPr lang="en-US" altLang="zh-TW" i="1" smtClean="0">
                            <a:latin typeface="Cambria Math" panose="02040503050406030204" pitchFamily="18" charset="0"/>
                          </a:rPr>
                        </m:ctrlPr>
                      </m:sSubPr>
                      <m:e>
                        <m:r>
                          <a:rPr lang="en-US" altLang="zh-TW" b="0" i="1" smtClean="0">
                            <a:latin typeface="Cambria Math" panose="02040503050406030204" pitchFamily="18" charset="0"/>
                          </a:rPr>
                          <m:t>𝑁</m:t>
                        </m:r>
                      </m:e>
                      <m:sub>
                        <m:r>
                          <a:rPr lang="en-US" altLang="zh-TW" b="0" i="1" smtClean="0">
                            <a:latin typeface="Cambria Math" panose="02040503050406030204" pitchFamily="18" charset="0"/>
                          </a:rPr>
                          <m:t>𝑟</m:t>
                        </m:r>
                      </m:sub>
                    </m:sSub>
                  </m:oMath>
                </a14:m>
                <a:r>
                  <a:rPr lang="en-US" altLang="zh-TW" dirty="0"/>
                  <a:t>, </a:t>
                </a:r>
                <a14:m>
                  <m:oMath xmlns:m="http://schemas.openxmlformats.org/officeDocument/2006/math">
                    <m:sSub>
                      <m:sSubPr>
                        <m:ctrlPr>
                          <a:rPr lang="en-US" altLang="zh-TW" i="1">
                            <a:latin typeface="Cambria Math" panose="02040503050406030204" pitchFamily="18" charset="0"/>
                          </a:rPr>
                        </m:ctrlPr>
                      </m:sSubPr>
                      <m:e>
                        <m:r>
                          <a:rPr lang="en-US" altLang="zh-TW" i="1">
                            <a:latin typeface="Cambria Math" panose="02040503050406030204" pitchFamily="18" charset="0"/>
                          </a:rPr>
                          <m:t>𝑁</m:t>
                        </m:r>
                      </m:e>
                      <m:sub>
                        <m:r>
                          <a:rPr lang="zh-TW" altLang="en-US" i="1">
                            <a:latin typeface="Cambria Math" panose="02040503050406030204" pitchFamily="18" charset="0"/>
                          </a:rPr>
                          <m:t>𝜃</m:t>
                        </m:r>
                      </m:sub>
                    </m:sSub>
                  </m:oMath>
                </a14:m>
                <a:r>
                  <a:rPr lang="en-US" altLang="zh-TW" dirty="0"/>
                  <a:t>, </a:t>
                </a:r>
                <a14:m>
                  <m:oMath xmlns:m="http://schemas.openxmlformats.org/officeDocument/2006/math">
                    <m:sSub>
                      <m:sSubPr>
                        <m:ctrlPr>
                          <a:rPr lang="en-US" altLang="zh-TW" i="1">
                            <a:latin typeface="Cambria Math" panose="02040503050406030204" pitchFamily="18" charset="0"/>
                          </a:rPr>
                        </m:ctrlPr>
                      </m:sSubPr>
                      <m:e>
                        <m:r>
                          <a:rPr lang="en-US" altLang="zh-TW" i="1">
                            <a:latin typeface="Cambria Math" panose="02040503050406030204" pitchFamily="18" charset="0"/>
                          </a:rPr>
                          <m:t>𝑁</m:t>
                        </m:r>
                      </m:e>
                      <m:sub>
                        <m:r>
                          <a:rPr lang="en-US" altLang="zh-TW" b="0" i="1" smtClean="0">
                            <a:latin typeface="Cambria Math" panose="02040503050406030204" pitchFamily="18" charset="0"/>
                          </a:rPr>
                          <m:t>𝑧</m:t>
                        </m:r>
                      </m:sub>
                    </m:sSub>
                  </m:oMath>
                </a14:m>
                <a:r>
                  <a:rPr lang="zh-TW" altLang="en-US" dirty="0"/>
                  <a:t>，</a:t>
                </a:r>
                <a:r>
                  <a:rPr lang="en-US" altLang="zh-TW" dirty="0"/>
                  <a:t> These represent the numbers of divisions required along the three coordinate directions of the sphere</a:t>
                </a:r>
                <a:r>
                  <a:rPr lang="zh-TW" altLang="en-US" dirty="0"/>
                  <a:t>，</a:t>
                </a:r>
                <a:r>
                  <a:rPr lang="en-US" altLang="zh-TW" dirty="0"/>
                  <a:t> where </a:t>
                </a:r>
                <a14:m>
                  <m:oMath xmlns:m="http://schemas.openxmlformats.org/officeDocument/2006/math">
                    <m:r>
                      <a:rPr lang="en-US" altLang="zh-TW" b="0" i="1" smtClean="0">
                        <a:latin typeface="Cambria Math" panose="02040503050406030204" pitchFamily="18" charset="0"/>
                      </a:rPr>
                      <m:t>𝑟</m:t>
                    </m:r>
                    <m:r>
                      <a:rPr lang="en-US" altLang="zh-TW" i="1">
                        <a:latin typeface="Cambria Math" panose="02040503050406030204" pitchFamily="18" charset="0"/>
                        <a:ea typeface="Cambria Math" panose="02040503050406030204" pitchFamily="18" charset="0"/>
                      </a:rPr>
                      <m:t>𝜖</m:t>
                    </m:r>
                    <m:r>
                      <a:rPr lang="en-US" altLang="zh-TW" b="0" i="1" smtClean="0">
                        <a:latin typeface="Cambria Math" panose="02040503050406030204" pitchFamily="18" charset="0"/>
                        <a:ea typeface="Cambria Math" panose="02040503050406030204" pitchFamily="18" charset="0"/>
                      </a:rPr>
                      <m:t>(0  </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𝑅</m:t>
                        </m:r>
                      </m:e>
                      <m:sub>
                        <m:r>
                          <a:rPr lang="en-US" altLang="zh-TW" b="0" i="1" smtClean="0">
                            <a:latin typeface="Cambria Math" panose="02040503050406030204" pitchFamily="18" charset="0"/>
                            <a:ea typeface="Cambria Math" panose="02040503050406030204" pitchFamily="18" charset="0"/>
                          </a:rPr>
                          <m:t>𝑠</m:t>
                        </m:r>
                      </m:sub>
                    </m:sSub>
                    <m:r>
                      <a:rPr lang="en-US" altLang="zh-TW" b="0" i="1" smtClean="0">
                        <a:latin typeface="Cambria Math" panose="02040503050406030204" pitchFamily="18" charset="0"/>
                        <a:ea typeface="Cambria Math" panose="02040503050406030204" pitchFamily="18" charset="0"/>
                      </a:rPr>
                      <m:t>]</m:t>
                    </m:r>
                  </m:oMath>
                </a14:m>
                <a:r>
                  <a:rPr lang="zh-TW" altLang="en-US" dirty="0"/>
                  <a:t>，</a:t>
                </a:r>
                <a14:m>
                  <m:oMath xmlns:m="http://schemas.openxmlformats.org/officeDocument/2006/math">
                    <m:r>
                      <a:rPr lang="zh-TW" altLang="en-US" i="1" smtClean="0">
                        <a:latin typeface="Cambria Math" panose="02040503050406030204" pitchFamily="18" charset="0"/>
                      </a:rPr>
                      <m:t>𝜃𝜖</m:t>
                    </m:r>
                    <m:d>
                      <m:dPr>
                        <m:begChr m:val="["/>
                        <m:endChr m:val="]"/>
                        <m:ctrlPr>
                          <a:rPr lang="en-US" altLang="zh-TW" b="0" i="1" smtClean="0">
                            <a:latin typeface="Cambria Math" panose="02040503050406030204" pitchFamily="18" charset="0"/>
                          </a:rPr>
                        </m:ctrlPr>
                      </m:dPr>
                      <m:e>
                        <m:r>
                          <a:rPr lang="en-US" altLang="zh-TW" b="0" i="1" smtClean="0">
                            <a:latin typeface="Cambria Math" panose="02040503050406030204" pitchFamily="18" charset="0"/>
                          </a:rPr>
                          <m:t>0  2</m:t>
                        </m:r>
                        <m:r>
                          <a:rPr lang="zh-TW" altLang="en-US" b="0" i="1" smtClean="0">
                            <a:latin typeface="Cambria Math" panose="02040503050406030204" pitchFamily="18" charset="0"/>
                          </a:rPr>
                          <m:t>𝜋</m:t>
                        </m:r>
                      </m:e>
                    </m:d>
                  </m:oMath>
                </a14:m>
                <a:r>
                  <a:rPr lang="zh-TW" altLang="en-US" dirty="0"/>
                  <a:t>，</a:t>
                </a:r>
                <a14:m>
                  <m:oMath xmlns:m="http://schemas.openxmlformats.org/officeDocument/2006/math">
                    <m:r>
                      <a:rPr lang="zh-TW" altLang="en-US" i="1" dirty="0" smtClean="0">
                        <a:latin typeface="Cambria Math" panose="02040503050406030204" pitchFamily="18" charset="0"/>
                      </a:rPr>
                      <m:t>𝜙𝜖</m:t>
                    </m:r>
                    <m:r>
                      <a:rPr lang="en-US" altLang="zh-TW" b="0" i="1" dirty="0" smtClean="0">
                        <a:latin typeface="Cambria Math" panose="02040503050406030204" pitchFamily="18" charset="0"/>
                      </a:rPr>
                      <m:t>[</m:t>
                    </m:r>
                    <m:r>
                      <a:rPr lang="en-US" altLang="zh-TW" b="0" i="1" dirty="0" smtClean="0">
                        <a:latin typeface="Cambria Math" panose="02040503050406030204" pitchFamily="18" charset="0"/>
                        <a:ea typeface="Cambria Math" panose="02040503050406030204" pitchFamily="18" charset="0"/>
                      </a:rPr>
                      <m:t>−</m:t>
                    </m:r>
                    <m:f>
                      <m:fPr>
                        <m:ctrlPr>
                          <a:rPr lang="en-US" altLang="zh-TW" b="0" i="1" dirty="0" smtClean="0">
                            <a:latin typeface="Cambria Math" panose="02040503050406030204" pitchFamily="18" charset="0"/>
                            <a:ea typeface="Cambria Math" panose="02040503050406030204" pitchFamily="18" charset="0"/>
                          </a:rPr>
                        </m:ctrlPr>
                      </m:fPr>
                      <m:num>
                        <m:r>
                          <a:rPr lang="zh-TW" altLang="en-US" b="0" i="1" dirty="0" smtClean="0">
                            <a:latin typeface="Cambria Math" panose="02040503050406030204" pitchFamily="18" charset="0"/>
                            <a:ea typeface="Cambria Math" panose="02040503050406030204" pitchFamily="18" charset="0"/>
                          </a:rPr>
                          <m:t>𝜋</m:t>
                        </m:r>
                      </m:num>
                      <m:den>
                        <m:r>
                          <a:rPr lang="en-US" altLang="zh-TW" b="0" i="1" dirty="0" smtClean="0">
                            <a:latin typeface="Cambria Math" panose="02040503050406030204" pitchFamily="18" charset="0"/>
                            <a:ea typeface="Cambria Math" panose="02040503050406030204" pitchFamily="18" charset="0"/>
                          </a:rPr>
                          <m:t>2</m:t>
                        </m:r>
                      </m:den>
                    </m:f>
                    <m:r>
                      <a:rPr lang="en-US" altLang="zh-TW" b="0" i="1" dirty="0" smtClean="0">
                        <a:latin typeface="Cambria Math" panose="02040503050406030204" pitchFamily="18" charset="0"/>
                        <a:ea typeface="Cambria Math" panose="02040503050406030204" pitchFamily="18" charset="0"/>
                      </a:rPr>
                      <m:t>   </m:t>
                    </m:r>
                    <m:f>
                      <m:fPr>
                        <m:ctrlPr>
                          <a:rPr lang="en-US" altLang="zh-TW" b="0" i="1" dirty="0" smtClean="0">
                            <a:latin typeface="Cambria Math" panose="02040503050406030204" pitchFamily="18" charset="0"/>
                            <a:ea typeface="Cambria Math" panose="02040503050406030204" pitchFamily="18" charset="0"/>
                          </a:rPr>
                        </m:ctrlPr>
                      </m:fPr>
                      <m:num>
                        <m:r>
                          <a:rPr lang="zh-TW" altLang="en-US" b="0" i="1" dirty="0" smtClean="0">
                            <a:latin typeface="Cambria Math" panose="02040503050406030204" pitchFamily="18" charset="0"/>
                            <a:ea typeface="Cambria Math" panose="02040503050406030204" pitchFamily="18" charset="0"/>
                          </a:rPr>
                          <m:t>𝜋</m:t>
                        </m:r>
                      </m:num>
                      <m:den>
                        <m:r>
                          <a:rPr lang="en-US" altLang="zh-TW" b="0" i="1" dirty="0" smtClean="0">
                            <a:latin typeface="Cambria Math" panose="02040503050406030204" pitchFamily="18" charset="0"/>
                            <a:ea typeface="Cambria Math" panose="02040503050406030204" pitchFamily="18" charset="0"/>
                          </a:rPr>
                          <m:t>2</m:t>
                        </m:r>
                      </m:den>
                    </m:f>
                    <m:r>
                      <a:rPr lang="en-US" altLang="zh-TW" b="0" i="1" dirty="0" smtClean="0">
                        <a:latin typeface="Cambria Math" panose="02040503050406030204" pitchFamily="18" charset="0"/>
                        <a:ea typeface="Cambria Math" panose="02040503050406030204" pitchFamily="18" charset="0"/>
                      </a:rPr>
                      <m:t>]</m:t>
                    </m:r>
                  </m:oMath>
                </a14:m>
                <a:r>
                  <a:rPr lang="zh-TW" altLang="en-US" dirty="0"/>
                  <a:t>。</a:t>
                </a:r>
                <a:endParaRPr lang="en-US" altLang="zh-TW" dirty="0"/>
              </a:p>
              <a:p>
                <a:pPr marL="342900" indent="-342900">
                  <a:buFont typeface="+mj-lt"/>
                  <a:buAutoNum type="arabicPeriod"/>
                </a:pPr>
                <a:endParaRPr lang="en-US" altLang="zh-TW" dirty="0"/>
              </a:p>
              <a:p>
                <a:pPr marL="342900" indent="-342900">
                  <a:buFont typeface="+mj-lt"/>
                  <a:buAutoNum type="arabicPeriod"/>
                </a:pPr>
                <a:r>
                  <a:rPr lang="en-US" altLang="zh-TW" dirty="0"/>
                  <a:t>The sphere is uniformly divided along its three coordinate directions according to the following three equations.</a:t>
                </a:r>
              </a:p>
              <a:p>
                <a:pPr/>
                <a14:m>
                  <m:oMathPara xmlns:m="http://schemas.openxmlformats.org/officeDocument/2006/math">
                    <m:oMathParaPr>
                      <m:jc m:val="centerGroup"/>
                    </m:oMathParaPr>
                    <m:oMath xmlns:m="http://schemas.openxmlformats.org/officeDocument/2006/math">
                      <m:sSub>
                        <m:sSubPr>
                          <m:ctrlPr>
                            <a:rPr lang="en-US" altLang="zh-TW" i="1" smtClean="0">
                              <a:latin typeface="Cambria Math" panose="02040503050406030204" pitchFamily="18" charset="0"/>
                            </a:rPr>
                          </m:ctrlPr>
                        </m:sSubPr>
                        <m:e>
                          <m:r>
                            <a:rPr lang="en-US" altLang="zh-TW" b="0" i="1" smtClean="0">
                              <a:latin typeface="Cambria Math" panose="02040503050406030204" pitchFamily="18" charset="0"/>
                            </a:rPr>
                            <m:t>𝑟</m:t>
                          </m:r>
                        </m:e>
                        <m:sub>
                          <m:r>
                            <a:rPr lang="en-US" altLang="zh-TW" b="0" i="1" smtClean="0">
                              <a:latin typeface="Cambria Math" panose="02040503050406030204" pitchFamily="18" charset="0"/>
                            </a:rPr>
                            <m:t>𝑖</m:t>
                          </m:r>
                        </m:sub>
                      </m:sSub>
                      <m:r>
                        <a:rPr lang="en-US" altLang="zh-TW" b="0" i="1" smtClean="0">
                          <a:latin typeface="Cambria Math" panose="02040503050406030204" pitchFamily="18" charset="0"/>
                        </a:rPr>
                        <m:t>=</m:t>
                      </m:r>
                      <m:sSub>
                        <m:sSubPr>
                          <m:ctrlPr>
                            <a:rPr lang="en-US" altLang="zh-TW" i="1">
                              <a:latin typeface="Cambria Math" panose="02040503050406030204" pitchFamily="18" charset="0"/>
                              <a:ea typeface="Cambria Math" panose="02040503050406030204" pitchFamily="18" charset="0"/>
                            </a:rPr>
                          </m:ctrlPr>
                        </m:sSubPr>
                        <m:e>
                          <m:r>
                            <a:rPr lang="en-US" altLang="zh-TW" i="1">
                              <a:latin typeface="Cambria Math" panose="02040503050406030204" pitchFamily="18" charset="0"/>
                              <a:ea typeface="Cambria Math" panose="02040503050406030204" pitchFamily="18" charset="0"/>
                            </a:rPr>
                            <m:t>𝑅</m:t>
                          </m:r>
                        </m:e>
                        <m:sub>
                          <m:r>
                            <a:rPr lang="en-US" altLang="zh-TW" i="1">
                              <a:latin typeface="Cambria Math" panose="02040503050406030204" pitchFamily="18" charset="0"/>
                              <a:ea typeface="Cambria Math" panose="02040503050406030204" pitchFamily="18" charset="0"/>
                            </a:rPr>
                            <m:t>𝑠</m:t>
                          </m:r>
                        </m:sub>
                      </m:sSub>
                      <m:r>
                        <a:rPr lang="en-US" altLang="zh-TW" b="0" i="1" smtClean="0">
                          <a:latin typeface="Cambria Math" panose="02040503050406030204" pitchFamily="18" charset="0"/>
                          <a:ea typeface="Cambria Math" panose="02040503050406030204" pitchFamily="18" charset="0"/>
                        </a:rPr>
                        <m:t>∙</m:t>
                      </m:r>
                      <m:sSup>
                        <m:sSupPr>
                          <m:ctrlPr>
                            <a:rPr lang="en-US" altLang="zh-TW" b="0" i="1" smtClean="0">
                              <a:latin typeface="Cambria Math" panose="02040503050406030204" pitchFamily="18" charset="0"/>
                              <a:ea typeface="Cambria Math" panose="02040503050406030204" pitchFamily="18" charset="0"/>
                            </a:rPr>
                          </m:ctrlPr>
                        </m:sSupPr>
                        <m:e>
                          <m:d>
                            <m:dPr>
                              <m:ctrlPr>
                                <a:rPr lang="en-US" altLang="zh-TW" b="0" i="1" smtClean="0">
                                  <a:latin typeface="Cambria Math" panose="02040503050406030204" pitchFamily="18" charset="0"/>
                                  <a:ea typeface="Cambria Math" panose="02040503050406030204" pitchFamily="18" charset="0"/>
                                </a:rPr>
                              </m:ctrlPr>
                            </m:dPr>
                            <m:e>
                              <m:f>
                                <m:fPr>
                                  <m:ctrlPr>
                                    <a:rPr lang="en-US" altLang="zh-TW" b="0" i="1" smtClean="0">
                                      <a:latin typeface="Cambria Math" panose="02040503050406030204" pitchFamily="18" charset="0"/>
                                      <a:ea typeface="Cambria Math" panose="02040503050406030204" pitchFamily="18" charset="0"/>
                                    </a:rPr>
                                  </m:ctrlPr>
                                </m:fPr>
                                <m:num>
                                  <m:r>
                                    <a:rPr lang="en-US" altLang="zh-TW" b="0" i="1" smtClean="0">
                                      <a:latin typeface="Cambria Math" panose="02040503050406030204" pitchFamily="18" charset="0"/>
                                      <a:ea typeface="Cambria Math" panose="02040503050406030204" pitchFamily="18" charset="0"/>
                                    </a:rPr>
                                    <m:t>𝑖</m:t>
                                  </m:r>
                                  <m:r>
                                    <a:rPr lang="en-US" altLang="zh-TW" b="0" i="1" smtClean="0">
                                      <a:latin typeface="Cambria Math" panose="02040503050406030204" pitchFamily="18" charset="0"/>
                                      <a:ea typeface="Cambria Math" panose="02040503050406030204" pitchFamily="18" charset="0"/>
                                    </a:rPr>
                                    <m:t>−0.5</m:t>
                                  </m:r>
                                </m:num>
                                <m:den>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𝑁</m:t>
                                      </m:r>
                                    </m:e>
                                    <m:sub>
                                      <m:r>
                                        <a:rPr lang="en-US" altLang="zh-TW" b="0" i="1" smtClean="0">
                                          <a:latin typeface="Cambria Math" panose="02040503050406030204" pitchFamily="18" charset="0"/>
                                          <a:ea typeface="Cambria Math" panose="02040503050406030204" pitchFamily="18" charset="0"/>
                                        </a:rPr>
                                        <m:t>𝑟</m:t>
                                      </m:r>
                                    </m:sub>
                                  </m:sSub>
                                </m:den>
                              </m:f>
                            </m:e>
                          </m:d>
                        </m:e>
                        <m:sup>
                          <m:f>
                            <m:fPr>
                              <m:ctrlPr>
                                <a:rPr lang="en-US" altLang="zh-TW" b="0" i="1" smtClean="0">
                                  <a:latin typeface="Cambria Math" panose="02040503050406030204" pitchFamily="18" charset="0"/>
                                  <a:ea typeface="Cambria Math" panose="02040503050406030204" pitchFamily="18" charset="0"/>
                                </a:rPr>
                              </m:ctrlPr>
                            </m:fPr>
                            <m:num>
                              <m:r>
                                <a:rPr lang="en-US" altLang="zh-TW" b="0" i="1" smtClean="0">
                                  <a:latin typeface="Cambria Math" panose="02040503050406030204" pitchFamily="18" charset="0"/>
                                  <a:ea typeface="Cambria Math" panose="02040503050406030204" pitchFamily="18" charset="0"/>
                                </a:rPr>
                                <m:t>1</m:t>
                              </m:r>
                            </m:num>
                            <m:den>
                              <m:r>
                                <a:rPr lang="en-US" altLang="zh-TW" b="0" i="1" smtClean="0">
                                  <a:latin typeface="Cambria Math" panose="02040503050406030204" pitchFamily="18" charset="0"/>
                                  <a:ea typeface="Cambria Math" panose="02040503050406030204" pitchFamily="18" charset="0"/>
                                </a:rPr>
                                <m:t>2</m:t>
                              </m:r>
                            </m:den>
                          </m:f>
                        </m:sup>
                      </m:sSup>
                      <m:r>
                        <a:rPr lang="en-US" altLang="zh-TW" b="0" i="1" smtClean="0">
                          <a:latin typeface="Cambria Math" panose="02040503050406030204" pitchFamily="18" charset="0"/>
                          <a:ea typeface="Cambria Math" panose="02040503050406030204" pitchFamily="18" charset="0"/>
                        </a:rPr>
                        <m:t>,</m:t>
                      </m:r>
                      <m:r>
                        <a:rPr lang="en-US" altLang="zh-TW" b="0" i="1" smtClean="0">
                          <a:latin typeface="Cambria Math" panose="02040503050406030204" pitchFamily="18" charset="0"/>
                          <a:ea typeface="Cambria Math" panose="02040503050406030204" pitchFamily="18" charset="0"/>
                        </a:rPr>
                        <m:t>𝑖</m:t>
                      </m:r>
                      <m:r>
                        <a:rPr lang="en-US" altLang="zh-TW" b="0" i="1" smtClean="0">
                          <a:latin typeface="Cambria Math" panose="02040503050406030204" pitchFamily="18" charset="0"/>
                          <a:ea typeface="Cambria Math" panose="02040503050406030204" pitchFamily="18" charset="0"/>
                        </a:rPr>
                        <m:t>=1…</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𝑁</m:t>
                          </m:r>
                        </m:e>
                        <m:sub>
                          <m:r>
                            <a:rPr lang="en-US" altLang="zh-TW" b="0" i="1" smtClean="0">
                              <a:latin typeface="Cambria Math" panose="02040503050406030204" pitchFamily="18" charset="0"/>
                              <a:ea typeface="Cambria Math" panose="02040503050406030204" pitchFamily="18" charset="0"/>
                            </a:rPr>
                            <m:t>𝑟</m:t>
                          </m:r>
                        </m:sub>
                      </m:sSub>
                    </m:oMath>
                  </m:oMathPara>
                </a14:m>
                <a:endParaRPr lang="en-US" altLang="zh-TW" dirty="0"/>
              </a:p>
              <a:p>
                <a:pPr/>
                <a14:m>
                  <m:oMathPara xmlns:m="http://schemas.openxmlformats.org/officeDocument/2006/math">
                    <m:oMathParaPr>
                      <m:jc m:val="centerGroup"/>
                    </m:oMathParaPr>
                    <m:oMath xmlns:m="http://schemas.openxmlformats.org/officeDocument/2006/math">
                      <m:sSub>
                        <m:sSubPr>
                          <m:ctrlPr>
                            <a:rPr lang="en-US" altLang="zh-TW" i="1" smtClean="0">
                              <a:latin typeface="Cambria Math" panose="02040503050406030204" pitchFamily="18" charset="0"/>
                            </a:rPr>
                          </m:ctrlPr>
                        </m:sSubPr>
                        <m:e>
                          <m:r>
                            <a:rPr lang="zh-TW" altLang="en-US" i="1" smtClean="0">
                              <a:latin typeface="Cambria Math" panose="02040503050406030204" pitchFamily="18" charset="0"/>
                            </a:rPr>
                            <m:t>𝜃</m:t>
                          </m:r>
                        </m:e>
                        <m:sub>
                          <m:r>
                            <a:rPr lang="en-US" altLang="zh-TW" b="0" i="1" smtClean="0">
                              <a:latin typeface="Cambria Math" panose="02040503050406030204" pitchFamily="18" charset="0"/>
                            </a:rPr>
                            <m:t>𝑗</m:t>
                          </m:r>
                        </m:sub>
                      </m:sSub>
                      <m:r>
                        <a:rPr lang="en-US" altLang="zh-TW" b="0" i="1" smtClean="0">
                          <a:latin typeface="Cambria Math" panose="02040503050406030204" pitchFamily="18" charset="0"/>
                        </a:rPr>
                        <m:t>=</m:t>
                      </m:r>
                      <m:f>
                        <m:fPr>
                          <m:ctrlPr>
                            <a:rPr lang="en-US" altLang="zh-TW" b="0" i="1" smtClean="0">
                              <a:latin typeface="Cambria Math" panose="02040503050406030204" pitchFamily="18" charset="0"/>
                            </a:rPr>
                          </m:ctrlPr>
                        </m:fPr>
                        <m:num>
                          <m:r>
                            <a:rPr lang="zh-TW" altLang="en-US" b="0" i="1" smtClean="0">
                              <a:latin typeface="Cambria Math" panose="02040503050406030204" pitchFamily="18" charset="0"/>
                            </a:rPr>
                            <m:t>𝜋</m:t>
                          </m:r>
                        </m:num>
                        <m:den>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𝑁</m:t>
                              </m:r>
                            </m:e>
                            <m:sub>
                              <m:r>
                                <a:rPr lang="zh-TW" altLang="en-US" b="0" i="1" smtClean="0">
                                  <a:latin typeface="Cambria Math" panose="02040503050406030204" pitchFamily="18" charset="0"/>
                                </a:rPr>
                                <m:t>𝜃</m:t>
                              </m:r>
                            </m:sub>
                          </m:sSub>
                        </m:den>
                      </m:f>
                      <m:r>
                        <a:rPr lang="en-US" altLang="zh-TW" b="0" i="1" smtClean="0">
                          <a:latin typeface="Cambria Math" panose="02040503050406030204" pitchFamily="18" charset="0"/>
                        </a:rPr>
                        <m:t>(2</m:t>
                      </m:r>
                      <m:r>
                        <a:rPr lang="en-US" altLang="zh-TW" b="0" i="1" smtClean="0">
                          <a:latin typeface="Cambria Math" panose="02040503050406030204" pitchFamily="18" charset="0"/>
                        </a:rPr>
                        <m:t>𝑗</m:t>
                      </m:r>
                      <m:r>
                        <a:rPr lang="en-US" altLang="zh-TW" b="0" i="1" smtClean="0">
                          <a:latin typeface="Cambria Math" panose="02040503050406030204" pitchFamily="18" charset="0"/>
                        </a:rPr>
                        <m:t>−1),</m:t>
                      </m:r>
                      <m:r>
                        <a:rPr lang="en-US" altLang="zh-TW" b="0" i="1" smtClean="0">
                          <a:latin typeface="Cambria Math" panose="02040503050406030204" pitchFamily="18" charset="0"/>
                        </a:rPr>
                        <m:t>𝑗</m:t>
                      </m:r>
                      <m:r>
                        <a:rPr lang="en-US" altLang="zh-TW" b="0" i="1" smtClean="0">
                          <a:latin typeface="Cambria Math" panose="02040503050406030204" pitchFamily="18" charset="0"/>
                        </a:rPr>
                        <m:t>=1…</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𝑁</m:t>
                          </m:r>
                        </m:e>
                        <m:sub>
                          <m:r>
                            <a:rPr lang="zh-TW" altLang="en-US" b="0" i="1" smtClean="0">
                              <a:latin typeface="Cambria Math" panose="02040503050406030204" pitchFamily="18" charset="0"/>
                            </a:rPr>
                            <m:t>𝜃</m:t>
                          </m:r>
                        </m:sub>
                      </m:sSub>
                    </m:oMath>
                  </m:oMathPara>
                </a14:m>
                <a:endParaRPr lang="en-US" altLang="zh-TW" dirty="0"/>
              </a:p>
              <a:p>
                <a:pPr/>
                <a14:m>
                  <m:oMathPara xmlns:m="http://schemas.openxmlformats.org/officeDocument/2006/math">
                    <m:oMathParaPr>
                      <m:jc m:val="centerGroup"/>
                    </m:oMathParaPr>
                    <m:oMath xmlns:m="http://schemas.openxmlformats.org/officeDocument/2006/math">
                      <m:sSub>
                        <m:sSubPr>
                          <m:ctrlPr>
                            <a:rPr lang="en-US" altLang="zh-TW" i="1" smtClean="0">
                              <a:latin typeface="Cambria Math" panose="02040503050406030204" pitchFamily="18" charset="0"/>
                            </a:rPr>
                          </m:ctrlPr>
                        </m:sSubPr>
                        <m:e>
                          <m:r>
                            <a:rPr lang="en-US" altLang="zh-TW" b="0" i="1" smtClean="0">
                              <a:latin typeface="Cambria Math" panose="02040503050406030204" pitchFamily="18" charset="0"/>
                            </a:rPr>
                            <m:t>𝑧</m:t>
                          </m:r>
                        </m:e>
                        <m:sub>
                          <m:r>
                            <a:rPr lang="en-US" altLang="zh-TW" b="0" i="1" smtClean="0">
                              <a:latin typeface="Cambria Math" panose="02040503050406030204" pitchFamily="18" charset="0"/>
                            </a:rPr>
                            <m:t>𝑘</m:t>
                          </m:r>
                        </m:sub>
                      </m:sSub>
                      <m:r>
                        <a:rPr lang="en-US" altLang="zh-TW" b="0" i="1" smtClean="0">
                          <a:latin typeface="Cambria Math" panose="02040503050406030204" pitchFamily="18" charset="0"/>
                        </a:rPr>
                        <m:t>=</m:t>
                      </m:r>
                      <m:f>
                        <m:fPr>
                          <m:ctrlPr>
                            <a:rPr lang="en-US" altLang="zh-TW" b="0" i="1" smtClean="0">
                              <a:latin typeface="Cambria Math" panose="02040503050406030204" pitchFamily="18" charset="0"/>
                            </a:rPr>
                          </m:ctrlPr>
                        </m:fPr>
                        <m:num>
                          <m:r>
                            <a:rPr lang="en-US" altLang="zh-TW" b="0" i="1" smtClean="0">
                              <a:latin typeface="Cambria Math" panose="02040503050406030204" pitchFamily="18" charset="0"/>
                            </a:rPr>
                            <m:t>h</m:t>
                          </m:r>
                        </m:num>
                        <m:den>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𝑁</m:t>
                              </m:r>
                            </m:e>
                            <m:sub>
                              <m:r>
                                <a:rPr lang="en-US" altLang="zh-TW" b="0" i="1" smtClean="0">
                                  <a:latin typeface="Cambria Math" panose="02040503050406030204" pitchFamily="18" charset="0"/>
                                </a:rPr>
                                <m:t>𝑧</m:t>
                              </m:r>
                            </m:sub>
                          </m:sSub>
                        </m:den>
                      </m:f>
                      <m:r>
                        <a:rPr lang="en-US" altLang="zh-TW" b="0" i="1" smtClean="0">
                          <a:latin typeface="Cambria Math" panose="02040503050406030204" pitchFamily="18" charset="0"/>
                        </a:rPr>
                        <m:t>(</m:t>
                      </m:r>
                      <m:r>
                        <a:rPr lang="en-US" altLang="zh-TW" b="0" i="1" smtClean="0">
                          <a:latin typeface="Cambria Math" panose="02040503050406030204" pitchFamily="18" charset="0"/>
                        </a:rPr>
                        <m:t>𝑘</m:t>
                      </m:r>
                      <m:r>
                        <a:rPr lang="en-US" altLang="zh-TW" b="0" i="1" smtClean="0">
                          <a:latin typeface="Cambria Math" panose="02040503050406030204" pitchFamily="18" charset="0"/>
                        </a:rPr>
                        <m:t>−0.5)</m:t>
                      </m:r>
                      <m:r>
                        <a:rPr lang="en-US" altLang="zh-TW" b="0" i="0" smtClean="0">
                          <a:latin typeface="Cambria Math" panose="02040503050406030204" pitchFamily="18" charset="0"/>
                          <a:ea typeface="Cambria Math" panose="02040503050406030204" pitchFamily="18" charset="0"/>
                        </a:rPr>
                        <m:t>,</m:t>
                      </m:r>
                      <m:r>
                        <m:rPr>
                          <m:sty m:val="p"/>
                        </m:rPr>
                        <a:rPr lang="en-US" altLang="zh-TW" b="0" i="0" smtClean="0">
                          <a:latin typeface="Cambria Math" panose="02040503050406030204" pitchFamily="18" charset="0"/>
                          <a:ea typeface="Cambria Math" panose="02040503050406030204" pitchFamily="18" charset="0"/>
                        </a:rPr>
                        <m:t>k</m:t>
                      </m:r>
                      <m:r>
                        <a:rPr lang="en-US" altLang="zh-TW" b="0" i="0" smtClean="0">
                          <a:latin typeface="Cambria Math" panose="02040503050406030204" pitchFamily="18" charset="0"/>
                          <a:ea typeface="Cambria Math" panose="02040503050406030204" pitchFamily="18" charset="0"/>
                        </a:rPr>
                        <m:t>=1…</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𝑁</m:t>
                          </m:r>
                        </m:e>
                        <m:sub>
                          <m:r>
                            <a:rPr lang="en-US" altLang="zh-TW" b="0" i="1" smtClean="0">
                              <a:latin typeface="Cambria Math" panose="02040503050406030204" pitchFamily="18" charset="0"/>
                              <a:ea typeface="Cambria Math" panose="02040503050406030204" pitchFamily="18" charset="0"/>
                            </a:rPr>
                            <m:t>𝑧</m:t>
                          </m:r>
                        </m:sub>
                      </m:sSub>
                    </m:oMath>
                  </m:oMathPara>
                </a14:m>
                <a:endParaRPr lang="en-US" altLang="zh-TW" dirty="0"/>
              </a:p>
              <a:p>
                <a:pPr marL="342900" indent="-342900">
                  <a:buFont typeface="+mj-lt"/>
                  <a:buAutoNum type="arabicPeriod" startAt="3"/>
                </a:pPr>
                <a:r>
                  <a:rPr lang="en-US" altLang="zh-TW" dirty="0"/>
                  <a:t>Load the FEM data and filter out the air nodes.</a:t>
                </a:r>
              </a:p>
              <a:p>
                <a:pPr marL="342900" indent="-342900">
                  <a:buFont typeface="+mj-lt"/>
                  <a:buAutoNum type="arabicPeriod" startAt="3"/>
                </a:pPr>
                <a:endParaRPr lang="en-US" altLang="zh-TW" dirty="0"/>
              </a:p>
              <a:p>
                <a:pPr marL="342900" indent="-342900">
                  <a:buFont typeface="+mj-lt"/>
                  <a:buAutoNum type="arabicPeriod" startAt="3"/>
                </a:pPr>
                <a:endParaRPr lang="en-US" altLang="zh-TW" dirty="0"/>
              </a:p>
              <a:p>
                <a:pPr marL="342900" indent="-342900">
                  <a:buFont typeface="+mj-lt"/>
                  <a:buAutoNum type="arabicPeriod" startAt="3"/>
                </a:pPr>
                <a:endParaRPr lang="en-US" altLang="zh-TW" dirty="0"/>
              </a:p>
              <a:p>
                <a:endParaRPr lang="zh-TW" altLang="en-US" dirty="0"/>
              </a:p>
            </p:txBody>
          </p:sp>
        </mc:Choice>
        <mc:Fallback xmlns="">
          <p:sp>
            <p:nvSpPr>
              <p:cNvPr id="5" name="文字方塊 4">
                <a:extLst>
                  <a:ext uri="{FF2B5EF4-FFF2-40B4-BE49-F238E27FC236}">
                    <a16:creationId xmlns:a16="http://schemas.microsoft.com/office/drawing/2014/main" id="{789F05BF-8DE1-4EC6-87D7-D20943E065CD}"/>
                  </a:ext>
                </a:extLst>
              </p:cNvPr>
              <p:cNvSpPr txBox="1">
                <a:spLocks noRot="1" noChangeAspect="1" noMove="1" noResize="1" noEditPoints="1" noAdjustHandles="1" noChangeArrowheads="1" noChangeShapeType="1" noTextEdit="1"/>
              </p:cNvSpPr>
              <p:nvPr/>
            </p:nvSpPr>
            <p:spPr>
              <a:xfrm>
                <a:off x="152401" y="922869"/>
                <a:ext cx="5232404" cy="5620385"/>
              </a:xfrm>
              <a:prstGeom prst="rect">
                <a:avLst/>
              </a:prstGeom>
              <a:blipFill>
                <a:blip r:embed="rId2"/>
                <a:stretch>
                  <a:fillRect l="-932" t="-542"/>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 name="文字方塊 5">
                <a:extLst>
                  <a:ext uri="{FF2B5EF4-FFF2-40B4-BE49-F238E27FC236}">
                    <a16:creationId xmlns:a16="http://schemas.microsoft.com/office/drawing/2014/main" id="{2CE49929-F69A-421F-B19A-AE8B11C06BBF}"/>
                  </a:ext>
                </a:extLst>
              </p:cNvPr>
              <p:cNvSpPr txBox="1"/>
              <p:nvPr/>
            </p:nvSpPr>
            <p:spPr>
              <a:xfrm>
                <a:off x="5367871" y="1102250"/>
                <a:ext cx="6493929" cy="5176417"/>
              </a:xfrm>
              <a:prstGeom prst="rect">
                <a:avLst/>
              </a:prstGeom>
              <a:noFill/>
            </p:spPr>
            <p:txBody>
              <a:bodyPr wrap="square" rtlCol="0">
                <a:spAutoFit/>
              </a:bodyPr>
              <a:lstStyle/>
              <a:p>
                <a:pPr marL="342900" indent="-342900">
                  <a:buFont typeface="+mj-lt"/>
                  <a:buAutoNum type="arabicPeriod" startAt="4"/>
                </a:pPr>
                <a:r>
                  <a:rPr lang="en-US" altLang="zh-TW" dirty="0"/>
                  <a:t>Localization: Determine which tetrahedron contains each query point and return its coordinates relative to the four vertices.</a:t>
                </a:r>
              </a:p>
              <a:p>
                <a:pPr marL="342900" indent="-342900">
                  <a:buFont typeface="+mj-lt"/>
                  <a:buAutoNum type="arabicPeriod" startAt="4"/>
                </a:pPr>
                <a:endParaRPr lang="en-US" altLang="zh-TW" dirty="0"/>
              </a:p>
              <a:p>
                <a:pPr marL="342900" indent="-342900">
                  <a:buFont typeface="+mj-lt"/>
                  <a:buAutoNum type="arabicPeriod" startAt="4"/>
                </a:pPr>
                <a:r>
                  <a:rPr lang="en-US" altLang="zh-TW" dirty="0"/>
                  <a:t>Barycentric Interpolation:</a:t>
                </a:r>
              </a:p>
              <a:p>
                <a:pPr lvl="1"/>
                <a:r>
                  <a:rPr lang="en-US" altLang="zh-TW" dirty="0"/>
                  <a:t>Let the coordinates of the four vertices be:</a:t>
                </a:r>
                <a14:m>
                  <m:oMath xmlns:m="http://schemas.openxmlformats.org/officeDocument/2006/math">
                    <m:sSub>
                      <m:sSubPr>
                        <m:ctrlPr>
                          <a:rPr lang="en-US" altLang="zh-TW" i="1" smtClean="0">
                            <a:latin typeface="Cambria Math" panose="02040503050406030204" pitchFamily="18" charset="0"/>
                          </a:rPr>
                        </m:ctrlPr>
                      </m:sSubPr>
                      <m:e>
                        <m:r>
                          <a:rPr lang="en-US" altLang="zh-TW" b="0" i="1" smtClean="0">
                            <a:latin typeface="Cambria Math" panose="02040503050406030204" pitchFamily="18" charset="0"/>
                          </a:rPr>
                          <m:t>𝑃</m:t>
                        </m:r>
                      </m:e>
                      <m:sub>
                        <m:r>
                          <a:rPr lang="en-US" altLang="zh-TW" b="0" i="1" smtClean="0">
                            <a:latin typeface="Cambria Math" panose="02040503050406030204" pitchFamily="18" charset="0"/>
                          </a:rPr>
                          <m:t>1</m:t>
                        </m:r>
                      </m:sub>
                    </m:sSub>
                    <m:r>
                      <a:rPr lang="en-US" altLang="zh-TW" b="0" i="1" smtClean="0">
                        <a:latin typeface="Cambria Math" panose="02040503050406030204" pitchFamily="18" charset="0"/>
                      </a:rPr>
                      <m:t>,</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𝑃</m:t>
                        </m:r>
                      </m:e>
                      <m:sub>
                        <m:r>
                          <a:rPr lang="en-US" altLang="zh-TW" b="0" i="1" smtClean="0">
                            <a:latin typeface="Cambria Math" panose="02040503050406030204" pitchFamily="18" charset="0"/>
                          </a:rPr>
                          <m:t>2</m:t>
                        </m:r>
                      </m:sub>
                    </m:sSub>
                    <m:r>
                      <a:rPr lang="en-US" altLang="zh-TW" b="0" i="1" smtClean="0">
                        <a:latin typeface="Cambria Math" panose="02040503050406030204" pitchFamily="18" charset="0"/>
                      </a:rPr>
                      <m:t>,</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𝑃</m:t>
                        </m:r>
                      </m:e>
                      <m:sub>
                        <m:r>
                          <a:rPr lang="en-US" altLang="zh-TW" b="0" i="1" smtClean="0">
                            <a:latin typeface="Cambria Math" panose="02040503050406030204" pitchFamily="18" charset="0"/>
                          </a:rPr>
                          <m:t>3</m:t>
                        </m:r>
                      </m:sub>
                    </m:sSub>
                    <m:r>
                      <a:rPr lang="en-US" altLang="zh-TW" b="0" i="1" smtClean="0">
                        <a:latin typeface="Cambria Math" panose="02040503050406030204" pitchFamily="18" charset="0"/>
                      </a:rPr>
                      <m:t>,</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𝑃</m:t>
                        </m:r>
                      </m:e>
                      <m:sub>
                        <m:r>
                          <a:rPr lang="en-US" altLang="zh-TW" b="0" i="1" smtClean="0">
                            <a:latin typeface="Cambria Math" panose="02040503050406030204" pitchFamily="18" charset="0"/>
                          </a:rPr>
                          <m:t>4</m:t>
                        </m:r>
                      </m:sub>
                    </m:sSub>
                  </m:oMath>
                </a14:m>
                <a:endParaRPr lang="en-US" altLang="zh-TW" dirty="0"/>
              </a:p>
              <a:p>
                <a:pPr lvl="1"/>
                <a:r>
                  <a:rPr lang="en-US" altLang="zh-TW" dirty="0"/>
                  <a:t>Let the coordinates of the interpolation point be:</a:t>
                </a:r>
                <a14:m>
                  <m:oMath xmlns:m="http://schemas.openxmlformats.org/officeDocument/2006/math">
                    <m:r>
                      <a:rPr lang="en-US" altLang="zh-TW" b="0" i="1" smtClean="0">
                        <a:latin typeface="Cambria Math" panose="02040503050406030204" pitchFamily="18" charset="0"/>
                      </a:rPr>
                      <m:t>𝑃</m:t>
                    </m:r>
                  </m:oMath>
                </a14:m>
                <a:endParaRPr lang="en-US" altLang="zh-TW" dirty="0"/>
              </a:p>
              <a:p>
                <a:pPr lvl="1"/>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𝑃</m:t>
                      </m:r>
                      <m:r>
                        <a:rPr lang="en-US" altLang="zh-TW" b="0" i="1" smtClean="0">
                          <a:latin typeface="Cambria Math" panose="02040503050406030204" pitchFamily="18" charset="0"/>
                        </a:rPr>
                        <m:t>=</m:t>
                      </m:r>
                      <m:nary>
                        <m:naryPr>
                          <m:chr m:val="∑"/>
                          <m:ctrlPr>
                            <a:rPr lang="en-US" altLang="zh-TW" b="0" i="1" smtClean="0">
                              <a:latin typeface="Cambria Math" panose="02040503050406030204" pitchFamily="18" charset="0"/>
                            </a:rPr>
                          </m:ctrlPr>
                        </m:naryPr>
                        <m:sub>
                          <m:r>
                            <m:rPr>
                              <m:brk m:alnAt="23"/>
                            </m:rPr>
                            <a:rPr lang="en-US" altLang="zh-TW" b="0" i="1" smtClean="0">
                              <a:latin typeface="Cambria Math" panose="02040503050406030204" pitchFamily="18" charset="0"/>
                            </a:rPr>
                            <m:t>𝑖</m:t>
                          </m:r>
                          <m:r>
                            <a:rPr lang="en-US" altLang="zh-TW" b="0" i="1" smtClean="0">
                              <a:latin typeface="Cambria Math" panose="02040503050406030204" pitchFamily="18" charset="0"/>
                            </a:rPr>
                            <m:t>=1</m:t>
                          </m:r>
                        </m:sub>
                        <m:sup>
                          <m:r>
                            <a:rPr lang="en-US" altLang="zh-TW" b="0" i="1" smtClean="0">
                              <a:latin typeface="Cambria Math" panose="02040503050406030204" pitchFamily="18" charset="0"/>
                            </a:rPr>
                            <m:t>4</m:t>
                          </m:r>
                        </m:sup>
                        <m:e>
                          <m:sSub>
                            <m:sSubPr>
                              <m:ctrlPr>
                                <a:rPr lang="en-US" altLang="zh-TW" b="0" i="1" smtClean="0">
                                  <a:latin typeface="Cambria Math" panose="02040503050406030204" pitchFamily="18" charset="0"/>
                                </a:rPr>
                              </m:ctrlPr>
                            </m:sSubPr>
                            <m:e>
                              <m:r>
                                <a:rPr lang="zh-TW" altLang="en-US" b="0" i="1" smtClean="0">
                                  <a:latin typeface="Cambria Math" panose="02040503050406030204" pitchFamily="18" charset="0"/>
                                </a:rPr>
                                <m:t>𝜆</m:t>
                              </m:r>
                            </m:e>
                            <m:sub>
                              <m:r>
                                <a:rPr lang="en-US" altLang="zh-TW" b="0" i="1" smtClean="0">
                                  <a:latin typeface="Cambria Math" panose="02040503050406030204" pitchFamily="18" charset="0"/>
                                </a:rPr>
                                <m:t>𝑖</m:t>
                              </m:r>
                            </m:sub>
                          </m:sSub>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𝑃</m:t>
                              </m:r>
                            </m:e>
                            <m:sub>
                              <m:r>
                                <a:rPr lang="en-US" altLang="zh-TW" b="0" i="1" smtClean="0">
                                  <a:latin typeface="Cambria Math" panose="02040503050406030204" pitchFamily="18" charset="0"/>
                                </a:rPr>
                                <m:t>𝑖</m:t>
                              </m:r>
                            </m:sub>
                          </m:sSub>
                        </m:e>
                      </m:nary>
                    </m:oMath>
                  </m:oMathPara>
                </a14:m>
                <a:endParaRPr lang="en-US" altLang="zh-TW" dirty="0"/>
              </a:p>
              <a:p>
                <a:pPr lvl="1"/>
                <a:r>
                  <a:rPr lang="en-US" altLang="zh-TW" dirty="0"/>
                  <a:t>Where </a:t>
                </a:r>
                <a14:m>
                  <m:oMath xmlns:m="http://schemas.openxmlformats.org/officeDocument/2006/math">
                    <m:sSub>
                      <m:sSubPr>
                        <m:ctrlPr>
                          <a:rPr lang="en-US" altLang="zh-TW" i="1" smtClean="0">
                            <a:latin typeface="Cambria Math" panose="02040503050406030204" pitchFamily="18" charset="0"/>
                          </a:rPr>
                        </m:ctrlPr>
                      </m:sSubPr>
                      <m:e>
                        <m:r>
                          <a:rPr lang="zh-TW" altLang="en-US" i="1" smtClean="0">
                            <a:latin typeface="Cambria Math" panose="02040503050406030204" pitchFamily="18" charset="0"/>
                          </a:rPr>
                          <m:t>𝜆</m:t>
                        </m:r>
                      </m:e>
                      <m:sub>
                        <m:r>
                          <a:rPr lang="en-US" altLang="zh-TW" b="0" i="1" smtClean="0">
                            <a:latin typeface="Cambria Math" panose="02040503050406030204" pitchFamily="18" charset="0"/>
                          </a:rPr>
                          <m:t>𝑖</m:t>
                        </m:r>
                      </m:sub>
                    </m:sSub>
                    <m:r>
                      <a:rPr lang="en-US" altLang="zh-TW" b="0" i="1" smtClean="0">
                        <a:latin typeface="Cambria Math" panose="02040503050406030204" pitchFamily="18" charset="0"/>
                      </a:rPr>
                      <m:t>=</m:t>
                    </m:r>
                    <m:f>
                      <m:fPr>
                        <m:ctrlPr>
                          <a:rPr lang="en-US" altLang="zh-TW" b="0" i="1" smtClean="0">
                            <a:latin typeface="Cambria Math" panose="02040503050406030204" pitchFamily="18" charset="0"/>
                          </a:rPr>
                        </m:ctrlPr>
                      </m:fPr>
                      <m:num>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𝑉</m:t>
                            </m:r>
                          </m:e>
                          <m:sub>
                            <m:r>
                              <a:rPr lang="en-US" altLang="zh-TW" b="0" i="1" smtClean="0">
                                <a:latin typeface="Cambria Math" panose="02040503050406030204" pitchFamily="18" charset="0"/>
                              </a:rPr>
                              <m:t>𝑖</m:t>
                            </m:r>
                          </m:sub>
                        </m:sSub>
                      </m:num>
                      <m:den>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𝑉</m:t>
                            </m:r>
                          </m:e>
                          <m:sub>
                            <m:r>
                              <a:rPr lang="en-US" altLang="zh-TW" b="0" i="1" smtClean="0">
                                <a:latin typeface="Cambria Math" panose="02040503050406030204" pitchFamily="18" charset="0"/>
                              </a:rPr>
                              <m:t>𝑡𝑜𝑡𝑎𝑙</m:t>
                            </m:r>
                          </m:sub>
                        </m:sSub>
                      </m:den>
                    </m:f>
                  </m:oMath>
                </a14:m>
                <a:r>
                  <a:rPr lang="en-US" altLang="zh-TW" dirty="0"/>
                  <a:t>(The volume of the sub-tetrahedron formed by replacing vertex</a:t>
                </a:r>
                <a:r>
                  <a:rPr lang="zh-TW" altLang="en-US" dirty="0"/>
                  <a:t> </a:t>
                </a:r>
                <a14:m>
                  <m:oMath xmlns:m="http://schemas.openxmlformats.org/officeDocument/2006/math">
                    <m:sSub>
                      <m:sSubPr>
                        <m:ctrlPr>
                          <a:rPr lang="en-US" altLang="zh-TW" i="1" smtClean="0">
                            <a:latin typeface="Cambria Math" panose="02040503050406030204" pitchFamily="18" charset="0"/>
                          </a:rPr>
                        </m:ctrlPr>
                      </m:sSubPr>
                      <m:e>
                        <m:r>
                          <a:rPr lang="en-US" altLang="zh-TW" b="0" i="1" smtClean="0">
                            <a:latin typeface="Cambria Math" panose="02040503050406030204" pitchFamily="18" charset="0"/>
                          </a:rPr>
                          <m:t>𝑃</m:t>
                        </m:r>
                      </m:e>
                      <m:sub>
                        <m:r>
                          <a:rPr lang="en-US" altLang="zh-TW" b="0" i="1" smtClean="0">
                            <a:latin typeface="Cambria Math" panose="02040503050406030204" pitchFamily="18" charset="0"/>
                          </a:rPr>
                          <m:t>𝑖</m:t>
                        </m:r>
                      </m:sub>
                    </m:sSub>
                  </m:oMath>
                </a14:m>
                <a:r>
                  <a:rPr lang="en-US" altLang="zh-TW" dirty="0"/>
                  <a:t> with </a:t>
                </a:r>
                <a14:m>
                  <m:oMath xmlns:m="http://schemas.openxmlformats.org/officeDocument/2006/math">
                    <m:r>
                      <a:rPr lang="en-US" altLang="zh-TW" b="0" i="1" smtClean="0">
                        <a:latin typeface="Cambria Math" panose="02040503050406030204" pitchFamily="18" charset="0"/>
                      </a:rPr>
                      <m:t>𝑃</m:t>
                    </m:r>
                  </m:oMath>
                </a14:m>
                <a:r>
                  <a:rPr lang="en-US" altLang="zh-TW" dirty="0"/>
                  <a:t>)</a:t>
                </a:r>
              </a:p>
              <a:p>
                <a:pPr lvl="1"/>
                <a:endParaRPr lang="en-US" altLang="zh-TW" dirty="0"/>
              </a:p>
              <a:p>
                <a:pPr marL="342900" indent="-342900">
                  <a:buFont typeface="+mj-lt"/>
                  <a:buAutoNum type="arabicPeriod" startAt="6"/>
                </a:pPr>
                <a:r>
                  <a:rPr lang="en-US" altLang="zh-TW" dirty="0"/>
                  <a:t>Repeat Steps 4 and 5 until all interpolation points have been processed.</a:t>
                </a:r>
              </a:p>
              <a:p>
                <a:pPr lvl="1"/>
                <a:endParaRPr lang="en-US" altLang="zh-TW" dirty="0"/>
              </a:p>
              <a:p>
                <a:endParaRPr lang="en-US" altLang="zh-TW" dirty="0"/>
              </a:p>
              <a:p>
                <a:pPr lvl="1"/>
                <a:endParaRPr lang="en-US" altLang="zh-TW" dirty="0"/>
              </a:p>
              <a:p>
                <a:endParaRPr lang="zh-TW" altLang="en-US" dirty="0"/>
              </a:p>
            </p:txBody>
          </p:sp>
        </mc:Choice>
        <mc:Fallback xmlns="">
          <p:sp>
            <p:nvSpPr>
              <p:cNvPr id="6" name="文字方塊 5">
                <a:extLst>
                  <a:ext uri="{FF2B5EF4-FFF2-40B4-BE49-F238E27FC236}">
                    <a16:creationId xmlns:a16="http://schemas.microsoft.com/office/drawing/2014/main" id="{2CE49929-F69A-421F-B19A-AE8B11C06BBF}"/>
                  </a:ext>
                </a:extLst>
              </p:cNvPr>
              <p:cNvSpPr txBox="1">
                <a:spLocks noRot="1" noChangeAspect="1" noMove="1" noResize="1" noEditPoints="1" noAdjustHandles="1" noChangeArrowheads="1" noChangeShapeType="1" noTextEdit="1"/>
              </p:cNvSpPr>
              <p:nvPr/>
            </p:nvSpPr>
            <p:spPr>
              <a:xfrm>
                <a:off x="5367871" y="1102250"/>
                <a:ext cx="6493929" cy="5176417"/>
              </a:xfrm>
              <a:prstGeom prst="rect">
                <a:avLst/>
              </a:prstGeom>
              <a:blipFill>
                <a:blip r:embed="rId3"/>
                <a:stretch>
                  <a:fillRect l="-845" t="-707" r="-376"/>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185197298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192000" cy="837142"/>
          </a:xfrm>
        </p:spPr>
        <p:txBody>
          <a:bodyPr>
            <a:normAutofit fontScale="90000"/>
          </a:bodyPr>
          <a:lstStyle/>
          <a:p>
            <a:r>
              <a:rPr lang="en-US" altLang="zh-TW" sz="3600" b="1" kern="100" dirty="0">
                <a:solidFill>
                  <a:srgbClr val="000000"/>
                </a:solidFill>
                <a:latin typeface="Aptos"/>
                <a:ea typeface="新細明體" panose="02020500000000000000" pitchFamily="18" charset="-120"/>
                <a:cs typeface="Times New Roman" panose="02020603050405020304" pitchFamily="18" charset="0"/>
              </a:rPr>
              <a:t>Hall-sensor-voltage-based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13" name="文字方塊 12">
            <a:extLst>
              <a:ext uri="{FF2B5EF4-FFF2-40B4-BE49-F238E27FC236}">
                <a16:creationId xmlns:a16="http://schemas.microsoft.com/office/drawing/2014/main" id="{07D0BEBD-A632-4258-A649-75AA4269318D}"/>
              </a:ext>
            </a:extLst>
          </p:cNvPr>
          <p:cNvSpPr txBox="1"/>
          <p:nvPr/>
        </p:nvSpPr>
        <p:spPr>
          <a:xfrm>
            <a:off x="27458" y="425713"/>
            <a:ext cx="6068542" cy="369332"/>
          </a:xfrm>
          <a:prstGeom prst="rect">
            <a:avLst/>
          </a:prstGeom>
          <a:noFill/>
        </p:spPr>
        <p:txBody>
          <a:bodyPr wrap="square" rtlCol="0">
            <a:spAutoFit/>
          </a:bodyPr>
          <a:lstStyle/>
          <a:p>
            <a:pPr marL="285750" indent="-285750">
              <a:buFont typeface="Wingdings" panose="05000000000000000000" pitchFamily="2" charset="2"/>
              <a:buChar char="l"/>
            </a:pPr>
            <a:r>
              <a:rPr lang="en-US" altLang="zh-TW" dirty="0">
                <a:latin typeface="Times New Roman" panose="02020603050405020304" pitchFamily="18" charset="0"/>
                <a:cs typeface="Times New Roman" panose="02020603050405020304" pitchFamily="18" charset="0"/>
              </a:rPr>
              <a:t>Interpolation Point Algorithm for sensor</a:t>
            </a:r>
            <a:endParaRPr lang="zh-TW" alt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4" name="文字方塊 13">
                <a:extLst>
                  <a:ext uri="{FF2B5EF4-FFF2-40B4-BE49-F238E27FC236}">
                    <a16:creationId xmlns:a16="http://schemas.microsoft.com/office/drawing/2014/main" id="{82D307D2-6DAC-4D7E-9C83-F22C31911AA3}"/>
                  </a:ext>
                </a:extLst>
              </p:cNvPr>
              <p:cNvSpPr txBox="1"/>
              <p:nvPr/>
            </p:nvSpPr>
            <p:spPr>
              <a:xfrm>
                <a:off x="146051" y="795045"/>
                <a:ext cx="11430000" cy="3624775"/>
              </a:xfrm>
              <a:prstGeom prst="rect">
                <a:avLst/>
              </a:prstGeom>
              <a:noFill/>
            </p:spPr>
            <p:txBody>
              <a:bodyPr wrap="square" rtlCol="0">
                <a:spAutoFit/>
              </a:bodyPr>
              <a:lstStyle/>
              <a:p>
                <a:pPr marL="342900" indent="-342900">
                  <a:buFont typeface="+mj-lt"/>
                  <a:buAutoNum type="arabicPeriod"/>
                </a:pPr>
                <a:r>
                  <a:rPr lang="en-US" altLang="zh-TW" dirty="0"/>
                  <a:t>Initial Setup</a:t>
                </a:r>
                <a:r>
                  <a:rPr lang="zh-TW" altLang="en-US" dirty="0"/>
                  <a:t> </a:t>
                </a:r>
                <a14:m>
                  <m:oMath xmlns:m="http://schemas.openxmlformats.org/officeDocument/2006/math">
                    <m:r>
                      <a:rPr lang="en-US" altLang="zh-TW" b="0" i="1" smtClean="0">
                        <a:latin typeface="Cambria Math" panose="02040503050406030204" pitchFamily="18" charset="0"/>
                      </a:rPr>
                      <m:t>[</m:t>
                    </m:r>
                    <m:sSub>
                      <m:sSubPr>
                        <m:ctrlPr>
                          <a:rPr lang="en-US" altLang="zh-TW" i="1">
                            <a:latin typeface="Cambria Math" panose="02040503050406030204" pitchFamily="18" charset="0"/>
                          </a:rPr>
                        </m:ctrlPr>
                      </m:sSubPr>
                      <m:e>
                        <m:r>
                          <a:rPr lang="en-US" altLang="zh-TW" i="1">
                            <a:latin typeface="Cambria Math" panose="02040503050406030204" pitchFamily="18" charset="0"/>
                          </a:rPr>
                          <m:t>𝑁</m:t>
                        </m:r>
                      </m:e>
                      <m:sub>
                        <m:r>
                          <a:rPr lang="en-US" altLang="zh-TW" i="1">
                            <a:latin typeface="Cambria Math" panose="02040503050406030204" pitchFamily="18" charset="0"/>
                          </a:rPr>
                          <m:t>𝑟</m:t>
                        </m:r>
                      </m:sub>
                    </m:sSub>
                  </m:oMath>
                </a14:m>
                <a:r>
                  <a:rPr lang="en-US" altLang="zh-TW" dirty="0"/>
                  <a:t>, </a:t>
                </a:r>
                <a14:m>
                  <m:oMath xmlns:m="http://schemas.openxmlformats.org/officeDocument/2006/math">
                    <m:sSub>
                      <m:sSubPr>
                        <m:ctrlPr>
                          <a:rPr lang="en-US" altLang="zh-TW" i="1">
                            <a:latin typeface="Cambria Math" panose="02040503050406030204" pitchFamily="18" charset="0"/>
                          </a:rPr>
                        </m:ctrlPr>
                      </m:sSubPr>
                      <m:e>
                        <m:r>
                          <a:rPr lang="en-US" altLang="zh-TW" i="1">
                            <a:latin typeface="Cambria Math" panose="02040503050406030204" pitchFamily="18" charset="0"/>
                          </a:rPr>
                          <m:t>𝑁</m:t>
                        </m:r>
                      </m:e>
                      <m:sub>
                        <m:r>
                          <a:rPr lang="zh-TW" altLang="en-US" i="1">
                            <a:latin typeface="Cambria Math" panose="02040503050406030204" pitchFamily="18" charset="0"/>
                          </a:rPr>
                          <m:t>𝜃</m:t>
                        </m:r>
                      </m:sub>
                    </m:sSub>
                  </m:oMath>
                </a14:m>
                <a:r>
                  <a:rPr lang="en-US" altLang="zh-TW" dirty="0"/>
                  <a:t>, </a:t>
                </a:r>
                <a14:m>
                  <m:oMath xmlns:m="http://schemas.openxmlformats.org/officeDocument/2006/math">
                    <m:sSub>
                      <m:sSubPr>
                        <m:ctrlPr>
                          <a:rPr lang="en-US" altLang="zh-TW" i="1">
                            <a:latin typeface="Cambria Math" panose="02040503050406030204" pitchFamily="18" charset="0"/>
                          </a:rPr>
                        </m:ctrlPr>
                      </m:sSubPr>
                      <m:e>
                        <m:r>
                          <a:rPr lang="en-US" altLang="zh-TW" i="1">
                            <a:latin typeface="Cambria Math" panose="02040503050406030204" pitchFamily="18" charset="0"/>
                          </a:rPr>
                          <m:t>𝑁</m:t>
                        </m:r>
                      </m:e>
                      <m:sub>
                        <m:r>
                          <a:rPr lang="en-US" altLang="zh-TW" b="0" i="1" smtClean="0">
                            <a:latin typeface="Cambria Math" panose="02040503050406030204" pitchFamily="18" charset="0"/>
                          </a:rPr>
                          <m:t>𝑧</m:t>
                        </m:r>
                      </m:sub>
                    </m:sSub>
                    <m:r>
                      <a:rPr lang="en-US" altLang="zh-TW" b="0" i="1" smtClean="0">
                        <a:latin typeface="Cambria Math" panose="02040503050406030204" pitchFamily="18" charset="0"/>
                      </a:rPr>
                      <m:t>]=[1 3 2]</m:t>
                    </m:r>
                  </m:oMath>
                </a14:m>
                <a:endParaRPr lang="en-US" altLang="zh-TW" dirty="0"/>
              </a:p>
              <a:p>
                <a:pPr marL="342900" indent="-342900">
                  <a:buFont typeface="+mj-lt"/>
                  <a:buAutoNum type="arabicPeriod"/>
                </a:pPr>
                <a:endParaRPr lang="en-US" altLang="zh-TW" dirty="0"/>
              </a:p>
              <a:p>
                <a:pPr marL="342900" indent="-342900">
                  <a:buFont typeface="+mj-lt"/>
                  <a:buAutoNum type="arabicPeriod"/>
                </a:pPr>
                <a:endParaRPr lang="en-US" altLang="zh-TW" dirty="0"/>
              </a:p>
              <a:p>
                <a:pPr marL="342900" indent="-342900">
                  <a:buFont typeface="+mj-lt"/>
                  <a:buAutoNum type="arabicPeriod"/>
                </a:pPr>
                <a:r>
                  <a:rPr lang="en-US" altLang="zh-TW" dirty="0"/>
                  <a:t>Ratio of the Three Parameters</a:t>
                </a:r>
                <a14:m>
                  <m:oMath xmlns:m="http://schemas.openxmlformats.org/officeDocument/2006/math">
                    <m:r>
                      <a:rPr lang="en-US" altLang="zh-TW" i="1">
                        <a:latin typeface="Cambria Math" panose="02040503050406030204" pitchFamily="18" charset="0"/>
                      </a:rPr>
                      <m:t>[</m:t>
                    </m:r>
                    <m:sSub>
                      <m:sSubPr>
                        <m:ctrlPr>
                          <a:rPr lang="en-US" altLang="zh-TW" i="1">
                            <a:latin typeface="Cambria Math" panose="02040503050406030204" pitchFamily="18" charset="0"/>
                          </a:rPr>
                        </m:ctrlPr>
                      </m:sSubPr>
                      <m:e>
                        <m:r>
                          <a:rPr lang="en-US" altLang="zh-TW" i="1">
                            <a:latin typeface="Cambria Math" panose="02040503050406030204" pitchFamily="18" charset="0"/>
                          </a:rPr>
                          <m:t>𝑁</m:t>
                        </m:r>
                      </m:e>
                      <m:sub>
                        <m:r>
                          <a:rPr lang="en-US" altLang="zh-TW" i="1">
                            <a:latin typeface="Cambria Math" panose="02040503050406030204" pitchFamily="18" charset="0"/>
                          </a:rPr>
                          <m:t>𝑟</m:t>
                        </m:r>
                      </m:sub>
                    </m:sSub>
                    <m:r>
                      <m:rPr>
                        <m:nor/>
                      </m:rPr>
                      <a:rPr lang="en-US" altLang="zh-TW" dirty="0"/>
                      <m:t>, </m:t>
                    </m:r>
                    <m:sSub>
                      <m:sSubPr>
                        <m:ctrlPr>
                          <a:rPr lang="en-US" altLang="zh-TW" i="1">
                            <a:latin typeface="Cambria Math" panose="02040503050406030204" pitchFamily="18" charset="0"/>
                          </a:rPr>
                        </m:ctrlPr>
                      </m:sSubPr>
                      <m:e>
                        <m:r>
                          <a:rPr lang="en-US" altLang="zh-TW" i="1">
                            <a:latin typeface="Cambria Math" panose="02040503050406030204" pitchFamily="18" charset="0"/>
                          </a:rPr>
                          <m:t>𝑁</m:t>
                        </m:r>
                      </m:e>
                      <m:sub>
                        <m:r>
                          <a:rPr lang="zh-TW" altLang="en-US" i="1">
                            <a:latin typeface="Cambria Math" panose="02040503050406030204" pitchFamily="18" charset="0"/>
                          </a:rPr>
                          <m:t>𝜃</m:t>
                        </m:r>
                      </m:sub>
                    </m:sSub>
                    <m:r>
                      <m:rPr>
                        <m:nor/>
                      </m:rPr>
                      <a:rPr lang="en-US" altLang="zh-TW" dirty="0"/>
                      <m:t>, </m:t>
                    </m:r>
                    <m:sSub>
                      <m:sSubPr>
                        <m:ctrlPr>
                          <a:rPr lang="en-US" altLang="zh-TW" i="1">
                            <a:latin typeface="Cambria Math" panose="02040503050406030204" pitchFamily="18" charset="0"/>
                          </a:rPr>
                        </m:ctrlPr>
                      </m:sSubPr>
                      <m:e>
                        <m:r>
                          <a:rPr lang="en-US" altLang="zh-TW" i="1">
                            <a:latin typeface="Cambria Math" panose="02040503050406030204" pitchFamily="18" charset="0"/>
                          </a:rPr>
                          <m:t>𝑁</m:t>
                        </m:r>
                      </m:e>
                      <m:sub>
                        <m:r>
                          <a:rPr lang="en-US" altLang="zh-TW" b="0" i="1" smtClean="0">
                            <a:latin typeface="Cambria Math" panose="02040503050406030204" pitchFamily="18" charset="0"/>
                          </a:rPr>
                          <m:t>𝑧</m:t>
                        </m:r>
                      </m:sub>
                    </m:sSub>
                    <m:r>
                      <a:rPr lang="en-US" altLang="zh-TW" i="1">
                        <a:latin typeface="Cambria Math" panose="02040503050406030204" pitchFamily="18" charset="0"/>
                      </a:rPr>
                      <m:t>]</m:t>
                    </m:r>
                    <m:r>
                      <a:rPr lang="en-US" altLang="zh-TW" i="1" smtClean="0">
                        <a:latin typeface="Cambria Math" panose="02040503050406030204" pitchFamily="18" charset="0"/>
                        <a:ea typeface="Cambria Math" panose="02040503050406030204" pitchFamily="18" charset="0"/>
                      </a:rPr>
                      <m:t>=</m:t>
                    </m:r>
                    <m:d>
                      <m:dPr>
                        <m:begChr m:val="["/>
                        <m:endChr m:val="]"/>
                        <m:ctrlPr>
                          <a:rPr lang="en-US" altLang="zh-TW" b="0" i="1" smtClean="0">
                            <a:latin typeface="Cambria Math" panose="02040503050406030204" pitchFamily="18" charset="0"/>
                            <a:ea typeface="Cambria Math" panose="02040503050406030204" pitchFamily="18" charset="0"/>
                          </a:rPr>
                        </m:ctrlPr>
                      </m:dPr>
                      <m:e>
                        <m:r>
                          <a:rPr lang="en-US" altLang="zh-TW" b="0" i="1" smtClean="0">
                            <a:latin typeface="Cambria Math" panose="02040503050406030204" pitchFamily="18" charset="0"/>
                            <a:ea typeface="Cambria Math" panose="02040503050406030204" pitchFamily="18" charset="0"/>
                          </a:rPr>
                          <m:t> 1 2</m:t>
                        </m:r>
                        <m:r>
                          <a:rPr lang="zh-TW" altLang="en-US" b="0" i="1" smtClean="0">
                            <a:latin typeface="Cambria Math" panose="02040503050406030204" pitchFamily="18" charset="0"/>
                            <a:ea typeface="Cambria Math" panose="02040503050406030204" pitchFamily="18" charset="0"/>
                          </a:rPr>
                          <m:t>𝜋</m:t>
                        </m:r>
                        <m:r>
                          <a:rPr lang="en-US" altLang="zh-TW" b="0" i="1" smtClean="0">
                            <a:latin typeface="Cambria Math" panose="02040503050406030204" pitchFamily="18" charset="0"/>
                            <a:ea typeface="Cambria Math" panose="02040503050406030204" pitchFamily="18" charset="0"/>
                          </a:rPr>
                          <m:t> (</m:t>
                        </m:r>
                        <m:f>
                          <m:fPr>
                            <m:type m:val="lin"/>
                            <m:ctrlPr>
                              <a:rPr lang="en-US" altLang="zh-TW" b="0" i="1" smtClean="0">
                                <a:latin typeface="Cambria Math" panose="02040503050406030204" pitchFamily="18" charset="0"/>
                                <a:ea typeface="Cambria Math" panose="02040503050406030204" pitchFamily="18" charset="0"/>
                              </a:rPr>
                            </m:ctrlPr>
                          </m:fPr>
                          <m:num>
                            <m:r>
                              <a:rPr lang="en-US" altLang="zh-TW" b="0" i="1" smtClean="0">
                                <a:latin typeface="Cambria Math" panose="02040503050406030204" pitchFamily="18" charset="0"/>
                                <a:ea typeface="Cambria Math" panose="02040503050406030204" pitchFamily="18" charset="0"/>
                              </a:rPr>
                              <m:t>𝐻</m:t>
                            </m:r>
                          </m:num>
                          <m:den>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𝑅</m:t>
                                </m:r>
                              </m:e>
                              <m:sub>
                                <m:r>
                                  <a:rPr lang="en-US" altLang="zh-TW" b="0" i="1" smtClean="0">
                                    <a:latin typeface="Cambria Math" panose="02040503050406030204" pitchFamily="18" charset="0"/>
                                    <a:ea typeface="Cambria Math" panose="02040503050406030204" pitchFamily="18" charset="0"/>
                                  </a:rPr>
                                  <m:t>𝑠</m:t>
                                </m:r>
                              </m:sub>
                            </m:sSub>
                            <m:r>
                              <a:rPr lang="en-US" altLang="zh-TW" b="0" i="1" smtClean="0">
                                <a:latin typeface="Cambria Math" panose="02040503050406030204" pitchFamily="18" charset="0"/>
                                <a:ea typeface="Cambria Math" panose="02040503050406030204" pitchFamily="18" charset="0"/>
                              </a:rPr>
                              <m:t>)</m:t>
                            </m:r>
                            <m:rad>
                              <m:radPr>
                                <m:degHide m:val="on"/>
                                <m:ctrlPr>
                                  <a:rPr lang="en-US" altLang="zh-TW" b="0" i="1" smtClean="0">
                                    <a:latin typeface="Cambria Math" panose="02040503050406030204" pitchFamily="18" charset="0"/>
                                    <a:ea typeface="Cambria Math" panose="02040503050406030204" pitchFamily="18" charset="0"/>
                                  </a:rPr>
                                </m:ctrlPr>
                              </m:radPr>
                              <m:deg/>
                              <m:e>
                                <m:r>
                                  <a:rPr lang="en-US" altLang="zh-TW" b="0" i="1" smtClean="0">
                                    <a:latin typeface="Cambria Math" panose="02040503050406030204" pitchFamily="18" charset="0"/>
                                    <a:ea typeface="Cambria Math" panose="02040503050406030204" pitchFamily="18" charset="0"/>
                                  </a:rPr>
                                  <m:t>2</m:t>
                                </m:r>
                              </m:e>
                            </m:rad>
                          </m:den>
                        </m:f>
                      </m:e>
                    </m:d>
                  </m:oMath>
                </a14:m>
                <a:r>
                  <a:rPr lang="zh-TW" altLang="en-US" b="0" dirty="0">
                    <a:ea typeface="Cambria Math" panose="02040503050406030204" pitchFamily="18" charset="0"/>
                  </a:rPr>
                  <a:t>，</a:t>
                </a:r>
                <a:r>
                  <a:rPr lang="en-US" altLang="zh-TW" dirty="0"/>
                  <a:t>where H=0.1mm is the height of the sensing region, and </a:t>
                </a:r>
                <a14:m>
                  <m:oMath xmlns:m="http://schemas.openxmlformats.org/officeDocument/2006/math">
                    <m:sSub>
                      <m:sSubPr>
                        <m:ctrlPr>
                          <a:rPr lang="en-US" altLang="zh-TW" i="1">
                            <a:latin typeface="Cambria Math" panose="02040503050406030204" pitchFamily="18" charset="0"/>
                            <a:ea typeface="Cambria Math" panose="02040503050406030204" pitchFamily="18" charset="0"/>
                          </a:rPr>
                        </m:ctrlPr>
                      </m:sSubPr>
                      <m:e>
                        <m:r>
                          <a:rPr lang="en-US" altLang="zh-TW" i="1">
                            <a:latin typeface="Cambria Math" panose="02040503050406030204" pitchFamily="18" charset="0"/>
                            <a:ea typeface="Cambria Math" panose="02040503050406030204" pitchFamily="18" charset="0"/>
                          </a:rPr>
                          <m:t>𝑅</m:t>
                        </m:r>
                      </m:e>
                      <m:sub>
                        <m:r>
                          <a:rPr lang="en-US" altLang="zh-TW" i="1">
                            <a:latin typeface="Cambria Math" panose="02040503050406030204" pitchFamily="18" charset="0"/>
                            <a:ea typeface="Cambria Math" panose="02040503050406030204" pitchFamily="18" charset="0"/>
                          </a:rPr>
                          <m:t>𝑠</m:t>
                        </m:r>
                      </m:sub>
                    </m:sSub>
                    <m:r>
                      <a:rPr lang="en-US" altLang="zh-TW" i="1">
                        <a:latin typeface="Cambria Math" panose="02040503050406030204" pitchFamily="18" charset="0"/>
                        <a:ea typeface="Cambria Math" panose="02040503050406030204" pitchFamily="18" charset="0"/>
                      </a:rPr>
                      <m:t> </m:t>
                    </m:r>
                  </m:oMath>
                </a14:m>
                <a:r>
                  <a:rPr lang="en-US" altLang="zh-TW" dirty="0"/>
                  <a:t>=0.15mm is the radius of the sensing region.</a:t>
                </a:r>
                <a:endParaRPr lang="en-US" altLang="zh-TW" b="0" dirty="0">
                  <a:ea typeface="Cambria Math" panose="02040503050406030204" pitchFamily="18" charset="0"/>
                </a:endParaRPr>
              </a:p>
              <a:p>
                <a:pPr marL="342900" indent="-342900">
                  <a:buFont typeface="+mj-lt"/>
                  <a:buAutoNum type="arabicPeriod"/>
                </a:pPr>
                <a:endParaRPr lang="en-US" altLang="zh-TW" dirty="0"/>
              </a:p>
              <a:p>
                <a:pPr marL="342900" indent="-342900">
                  <a:buFont typeface="+mj-lt"/>
                  <a:buAutoNum type="arabicPeriod"/>
                </a:pPr>
                <a:endParaRPr lang="en-US" altLang="zh-TW" dirty="0"/>
              </a:p>
              <a:p>
                <a:pPr marL="342900" indent="-342900">
                  <a:buFont typeface="+mj-lt"/>
                  <a:buAutoNum type="arabicPeriod"/>
                </a:pPr>
                <a:r>
                  <a:rPr lang="en-US" altLang="zh-TW" dirty="0"/>
                  <a:t>Calculation at Each Step </a:t>
                </a:r>
                <a14:m>
                  <m:oMath xmlns:m="http://schemas.openxmlformats.org/officeDocument/2006/math">
                    <m:r>
                      <a:rPr lang="en-US" altLang="zh-TW" b="0" i="1" smtClean="0">
                        <a:latin typeface="Cambria Math" panose="02040503050406030204" pitchFamily="18" charset="0"/>
                      </a:rPr>
                      <m:t>[</m:t>
                    </m:r>
                    <m:f>
                      <m:fPr>
                        <m:ctrlPr>
                          <a:rPr lang="en-US" altLang="zh-TW" b="0" i="1" smtClean="0">
                            <a:latin typeface="Cambria Math" panose="02040503050406030204" pitchFamily="18" charset="0"/>
                          </a:rPr>
                        </m:ctrlPr>
                      </m:fPr>
                      <m:num>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𝑁</m:t>
                            </m:r>
                          </m:e>
                          <m:sub>
                            <m:r>
                              <a:rPr lang="en-US" altLang="zh-TW" b="0" i="1" smtClean="0">
                                <a:latin typeface="Cambria Math" panose="02040503050406030204" pitchFamily="18" charset="0"/>
                              </a:rPr>
                              <m:t>𝑟</m:t>
                            </m:r>
                          </m:sub>
                        </m:sSub>
                      </m:num>
                      <m:den>
                        <m:r>
                          <a:rPr lang="en-US" altLang="zh-TW" b="0" i="1" smtClean="0">
                            <a:latin typeface="Cambria Math" panose="02040503050406030204" pitchFamily="18" charset="0"/>
                          </a:rPr>
                          <m:t>1</m:t>
                        </m:r>
                      </m:den>
                    </m:f>
                    <m:r>
                      <a:rPr lang="en-US" altLang="zh-TW" b="0" i="1" smtClean="0">
                        <a:latin typeface="Cambria Math" panose="02040503050406030204" pitchFamily="18" charset="0"/>
                      </a:rPr>
                      <m:t>,</m:t>
                    </m:r>
                    <m:f>
                      <m:fPr>
                        <m:ctrlPr>
                          <a:rPr lang="en-US" altLang="zh-TW" i="1">
                            <a:latin typeface="Cambria Math" panose="02040503050406030204" pitchFamily="18" charset="0"/>
                          </a:rPr>
                        </m:ctrlPr>
                      </m:fPr>
                      <m:num>
                        <m:sSub>
                          <m:sSubPr>
                            <m:ctrlPr>
                              <a:rPr lang="en-US" altLang="zh-TW" i="1">
                                <a:latin typeface="Cambria Math" panose="02040503050406030204" pitchFamily="18" charset="0"/>
                              </a:rPr>
                            </m:ctrlPr>
                          </m:sSubPr>
                          <m:e>
                            <m:r>
                              <a:rPr lang="en-US" altLang="zh-TW" i="1">
                                <a:latin typeface="Cambria Math" panose="02040503050406030204" pitchFamily="18" charset="0"/>
                              </a:rPr>
                              <m:t>𝑁</m:t>
                            </m:r>
                          </m:e>
                          <m:sub>
                            <m:r>
                              <a:rPr lang="zh-TW" altLang="en-US" i="1" smtClean="0">
                                <a:latin typeface="Cambria Math" panose="02040503050406030204" pitchFamily="18" charset="0"/>
                              </a:rPr>
                              <m:t>𝜃</m:t>
                            </m:r>
                          </m:sub>
                        </m:sSub>
                      </m:num>
                      <m:den>
                        <m:r>
                          <a:rPr lang="en-US" altLang="zh-TW" b="0" i="1" smtClean="0">
                            <a:latin typeface="Cambria Math" panose="02040503050406030204" pitchFamily="18" charset="0"/>
                          </a:rPr>
                          <m:t>2</m:t>
                        </m:r>
                        <m:r>
                          <a:rPr lang="zh-TW" altLang="en-US" i="1">
                            <a:latin typeface="Cambria Math" panose="02040503050406030204" pitchFamily="18" charset="0"/>
                            <a:ea typeface="Cambria Math" panose="02040503050406030204" pitchFamily="18" charset="0"/>
                          </a:rPr>
                          <m:t>𝜋</m:t>
                        </m:r>
                      </m:den>
                    </m:f>
                    <m:r>
                      <a:rPr lang="en-US" altLang="zh-TW" b="0" i="1" smtClean="0">
                        <a:latin typeface="Cambria Math" panose="02040503050406030204" pitchFamily="18" charset="0"/>
                      </a:rPr>
                      <m:t>,</m:t>
                    </m:r>
                    <m:f>
                      <m:fPr>
                        <m:ctrlPr>
                          <a:rPr lang="en-US" altLang="zh-TW" i="1">
                            <a:latin typeface="Cambria Math" panose="02040503050406030204" pitchFamily="18" charset="0"/>
                          </a:rPr>
                        </m:ctrlPr>
                      </m:fPr>
                      <m:num>
                        <m:sSub>
                          <m:sSubPr>
                            <m:ctrlPr>
                              <a:rPr lang="en-US" altLang="zh-TW" i="1">
                                <a:latin typeface="Cambria Math" panose="02040503050406030204" pitchFamily="18" charset="0"/>
                              </a:rPr>
                            </m:ctrlPr>
                          </m:sSubPr>
                          <m:e>
                            <m:r>
                              <a:rPr lang="en-US" altLang="zh-TW" i="1">
                                <a:latin typeface="Cambria Math" panose="02040503050406030204" pitchFamily="18" charset="0"/>
                              </a:rPr>
                              <m:t>𝑁</m:t>
                            </m:r>
                          </m:e>
                          <m:sub>
                            <m:r>
                              <a:rPr lang="en-US" altLang="zh-TW" b="0" i="1" smtClean="0">
                                <a:latin typeface="Cambria Math" panose="02040503050406030204" pitchFamily="18" charset="0"/>
                              </a:rPr>
                              <m:t>𝑧</m:t>
                            </m:r>
                          </m:sub>
                        </m:sSub>
                      </m:num>
                      <m:den>
                        <m:r>
                          <a:rPr lang="en-US" altLang="zh-TW" i="1">
                            <a:latin typeface="Cambria Math" panose="02040503050406030204" pitchFamily="18" charset="0"/>
                            <a:ea typeface="Cambria Math" panose="02040503050406030204" pitchFamily="18" charset="0"/>
                          </a:rPr>
                          <m:t>(</m:t>
                        </m:r>
                        <m:f>
                          <m:fPr>
                            <m:type m:val="lin"/>
                            <m:ctrlPr>
                              <a:rPr lang="en-US" altLang="zh-TW" i="1">
                                <a:latin typeface="Cambria Math" panose="02040503050406030204" pitchFamily="18" charset="0"/>
                                <a:ea typeface="Cambria Math" panose="02040503050406030204" pitchFamily="18" charset="0"/>
                              </a:rPr>
                            </m:ctrlPr>
                          </m:fPr>
                          <m:num>
                            <m:r>
                              <a:rPr lang="en-US" altLang="zh-TW" i="1">
                                <a:latin typeface="Cambria Math" panose="02040503050406030204" pitchFamily="18" charset="0"/>
                                <a:ea typeface="Cambria Math" panose="02040503050406030204" pitchFamily="18" charset="0"/>
                              </a:rPr>
                              <m:t>𝐻</m:t>
                            </m:r>
                          </m:num>
                          <m:den>
                            <m:sSub>
                              <m:sSubPr>
                                <m:ctrlPr>
                                  <a:rPr lang="en-US" altLang="zh-TW" i="1">
                                    <a:latin typeface="Cambria Math" panose="02040503050406030204" pitchFamily="18" charset="0"/>
                                    <a:ea typeface="Cambria Math" panose="02040503050406030204" pitchFamily="18" charset="0"/>
                                  </a:rPr>
                                </m:ctrlPr>
                              </m:sSubPr>
                              <m:e>
                                <m:r>
                                  <a:rPr lang="en-US" altLang="zh-TW" i="1">
                                    <a:latin typeface="Cambria Math" panose="02040503050406030204" pitchFamily="18" charset="0"/>
                                    <a:ea typeface="Cambria Math" panose="02040503050406030204" pitchFamily="18" charset="0"/>
                                  </a:rPr>
                                  <m:t>𝑅</m:t>
                                </m:r>
                              </m:e>
                              <m:sub>
                                <m:r>
                                  <a:rPr lang="en-US" altLang="zh-TW" i="1">
                                    <a:latin typeface="Cambria Math" panose="02040503050406030204" pitchFamily="18" charset="0"/>
                                    <a:ea typeface="Cambria Math" panose="02040503050406030204" pitchFamily="18" charset="0"/>
                                  </a:rPr>
                                  <m:t>𝑠</m:t>
                                </m:r>
                              </m:sub>
                            </m:sSub>
                            <m:r>
                              <a:rPr lang="en-US" altLang="zh-TW" i="1">
                                <a:latin typeface="Cambria Math" panose="02040503050406030204" pitchFamily="18" charset="0"/>
                                <a:ea typeface="Cambria Math" panose="02040503050406030204" pitchFamily="18" charset="0"/>
                              </a:rPr>
                              <m:t>)</m:t>
                            </m:r>
                            <m:rad>
                              <m:radPr>
                                <m:degHide m:val="on"/>
                                <m:ctrlPr>
                                  <a:rPr lang="en-US" altLang="zh-TW" i="1">
                                    <a:latin typeface="Cambria Math" panose="02040503050406030204" pitchFamily="18" charset="0"/>
                                    <a:ea typeface="Cambria Math" panose="02040503050406030204" pitchFamily="18" charset="0"/>
                                  </a:rPr>
                                </m:ctrlPr>
                              </m:radPr>
                              <m:deg/>
                              <m:e>
                                <m:r>
                                  <a:rPr lang="en-US" altLang="zh-TW" i="1">
                                    <a:latin typeface="Cambria Math" panose="02040503050406030204" pitchFamily="18" charset="0"/>
                                    <a:ea typeface="Cambria Math" panose="02040503050406030204" pitchFamily="18" charset="0"/>
                                  </a:rPr>
                                  <m:t>2</m:t>
                                </m:r>
                              </m:e>
                            </m:rad>
                          </m:den>
                        </m:f>
                      </m:den>
                    </m:f>
                    <m:r>
                      <a:rPr lang="en-US" altLang="zh-TW" b="0" i="1" smtClean="0">
                        <a:latin typeface="Cambria Math" panose="02040503050406030204" pitchFamily="18" charset="0"/>
                      </a:rPr>
                      <m:t>]</m:t>
                    </m:r>
                    <m:r>
                      <a:rPr lang="zh-TW" altLang="en-US" i="1">
                        <a:latin typeface="Cambria Math" panose="02040503050406030204" pitchFamily="18" charset="0"/>
                      </a:rPr>
                      <m:t>，</m:t>
                    </m:r>
                    <m:r>
                      <m:rPr>
                        <m:nor/>
                      </m:rPr>
                      <a:rPr lang="en-US" altLang="zh-TW"/>
                      <m:t>Increment</m:t>
                    </m:r>
                    <m:r>
                      <m:rPr>
                        <m:nor/>
                      </m:rPr>
                      <a:rPr lang="en-US" altLang="zh-TW"/>
                      <m:t> </m:t>
                    </m:r>
                    <m:r>
                      <m:rPr>
                        <m:nor/>
                      </m:rPr>
                      <a:rPr lang="en-US" altLang="zh-TW"/>
                      <m:t>the</m:t>
                    </m:r>
                    <m:r>
                      <m:rPr>
                        <m:nor/>
                      </m:rPr>
                      <a:rPr lang="en-US" altLang="zh-TW"/>
                      <m:t> </m:t>
                    </m:r>
                    <m:r>
                      <m:rPr>
                        <m:nor/>
                      </m:rPr>
                      <a:rPr lang="en-US" altLang="zh-TW"/>
                      <m:t>field</m:t>
                    </m:r>
                    <m:r>
                      <m:rPr>
                        <m:nor/>
                      </m:rPr>
                      <a:rPr lang="en-US" altLang="zh-TW"/>
                      <m:t> </m:t>
                    </m:r>
                    <m:r>
                      <m:rPr>
                        <m:nor/>
                      </m:rPr>
                      <a:rPr lang="en-US" altLang="zh-TW"/>
                      <m:t>corresponding</m:t>
                    </m:r>
                    <m:r>
                      <m:rPr>
                        <m:nor/>
                      </m:rPr>
                      <a:rPr lang="en-US" altLang="zh-TW"/>
                      <m:t> </m:t>
                    </m:r>
                    <m:r>
                      <m:rPr>
                        <m:nor/>
                      </m:rPr>
                      <a:rPr lang="en-US" altLang="zh-TW"/>
                      <m:t>to</m:t>
                    </m:r>
                    <m:r>
                      <m:rPr>
                        <m:nor/>
                      </m:rPr>
                      <a:rPr lang="en-US" altLang="zh-TW"/>
                      <m:t> </m:t>
                    </m:r>
                    <m:r>
                      <m:rPr>
                        <m:nor/>
                      </m:rPr>
                      <a:rPr lang="en-US" altLang="zh-TW"/>
                      <m:t>the</m:t>
                    </m:r>
                    <m:r>
                      <m:rPr>
                        <m:nor/>
                      </m:rPr>
                      <a:rPr lang="en-US" altLang="zh-TW"/>
                      <m:t> </m:t>
                    </m:r>
                    <m:r>
                      <m:rPr>
                        <m:nor/>
                      </m:rPr>
                      <a:rPr lang="en-US" altLang="zh-TW"/>
                      <m:t>smallest</m:t>
                    </m:r>
                    <m:r>
                      <m:rPr>
                        <m:nor/>
                      </m:rPr>
                      <a:rPr lang="en-US" altLang="zh-TW"/>
                      <m:t> </m:t>
                    </m:r>
                    <m:r>
                      <m:rPr>
                        <m:nor/>
                      </m:rPr>
                      <a:rPr lang="en-US" altLang="zh-TW"/>
                      <m:t>quotient</m:t>
                    </m:r>
                    <m:r>
                      <m:rPr>
                        <m:nor/>
                      </m:rPr>
                      <a:rPr lang="en-US" altLang="zh-TW"/>
                      <m:t> </m:t>
                    </m:r>
                    <m:r>
                      <m:rPr>
                        <m:nor/>
                      </m:rPr>
                      <a:rPr lang="en-US" altLang="zh-TW"/>
                      <m:t>by</m:t>
                    </m:r>
                    <m:r>
                      <m:rPr>
                        <m:nor/>
                      </m:rPr>
                      <a:rPr lang="en-US" altLang="zh-TW"/>
                      <m:t> 1 </m:t>
                    </m:r>
                    <m:r>
                      <m:rPr>
                        <m:nor/>
                      </m:rPr>
                      <a:rPr lang="en-US" altLang="zh-TW"/>
                      <m:t>until</m:t>
                    </m:r>
                    <m:r>
                      <m:rPr>
                        <m:nor/>
                      </m:rPr>
                      <a:rPr lang="en-US" altLang="zh-TW"/>
                      <m:t> </m:t>
                    </m:r>
                    <m:r>
                      <m:rPr>
                        <m:nor/>
                      </m:rPr>
                      <a:rPr lang="en-US" altLang="zh-TW"/>
                      <m:t>a</m:t>
                    </m:r>
                    <m:r>
                      <m:rPr>
                        <m:nor/>
                      </m:rPr>
                      <a:rPr lang="en-US" altLang="zh-TW"/>
                      <m:t> </m:t>
                    </m:r>
                    <m:r>
                      <m:rPr>
                        <m:nor/>
                      </m:rPr>
                      <a:rPr lang="en-US" altLang="zh-TW"/>
                      <m:t>point</m:t>
                    </m:r>
                    <m:r>
                      <m:rPr>
                        <m:nor/>
                      </m:rPr>
                      <a:rPr lang="en-US" altLang="zh-TW"/>
                      <m:t>−</m:t>
                    </m:r>
                    <m:r>
                      <m:rPr>
                        <m:nor/>
                      </m:rPr>
                      <a:rPr lang="en-US" altLang="zh-TW"/>
                      <m:t>count</m:t>
                    </m:r>
                    <m:r>
                      <m:rPr>
                        <m:nor/>
                      </m:rPr>
                      <a:rPr lang="en-US" altLang="zh-TW"/>
                      <m:t> </m:t>
                    </m:r>
                    <m:r>
                      <m:rPr>
                        <m:nor/>
                      </m:rPr>
                      <a:rPr lang="en-US" altLang="zh-TW"/>
                      <m:t>combination</m:t>
                    </m:r>
                    <m:r>
                      <m:rPr>
                        <m:nor/>
                      </m:rPr>
                      <a:rPr lang="en-US" altLang="zh-TW"/>
                      <m:t> </m:t>
                    </m:r>
                    <m:r>
                      <m:rPr>
                        <m:nor/>
                      </m:rPr>
                      <a:rPr lang="en-US" altLang="zh-TW"/>
                      <m:t>satisfying</m:t>
                    </m:r>
                    <m:r>
                      <m:rPr>
                        <m:nor/>
                      </m:rPr>
                      <a:rPr lang="en-US" altLang="zh-TW"/>
                      <m:t> </m:t>
                    </m:r>
                    <m:r>
                      <m:rPr>
                        <m:nor/>
                      </m:rPr>
                      <a:rPr lang="en-US" altLang="zh-TW"/>
                      <m:t>the</m:t>
                    </m:r>
                    <m:r>
                      <m:rPr>
                        <m:nor/>
                      </m:rPr>
                      <a:rPr lang="en-US" altLang="zh-TW"/>
                      <m:t> </m:t>
                    </m:r>
                    <m:r>
                      <m:rPr>
                        <m:nor/>
                      </m:rPr>
                      <a:rPr lang="en-US" altLang="zh-TW"/>
                      <m:t>criteria</m:t>
                    </m:r>
                    <m:r>
                      <m:rPr>
                        <m:nor/>
                      </m:rPr>
                      <a:rPr lang="en-US" altLang="zh-TW"/>
                      <m:t> </m:t>
                    </m:r>
                    <m:r>
                      <m:rPr>
                        <m:nor/>
                      </m:rPr>
                      <a:rPr lang="en-US" altLang="zh-TW"/>
                      <m:t>is</m:t>
                    </m:r>
                    <m:r>
                      <m:rPr>
                        <m:nor/>
                      </m:rPr>
                      <a:rPr lang="en-US" altLang="zh-TW"/>
                      <m:t> </m:t>
                    </m:r>
                    <m:r>
                      <m:rPr>
                        <m:nor/>
                      </m:rPr>
                      <a:rPr lang="en-US" altLang="zh-TW"/>
                      <m:t>found</m:t>
                    </m:r>
                    <m:r>
                      <m:rPr>
                        <m:nor/>
                      </m:rPr>
                      <a:rPr lang="en-US" altLang="zh-TW"/>
                      <m:t>.</m:t>
                    </m:r>
                  </m:oMath>
                </a14:m>
                <a:endParaRPr lang="en-US" altLang="zh-TW" dirty="0"/>
              </a:p>
              <a:p>
                <a:pPr marL="342900" indent="-342900">
                  <a:buFont typeface="+mj-lt"/>
                  <a:buAutoNum type="arabicPeriod"/>
                </a:pPr>
                <a:endParaRPr lang="en-US" altLang="zh-TW" dirty="0"/>
              </a:p>
              <a:p>
                <a:pPr marL="342900" indent="-342900">
                  <a:buFont typeface="+mj-lt"/>
                  <a:buAutoNum type="arabicPeriod"/>
                </a:pPr>
                <a:endParaRPr lang="en-US" altLang="zh-TW" dirty="0"/>
              </a:p>
              <a:p>
                <a:endParaRPr lang="zh-TW" altLang="en-US" dirty="0"/>
              </a:p>
            </p:txBody>
          </p:sp>
        </mc:Choice>
        <mc:Fallback xmlns="">
          <p:sp>
            <p:nvSpPr>
              <p:cNvPr id="14" name="文字方塊 13">
                <a:extLst>
                  <a:ext uri="{FF2B5EF4-FFF2-40B4-BE49-F238E27FC236}">
                    <a16:creationId xmlns:a16="http://schemas.microsoft.com/office/drawing/2014/main" id="{82D307D2-6DAC-4D7E-9C83-F22C31911AA3}"/>
                  </a:ext>
                </a:extLst>
              </p:cNvPr>
              <p:cNvSpPr txBox="1">
                <a:spLocks noRot="1" noChangeAspect="1" noMove="1" noResize="1" noEditPoints="1" noAdjustHandles="1" noChangeArrowheads="1" noChangeShapeType="1" noTextEdit="1"/>
              </p:cNvSpPr>
              <p:nvPr/>
            </p:nvSpPr>
            <p:spPr>
              <a:xfrm>
                <a:off x="146051" y="795045"/>
                <a:ext cx="11430000" cy="3624775"/>
              </a:xfrm>
              <a:prstGeom prst="rect">
                <a:avLst/>
              </a:prstGeom>
              <a:blipFill>
                <a:blip r:embed="rId2"/>
                <a:stretch>
                  <a:fillRect l="-480" t="-840"/>
                </a:stretch>
              </a:blipFill>
            </p:spPr>
            <p:txBody>
              <a:bodyPr/>
              <a:lstStyle/>
              <a:p>
                <a:r>
                  <a:rPr lang="zh-TW" altLang="en-US">
                    <a:noFill/>
                  </a:rPr>
                  <a:t> </a:t>
                </a:r>
              </a:p>
            </p:txBody>
          </p:sp>
        </mc:Fallback>
      </mc:AlternateContent>
      <p:sp>
        <p:nvSpPr>
          <p:cNvPr id="11" name="文字方塊 10">
            <a:extLst>
              <a:ext uri="{FF2B5EF4-FFF2-40B4-BE49-F238E27FC236}">
                <a16:creationId xmlns:a16="http://schemas.microsoft.com/office/drawing/2014/main" id="{293AAAAC-AC97-4CF7-96F2-DD265BF6B6E2}"/>
              </a:ext>
            </a:extLst>
          </p:cNvPr>
          <p:cNvSpPr txBox="1"/>
          <p:nvPr/>
        </p:nvSpPr>
        <p:spPr>
          <a:xfrm>
            <a:off x="233892" y="3860800"/>
            <a:ext cx="11254318" cy="646331"/>
          </a:xfrm>
          <a:prstGeom prst="rect">
            <a:avLst/>
          </a:prstGeom>
          <a:noFill/>
        </p:spPr>
        <p:txBody>
          <a:bodyPr wrap="square" rtlCol="0">
            <a:spAutoFit/>
          </a:bodyPr>
          <a:lstStyle/>
          <a:p>
            <a:pPr marL="285750" indent="-285750">
              <a:buFont typeface="Wingdings" panose="05000000000000000000" pitchFamily="2" charset="2"/>
              <a:buChar char="u"/>
            </a:pPr>
            <a:r>
              <a:rPr lang="en-US" altLang="zh-TW" dirty="0"/>
              <a:t>A checkpoint is considered a convergence point if the rates of change of the subsequent ten points relative to their respective preceding points are all less than 0.5%.</a:t>
            </a:r>
            <a:endParaRPr lang="zh-TW" altLang="en-US" dirty="0"/>
          </a:p>
        </p:txBody>
      </p:sp>
    </p:spTree>
    <p:extLst>
      <p:ext uri="{BB962C8B-B14F-4D97-AF65-F5344CB8AC3E}">
        <p14:creationId xmlns:p14="http://schemas.microsoft.com/office/powerpoint/2010/main" val="33578399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192000" cy="837142"/>
          </a:xfrm>
        </p:spPr>
        <p:txBody>
          <a:bodyPr>
            <a:normAutofit fontScale="90000"/>
          </a:bodyPr>
          <a:lstStyle/>
          <a:p>
            <a:r>
              <a:rPr lang="en-US" altLang="zh-TW" sz="3600" b="1" kern="100" dirty="0">
                <a:solidFill>
                  <a:srgbClr val="000000"/>
                </a:solidFill>
                <a:latin typeface="Aptos"/>
                <a:ea typeface="新細明體" panose="02020500000000000000" pitchFamily="18" charset="-120"/>
                <a:cs typeface="Times New Roman" panose="02020603050405020304" pitchFamily="18" charset="0"/>
              </a:rPr>
              <a:t>Hall-sensor-voltage-based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7" name="文字方塊 6">
            <a:extLst>
              <a:ext uri="{FF2B5EF4-FFF2-40B4-BE49-F238E27FC236}">
                <a16:creationId xmlns:a16="http://schemas.microsoft.com/office/drawing/2014/main" id="{3B970DD4-BBB5-449B-A35D-ACB34E775395}"/>
              </a:ext>
            </a:extLst>
          </p:cNvPr>
          <p:cNvSpPr txBox="1"/>
          <p:nvPr/>
        </p:nvSpPr>
        <p:spPr>
          <a:xfrm>
            <a:off x="3141579" y="553537"/>
            <a:ext cx="3793066" cy="369332"/>
          </a:xfrm>
          <a:prstGeom prst="rect">
            <a:avLst/>
          </a:prstGeom>
          <a:noFill/>
        </p:spPr>
        <p:txBody>
          <a:bodyPr wrap="square" rtlCol="0">
            <a:spAutoFit/>
          </a:bodyPr>
          <a:lstStyle/>
          <a:p>
            <a:pPr marL="285750" indent="-285750">
              <a:buFont typeface="Arial" panose="020B0604020202020204" pitchFamily="34" charset="0"/>
              <a:buChar char="•"/>
            </a:pPr>
            <a:r>
              <a:rPr lang="en-US" altLang="zh-TW" dirty="0"/>
              <a:t>Single parameter</a:t>
            </a:r>
            <a:endParaRPr lang="zh-TW" altLang="en-US" dirty="0"/>
          </a:p>
        </p:txBody>
      </p:sp>
      <p:sp>
        <p:nvSpPr>
          <p:cNvPr id="9" name="文字方塊 8">
            <a:extLst>
              <a:ext uri="{FF2B5EF4-FFF2-40B4-BE49-F238E27FC236}">
                <a16:creationId xmlns:a16="http://schemas.microsoft.com/office/drawing/2014/main" id="{9FF4D34D-ECD2-4F94-BEEC-33EA0D199F4B}"/>
              </a:ext>
            </a:extLst>
          </p:cNvPr>
          <p:cNvSpPr txBox="1"/>
          <p:nvPr/>
        </p:nvSpPr>
        <p:spPr>
          <a:xfrm>
            <a:off x="3141579" y="2198624"/>
            <a:ext cx="3793066" cy="369332"/>
          </a:xfrm>
          <a:prstGeom prst="rect">
            <a:avLst/>
          </a:prstGeom>
          <a:noFill/>
        </p:spPr>
        <p:txBody>
          <a:bodyPr wrap="square" rtlCol="0">
            <a:spAutoFit/>
          </a:bodyPr>
          <a:lstStyle/>
          <a:p>
            <a:pPr marL="285750" indent="-285750">
              <a:buFont typeface="Arial" panose="020B0604020202020204" pitchFamily="34" charset="0"/>
              <a:buChar char="•"/>
            </a:pPr>
            <a:r>
              <a:rPr lang="en-US" altLang="zh-TW" dirty="0"/>
              <a:t>Eighteen parameters</a:t>
            </a:r>
            <a:endParaRPr lang="zh-TW" altLang="en-US" dirty="0"/>
          </a:p>
        </p:txBody>
      </p:sp>
      <p:grpSp>
        <p:nvGrpSpPr>
          <p:cNvPr id="5" name="群組 4">
            <a:extLst>
              <a:ext uri="{FF2B5EF4-FFF2-40B4-BE49-F238E27FC236}">
                <a16:creationId xmlns:a16="http://schemas.microsoft.com/office/drawing/2014/main" id="{8FE9ABEB-89BC-4168-B129-8FB78DC98D69}"/>
              </a:ext>
            </a:extLst>
          </p:cNvPr>
          <p:cNvGrpSpPr/>
          <p:nvPr/>
        </p:nvGrpSpPr>
        <p:grpSpPr>
          <a:xfrm>
            <a:off x="-34568" y="619043"/>
            <a:ext cx="3201548" cy="2629051"/>
            <a:chOff x="-34568" y="619043"/>
            <a:chExt cx="3201548" cy="2629051"/>
          </a:xfrm>
        </p:grpSpPr>
        <p:pic>
          <p:nvPicPr>
            <p:cNvPr id="4" name="圖片 3">
              <a:extLst>
                <a:ext uri="{FF2B5EF4-FFF2-40B4-BE49-F238E27FC236}">
                  <a16:creationId xmlns:a16="http://schemas.microsoft.com/office/drawing/2014/main" id="{8238E239-0659-4120-863F-786BD492D37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1461" y="619043"/>
              <a:ext cx="2955519" cy="2382835"/>
            </a:xfrm>
            <a:prstGeom prst="rect">
              <a:avLst/>
            </a:prstGeom>
          </p:spPr>
        </p:pic>
        <mc:AlternateContent xmlns:mc="http://schemas.openxmlformats.org/markup-compatibility/2006" xmlns:a14="http://schemas.microsoft.com/office/drawing/2010/main">
          <mc:Choice Requires="a14">
            <p:sp>
              <p:nvSpPr>
                <p:cNvPr id="17" name="文字方塊 16">
                  <a:extLst>
                    <a:ext uri="{FF2B5EF4-FFF2-40B4-BE49-F238E27FC236}">
                      <a16:creationId xmlns:a16="http://schemas.microsoft.com/office/drawing/2014/main" id="{678E7078-A51C-4AA2-9EF8-D725CC6E86D4}"/>
                    </a:ext>
                  </a:extLst>
                </p:cNvPr>
                <p:cNvSpPr txBox="1"/>
                <p:nvPr/>
              </p:nvSpPr>
              <p:spPr>
                <a:xfrm>
                  <a:off x="1143000" y="2972131"/>
                  <a:ext cx="1106536" cy="2759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𝑥</m:t>
                        </m:r>
                        <m:r>
                          <a:rPr lang="en-US" altLang="zh-TW" b="0" i="1" smtClean="0">
                            <a:latin typeface="Cambria Math" panose="02040503050406030204" pitchFamily="18" charset="0"/>
                          </a:rPr>
                          <m:t>−</m:t>
                        </m:r>
                        <m:r>
                          <m:rPr>
                            <m:sty m:val="p"/>
                          </m:rPr>
                          <a:rPr lang="en-US" altLang="zh-TW" b="0" i="0" smtClean="0">
                            <a:latin typeface="Cambria Math" panose="02040503050406030204" pitchFamily="18" charset="0"/>
                          </a:rPr>
                          <m:t>axis</m:t>
                        </m:r>
                        <m:r>
                          <a:rPr lang="en-US" altLang="zh-TW" b="0" i="1" smtClean="0">
                            <a:latin typeface="Cambria Math" panose="02040503050406030204" pitchFamily="18" charset="0"/>
                          </a:rPr>
                          <m:t>(</m:t>
                        </m:r>
                        <m:r>
                          <a:rPr lang="en-US" altLang="zh-TW" b="0" i="1" smtClean="0">
                            <a:latin typeface="Cambria Math" panose="02040503050406030204" pitchFamily="18" charset="0"/>
                          </a:rPr>
                          <m:t>𝑚𝑚</m:t>
                        </m:r>
                        <m:r>
                          <a:rPr lang="en-US" altLang="zh-TW" b="0" i="1" smtClean="0">
                            <a:latin typeface="Cambria Math" panose="02040503050406030204" pitchFamily="18" charset="0"/>
                          </a:rPr>
                          <m:t>)</m:t>
                        </m:r>
                      </m:oMath>
                    </m:oMathPara>
                  </a14:m>
                  <a:endParaRPr lang="zh-TW" altLang="en-US" i="1" dirty="0">
                    <a:latin typeface="Times New Roman" panose="02020603050405020304" pitchFamily="18" charset="0"/>
                    <a:cs typeface="Times New Roman" panose="02020603050405020304" pitchFamily="18" charset="0"/>
                  </a:endParaRPr>
                </a:p>
              </p:txBody>
            </p:sp>
          </mc:Choice>
          <mc:Fallback xmlns="">
            <p:sp>
              <p:nvSpPr>
                <p:cNvPr id="17" name="文字方塊 16">
                  <a:extLst>
                    <a:ext uri="{FF2B5EF4-FFF2-40B4-BE49-F238E27FC236}">
                      <a16:creationId xmlns:a16="http://schemas.microsoft.com/office/drawing/2014/main" id="{678E7078-A51C-4AA2-9EF8-D725CC6E86D4}"/>
                    </a:ext>
                  </a:extLst>
                </p:cNvPr>
                <p:cNvSpPr txBox="1">
                  <a:spLocks noRot="1" noChangeAspect="1" noMove="1" noResize="1" noEditPoints="1" noAdjustHandles="1" noChangeArrowheads="1" noChangeShapeType="1" noTextEdit="1"/>
                </p:cNvSpPr>
                <p:nvPr/>
              </p:nvSpPr>
              <p:spPr>
                <a:xfrm>
                  <a:off x="1143000" y="2972131"/>
                  <a:ext cx="1106536" cy="275963"/>
                </a:xfrm>
                <a:prstGeom prst="rect">
                  <a:avLst/>
                </a:prstGeom>
                <a:blipFill>
                  <a:blip r:embed="rId12"/>
                  <a:stretch>
                    <a:fillRect l="-5525" t="-2222" r="-33702" b="-3777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3" name="文字方塊 22">
                  <a:extLst>
                    <a:ext uri="{FF2B5EF4-FFF2-40B4-BE49-F238E27FC236}">
                      <a16:creationId xmlns:a16="http://schemas.microsoft.com/office/drawing/2014/main" id="{EBE875F1-6D13-4A07-89C5-609C93B9D6B9}"/>
                    </a:ext>
                  </a:extLst>
                </p:cNvPr>
                <p:cNvSpPr txBox="1"/>
                <p:nvPr/>
              </p:nvSpPr>
              <p:spPr>
                <a:xfrm rot="16200000">
                  <a:off x="-630115" y="1518415"/>
                  <a:ext cx="1404535" cy="21344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𝑧</m:t>
                        </m:r>
                        <m:r>
                          <a:rPr lang="en-US" altLang="zh-TW" b="0" i="1" smtClean="0">
                            <a:latin typeface="Cambria Math" panose="02040503050406030204" pitchFamily="18" charset="0"/>
                          </a:rPr>
                          <m:t>−</m:t>
                        </m:r>
                        <m:r>
                          <m:rPr>
                            <m:sty m:val="p"/>
                          </m:rPr>
                          <a:rPr lang="en-US" altLang="zh-TW" b="0" i="0" smtClean="0">
                            <a:latin typeface="Cambria Math" panose="02040503050406030204" pitchFamily="18" charset="0"/>
                          </a:rPr>
                          <m:t>axis</m:t>
                        </m:r>
                        <m:r>
                          <a:rPr lang="en-US" altLang="zh-TW" b="0" i="1" smtClean="0">
                            <a:latin typeface="Cambria Math" panose="02040503050406030204" pitchFamily="18" charset="0"/>
                          </a:rPr>
                          <m:t>(</m:t>
                        </m:r>
                        <m:r>
                          <a:rPr lang="en-US" altLang="zh-TW" b="0" i="1" smtClean="0">
                            <a:latin typeface="Cambria Math" panose="02040503050406030204" pitchFamily="18" charset="0"/>
                          </a:rPr>
                          <m:t>𝑚𝑚</m:t>
                        </m:r>
                        <m:r>
                          <a:rPr lang="en-US" altLang="zh-TW" b="0" i="1" smtClean="0">
                            <a:latin typeface="Cambria Math" panose="02040503050406030204" pitchFamily="18" charset="0"/>
                          </a:rPr>
                          <m:t>)</m:t>
                        </m:r>
                      </m:oMath>
                    </m:oMathPara>
                  </a14:m>
                  <a:endParaRPr lang="zh-TW" altLang="en-US" i="1" dirty="0">
                    <a:latin typeface="Times New Roman" panose="02020603050405020304" pitchFamily="18" charset="0"/>
                    <a:cs typeface="Times New Roman" panose="02020603050405020304" pitchFamily="18" charset="0"/>
                  </a:endParaRPr>
                </a:p>
              </p:txBody>
            </p:sp>
          </mc:Choice>
          <mc:Fallback xmlns="">
            <p:sp>
              <p:nvSpPr>
                <p:cNvPr id="23" name="文字方塊 22">
                  <a:extLst>
                    <a:ext uri="{FF2B5EF4-FFF2-40B4-BE49-F238E27FC236}">
                      <a16:creationId xmlns:a16="http://schemas.microsoft.com/office/drawing/2014/main" id="{EBE875F1-6D13-4A07-89C5-609C93B9D6B9}"/>
                    </a:ext>
                  </a:extLst>
                </p:cNvPr>
                <p:cNvSpPr txBox="1">
                  <a:spLocks noRot="1" noChangeAspect="1" noMove="1" noResize="1" noEditPoints="1" noAdjustHandles="1" noChangeArrowheads="1" noChangeShapeType="1" noTextEdit="1"/>
                </p:cNvSpPr>
                <p:nvPr/>
              </p:nvSpPr>
              <p:spPr>
                <a:xfrm rot="16200000">
                  <a:off x="-630115" y="1518415"/>
                  <a:ext cx="1404535" cy="213442"/>
                </a:xfrm>
                <a:prstGeom prst="rect">
                  <a:avLst/>
                </a:prstGeom>
                <a:blipFill>
                  <a:blip r:embed="rId13"/>
                  <a:stretch>
                    <a:fillRect t="-6061" r="-77143" b="-25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 name="文字方塊 2">
                  <a:extLst>
                    <a:ext uri="{FF2B5EF4-FFF2-40B4-BE49-F238E27FC236}">
                      <a16:creationId xmlns:a16="http://schemas.microsoft.com/office/drawing/2014/main" id="{2759E233-A565-4C6B-A6FD-F1F3E04D8C52}"/>
                    </a:ext>
                  </a:extLst>
                </p:cNvPr>
                <p:cNvSpPr txBox="1"/>
                <p:nvPr/>
              </p:nvSpPr>
              <p:spPr>
                <a:xfrm rot="678839">
                  <a:off x="1715529" y="1447116"/>
                  <a:ext cx="503343" cy="24622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600" b="0" i="0" smtClean="0">
                            <a:solidFill>
                              <a:schemeClr val="accent1"/>
                            </a:solidFill>
                            <a:latin typeface="Cambria Math" panose="02040503050406030204" pitchFamily="18" charset="0"/>
                          </a:rPr>
                          <m:t>3</m:t>
                        </m:r>
                        <m:r>
                          <m:rPr>
                            <m:sty m:val="p"/>
                          </m:rPr>
                          <a:rPr lang="en-US" altLang="zh-TW" sz="1600" b="0" i="0" smtClean="0">
                            <a:solidFill>
                              <a:schemeClr val="accent1"/>
                            </a:solidFill>
                            <a:latin typeface="Cambria Math" panose="02040503050406030204" pitchFamily="18" charset="0"/>
                          </a:rPr>
                          <m:t>mm</m:t>
                        </m:r>
                      </m:oMath>
                    </m:oMathPara>
                  </a14:m>
                  <a:endParaRPr lang="zh-TW" altLang="en-US" sz="1600" dirty="0">
                    <a:solidFill>
                      <a:schemeClr val="accent1"/>
                    </a:solidFill>
                  </a:endParaRPr>
                </a:p>
              </p:txBody>
            </p:sp>
          </mc:Choice>
          <mc:Fallback xmlns="">
            <p:sp>
              <p:nvSpPr>
                <p:cNvPr id="3" name="文字方塊 2">
                  <a:extLst>
                    <a:ext uri="{FF2B5EF4-FFF2-40B4-BE49-F238E27FC236}">
                      <a16:creationId xmlns:a16="http://schemas.microsoft.com/office/drawing/2014/main" id="{2759E233-A565-4C6B-A6FD-F1F3E04D8C52}"/>
                    </a:ext>
                  </a:extLst>
                </p:cNvPr>
                <p:cNvSpPr txBox="1">
                  <a:spLocks noRot="1" noChangeAspect="1" noMove="1" noResize="1" noEditPoints="1" noAdjustHandles="1" noChangeArrowheads="1" noChangeShapeType="1" noTextEdit="1"/>
                </p:cNvSpPr>
                <p:nvPr/>
              </p:nvSpPr>
              <p:spPr>
                <a:xfrm rot="678839">
                  <a:off x="1715529" y="1447116"/>
                  <a:ext cx="503343" cy="246221"/>
                </a:xfrm>
                <a:prstGeom prst="rect">
                  <a:avLst/>
                </a:prstGeom>
                <a:blipFill>
                  <a:blip r:embed="rId14"/>
                  <a:stretch>
                    <a:fillRect l="-777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6" name="文字方塊 25">
                  <a:extLst>
                    <a:ext uri="{FF2B5EF4-FFF2-40B4-BE49-F238E27FC236}">
                      <a16:creationId xmlns:a16="http://schemas.microsoft.com/office/drawing/2014/main" id="{9396AD2F-D4FF-4431-83EF-21F2C68EA698}"/>
                    </a:ext>
                  </a:extLst>
                </p:cNvPr>
                <p:cNvSpPr txBox="1"/>
                <p:nvPr/>
              </p:nvSpPr>
              <p:spPr>
                <a:xfrm rot="16976090">
                  <a:off x="1930496" y="1839262"/>
                  <a:ext cx="843092" cy="246221"/>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600" smtClean="0">
                            <a:solidFill>
                              <a:schemeClr val="accent2"/>
                            </a:solidFill>
                            <a:latin typeface="Cambria Math" panose="02040503050406030204" pitchFamily="18" charset="0"/>
                          </a:rPr>
                          <m:t>0</m:t>
                        </m:r>
                        <m:r>
                          <a:rPr lang="en-US" altLang="zh-TW" sz="1600" b="0" i="0" smtClean="0">
                            <a:solidFill>
                              <a:schemeClr val="accent2"/>
                            </a:solidFill>
                            <a:latin typeface="Cambria Math" panose="02040503050406030204" pitchFamily="18" charset="0"/>
                          </a:rPr>
                          <m:t>.41</m:t>
                        </m:r>
                        <m:r>
                          <m:rPr>
                            <m:sty m:val="p"/>
                          </m:rPr>
                          <a:rPr lang="en-US" altLang="zh-TW" sz="1600" b="0" i="0" smtClean="0">
                            <a:solidFill>
                              <a:schemeClr val="accent2"/>
                            </a:solidFill>
                            <a:latin typeface="Cambria Math" panose="02040503050406030204" pitchFamily="18" charset="0"/>
                          </a:rPr>
                          <m:t>mm</m:t>
                        </m:r>
                      </m:oMath>
                    </m:oMathPara>
                  </a14:m>
                  <a:endParaRPr lang="zh-TW" altLang="en-US" sz="1600" dirty="0">
                    <a:solidFill>
                      <a:schemeClr val="accent2"/>
                    </a:solidFill>
                  </a:endParaRPr>
                </a:p>
              </p:txBody>
            </p:sp>
          </mc:Choice>
          <mc:Fallback xmlns="">
            <p:sp>
              <p:nvSpPr>
                <p:cNvPr id="26" name="文字方塊 25">
                  <a:extLst>
                    <a:ext uri="{FF2B5EF4-FFF2-40B4-BE49-F238E27FC236}">
                      <a16:creationId xmlns:a16="http://schemas.microsoft.com/office/drawing/2014/main" id="{9396AD2F-D4FF-4431-83EF-21F2C68EA698}"/>
                    </a:ext>
                  </a:extLst>
                </p:cNvPr>
                <p:cNvSpPr txBox="1">
                  <a:spLocks noRot="1" noChangeAspect="1" noMove="1" noResize="1" noEditPoints="1" noAdjustHandles="1" noChangeArrowheads="1" noChangeShapeType="1" noTextEdit="1"/>
                </p:cNvSpPr>
                <p:nvPr/>
              </p:nvSpPr>
              <p:spPr>
                <a:xfrm rot="16976090">
                  <a:off x="1930496" y="1839262"/>
                  <a:ext cx="843092" cy="246221"/>
                </a:xfrm>
                <a:prstGeom prst="rect">
                  <a:avLst/>
                </a:prstGeom>
                <a:blipFill>
                  <a:blip r:embed="rId15"/>
                  <a:stretch>
                    <a:fillRect b="-1379"/>
                  </a:stretch>
                </a:blipFill>
              </p:spPr>
              <p:txBody>
                <a:bodyPr/>
                <a:lstStyle/>
                <a:p>
                  <a:r>
                    <a:rPr lang="zh-TW" altLang="en-US">
                      <a:noFill/>
                    </a:rPr>
                    <a:t> </a:t>
                  </a:r>
                </a:p>
              </p:txBody>
            </p:sp>
          </mc:Fallback>
        </mc:AlternateContent>
      </p:grpSp>
      <p:grpSp>
        <p:nvGrpSpPr>
          <p:cNvPr id="8" name="群組 7">
            <a:extLst>
              <a:ext uri="{FF2B5EF4-FFF2-40B4-BE49-F238E27FC236}">
                <a16:creationId xmlns:a16="http://schemas.microsoft.com/office/drawing/2014/main" id="{1360E81E-E71E-45BA-B332-92C61EB72938}"/>
              </a:ext>
            </a:extLst>
          </p:cNvPr>
          <p:cNvGrpSpPr/>
          <p:nvPr/>
        </p:nvGrpSpPr>
        <p:grpSpPr>
          <a:xfrm>
            <a:off x="146812" y="3330318"/>
            <a:ext cx="2891829" cy="3254066"/>
            <a:chOff x="72152" y="3256196"/>
            <a:chExt cx="2891829" cy="3254066"/>
          </a:xfrm>
        </p:grpSpPr>
        <p:pic>
          <p:nvPicPr>
            <p:cNvPr id="6" name="圖片 5">
              <a:extLst>
                <a:ext uri="{FF2B5EF4-FFF2-40B4-BE49-F238E27FC236}">
                  <a16:creationId xmlns:a16="http://schemas.microsoft.com/office/drawing/2014/main" id="{988C42B5-FBD1-4FD8-BABE-1FCBE073D28F}"/>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393065" y="3256196"/>
              <a:ext cx="2570916" cy="3005448"/>
            </a:xfrm>
            <a:prstGeom prst="rect">
              <a:avLst/>
            </a:prstGeom>
          </p:spPr>
        </p:pic>
        <mc:AlternateContent xmlns:mc="http://schemas.openxmlformats.org/markup-compatibility/2006" xmlns:a14="http://schemas.microsoft.com/office/drawing/2010/main">
          <mc:Choice Requires="a14">
            <p:sp>
              <p:nvSpPr>
                <p:cNvPr id="24" name="文字方塊 23">
                  <a:extLst>
                    <a:ext uri="{FF2B5EF4-FFF2-40B4-BE49-F238E27FC236}">
                      <a16:creationId xmlns:a16="http://schemas.microsoft.com/office/drawing/2014/main" id="{EE65A446-91AE-48EC-8330-BB70D7D76434}"/>
                    </a:ext>
                  </a:extLst>
                </p:cNvPr>
                <p:cNvSpPr txBox="1"/>
                <p:nvPr/>
              </p:nvSpPr>
              <p:spPr>
                <a:xfrm>
                  <a:off x="1210733" y="6234299"/>
                  <a:ext cx="1106536" cy="2759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𝑥</m:t>
                        </m:r>
                        <m:r>
                          <a:rPr lang="en-US" altLang="zh-TW" b="0" i="1" smtClean="0">
                            <a:latin typeface="Cambria Math" panose="02040503050406030204" pitchFamily="18" charset="0"/>
                          </a:rPr>
                          <m:t>−</m:t>
                        </m:r>
                        <m:r>
                          <m:rPr>
                            <m:sty m:val="p"/>
                          </m:rPr>
                          <a:rPr lang="en-US" altLang="zh-TW" b="0" i="0" smtClean="0">
                            <a:latin typeface="Cambria Math" panose="02040503050406030204" pitchFamily="18" charset="0"/>
                          </a:rPr>
                          <m:t>axis</m:t>
                        </m:r>
                        <m:r>
                          <a:rPr lang="en-US" altLang="zh-TW" b="0" i="1" smtClean="0">
                            <a:latin typeface="Cambria Math" panose="02040503050406030204" pitchFamily="18" charset="0"/>
                          </a:rPr>
                          <m:t>(</m:t>
                        </m:r>
                        <m:r>
                          <a:rPr lang="en-US" altLang="zh-TW" b="0" i="1" smtClean="0">
                            <a:latin typeface="Cambria Math" panose="02040503050406030204" pitchFamily="18" charset="0"/>
                          </a:rPr>
                          <m:t>𝑚𝑚</m:t>
                        </m:r>
                        <m:r>
                          <a:rPr lang="en-US" altLang="zh-TW" b="0" i="1" smtClean="0">
                            <a:latin typeface="Cambria Math" panose="02040503050406030204" pitchFamily="18" charset="0"/>
                          </a:rPr>
                          <m:t>)</m:t>
                        </m:r>
                      </m:oMath>
                    </m:oMathPara>
                  </a14:m>
                  <a:endParaRPr lang="zh-TW" altLang="en-US" i="1" dirty="0">
                    <a:latin typeface="Times New Roman" panose="02020603050405020304" pitchFamily="18" charset="0"/>
                    <a:cs typeface="Times New Roman" panose="02020603050405020304" pitchFamily="18" charset="0"/>
                  </a:endParaRPr>
                </a:p>
              </p:txBody>
            </p:sp>
          </mc:Choice>
          <mc:Fallback xmlns="">
            <p:sp>
              <p:nvSpPr>
                <p:cNvPr id="24" name="文字方塊 23">
                  <a:extLst>
                    <a:ext uri="{FF2B5EF4-FFF2-40B4-BE49-F238E27FC236}">
                      <a16:creationId xmlns:a16="http://schemas.microsoft.com/office/drawing/2014/main" id="{EE65A446-91AE-48EC-8330-BB70D7D76434}"/>
                    </a:ext>
                  </a:extLst>
                </p:cNvPr>
                <p:cNvSpPr txBox="1">
                  <a:spLocks noRot="1" noChangeAspect="1" noMove="1" noResize="1" noEditPoints="1" noAdjustHandles="1" noChangeArrowheads="1" noChangeShapeType="1" noTextEdit="1"/>
                </p:cNvSpPr>
                <p:nvPr/>
              </p:nvSpPr>
              <p:spPr>
                <a:xfrm>
                  <a:off x="1210733" y="6234299"/>
                  <a:ext cx="1106536" cy="275963"/>
                </a:xfrm>
                <a:prstGeom prst="rect">
                  <a:avLst/>
                </a:prstGeom>
                <a:blipFill>
                  <a:blip r:embed="rId17"/>
                  <a:stretch>
                    <a:fillRect l="-5525" r="-34254" b="-3777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5B2FF76E-ACA6-4049-80D6-58C7F2BBDA09}"/>
                    </a:ext>
                  </a:extLst>
                </p:cNvPr>
                <p:cNvSpPr txBox="1"/>
                <p:nvPr/>
              </p:nvSpPr>
              <p:spPr>
                <a:xfrm rot="16200000">
                  <a:off x="-523395" y="4479791"/>
                  <a:ext cx="1404535" cy="21344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𝑧</m:t>
                        </m:r>
                        <m:r>
                          <a:rPr lang="en-US" altLang="zh-TW" b="0" i="1" smtClean="0">
                            <a:latin typeface="Cambria Math" panose="02040503050406030204" pitchFamily="18" charset="0"/>
                          </a:rPr>
                          <m:t>−</m:t>
                        </m:r>
                        <m:r>
                          <m:rPr>
                            <m:sty m:val="p"/>
                          </m:rPr>
                          <a:rPr lang="en-US" altLang="zh-TW" b="0" i="0" smtClean="0">
                            <a:latin typeface="Cambria Math" panose="02040503050406030204" pitchFamily="18" charset="0"/>
                          </a:rPr>
                          <m:t>axis</m:t>
                        </m:r>
                        <m:r>
                          <a:rPr lang="en-US" altLang="zh-TW" b="0" i="1" smtClean="0">
                            <a:latin typeface="Cambria Math" panose="02040503050406030204" pitchFamily="18" charset="0"/>
                          </a:rPr>
                          <m:t>(</m:t>
                        </m:r>
                        <m:r>
                          <a:rPr lang="en-US" altLang="zh-TW" b="0" i="1" smtClean="0">
                            <a:latin typeface="Cambria Math" panose="02040503050406030204" pitchFamily="18" charset="0"/>
                          </a:rPr>
                          <m:t>𝑚𝑚</m:t>
                        </m:r>
                        <m:r>
                          <a:rPr lang="en-US" altLang="zh-TW" b="0" i="1" smtClean="0">
                            <a:latin typeface="Cambria Math" panose="02040503050406030204" pitchFamily="18" charset="0"/>
                          </a:rPr>
                          <m:t>)</m:t>
                        </m:r>
                      </m:oMath>
                    </m:oMathPara>
                  </a14:m>
                  <a:endParaRPr lang="zh-TW" altLang="en-US" i="1" dirty="0">
                    <a:latin typeface="Times New Roman" panose="02020603050405020304" pitchFamily="18" charset="0"/>
                    <a:cs typeface="Times New Roman" panose="02020603050405020304" pitchFamily="18" charset="0"/>
                  </a:endParaRPr>
                </a:p>
              </p:txBody>
            </p:sp>
          </mc:Choice>
          <mc:Fallback xmlns="">
            <p:sp>
              <p:nvSpPr>
                <p:cNvPr id="25" name="文字方塊 24">
                  <a:extLst>
                    <a:ext uri="{FF2B5EF4-FFF2-40B4-BE49-F238E27FC236}">
                      <a16:creationId xmlns:a16="http://schemas.microsoft.com/office/drawing/2014/main" id="{5B2FF76E-ACA6-4049-80D6-58C7F2BBDA09}"/>
                    </a:ext>
                  </a:extLst>
                </p:cNvPr>
                <p:cNvSpPr txBox="1">
                  <a:spLocks noRot="1" noChangeAspect="1" noMove="1" noResize="1" noEditPoints="1" noAdjustHandles="1" noChangeArrowheads="1" noChangeShapeType="1" noTextEdit="1"/>
                </p:cNvSpPr>
                <p:nvPr/>
              </p:nvSpPr>
              <p:spPr>
                <a:xfrm rot="16200000">
                  <a:off x="-523395" y="4479791"/>
                  <a:ext cx="1404535" cy="213442"/>
                </a:xfrm>
                <a:prstGeom prst="rect">
                  <a:avLst/>
                </a:prstGeom>
                <a:blipFill>
                  <a:blip r:embed="rId18"/>
                  <a:stretch>
                    <a:fillRect t="-6061" r="-77143" b="-25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7" name="文字方塊 26">
                  <a:extLst>
                    <a:ext uri="{FF2B5EF4-FFF2-40B4-BE49-F238E27FC236}">
                      <a16:creationId xmlns:a16="http://schemas.microsoft.com/office/drawing/2014/main" id="{F613DD2C-B023-4F35-91ED-EE1F51433D80}"/>
                    </a:ext>
                  </a:extLst>
                </p:cNvPr>
                <p:cNvSpPr txBox="1"/>
                <p:nvPr/>
              </p:nvSpPr>
              <p:spPr>
                <a:xfrm rot="2762795">
                  <a:off x="1512329" y="4595311"/>
                  <a:ext cx="503343" cy="24622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600" b="0" i="0" smtClean="0">
                            <a:solidFill>
                              <a:schemeClr val="accent1"/>
                            </a:solidFill>
                            <a:latin typeface="Cambria Math" panose="02040503050406030204" pitchFamily="18" charset="0"/>
                          </a:rPr>
                          <m:t>3</m:t>
                        </m:r>
                        <m:r>
                          <m:rPr>
                            <m:sty m:val="p"/>
                          </m:rPr>
                          <a:rPr lang="en-US" altLang="zh-TW" sz="1600" b="0" i="0" smtClean="0">
                            <a:solidFill>
                              <a:schemeClr val="accent1"/>
                            </a:solidFill>
                            <a:latin typeface="Cambria Math" panose="02040503050406030204" pitchFamily="18" charset="0"/>
                          </a:rPr>
                          <m:t>mm</m:t>
                        </m:r>
                      </m:oMath>
                    </m:oMathPara>
                  </a14:m>
                  <a:endParaRPr lang="zh-TW" altLang="en-US" sz="1600" dirty="0">
                    <a:solidFill>
                      <a:schemeClr val="accent1"/>
                    </a:solidFill>
                  </a:endParaRPr>
                </a:p>
              </p:txBody>
            </p:sp>
          </mc:Choice>
          <mc:Fallback xmlns="">
            <p:sp>
              <p:nvSpPr>
                <p:cNvPr id="27" name="文字方塊 26">
                  <a:extLst>
                    <a:ext uri="{FF2B5EF4-FFF2-40B4-BE49-F238E27FC236}">
                      <a16:creationId xmlns:a16="http://schemas.microsoft.com/office/drawing/2014/main" id="{F613DD2C-B023-4F35-91ED-EE1F51433D80}"/>
                    </a:ext>
                  </a:extLst>
                </p:cNvPr>
                <p:cNvSpPr txBox="1">
                  <a:spLocks noRot="1" noChangeAspect="1" noMove="1" noResize="1" noEditPoints="1" noAdjustHandles="1" noChangeArrowheads="1" noChangeShapeType="1" noTextEdit="1"/>
                </p:cNvSpPr>
                <p:nvPr/>
              </p:nvSpPr>
              <p:spPr>
                <a:xfrm rot="2762795">
                  <a:off x="1512329" y="4595311"/>
                  <a:ext cx="503343" cy="246221"/>
                </a:xfrm>
                <a:prstGeom prst="rect">
                  <a:avLst/>
                </a:prstGeom>
                <a:blipFill>
                  <a:blip r:embed="rId19"/>
                  <a:stretch>
                    <a:fillRect l="-6897" t="-3409" r="-2299" b="-5682"/>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8" name="文字方塊 27">
                  <a:extLst>
                    <a:ext uri="{FF2B5EF4-FFF2-40B4-BE49-F238E27FC236}">
                      <a16:creationId xmlns:a16="http://schemas.microsoft.com/office/drawing/2014/main" id="{47113D68-EE0A-451D-89BE-43038D6F907C}"/>
                    </a:ext>
                  </a:extLst>
                </p:cNvPr>
                <p:cNvSpPr txBox="1"/>
                <p:nvPr/>
              </p:nvSpPr>
              <p:spPr>
                <a:xfrm rot="19242834">
                  <a:off x="1041020" y="4021896"/>
                  <a:ext cx="843092" cy="246221"/>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600" smtClean="0">
                            <a:solidFill>
                              <a:schemeClr val="accent2"/>
                            </a:solidFill>
                            <a:latin typeface="Cambria Math" panose="02040503050406030204" pitchFamily="18" charset="0"/>
                          </a:rPr>
                          <m:t>0</m:t>
                        </m:r>
                        <m:r>
                          <a:rPr lang="en-US" altLang="zh-TW" sz="1600" b="0" i="0" smtClean="0">
                            <a:solidFill>
                              <a:schemeClr val="accent2"/>
                            </a:solidFill>
                            <a:latin typeface="Cambria Math" panose="02040503050406030204" pitchFamily="18" charset="0"/>
                          </a:rPr>
                          <m:t>.41</m:t>
                        </m:r>
                        <m:r>
                          <m:rPr>
                            <m:sty m:val="p"/>
                          </m:rPr>
                          <a:rPr lang="en-US" altLang="zh-TW" sz="1600" b="0" i="0" smtClean="0">
                            <a:solidFill>
                              <a:schemeClr val="accent2"/>
                            </a:solidFill>
                            <a:latin typeface="Cambria Math" panose="02040503050406030204" pitchFamily="18" charset="0"/>
                          </a:rPr>
                          <m:t>mm</m:t>
                        </m:r>
                      </m:oMath>
                    </m:oMathPara>
                  </a14:m>
                  <a:endParaRPr lang="zh-TW" altLang="en-US" sz="1600" dirty="0">
                    <a:solidFill>
                      <a:schemeClr val="accent2"/>
                    </a:solidFill>
                  </a:endParaRPr>
                </a:p>
              </p:txBody>
            </p:sp>
          </mc:Choice>
          <mc:Fallback xmlns="">
            <p:sp>
              <p:nvSpPr>
                <p:cNvPr id="28" name="文字方塊 27">
                  <a:extLst>
                    <a:ext uri="{FF2B5EF4-FFF2-40B4-BE49-F238E27FC236}">
                      <a16:creationId xmlns:a16="http://schemas.microsoft.com/office/drawing/2014/main" id="{47113D68-EE0A-451D-89BE-43038D6F907C}"/>
                    </a:ext>
                  </a:extLst>
                </p:cNvPr>
                <p:cNvSpPr txBox="1">
                  <a:spLocks noRot="1" noChangeAspect="1" noMove="1" noResize="1" noEditPoints="1" noAdjustHandles="1" noChangeArrowheads="1" noChangeShapeType="1" noTextEdit="1"/>
                </p:cNvSpPr>
                <p:nvPr/>
              </p:nvSpPr>
              <p:spPr>
                <a:xfrm rot="19242834">
                  <a:off x="1041020" y="4021896"/>
                  <a:ext cx="843092" cy="246221"/>
                </a:xfrm>
                <a:prstGeom prst="rect">
                  <a:avLst/>
                </a:prstGeom>
                <a:blipFill>
                  <a:blip r:embed="rId20"/>
                  <a:stretch>
                    <a:fillRect b="-1667"/>
                  </a:stretch>
                </a:blipFill>
              </p:spPr>
              <p:txBody>
                <a:bodyPr/>
                <a:lstStyle/>
                <a:p>
                  <a:r>
                    <a:rPr lang="zh-TW" altLang="en-US">
                      <a:noFill/>
                    </a:rPr>
                    <a:t> </a:t>
                  </a:r>
                </a:p>
              </p:txBody>
            </p:sp>
          </mc:Fallback>
        </mc:AlternateContent>
      </p:grpSp>
      <mc:AlternateContent xmlns:mc="http://schemas.openxmlformats.org/markup-compatibility/2006" xmlns:a14="http://schemas.microsoft.com/office/drawing/2010/main">
        <mc:Choice Requires="a14">
          <p:sp>
            <p:nvSpPr>
              <p:cNvPr id="900" name="CalibV_s_mat"/>
              <p:cNvSpPr txBox="1"/>
              <p:nvPr/>
            </p:nvSpPr>
            <p:spPr>
              <a:xfrm>
                <a:off x="3540707" y="907742"/>
                <a:ext cx="3911600" cy="868680"/>
              </a:xfrm>
              <a:prstGeom prst="rect">
                <a:avLst/>
              </a:prstGeom>
              <a:noFill/>
            </p:spPr>
            <p:txBody>
              <a:bodyPr wrap="none" lIns="0" tIns="0" rIns="0" bIns="0" rtlCol="0" anchor="t"/>
              <a:lstStyle/>
              <a:p>
                <a:pPr algn="ctr"/>
                <a14:m>
                  <m:oMathPara xmlns:m="http://schemas.openxmlformats.org/officeDocument/2006/math">
                    <m:oMathParaPr>
                      <m:jc m:val="centerGroup"/>
                    </m:oMathParaPr>
                    <m:oMath xmlns:m="http://schemas.openxmlformats.org/officeDocument/2006/math">
                      <m:acc>
                        <m:accPr>
                          <m:chr m:val="̄"/>
                          <m:ctrlPr>
                            <a:rPr lang="en-US" sz="1050" b="0" i="1">
                              <a:latin typeface="Cambria Math" panose="02040503050406030204" pitchFamily="18" charset="0"/>
                            </a:rPr>
                          </m:ctrlPr>
                        </m:accPr>
                        <m:e>
                          <m:r>
                            <a:rPr lang="en-US" sz="1050" b="0" i="1">
                              <a:latin typeface="Cambria Math" panose="02040503050406030204" pitchFamily="18" charset="0"/>
                            </a:rPr>
                            <m:t>𝐷</m:t>
                          </m:r>
                        </m:e>
                      </m:acc>
                      <m:r>
                        <a:rPr lang="en-US" sz="1050" b="0" i="0">
                          <a:latin typeface="Cambria Math" panose="02040503050406030204" pitchFamily="18" charset="0"/>
                        </a:rPr>
                        <m:t> = </m:t>
                      </m:r>
                      <m:d>
                        <m:dPr>
                          <m:begChr m:val="["/>
                          <m:endChr m:val="]"/>
                          <m:ctrlPr>
                            <a:rPr lang="en-US" sz="1050" b="0" i="1">
                              <a:latin typeface="Cambria Math" panose="02040503050406030204" pitchFamily="18" charset="0"/>
                            </a:rPr>
                          </m:ctrlPr>
                        </m:dPr>
                        <m:e>
                          <m:m>
                            <m:mPr>
                              <m:mcs>
                                <m:mc>
                                  <m:mcPr>
                                    <m:count m:val="6"/>
                                    <m:mcJc m:val="center"/>
                                  </m:mcPr>
                                </m:mc>
                              </m:mcs>
                              <m:ctrlPr>
                                <a:rPr lang="en-US" sz="1050" b="0" i="1">
                                  <a:latin typeface="Cambria Math" panose="02040503050406030204" pitchFamily="18" charset="0"/>
                                </a:rPr>
                              </m:ctrlPr>
                            </m:mPr>
                            <m:mr>
                              <m:e>
                                <m:r>
                                  <a:rPr lang="en-US" sz="1050" b="0" i="0">
                                    <a:latin typeface="Cambria Math" panose="02040503050406030204" pitchFamily="18" charset="0"/>
                                  </a:rPr>
                                  <m:t>0.8333</m:t>
                                </m:r>
                              </m:e>
                              <m:e>
                                <m:r>
                                  <a:rPr lang="en-US" sz="1050" b="0" i="0">
                                    <a:latin typeface="Cambria Math" panose="02040503050406030204" pitchFamily="18" charset="0"/>
                                  </a:rPr>
                                  <m:t>−0.4091</m:t>
                                </m:r>
                              </m:e>
                              <m:e>
                                <m:r>
                                  <a:rPr lang="en-US" sz="1050" b="0" i="0">
                                    <a:latin typeface="Cambria Math" panose="02040503050406030204" pitchFamily="18" charset="0"/>
                                  </a:rPr>
                                  <m:t>−0.3164</m:t>
                                </m:r>
                              </m:e>
                              <m:e>
                                <m:r>
                                  <a:rPr lang="en-US" sz="1050" b="0" i="0">
                                    <a:latin typeface="Cambria Math" panose="02040503050406030204" pitchFamily="18" charset="0"/>
                                  </a:rPr>
                                  <m:t>−0.3630</m:t>
                                </m:r>
                              </m:e>
                              <m:e>
                                <m:r>
                                  <a:rPr lang="en-US" sz="1050" b="0" i="0">
                                    <a:latin typeface="Cambria Math" panose="02040503050406030204" pitchFamily="18" charset="0"/>
                                  </a:rPr>
                                  <m:t>−0.3643</m:t>
                                </m:r>
                              </m:e>
                              <m:e>
                                <m:r>
                                  <a:rPr lang="en-US" sz="1050" b="0" i="0">
                                    <a:latin typeface="Cambria Math" panose="02040503050406030204" pitchFamily="18" charset="0"/>
                                  </a:rPr>
                                  <m:t>−0.3180</m:t>
                                </m:r>
                              </m:e>
                            </m:mr>
                            <m:mr>
                              <m:e>
                                <m:r>
                                  <a:rPr lang="en-US" sz="1050" b="0" i="0">
                                    <a:latin typeface="Cambria Math" panose="02040503050406030204" pitchFamily="18" charset="0"/>
                                  </a:rPr>
                                  <m:t>−0.1435</m:t>
                                </m:r>
                              </m:e>
                              <m:e>
                                <m:r>
                                  <a:rPr lang="en-US" sz="1050" b="0" i="0">
                                    <a:latin typeface="Cambria Math" panose="02040503050406030204" pitchFamily="18" charset="0"/>
                                  </a:rPr>
                                  <m:t>1.4020</m:t>
                                </m:r>
                              </m:e>
                              <m:e>
                                <m:r>
                                  <a:rPr lang="en-US" sz="1050" b="0" i="0">
                                    <a:latin typeface="Cambria Math" panose="02040503050406030204" pitchFamily="18" charset="0"/>
                                  </a:rPr>
                                  <m:t>−0.0278</m:t>
                                </m:r>
                              </m:e>
                              <m:e>
                                <m:r>
                                  <a:rPr lang="en-US" sz="1050" b="0" i="0">
                                    <a:latin typeface="Cambria Math" panose="02040503050406030204" pitchFamily="18" charset="0"/>
                                  </a:rPr>
                                  <m:t>0.3880</m:t>
                                </m:r>
                              </m:e>
                              <m:e>
                                <m:r>
                                  <a:rPr lang="en-US" sz="1050" b="0" i="0">
                                    <a:latin typeface="Cambria Math" panose="02040503050406030204" pitchFamily="18" charset="0"/>
                                  </a:rPr>
                                  <m:t>0.3952</m:t>
                                </m:r>
                              </m:e>
                              <m:e>
                                <m:r>
                                  <a:rPr lang="en-US" sz="1050" b="0" i="0">
                                    <a:latin typeface="Cambria Math" panose="02040503050406030204" pitchFamily="18" charset="0"/>
                                  </a:rPr>
                                  <m:t>−0.0290</m:t>
                                </m:r>
                              </m:e>
                            </m:mr>
                            <m:mr>
                              <m:e>
                                <m:r>
                                  <a:rPr lang="en-US" sz="1050" b="0" i="0">
                                    <a:latin typeface="Cambria Math" panose="02040503050406030204" pitchFamily="18" charset="0"/>
                                  </a:rPr>
                                  <m:t>−0.3316</m:t>
                                </m:r>
                              </m:e>
                              <m:e>
                                <m:r>
                                  <a:rPr lang="en-US" sz="1050" b="0" i="0">
                                    <a:latin typeface="Cambria Math" panose="02040503050406030204" pitchFamily="18" charset="0"/>
                                  </a:rPr>
                                  <m:t>−0.3895</m:t>
                                </m:r>
                              </m:e>
                              <m:e>
                                <m:r>
                                  <a:rPr lang="en-US" sz="1050" b="0" i="0">
                                    <a:latin typeface="Cambria Math" panose="02040503050406030204" pitchFamily="18" charset="0"/>
                                  </a:rPr>
                                  <m:t>0.8224</m:t>
                                </m:r>
                              </m:e>
                              <m:e>
                                <m:r>
                                  <a:rPr lang="en-US" sz="1050" b="0" i="0">
                                    <a:latin typeface="Cambria Math" panose="02040503050406030204" pitchFamily="18" charset="0"/>
                                  </a:rPr>
                                  <m:t>−0.4285</m:t>
                                </m:r>
                              </m:e>
                              <m:e>
                                <m:r>
                                  <a:rPr lang="en-US" sz="1050" b="0" i="0">
                                    <a:latin typeface="Cambria Math" panose="02040503050406030204" pitchFamily="18" charset="0"/>
                                  </a:rPr>
                                  <m:t>−0.3899</m:t>
                                </m:r>
                              </m:e>
                              <m:e>
                                <m:r>
                                  <a:rPr lang="en-US" sz="1050" b="0" i="0">
                                    <a:latin typeface="Cambria Math" panose="02040503050406030204" pitchFamily="18" charset="0"/>
                                  </a:rPr>
                                  <m:t>−0.3315</m:t>
                                </m:r>
                              </m:e>
                            </m:mr>
                            <m:mr>
                              <m:e>
                                <m:r>
                                  <a:rPr lang="en-US" sz="1050" b="0" i="0">
                                    <a:latin typeface="Cambria Math" panose="02040503050406030204" pitchFamily="18" charset="0"/>
                                  </a:rPr>
                                  <m:t>0.0136</m:t>
                                </m:r>
                              </m:e>
                              <m:e>
                                <m:r>
                                  <a:rPr lang="en-US" sz="1050" b="0" i="0">
                                    <a:latin typeface="Cambria Math" panose="02040503050406030204" pitchFamily="18" charset="0"/>
                                  </a:rPr>
                                  <m:t>0.4566</m:t>
                                </m:r>
                              </m:e>
                              <m:e>
                                <m:r>
                                  <a:rPr lang="en-US" sz="1050" b="0" i="0">
                                    <a:latin typeface="Cambria Math" panose="02040503050406030204" pitchFamily="18" charset="0"/>
                                  </a:rPr>
                                  <m:t>−0.1075</m:t>
                                </m:r>
                              </m:e>
                              <m:e>
                                <m:r>
                                  <a:rPr lang="en-US" sz="1050" b="0" i="0">
                                    <a:latin typeface="Cambria Math" panose="02040503050406030204" pitchFamily="18" charset="0"/>
                                  </a:rPr>
                                  <m:t>1.4521</m:t>
                                </m:r>
                              </m:e>
                              <m:e>
                                <m:r>
                                  <a:rPr lang="en-US" sz="1050" b="0" i="0">
                                    <a:latin typeface="Cambria Math" panose="02040503050406030204" pitchFamily="18" charset="0"/>
                                  </a:rPr>
                                  <m:t>0.4570</m:t>
                                </m:r>
                              </m:e>
                              <m:e>
                                <m:r>
                                  <a:rPr lang="en-US" sz="1050" b="0" i="0">
                                    <a:latin typeface="Cambria Math" panose="02040503050406030204" pitchFamily="18" charset="0"/>
                                  </a:rPr>
                                  <m:t>0.0024</m:t>
                                </m:r>
                              </m:e>
                            </m:mr>
                            <m:mr>
                              <m:e>
                                <m:r>
                                  <a:rPr lang="en-US" sz="1050" b="0" i="0">
                                    <a:latin typeface="Cambria Math" panose="02040503050406030204" pitchFamily="18" charset="0"/>
                                  </a:rPr>
                                  <m:t>0.0122</m:t>
                                </m:r>
                              </m:e>
                              <m:e>
                                <m:r>
                                  <a:rPr lang="en-US" sz="1050" b="0" i="0">
                                    <a:latin typeface="Cambria Math" panose="02040503050406030204" pitchFamily="18" charset="0"/>
                                  </a:rPr>
                                  <m:t>0.4436</m:t>
                                </m:r>
                              </m:e>
                              <m:e>
                                <m:r>
                                  <a:rPr lang="en-US" sz="1050" b="0" i="0">
                                    <a:latin typeface="Cambria Math" panose="02040503050406030204" pitchFamily="18" charset="0"/>
                                  </a:rPr>
                                  <m:t>0.0012</m:t>
                                </m:r>
                              </m:e>
                              <m:e>
                                <m:r>
                                  <a:rPr lang="en-US" sz="1050" b="0" i="0">
                                    <a:latin typeface="Cambria Math" panose="02040503050406030204" pitchFamily="18" charset="0"/>
                                  </a:rPr>
                                  <m:t>0.4406</m:t>
                                </m:r>
                              </m:e>
                              <m:e>
                                <m:r>
                                  <a:rPr lang="en-US" sz="1050" b="0" i="0">
                                    <a:latin typeface="Cambria Math" panose="02040503050406030204" pitchFamily="18" charset="0"/>
                                  </a:rPr>
                                  <m:t>1.4588</m:t>
                                </m:r>
                              </m:e>
                              <m:e>
                                <m:r>
                                  <a:rPr lang="en-US" sz="1050" b="0" i="0">
                                    <a:latin typeface="Cambria Math" panose="02040503050406030204" pitchFamily="18" charset="0"/>
                                  </a:rPr>
                                  <m:t>−0.1197</m:t>
                                </m:r>
                              </m:e>
                            </m:mr>
                            <m:mr>
                              <m:e>
                                <m:r>
                                  <a:rPr lang="en-US" sz="1050" b="0" i="0">
                                    <a:latin typeface="Cambria Math" panose="02040503050406030204" pitchFamily="18" charset="0"/>
                                  </a:rPr>
                                  <m:t>−0.3275</m:t>
                                </m:r>
                              </m:e>
                              <m:e>
                                <m:r>
                                  <a:rPr lang="en-US" sz="1050" b="0" i="0">
                                    <a:latin typeface="Cambria Math" panose="02040503050406030204" pitchFamily="18" charset="0"/>
                                  </a:rPr>
                                  <m:t>−0.3723</m:t>
                                </m:r>
                              </m:e>
                              <m:e>
                                <m:r>
                                  <a:rPr lang="en-US" sz="1050" b="0" i="0">
                                    <a:latin typeface="Cambria Math" panose="02040503050406030204" pitchFamily="18" charset="0"/>
                                  </a:rPr>
                                  <m:t>−0.3205</m:t>
                                </m:r>
                              </m:e>
                              <m:e>
                                <m:r>
                                  <a:rPr lang="en-US" sz="1050" b="0" i="0">
                                    <a:latin typeface="Cambria Math" panose="02040503050406030204" pitchFamily="18" charset="0"/>
                                  </a:rPr>
                                  <m:t>−0.3744</m:t>
                                </m:r>
                              </m:e>
                              <m:e>
                                <m:r>
                                  <a:rPr lang="en-US" sz="1050" b="0" i="0">
                                    <a:latin typeface="Cambria Math" panose="02040503050406030204" pitchFamily="18" charset="0"/>
                                  </a:rPr>
                                  <m:t>−0.4241</m:t>
                                </m:r>
                              </m:e>
                              <m:e>
                                <m:r>
                                  <a:rPr lang="en-US" sz="1050" b="0" i="0">
                                    <a:latin typeface="Cambria Math" panose="02040503050406030204" pitchFamily="18" charset="0"/>
                                  </a:rPr>
                                  <m:t>0.8360</m:t>
                                </m:r>
                              </m:e>
                            </m:mr>
                          </m:m>
                        </m:e>
                      </m:d>
                      <m:r>
                        <a:rPr lang="en-US" sz="1050" b="0" i="0">
                          <a:latin typeface="Cambria Math" panose="02040503050406030204" pitchFamily="18" charset="0"/>
                        </a:rPr>
                        <m:t>  </m:t>
                      </m:r>
                    </m:oMath>
                  </m:oMathPara>
                </a14:m>
                <a:endParaRPr lang="en-US" sz="900" dirty="0"/>
              </a:p>
            </p:txBody>
          </p:sp>
        </mc:Choice>
        <mc:Fallback xmlns="">
          <p:sp>
            <p:nvSpPr>
              <p:cNvPr id="900" name="CalibV_s_mat"/>
              <p:cNvSpPr txBox="1">
                <a:spLocks noRot="1" noChangeAspect="1" noMove="1" noResize="1" noEditPoints="1" noAdjustHandles="1" noChangeArrowheads="1" noChangeShapeType="1" noTextEdit="1"/>
              </p:cNvSpPr>
              <p:nvPr/>
            </p:nvSpPr>
            <p:spPr>
              <a:xfrm>
                <a:off x="3540707" y="907742"/>
                <a:ext cx="3911600" cy="868680"/>
              </a:xfrm>
              <a:prstGeom prst="rect">
                <a:avLst/>
              </a:prstGeom>
              <a:blipFill>
                <a:blip r:embed="rId21"/>
                <a:stretch>
                  <a:fillRect l="-6084" b="-352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901" name="CalibV_s_sc"/>
              <p:cNvSpPr txBox="1"/>
              <p:nvPr/>
            </p:nvSpPr>
            <p:spPr>
              <a:xfrm>
                <a:off x="3272812" y="1938976"/>
                <a:ext cx="3556000" cy="256032"/>
              </a:xfrm>
              <a:prstGeom prst="rect">
                <a:avLst/>
              </a:prstGeom>
              <a:noFill/>
            </p:spPr>
            <p:txBody>
              <a:bodyPr wrap="none" lIns="0" tIns="0" rIns="0" bIns="0" rtlCol="0" anchor="t"/>
              <a:lstStyle/>
              <a:p>
                <a:pPr algn="ctr"/>
                <a14:m>
                  <m:oMathPara xmlns:m="http://schemas.openxmlformats.org/officeDocument/2006/math">
                    <m:oMathParaPr>
                      <m:jc m:val="centerGroup"/>
                    </m:oMathParaPr>
                    <m:oMath xmlns:m="http://schemas.openxmlformats.org/officeDocument/2006/math">
                      <m:acc>
                        <m:accPr>
                          <m:chr m:val="̂"/>
                          <m:ctrlPr>
                            <a:rPr lang="en-US" sz="1200" b="0" i="1">
                              <a:latin typeface="Cambria Math" panose="02040503050406030204" pitchFamily="18" charset="0"/>
                            </a:rPr>
                          </m:ctrlPr>
                        </m:accPr>
                        <m:e>
                          <m:r>
                            <a:rPr lang="en-US" sz="1200" b="0" i="1">
                              <a:latin typeface="Cambria Math" panose="02040503050406030204" pitchFamily="18" charset="0"/>
                            </a:rPr>
                            <m:t>ℓ</m:t>
                          </m:r>
                        </m:e>
                      </m:acc>
                      <m:r>
                        <a:rPr lang="en-US" sz="1200" b="0" i="0">
                          <a:latin typeface="Cambria Math" panose="02040503050406030204" pitchFamily="18" charset="0"/>
                        </a:rPr>
                        <m:t> = 875.1 </m:t>
                      </m:r>
                      <m:r>
                        <m:rPr>
                          <m:sty m:val="p"/>
                        </m:rPr>
                        <a:rPr lang="en-US" sz="1200" b="0" i="0">
                          <a:latin typeface="Cambria Math" panose="02040503050406030204" pitchFamily="18" charset="0"/>
                        </a:rPr>
                        <m:t>μm</m:t>
                      </m:r>
                      <m:r>
                        <a:rPr lang="en-US" sz="1200" b="0" i="0">
                          <a:latin typeface="Cambria Math" panose="02040503050406030204" pitchFamily="18" charset="0"/>
                        </a:rPr>
                        <m:t>  </m:t>
                      </m:r>
                      <m:sPre>
                        <m:sPrePr>
                          <m:ctrlPr>
                            <a:rPr lang="en-US" sz="1200" b="0" i="1">
                              <a:latin typeface="Cambria Math" panose="02040503050406030204" pitchFamily="18" charset="0"/>
                            </a:rPr>
                          </m:ctrlPr>
                        </m:sPrePr>
                        <m:sub/>
                        <m:sup>
                          <m:r>
                            <a:rPr lang="en-US" sz="1200" b="0" i="1">
                              <a:latin typeface="Cambria Math" panose="02040503050406030204" pitchFamily="18" charset="0"/>
                            </a:rPr>
                            <m:t>𝐵</m:t>
                          </m:r>
                        </m:sup>
                        <m:e>
                          <m:sSub>
                            <m:sSubPr>
                              <m:ctrlPr>
                                <a:rPr lang="en-US" sz="1200" b="0" i="1">
                                  <a:latin typeface="Cambria Math" panose="02040503050406030204" pitchFamily="18" charset="0"/>
                                </a:rPr>
                              </m:ctrlPr>
                            </m:sSubPr>
                            <m:e>
                              <m:acc>
                                <m:accPr>
                                  <m:chr m:val="̂"/>
                                  <m:ctrlPr>
                                    <a:rPr lang="en-US" sz="1200" b="0" i="1">
                                      <a:latin typeface="Cambria Math" panose="02040503050406030204" pitchFamily="18" charset="0"/>
                                    </a:rPr>
                                  </m:ctrlPr>
                                </m:accPr>
                                <m:e>
                                  <m:r>
                                    <a:rPr lang="en-US" sz="1200" b="0" i="1">
                                      <a:latin typeface="Cambria Math" panose="02040503050406030204" pitchFamily="18" charset="0"/>
                                    </a:rPr>
                                    <m:t>𝑔</m:t>
                                  </m:r>
                                </m:e>
                              </m:acc>
                            </m:e>
                            <m:sub>
                              <m:r>
                                <a:rPr lang="en-US" sz="1200" b="0" i="1">
                                  <a:latin typeface="Cambria Math" panose="02040503050406030204" pitchFamily="18" charset="0"/>
                                </a:rPr>
                                <m:t>𝑉</m:t>
                              </m:r>
                            </m:sub>
                          </m:sSub>
                        </m:e>
                      </m:sPre>
                      <m:r>
                        <a:rPr lang="en-US" sz="1200" b="0" i="0">
                          <a:latin typeface="Cambria Math" panose="02040503050406030204" pitchFamily="18" charset="0"/>
                        </a:rPr>
                        <m:t> = 5.0964×</m:t>
                      </m:r>
                      <m:sSup>
                        <m:sSupPr>
                          <m:ctrlPr>
                            <a:rPr lang="en-US" sz="1200" b="0" i="1">
                              <a:latin typeface="Cambria Math" panose="02040503050406030204" pitchFamily="18" charset="0"/>
                            </a:rPr>
                          </m:ctrlPr>
                        </m:sSupPr>
                        <m:e>
                          <m:r>
                            <a:rPr lang="en-US" sz="1200" b="0" i="0">
                              <a:latin typeface="Cambria Math" panose="02040503050406030204" pitchFamily="18" charset="0"/>
                            </a:rPr>
                            <m:t>10</m:t>
                          </m:r>
                        </m:e>
                        <m:sup>
                          <m:r>
                            <a:rPr lang="en-US" sz="1200" b="0" i="0">
                              <a:latin typeface="Cambria Math" panose="02040503050406030204" pitchFamily="18" charset="0"/>
                            </a:rPr>
                            <m:t>−3</m:t>
                          </m:r>
                        </m:sup>
                      </m:sSup>
                      <m:r>
                        <a:rPr lang="en-US" sz="1200" b="0" i="0">
                          <a:latin typeface="Cambria Math" panose="02040503050406030204" pitchFamily="18" charset="0"/>
                        </a:rPr>
                        <m:t> </m:t>
                      </m:r>
                      <m:r>
                        <m:rPr>
                          <m:sty m:val="p"/>
                        </m:rPr>
                        <a:rPr lang="en-US" sz="1200" b="0" i="0">
                          <a:latin typeface="Cambria Math" panose="02040503050406030204" pitchFamily="18" charset="0"/>
                        </a:rPr>
                        <m:t>mT</m:t>
                      </m:r>
                      <m:r>
                        <a:rPr lang="en-US" sz="1200" b="0" i="0">
                          <a:latin typeface="Cambria Math" panose="02040503050406030204" pitchFamily="18" charset="0"/>
                        </a:rPr>
                        <m:t>/</m:t>
                      </m:r>
                      <m:r>
                        <m:rPr>
                          <m:sty m:val="p"/>
                        </m:rPr>
                        <a:rPr lang="en-US" sz="1200" b="0" i="0">
                          <a:latin typeface="Cambria Math" panose="02040503050406030204" pitchFamily="18" charset="0"/>
                        </a:rPr>
                        <m:t>mV</m:t>
                      </m:r>
                      <m:r>
                        <a:rPr lang="en-US" sz="1200" b="0" i="0">
                          <a:latin typeface="Cambria Math" panose="02040503050406030204" pitchFamily="18" charset="0"/>
                        </a:rPr>
                        <m:t> </m:t>
                      </m:r>
                    </m:oMath>
                  </m:oMathPara>
                </a14:m>
                <a:endParaRPr lang="en-US" sz="1200" dirty="0"/>
              </a:p>
            </p:txBody>
          </p:sp>
        </mc:Choice>
        <mc:Fallback xmlns="">
          <p:sp>
            <p:nvSpPr>
              <p:cNvPr id="901" name="CalibV_s_sc"/>
              <p:cNvSpPr txBox="1">
                <a:spLocks noRot="1" noChangeAspect="1" noMove="1" noResize="1" noEditPoints="1" noAdjustHandles="1" noChangeArrowheads="1" noChangeShapeType="1" noTextEdit="1"/>
              </p:cNvSpPr>
              <p:nvPr/>
            </p:nvSpPr>
            <p:spPr>
              <a:xfrm>
                <a:off x="3272812" y="1938976"/>
                <a:ext cx="3556000" cy="256032"/>
              </a:xfrm>
              <a:prstGeom prst="rect">
                <a:avLst/>
              </a:prstGeom>
              <a:blipFill>
                <a:blip r:embed="rId22"/>
                <a:stretch>
                  <a:fillRect l="-686" t="-11905" r="-1029" b="-1904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902" name="CalibV_e_mat"/>
              <p:cNvSpPr txBox="1"/>
              <p:nvPr/>
            </p:nvSpPr>
            <p:spPr>
              <a:xfrm>
                <a:off x="3716769" y="2520139"/>
                <a:ext cx="3793066" cy="868680"/>
              </a:xfrm>
              <a:prstGeom prst="rect">
                <a:avLst/>
              </a:prstGeom>
              <a:noFill/>
            </p:spPr>
            <p:txBody>
              <a:bodyPr wrap="none" lIns="0" tIns="0" rIns="0" bIns="0" rtlCol="0" anchor="t"/>
              <a:lstStyle/>
              <a:p>
                <a:pPr algn="ctr"/>
                <a14:m>
                  <m:oMathPara xmlns:m="http://schemas.openxmlformats.org/officeDocument/2006/math">
                    <m:oMathParaPr>
                      <m:jc m:val="centerGroup"/>
                    </m:oMathParaPr>
                    <m:oMath xmlns:m="http://schemas.openxmlformats.org/officeDocument/2006/math">
                      <m:acc>
                        <m:accPr>
                          <m:chr m:val="̄"/>
                          <m:ctrlPr>
                            <a:rPr lang="en-US" sz="1200" b="0" i="1">
                              <a:latin typeface="Cambria Math" panose="02040503050406030204" pitchFamily="18" charset="0"/>
                            </a:rPr>
                          </m:ctrlPr>
                        </m:accPr>
                        <m:e>
                          <m:r>
                            <a:rPr lang="en-US" sz="1200" b="0" i="1">
                              <a:latin typeface="Cambria Math" panose="02040503050406030204" pitchFamily="18" charset="0"/>
                            </a:rPr>
                            <m:t>𝐷</m:t>
                          </m:r>
                        </m:e>
                      </m:acc>
                      <m:r>
                        <a:rPr lang="en-US" sz="1200" b="0" i="0">
                          <a:latin typeface="Cambria Math" panose="02040503050406030204" pitchFamily="18" charset="0"/>
                        </a:rPr>
                        <m:t> = </m:t>
                      </m:r>
                      <m:d>
                        <m:dPr>
                          <m:begChr m:val="["/>
                          <m:endChr m:val="]"/>
                          <m:ctrlPr>
                            <a:rPr lang="en-US" sz="1200" b="0" i="1">
                              <a:latin typeface="Cambria Math" panose="02040503050406030204" pitchFamily="18" charset="0"/>
                            </a:rPr>
                          </m:ctrlPr>
                        </m:dPr>
                        <m:e>
                          <m:m>
                            <m:mPr>
                              <m:mcs>
                                <m:mc>
                                  <m:mcPr>
                                    <m:count m:val="6"/>
                                    <m:mcJc m:val="center"/>
                                  </m:mcPr>
                                </m:mc>
                              </m:mcs>
                              <m:ctrlPr>
                                <a:rPr lang="en-US" sz="1200" b="0" i="1">
                                  <a:latin typeface="Cambria Math" panose="02040503050406030204" pitchFamily="18" charset="0"/>
                                </a:rPr>
                              </m:ctrlPr>
                            </m:mPr>
                            <m:mr>
                              <m:e>
                                <m:r>
                                  <a:rPr lang="en-US" sz="1200" b="0" i="0">
                                    <a:latin typeface="Cambria Math" panose="02040503050406030204" pitchFamily="18" charset="0"/>
                                  </a:rPr>
                                  <m:t>0.8333</m:t>
                                </m:r>
                              </m:e>
                              <m:e>
                                <m:r>
                                  <a:rPr lang="en-US" sz="1200" b="0" i="0">
                                    <a:latin typeface="Cambria Math" panose="02040503050406030204" pitchFamily="18" charset="0"/>
                                  </a:rPr>
                                  <m:t>−0.4379</m:t>
                                </m:r>
                              </m:e>
                              <m:e>
                                <m:r>
                                  <a:rPr lang="en-US" sz="1200" b="0" i="0">
                                    <a:latin typeface="Cambria Math" panose="02040503050406030204" pitchFamily="18" charset="0"/>
                                  </a:rPr>
                                  <m:t>−0.1755</m:t>
                                </m:r>
                              </m:e>
                              <m:e>
                                <m:r>
                                  <a:rPr lang="en-US" sz="1200" b="0" i="0">
                                    <a:latin typeface="Cambria Math" panose="02040503050406030204" pitchFamily="18" charset="0"/>
                                  </a:rPr>
                                  <m:t>−0.3883</m:t>
                                </m:r>
                              </m:e>
                              <m:e>
                                <m:r>
                                  <a:rPr lang="en-US" sz="1200" b="0" i="0">
                                    <a:latin typeface="Cambria Math" panose="02040503050406030204" pitchFamily="18" charset="0"/>
                                  </a:rPr>
                                  <m:t>−0.3898</m:t>
                                </m:r>
                              </m:e>
                              <m:e>
                                <m:r>
                                  <a:rPr lang="en-US" sz="1200" b="0" i="0">
                                    <a:latin typeface="Cambria Math" panose="02040503050406030204" pitchFamily="18" charset="0"/>
                                  </a:rPr>
                                  <m:t>−0.1761</m:t>
                                </m:r>
                              </m:e>
                            </m:mr>
                            <m:mr>
                              <m:e>
                                <m:r>
                                  <a:rPr lang="en-US" sz="1200" b="0" i="0">
                                    <a:latin typeface="Cambria Math" panose="02040503050406030204" pitchFamily="18" charset="0"/>
                                  </a:rPr>
                                  <m:t>−0.0079</m:t>
                                </m:r>
                              </m:e>
                              <m:e>
                                <m:r>
                                  <a:rPr lang="en-US" sz="1200" b="0" i="0">
                                    <a:latin typeface="Cambria Math" panose="02040503050406030204" pitchFamily="18" charset="0"/>
                                  </a:rPr>
                                  <m:t>1.1555</m:t>
                                </m:r>
                              </m:e>
                              <m:e>
                                <m:r>
                                  <a:rPr lang="en-US" sz="1200" b="0" i="0">
                                    <a:latin typeface="Cambria Math" panose="02040503050406030204" pitchFamily="18" charset="0"/>
                                  </a:rPr>
                                  <m:t>0.0106</m:t>
                                </m:r>
                              </m:e>
                              <m:e>
                                <m:r>
                                  <a:rPr lang="en-US" sz="1200" b="0" i="0">
                                    <a:latin typeface="Cambria Math" panose="02040503050406030204" pitchFamily="18" charset="0"/>
                                  </a:rPr>
                                  <m:t>0.3511</m:t>
                                </m:r>
                              </m:e>
                              <m:e>
                                <m:r>
                                  <a:rPr lang="en-US" sz="1200" b="0" i="0">
                                    <a:latin typeface="Cambria Math" panose="02040503050406030204" pitchFamily="18" charset="0"/>
                                  </a:rPr>
                                  <m:t>0.3574</m:t>
                                </m:r>
                              </m:e>
                              <m:e>
                                <m:r>
                                  <a:rPr lang="en-US" sz="1200" b="0" i="0">
                                    <a:latin typeface="Cambria Math" panose="02040503050406030204" pitchFamily="18" charset="0"/>
                                  </a:rPr>
                                  <m:t>0.0090</m:t>
                                </m:r>
                              </m:e>
                            </m:mr>
                            <m:mr>
                              <m:e>
                                <m:r>
                                  <a:rPr lang="en-US" sz="1200" b="0" i="0">
                                    <a:latin typeface="Cambria Math" panose="02040503050406030204" pitchFamily="18" charset="0"/>
                                  </a:rPr>
                                  <m:t>−0.1904</m:t>
                                </m:r>
                              </m:e>
                              <m:e>
                                <m:r>
                                  <a:rPr lang="en-US" sz="1200" b="0" i="0">
                                    <a:latin typeface="Cambria Math" panose="02040503050406030204" pitchFamily="18" charset="0"/>
                                  </a:rPr>
                                  <m:t>−0.4090</m:t>
                                </m:r>
                              </m:e>
                              <m:e>
                                <m:r>
                                  <a:rPr lang="en-US" sz="1200" b="0" i="0">
                                    <a:latin typeface="Cambria Math" panose="02040503050406030204" pitchFamily="18" charset="0"/>
                                  </a:rPr>
                                  <m:t>0.8233</m:t>
                                </m:r>
                              </m:e>
                              <m:e>
                                <m:r>
                                  <a:rPr lang="en-US" sz="1200" b="0" i="0">
                                    <a:latin typeface="Cambria Math" panose="02040503050406030204" pitchFamily="18" charset="0"/>
                                  </a:rPr>
                                  <m:t>−0.4494</m:t>
                                </m:r>
                              </m:e>
                              <m:e>
                                <m:r>
                                  <a:rPr lang="en-US" sz="1200" b="0" i="0">
                                    <a:latin typeface="Cambria Math" panose="02040503050406030204" pitchFamily="18" charset="0"/>
                                  </a:rPr>
                                  <m:t>−0.4093</m:t>
                                </m:r>
                              </m:e>
                              <m:e>
                                <m:r>
                                  <a:rPr lang="en-US" sz="1200" b="0" i="0">
                                    <a:latin typeface="Cambria Math" panose="02040503050406030204" pitchFamily="18" charset="0"/>
                                  </a:rPr>
                                  <m:t>−0.1868</m:t>
                                </m:r>
                              </m:e>
                            </m:mr>
                            <m:mr>
                              <m:e>
                                <m:r>
                                  <a:rPr lang="en-US" sz="1200" b="0" i="0">
                                    <a:latin typeface="Cambria Math" panose="02040503050406030204" pitchFamily="18" charset="0"/>
                                  </a:rPr>
                                  <m:t>0.0418</m:t>
                                </m:r>
                              </m:e>
                              <m:e>
                                <m:r>
                                  <a:rPr lang="en-US" sz="1200" b="0" i="0">
                                    <a:latin typeface="Cambria Math" panose="02040503050406030204" pitchFamily="18" charset="0"/>
                                  </a:rPr>
                                  <m:t>0.4099</m:t>
                                </m:r>
                              </m:e>
                              <m:e>
                                <m:r>
                                  <a:rPr lang="en-US" sz="1200" b="0" i="0">
                                    <a:latin typeface="Cambria Math" panose="02040503050406030204" pitchFamily="18" charset="0"/>
                                  </a:rPr>
                                  <m:t>0.0215</m:t>
                                </m:r>
                              </m:e>
                              <m:e>
                                <m:r>
                                  <a:rPr lang="en-US" sz="1200" b="0" i="0">
                                    <a:latin typeface="Cambria Math" panose="02040503050406030204" pitchFamily="18" charset="0"/>
                                  </a:rPr>
                                  <m:t>1.2072</m:t>
                                </m:r>
                              </m:e>
                              <m:e>
                                <m:r>
                                  <a:rPr lang="en-US" sz="1200" b="0" i="0">
                                    <a:latin typeface="Cambria Math" panose="02040503050406030204" pitchFamily="18" charset="0"/>
                                  </a:rPr>
                                  <m:t>0.4102</m:t>
                                </m:r>
                              </m:e>
                              <m:e>
                                <m:r>
                                  <a:rPr lang="en-US" sz="1200" b="0" i="0">
                                    <a:latin typeface="Cambria Math" panose="02040503050406030204" pitchFamily="18" charset="0"/>
                                  </a:rPr>
                                  <m:t>0.0339</m:t>
                                </m:r>
                              </m:e>
                            </m:mr>
                            <m:mr>
                              <m:e>
                                <m:r>
                                  <a:rPr lang="en-US" sz="1200" b="0" i="0">
                                    <a:latin typeface="Cambria Math" panose="02040503050406030204" pitchFamily="18" charset="0"/>
                                  </a:rPr>
                                  <m:t>0.0411</m:t>
                                </m:r>
                              </m:e>
                              <m:e>
                                <m:r>
                                  <a:rPr lang="en-US" sz="1200" b="0" i="0">
                                    <a:latin typeface="Cambria Math" panose="02040503050406030204" pitchFamily="18" charset="0"/>
                                  </a:rPr>
                                  <m:t>0.3980</m:t>
                                </m:r>
                              </m:e>
                              <m:e>
                                <m:r>
                                  <a:rPr lang="en-US" sz="1200" b="0" i="0">
                                    <a:latin typeface="Cambria Math" panose="02040503050406030204" pitchFamily="18" charset="0"/>
                                  </a:rPr>
                                  <m:t>0.0345</m:t>
                                </m:r>
                              </m:e>
                              <m:e>
                                <m:r>
                                  <a:rPr lang="en-US" sz="1200" b="0" i="0">
                                    <a:latin typeface="Cambria Math" panose="02040503050406030204" pitchFamily="18" charset="0"/>
                                  </a:rPr>
                                  <m:t>0.3950</m:t>
                                </m:r>
                              </m:e>
                              <m:e>
                                <m:r>
                                  <a:rPr lang="en-US" sz="1200" b="0" i="0">
                                    <a:latin typeface="Cambria Math" panose="02040503050406030204" pitchFamily="18" charset="0"/>
                                  </a:rPr>
                                  <m:t>1.2064</m:t>
                                </m:r>
                              </m:e>
                              <m:e>
                                <m:r>
                                  <a:rPr lang="en-US" sz="1200" b="0" i="0">
                                    <a:latin typeface="Cambria Math" panose="02040503050406030204" pitchFamily="18" charset="0"/>
                                  </a:rPr>
                                  <m:t>0.0138</m:t>
                                </m:r>
                              </m:e>
                            </m:mr>
                            <m:mr>
                              <m:e>
                                <m:r>
                                  <a:rPr lang="en-US" sz="1200" b="0" i="0">
                                    <a:latin typeface="Cambria Math" panose="02040503050406030204" pitchFamily="18" charset="0"/>
                                  </a:rPr>
                                  <m:t>−0.1882</m:t>
                                </m:r>
                              </m:e>
                              <m:e>
                                <m:r>
                                  <a:rPr lang="en-US" sz="1200" b="0" i="0">
                                    <a:latin typeface="Cambria Math" panose="02040503050406030204" pitchFamily="18" charset="0"/>
                                  </a:rPr>
                                  <m:t>−0.3982</m:t>
                                </m:r>
                              </m:e>
                              <m:e>
                                <m:r>
                                  <a:rPr lang="en-US" sz="1200" b="0" i="0">
                                    <a:latin typeface="Cambria Math" panose="02040503050406030204" pitchFamily="18" charset="0"/>
                                  </a:rPr>
                                  <m:t>−0.1795</m:t>
                                </m:r>
                              </m:e>
                              <m:e>
                                <m:r>
                                  <a:rPr lang="en-US" sz="1200" b="0" i="0">
                                    <a:latin typeface="Cambria Math" panose="02040503050406030204" pitchFamily="18" charset="0"/>
                                  </a:rPr>
                                  <m:t>−0.3997</m:t>
                                </m:r>
                              </m:e>
                              <m:e>
                                <m:r>
                                  <a:rPr lang="en-US" sz="1200" b="0" i="0">
                                    <a:latin typeface="Cambria Math" panose="02040503050406030204" pitchFamily="18" charset="0"/>
                                  </a:rPr>
                                  <m:t>−0.4518</m:t>
                                </m:r>
                              </m:e>
                              <m:e>
                                <m:r>
                                  <a:rPr lang="en-US" sz="1200" b="0" i="0">
                                    <a:latin typeface="Cambria Math" panose="02040503050406030204" pitchFamily="18" charset="0"/>
                                  </a:rPr>
                                  <m:t>0.8425</m:t>
                                </m:r>
                              </m:e>
                            </m:mr>
                          </m:m>
                        </m:e>
                      </m:d>
                      <m:r>
                        <a:rPr lang="en-US" sz="1200" b="0" i="0">
                          <a:latin typeface="Cambria Math" panose="02040503050406030204" pitchFamily="18" charset="0"/>
                        </a:rPr>
                        <m:t> </m:t>
                      </m:r>
                    </m:oMath>
                  </m:oMathPara>
                </a14:m>
                <a:endParaRPr lang="en-US" sz="1200" dirty="0"/>
              </a:p>
            </p:txBody>
          </p:sp>
        </mc:Choice>
        <mc:Fallback xmlns="">
          <p:sp>
            <p:nvSpPr>
              <p:cNvPr id="902" name="CalibV_e_mat"/>
              <p:cNvSpPr txBox="1">
                <a:spLocks noRot="1" noChangeAspect="1" noMove="1" noResize="1" noEditPoints="1" noAdjustHandles="1" noChangeArrowheads="1" noChangeShapeType="1" noTextEdit="1"/>
              </p:cNvSpPr>
              <p:nvPr/>
            </p:nvSpPr>
            <p:spPr>
              <a:xfrm>
                <a:off x="3716769" y="2520139"/>
                <a:ext cx="3793066" cy="868680"/>
              </a:xfrm>
              <a:prstGeom prst="rect">
                <a:avLst/>
              </a:prstGeom>
              <a:blipFill>
                <a:blip r:embed="rId23"/>
                <a:stretch>
                  <a:fillRect l="-13666" r="-8842" b="-18182"/>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903" name="CalibV_e_bias"/>
              <p:cNvSpPr txBox="1"/>
              <p:nvPr/>
            </p:nvSpPr>
            <p:spPr>
              <a:xfrm>
                <a:off x="3373966" y="3740867"/>
                <a:ext cx="3793065" cy="539062"/>
              </a:xfrm>
              <a:prstGeom prst="rect">
                <a:avLst/>
              </a:prstGeom>
              <a:noFill/>
            </p:spPr>
            <p:txBody>
              <a:bodyPr wrap="none" lIns="0" tIns="0" rIns="0" bIns="0" rtlCol="0" anchor="t"/>
              <a:lstStyle/>
              <a:p>
                <a:pPr algn="ctr"/>
                <a14:m>
                  <m:oMathPara xmlns:m="http://schemas.openxmlformats.org/officeDocument/2006/math">
                    <m:oMathParaPr>
                      <m:jc m:val="centerGroup"/>
                    </m:oMathParaPr>
                    <m:oMath xmlns:m="http://schemas.openxmlformats.org/officeDocument/2006/math">
                      <m:acc>
                        <m:accPr>
                          <m:chr m:val="̂"/>
                          <m:ctrlPr>
                            <a:rPr lang="en-US" altLang="zh-TW" sz="1050" b="0" i="1" smtClean="0">
                              <a:latin typeface="Cambria Math" panose="02040503050406030204" pitchFamily="18" charset="0"/>
                            </a:rPr>
                          </m:ctrlPr>
                        </m:accPr>
                        <m:e>
                          <m:r>
                            <a:rPr lang="en-US" altLang="zh-TW" sz="1050" b="0" i="1" smtClean="0">
                              <a:latin typeface="Cambria Math" panose="02040503050406030204" pitchFamily="18" charset="0"/>
                            </a:rPr>
                            <m:t>𝑒</m:t>
                          </m:r>
                        </m:e>
                      </m:acc>
                      <m:r>
                        <a:rPr lang="en-US" sz="1050" b="0" i="0">
                          <a:latin typeface="Cambria Math" panose="02040503050406030204" pitchFamily="18" charset="0"/>
                        </a:rPr>
                        <m:t>= </m:t>
                      </m:r>
                      <m:d>
                        <m:dPr>
                          <m:begChr m:val="["/>
                          <m:endChr m:val="]"/>
                          <m:ctrlPr>
                            <a:rPr lang="en-US" sz="1050" b="0" i="1">
                              <a:latin typeface="Cambria Math" panose="02040503050406030204" pitchFamily="18" charset="0"/>
                            </a:rPr>
                          </m:ctrlPr>
                        </m:dPr>
                        <m:e>
                          <m:m>
                            <m:mPr>
                              <m:mcs>
                                <m:mc>
                                  <m:mcPr>
                                    <m:count m:val="6"/>
                                    <m:mcJc m:val="center"/>
                                  </m:mcPr>
                                </m:mc>
                              </m:mcs>
                              <m:ctrlPr>
                                <a:rPr lang="en-US" sz="1050" b="0" i="1">
                                  <a:latin typeface="Cambria Math" panose="02040503050406030204" pitchFamily="18" charset="0"/>
                                </a:rPr>
                              </m:ctrlPr>
                            </m:mPr>
                            <m:mr>
                              <m:e>
                                <m:r>
                                  <a:rPr lang="en-US" sz="1050" b="0" i="0">
                                    <a:latin typeface="Cambria Math" panose="02040503050406030204" pitchFamily="18" charset="0"/>
                                  </a:rPr>
                                  <m:t>0.0185</m:t>
                                </m:r>
                              </m:e>
                              <m:e>
                                <m:r>
                                  <a:rPr lang="en-US" sz="1050" b="0" i="0">
                                    <a:latin typeface="Cambria Math" panose="02040503050406030204" pitchFamily="18" charset="0"/>
                                  </a:rPr>
                                  <m:t>0.0203</m:t>
                                </m:r>
                              </m:e>
                              <m:e>
                                <m:r>
                                  <a:rPr lang="en-US" sz="1050" b="0" i="0">
                                    <a:latin typeface="Cambria Math" panose="02040503050406030204" pitchFamily="18" charset="0"/>
                                  </a:rPr>
                                  <m:t>−0.1173</m:t>
                                </m:r>
                              </m:e>
                              <m:e>
                                <m:r>
                                  <a:rPr lang="en-US" sz="1050" b="0" i="0">
                                    <a:latin typeface="Cambria Math" panose="02040503050406030204" pitchFamily="18" charset="0"/>
                                  </a:rPr>
                                  <m:t>0.0024</m:t>
                                </m:r>
                              </m:e>
                              <m:e>
                                <m:r>
                                  <a:rPr lang="en-US" sz="1050" b="0" i="0">
                                    <a:latin typeface="Cambria Math" panose="02040503050406030204" pitchFamily="18" charset="0"/>
                                  </a:rPr>
                                  <m:t>0.0018</m:t>
                                </m:r>
                              </m:e>
                              <m:e>
                                <m:r>
                                  <a:rPr lang="en-US" sz="1050" b="0" i="0">
                                    <a:latin typeface="Cambria Math" panose="02040503050406030204" pitchFamily="18" charset="0"/>
                                  </a:rPr>
                                  <m:t>−0.1186</m:t>
                                </m:r>
                              </m:e>
                            </m:mr>
                            <m:mr>
                              <m:e>
                                <m:r>
                                  <a:rPr lang="en-US" sz="1050" b="0" i="0">
                                    <a:latin typeface="Cambria Math" panose="02040503050406030204" pitchFamily="18" charset="0"/>
                                  </a:rPr>
                                  <m:t>−0.1183</m:t>
                                </m:r>
                              </m:e>
                              <m:e>
                                <m:r>
                                  <a:rPr lang="en-US" sz="1050" b="0" i="0">
                                    <a:latin typeface="Cambria Math" panose="02040503050406030204" pitchFamily="18" charset="0"/>
                                  </a:rPr>
                                  <m:t>0.0026</m:t>
                                </m:r>
                              </m:e>
                              <m:e>
                                <m:r>
                                  <a:rPr lang="en-US" sz="1050" b="0" i="0">
                                    <a:latin typeface="Cambria Math" panose="02040503050406030204" pitchFamily="18" charset="0"/>
                                  </a:rPr>
                                  <m:t>0.0168</m:t>
                                </m:r>
                              </m:e>
                              <m:e>
                                <m:r>
                                  <a:rPr lang="en-US" sz="1050" b="0" i="0">
                                    <a:latin typeface="Cambria Math" panose="02040503050406030204" pitchFamily="18" charset="0"/>
                                  </a:rPr>
                                  <m:t>0.0163</m:t>
                                </m:r>
                              </m:e>
                              <m:e>
                                <m:r>
                                  <a:rPr lang="en-US" sz="1050" b="0" i="0">
                                    <a:latin typeface="Cambria Math" panose="02040503050406030204" pitchFamily="18" charset="0"/>
                                  </a:rPr>
                                  <m:t>0.0019</m:t>
                                </m:r>
                              </m:e>
                              <m:e>
                                <m:r>
                                  <a:rPr lang="en-US" sz="1050" b="0" i="0">
                                    <a:latin typeface="Cambria Math" panose="02040503050406030204" pitchFamily="18" charset="0"/>
                                  </a:rPr>
                                  <m:t>−0.1185</m:t>
                                </m:r>
                              </m:e>
                            </m:mr>
                            <m:mr>
                              <m:e>
                                <m:r>
                                  <a:rPr lang="en-US" sz="1050" b="0" i="0">
                                    <a:latin typeface="Cambria Math" panose="02040503050406030204" pitchFamily="18" charset="0"/>
                                  </a:rPr>
                                  <m:t>0.1182</m:t>
                                </m:r>
                              </m:e>
                              <m:e>
                                <m:r>
                                  <a:rPr lang="en-US" sz="1050" b="0" i="0">
                                    <a:latin typeface="Cambria Math" panose="02040503050406030204" pitchFamily="18" charset="0"/>
                                  </a:rPr>
                                  <m:t>−0.0029</m:t>
                                </m:r>
                              </m:e>
                              <m:e>
                                <m:r>
                                  <a:rPr lang="en-US" sz="1050" b="0" i="0">
                                    <a:latin typeface="Cambria Math" panose="02040503050406030204" pitchFamily="18" charset="0"/>
                                  </a:rPr>
                                  <m:t>0.1166</m:t>
                                </m:r>
                              </m:e>
                              <m:e>
                                <m:r>
                                  <a:rPr lang="en-US" sz="1050" b="0" i="0">
                                    <a:latin typeface="Cambria Math" panose="02040503050406030204" pitchFamily="18" charset="0"/>
                                  </a:rPr>
                                  <m:t>−0.0029</m:t>
                                </m:r>
                              </m:e>
                              <m:e>
                                <m:r>
                                  <a:rPr lang="en-US" sz="1050" b="0" i="0">
                                    <a:latin typeface="Cambria Math" panose="02040503050406030204" pitchFamily="18" charset="0"/>
                                  </a:rPr>
                                  <m:t>−0.0186</m:t>
                                </m:r>
                              </m:e>
                              <m:e>
                                <m:r>
                                  <a:rPr lang="en-US" sz="1050" b="0" i="0">
                                    <a:latin typeface="Cambria Math" panose="02040503050406030204" pitchFamily="18" charset="0"/>
                                  </a:rPr>
                                  <m:t>−0.0199</m:t>
                                </m:r>
                              </m:e>
                            </m:mr>
                          </m:m>
                        </m:e>
                      </m:d>
                    </m:oMath>
                  </m:oMathPara>
                </a14:m>
                <a:endParaRPr lang="en-US" sz="1050" dirty="0"/>
              </a:p>
            </p:txBody>
          </p:sp>
        </mc:Choice>
        <mc:Fallback xmlns="">
          <p:sp>
            <p:nvSpPr>
              <p:cNvPr id="903" name="CalibV_e_bias"/>
              <p:cNvSpPr txBox="1">
                <a:spLocks noRot="1" noChangeAspect="1" noMove="1" noResize="1" noEditPoints="1" noAdjustHandles="1" noChangeArrowheads="1" noChangeShapeType="1" noTextEdit="1"/>
              </p:cNvSpPr>
              <p:nvPr/>
            </p:nvSpPr>
            <p:spPr>
              <a:xfrm>
                <a:off x="3373966" y="3740867"/>
                <a:ext cx="3793065" cy="539062"/>
              </a:xfrm>
              <a:prstGeom prst="rect">
                <a:avLst/>
              </a:prstGeom>
              <a:blipFill>
                <a:blip r:embed="rId24"/>
                <a:stretch>
                  <a:fillRect l="-4494" t="-2273" r="-288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904" name="CalibV_e_sc"/>
              <p:cNvSpPr txBox="1"/>
              <p:nvPr/>
            </p:nvSpPr>
            <p:spPr>
              <a:xfrm>
                <a:off x="3373966" y="4442331"/>
                <a:ext cx="3208867" cy="256032"/>
              </a:xfrm>
              <a:prstGeom prst="rect">
                <a:avLst/>
              </a:prstGeom>
              <a:noFill/>
            </p:spPr>
            <p:txBody>
              <a:bodyPr wrap="none" lIns="0" tIns="0" rIns="0" bIns="0" rtlCol="0" anchor="t"/>
              <a:lstStyle/>
              <a:p>
                <a:pPr algn="ctr"/>
                <a14:m>
                  <m:oMathPara xmlns:m="http://schemas.openxmlformats.org/officeDocument/2006/math">
                    <m:oMathParaPr>
                      <m:jc m:val="centerGroup"/>
                    </m:oMathParaPr>
                    <m:oMath xmlns:m="http://schemas.openxmlformats.org/officeDocument/2006/math">
                      <m:acc>
                        <m:accPr>
                          <m:chr m:val="̂"/>
                          <m:ctrlPr>
                            <a:rPr lang="en-US" sz="1200" b="0" i="1">
                              <a:latin typeface="Cambria Math" panose="02040503050406030204" pitchFamily="18" charset="0"/>
                            </a:rPr>
                          </m:ctrlPr>
                        </m:accPr>
                        <m:e>
                          <m:r>
                            <a:rPr lang="en-US" sz="1200" b="0" i="1">
                              <a:latin typeface="Cambria Math" panose="02040503050406030204" pitchFamily="18" charset="0"/>
                            </a:rPr>
                            <m:t>ℓ</m:t>
                          </m:r>
                        </m:e>
                      </m:acc>
                      <m:r>
                        <a:rPr lang="en-US" sz="1200" b="0" i="0">
                          <a:latin typeface="Cambria Math" panose="02040503050406030204" pitchFamily="18" charset="0"/>
                        </a:rPr>
                        <m:t> = 873.0 </m:t>
                      </m:r>
                      <m:r>
                        <m:rPr>
                          <m:sty m:val="p"/>
                        </m:rPr>
                        <a:rPr lang="en-US" sz="1200" b="0" i="0">
                          <a:latin typeface="Cambria Math" panose="02040503050406030204" pitchFamily="18" charset="0"/>
                        </a:rPr>
                        <m:t>μm</m:t>
                      </m:r>
                      <m:r>
                        <a:rPr lang="en-US" sz="1200" b="0" i="0">
                          <a:latin typeface="Cambria Math" panose="02040503050406030204" pitchFamily="18" charset="0"/>
                        </a:rPr>
                        <m:t>  </m:t>
                      </m:r>
                      <m:sPre>
                        <m:sPrePr>
                          <m:ctrlPr>
                            <a:rPr lang="en-US" sz="1200" b="0" i="1">
                              <a:latin typeface="Cambria Math" panose="02040503050406030204" pitchFamily="18" charset="0"/>
                            </a:rPr>
                          </m:ctrlPr>
                        </m:sPrePr>
                        <m:sub/>
                        <m:sup>
                          <m:r>
                            <a:rPr lang="en-US" sz="1200" b="0" i="1">
                              <a:latin typeface="Cambria Math" panose="02040503050406030204" pitchFamily="18" charset="0"/>
                            </a:rPr>
                            <m:t>𝐵</m:t>
                          </m:r>
                        </m:sup>
                        <m:e>
                          <m:sSub>
                            <m:sSubPr>
                              <m:ctrlPr>
                                <a:rPr lang="en-US" sz="1200" b="0" i="1">
                                  <a:latin typeface="Cambria Math" panose="02040503050406030204" pitchFamily="18" charset="0"/>
                                </a:rPr>
                              </m:ctrlPr>
                            </m:sSubPr>
                            <m:e>
                              <m:acc>
                                <m:accPr>
                                  <m:chr m:val="̂"/>
                                  <m:ctrlPr>
                                    <a:rPr lang="en-US" sz="1200" b="0" i="1">
                                      <a:latin typeface="Cambria Math" panose="02040503050406030204" pitchFamily="18" charset="0"/>
                                    </a:rPr>
                                  </m:ctrlPr>
                                </m:accPr>
                                <m:e>
                                  <m:r>
                                    <a:rPr lang="en-US" sz="1200" b="0" i="1">
                                      <a:latin typeface="Cambria Math" panose="02040503050406030204" pitchFamily="18" charset="0"/>
                                    </a:rPr>
                                    <m:t>𝑔</m:t>
                                  </m:r>
                                </m:e>
                              </m:acc>
                            </m:e>
                            <m:sub>
                              <m:r>
                                <a:rPr lang="en-US" sz="1200" b="0" i="1">
                                  <a:latin typeface="Cambria Math" panose="02040503050406030204" pitchFamily="18" charset="0"/>
                                </a:rPr>
                                <m:t>𝑉</m:t>
                              </m:r>
                            </m:sub>
                          </m:sSub>
                        </m:e>
                      </m:sPre>
                      <m:r>
                        <a:rPr lang="en-US" sz="1200" b="0" i="0">
                          <a:latin typeface="Cambria Math" panose="02040503050406030204" pitchFamily="18" charset="0"/>
                        </a:rPr>
                        <m:t> = 6.0657×</m:t>
                      </m:r>
                      <m:sSup>
                        <m:sSupPr>
                          <m:ctrlPr>
                            <a:rPr lang="en-US" sz="1200" b="0" i="1">
                              <a:latin typeface="Cambria Math" panose="02040503050406030204" pitchFamily="18" charset="0"/>
                            </a:rPr>
                          </m:ctrlPr>
                        </m:sSupPr>
                        <m:e>
                          <m:r>
                            <a:rPr lang="en-US" sz="1200" b="0" i="0">
                              <a:latin typeface="Cambria Math" panose="02040503050406030204" pitchFamily="18" charset="0"/>
                            </a:rPr>
                            <m:t>10</m:t>
                          </m:r>
                        </m:e>
                        <m:sup>
                          <m:r>
                            <a:rPr lang="en-US" sz="1200" b="0" i="0">
                              <a:latin typeface="Cambria Math" panose="02040503050406030204" pitchFamily="18" charset="0"/>
                            </a:rPr>
                            <m:t>−3</m:t>
                          </m:r>
                        </m:sup>
                      </m:sSup>
                      <m:r>
                        <a:rPr lang="en-US" sz="1200" b="0" i="0">
                          <a:latin typeface="Cambria Math" panose="02040503050406030204" pitchFamily="18" charset="0"/>
                        </a:rPr>
                        <m:t> </m:t>
                      </m:r>
                      <m:r>
                        <m:rPr>
                          <m:sty m:val="p"/>
                        </m:rPr>
                        <a:rPr lang="en-US" sz="1200" b="0" i="0">
                          <a:latin typeface="Cambria Math" panose="02040503050406030204" pitchFamily="18" charset="0"/>
                        </a:rPr>
                        <m:t>mT</m:t>
                      </m:r>
                      <m:r>
                        <a:rPr lang="en-US" sz="1200" b="0" i="0">
                          <a:latin typeface="Cambria Math" panose="02040503050406030204" pitchFamily="18" charset="0"/>
                        </a:rPr>
                        <m:t>/</m:t>
                      </m:r>
                      <m:r>
                        <m:rPr>
                          <m:sty m:val="p"/>
                        </m:rPr>
                        <a:rPr lang="en-US" sz="1200" b="0" i="0">
                          <a:latin typeface="Cambria Math" panose="02040503050406030204" pitchFamily="18" charset="0"/>
                        </a:rPr>
                        <m:t>mV</m:t>
                      </m:r>
                    </m:oMath>
                  </m:oMathPara>
                </a14:m>
                <a:endParaRPr lang="en-US" sz="1200" dirty="0"/>
              </a:p>
            </p:txBody>
          </p:sp>
        </mc:Choice>
        <mc:Fallback xmlns="">
          <p:sp>
            <p:nvSpPr>
              <p:cNvPr id="904" name="CalibV_e_sc"/>
              <p:cNvSpPr txBox="1">
                <a:spLocks noRot="1" noChangeAspect="1" noMove="1" noResize="1" noEditPoints="1" noAdjustHandles="1" noChangeArrowheads="1" noChangeShapeType="1" noTextEdit="1"/>
              </p:cNvSpPr>
              <p:nvPr/>
            </p:nvSpPr>
            <p:spPr>
              <a:xfrm>
                <a:off x="3373966" y="4442331"/>
                <a:ext cx="3208867" cy="256032"/>
              </a:xfrm>
              <a:prstGeom prst="rect">
                <a:avLst/>
              </a:prstGeom>
              <a:blipFill>
                <a:blip r:embed="rId25"/>
                <a:stretch>
                  <a:fillRect l="-3605" t="-14286" r="-2657" b="-1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0" name="文字方塊 29">
                <a:extLst>
                  <a:ext uri="{FF2B5EF4-FFF2-40B4-BE49-F238E27FC236}">
                    <a16:creationId xmlns:a16="http://schemas.microsoft.com/office/drawing/2014/main" id="{05D4D494-842A-47CF-AA77-F7674C9C2B84}"/>
                  </a:ext>
                </a:extLst>
              </p:cNvPr>
              <p:cNvSpPr txBox="1"/>
              <p:nvPr/>
            </p:nvSpPr>
            <p:spPr>
              <a:xfrm>
                <a:off x="7826034" y="951888"/>
                <a:ext cx="4191000" cy="54950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altLang="zh-TW" sz="1400" smtClean="0">
                          <a:latin typeface="Cambria Math" panose="02040503050406030204" pitchFamily="18" charset="0"/>
                        </a:rPr>
                        <m:t>NMAE</m:t>
                      </m:r>
                      <m:r>
                        <a:rPr lang="en-US" altLang="zh-TW" sz="1400" i="1" smtClean="0">
                          <a:latin typeface="Cambria Math" panose="02040503050406030204" pitchFamily="18" charset="0"/>
                        </a:rPr>
                        <m:t>=</m:t>
                      </m:r>
                      <m:f>
                        <m:fPr>
                          <m:ctrlPr>
                            <a:rPr lang="en-US" altLang="zh-TW" sz="1400" i="1">
                              <a:latin typeface="Cambria Math" panose="02040503050406030204" pitchFamily="18" charset="0"/>
                            </a:rPr>
                          </m:ctrlPr>
                        </m:fPr>
                        <m:num>
                          <m:nary>
                            <m:naryPr>
                              <m:chr m:val="∑"/>
                              <m:supHide m:val="on"/>
                              <m:ctrlPr>
                                <a:rPr lang="en-US" altLang="zh-TW" sz="1400" i="1">
                                  <a:latin typeface="Cambria Math" panose="02040503050406030204" pitchFamily="18" charset="0"/>
                                </a:rPr>
                              </m:ctrlPr>
                            </m:naryPr>
                            <m:sub>
                              <m:r>
                                <m:rPr>
                                  <m:brk m:alnAt="7"/>
                                </m:rPr>
                                <a:rPr lang="en-US" altLang="zh-TW" sz="1400" i="1">
                                  <a:latin typeface="Cambria Math" panose="02040503050406030204" pitchFamily="18" charset="0"/>
                                </a:rPr>
                                <m:t>𝑗</m:t>
                              </m:r>
                            </m:sub>
                            <m:sup/>
                            <m:e>
                              <m:nary>
                                <m:naryPr>
                                  <m:chr m:val="∑"/>
                                  <m:supHide m:val="on"/>
                                  <m:ctrlPr>
                                    <a:rPr lang="en-US" altLang="zh-TW" sz="1400" i="1">
                                      <a:latin typeface="Cambria Math" panose="02040503050406030204" pitchFamily="18" charset="0"/>
                                    </a:rPr>
                                  </m:ctrlPr>
                                </m:naryPr>
                                <m:sub>
                                  <m:r>
                                    <m:rPr>
                                      <m:brk m:alnAt="7"/>
                                    </m:rPr>
                                    <a:rPr lang="en-US" altLang="zh-TW" sz="1400" i="1">
                                      <a:latin typeface="Cambria Math" panose="02040503050406030204" pitchFamily="18" charset="0"/>
                                    </a:rPr>
                                    <m:t>𝑖</m:t>
                                  </m:r>
                                </m:sub>
                                <m:sup/>
                                <m:e>
                                  <m:d>
                                    <m:dPr>
                                      <m:begChr m:val="‖"/>
                                      <m:endChr m:val="‖"/>
                                      <m:ctrlPr>
                                        <a:rPr lang="en-US" altLang="zh-TW" sz="1400" i="1">
                                          <a:latin typeface="Cambria Math" panose="02040503050406030204" pitchFamily="18" charset="0"/>
                                        </a:rPr>
                                      </m:ctrlPr>
                                    </m:dPr>
                                    <m:e>
                                      <m:sSub>
                                        <m:sSubPr>
                                          <m:ctrlPr>
                                            <a:rPr lang="en-US" altLang="zh-TW" sz="1400" i="1">
                                              <a:latin typeface="Cambria Math" panose="02040503050406030204" pitchFamily="18" charset="0"/>
                                            </a:rPr>
                                          </m:ctrlPr>
                                        </m:sSubPr>
                                        <m:e>
                                          <m:r>
                                            <a:rPr lang="en-US" altLang="zh-TW" sz="1400" i="1">
                                              <a:latin typeface="Cambria Math" panose="02040503050406030204" pitchFamily="18" charset="0"/>
                                            </a:rPr>
                                            <m:t>𝑏</m:t>
                                          </m:r>
                                        </m:e>
                                        <m:sub>
                                          <m:r>
                                            <a:rPr lang="en-US" altLang="zh-TW" sz="1400" i="1">
                                              <a:latin typeface="Cambria Math" panose="02040503050406030204" pitchFamily="18" charset="0"/>
                                            </a:rPr>
                                            <m:t>𝑖𝑗</m:t>
                                          </m:r>
                                        </m:sub>
                                      </m:sSub>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a:rPr lang="en-US" altLang="zh-TW" sz="1400" i="1">
                                              <a:latin typeface="Cambria Math" panose="02040503050406030204" pitchFamily="18" charset="0"/>
                                              <a:ea typeface="Cambria Math" panose="02040503050406030204" pitchFamily="18" charset="0"/>
                                            </a:rPr>
                                            <m:t>𝑆</m:t>
                                          </m:r>
                                        </m:e>
                                        <m:sub>
                                          <m:r>
                                            <a:rPr lang="en-US" altLang="zh-TW" sz="1400" i="1">
                                              <a:latin typeface="Cambria Math" panose="02040503050406030204" pitchFamily="18" charset="0"/>
                                              <a:ea typeface="Cambria Math" panose="02040503050406030204" pitchFamily="18" charset="0"/>
                                            </a:rPr>
                                            <m:t>𝑖</m:t>
                                          </m:r>
                                        </m:sub>
                                      </m:sSub>
                                      <m:sPre>
                                        <m:sPrePr>
                                          <m:ctrlPr>
                                            <a:rPr lang="en-US" altLang="zh-TW" sz="1400" i="1">
                                              <a:latin typeface="Cambria Math" panose="02040503050406030204" pitchFamily="18" charset="0"/>
                                              <a:ea typeface="Cambria Math" panose="02040503050406030204" pitchFamily="18" charset="0"/>
                                            </a:rPr>
                                          </m:ctrlPr>
                                        </m:sPrePr>
                                        <m:sub/>
                                        <m:sup>
                                          <m:r>
                                            <a:rPr lang="en-US" altLang="zh-TW" sz="1400" i="1">
                                              <a:latin typeface="Cambria Math" panose="02040503050406030204" pitchFamily="18" charset="0"/>
                                            </a:rPr>
                                            <m:t>𝐵</m:t>
                                          </m:r>
                                        </m:sup>
                                        <m:e>
                                          <m:sSub>
                                            <m:sSubPr>
                                              <m:ctrlPr>
                                                <a:rPr lang="en-US" altLang="zh-TW" sz="1400" i="1">
                                                  <a:latin typeface="Cambria Math" panose="02040503050406030204" pitchFamily="18" charset="0"/>
                                                </a:rPr>
                                              </m:ctrlPr>
                                            </m:sSubPr>
                                            <m:e>
                                              <m:acc>
                                                <m:accPr>
                                                  <m:chr m:val="̂"/>
                                                  <m:ctrlPr>
                                                    <a:rPr lang="en-US" altLang="zh-TW" sz="1400" i="1">
                                                      <a:latin typeface="Cambria Math" panose="02040503050406030204" pitchFamily="18" charset="0"/>
                                                    </a:rPr>
                                                  </m:ctrlPr>
                                                </m:accPr>
                                                <m:e>
                                                  <m:r>
                                                    <a:rPr lang="en-US" altLang="zh-TW" sz="1400" i="1">
                                                      <a:latin typeface="Cambria Math" panose="02040503050406030204" pitchFamily="18" charset="0"/>
                                                    </a:rPr>
                                                    <m:t>𝑔</m:t>
                                                  </m:r>
                                                </m:e>
                                              </m:acc>
                                            </m:e>
                                            <m:sub>
                                              <m:r>
                                                <a:rPr lang="en-US" altLang="zh-TW" sz="1400" i="1">
                                                  <a:latin typeface="Cambria Math" panose="02040503050406030204" pitchFamily="18" charset="0"/>
                                                </a:rPr>
                                                <m:t>𝑉</m:t>
                                              </m:r>
                                            </m:sub>
                                          </m:sSub>
                                        </m:e>
                                      </m:sPre>
                                      <m:acc>
                                        <m:accPr>
                                          <m:chr m:val="̅"/>
                                          <m:ctrlPr>
                                            <a:rPr lang="zh-TW" altLang="en-US" sz="1400" i="1">
                                              <a:latin typeface="Cambria Math" panose="02040503050406030204" pitchFamily="18" charset="0"/>
                                            </a:rPr>
                                          </m:ctrlPr>
                                        </m:accPr>
                                        <m:e>
                                          <m:r>
                                            <a:rPr lang="en-US" altLang="zh-TW" sz="1400" i="1">
                                              <a:latin typeface="Cambria Math" panose="02040503050406030204" pitchFamily="18" charset="0"/>
                                            </a:rPr>
                                            <m:t>𝐷</m:t>
                                          </m:r>
                                        </m:e>
                                      </m:acc>
                                      <m:sSub>
                                        <m:sSubPr>
                                          <m:ctrlPr>
                                            <a:rPr lang="en-US" altLang="zh-TW" sz="1400" i="1">
                                              <a:latin typeface="Cambria Math" panose="02040503050406030204" pitchFamily="18" charset="0"/>
                                            </a:rPr>
                                          </m:ctrlPr>
                                        </m:sSubPr>
                                        <m:e>
                                          <m:r>
                                            <a:rPr lang="en-US" altLang="zh-TW" sz="1400" i="1">
                                              <a:latin typeface="Cambria Math" panose="02040503050406030204" pitchFamily="18" charset="0"/>
                                            </a:rPr>
                                            <m:t>𝑉</m:t>
                                          </m:r>
                                        </m:e>
                                        <m:sub>
                                          <m:r>
                                            <a:rPr lang="en-US" altLang="zh-TW" sz="1400" i="1">
                                              <a:latin typeface="Cambria Math" panose="02040503050406030204" pitchFamily="18" charset="0"/>
                                            </a:rPr>
                                            <m:t>𝑗</m:t>
                                          </m:r>
                                        </m:sub>
                                      </m:sSub>
                                    </m:e>
                                  </m:d>
                                </m:e>
                              </m:nary>
                            </m:e>
                          </m:nary>
                        </m:num>
                        <m:den>
                          <m:nary>
                            <m:naryPr>
                              <m:chr m:val="∑"/>
                              <m:supHide m:val="on"/>
                              <m:ctrlPr>
                                <a:rPr lang="en-US" altLang="zh-TW" sz="1400" i="1">
                                  <a:latin typeface="Cambria Math" panose="02040503050406030204" pitchFamily="18" charset="0"/>
                                </a:rPr>
                              </m:ctrlPr>
                            </m:naryPr>
                            <m:sub>
                              <m:r>
                                <m:rPr>
                                  <m:brk m:alnAt="7"/>
                                </m:rPr>
                                <a:rPr lang="en-US" altLang="zh-TW" sz="1400" i="1">
                                  <a:latin typeface="Cambria Math" panose="02040503050406030204" pitchFamily="18" charset="0"/>
                                </a:rPr>
                                <m:t>𝑗</m:t>
                              </m:r>
                            </m:sub>
                            <m:sup/>
                            <m:e>
                              <m:nary>
                                <m:naryPr>
                                  <m:chr m:val="∑"/>
                                  <m:supHide m:val="on"/>
                                  <m:ctrlPr>
                                    <a:rPr lang="en-US" altLang="zh-TW" sz="1400" i="1">
                                      <a:latin typeface="Cambria Math" panose="02040503050406030204" pitchFamily="18" charset="0"/>
                                    </a:rPr>
                                  </m:ctrlPr>
                                </m:naryPr>
                                <m:sub>
                                  <m:r>
                                    <m:rPr>
                                      <m:brk m:alnAt="7"/>
                                    </m:rPr>
                                    <a:rPr lang="en-US" altLang="zh-TW" sz="1400" i="1">
                                      <a:latin typeface="Cambria Math" panose="02040503050406030204" pitchFamily="18" charset="0"/>
                                    </a:rPr>
                                    <m:t>𝑖</m:t>
                                  </m:r>
                                </m:sub>
                                <m:sup/>
                                <m:e>
                                  <m:d>
                                    <m:dPr>
                                      <m:begChr m:val="‖"/>
                                      <m:endChr m:val="‖"/>
                                      <m:ctrlPr>
                                        <a:rPr lang="en-US" altLang="zh-TW" sz="1400" i="1">
                                          <a:latin typeface="Cambria Math" panose="02040503050406030204" pitchFamily="18" charset="0"/>
                                        </a:rPr>
                                      </m:ctrlPr>
                                    </m:dPr>
                                    <m:e>
                                      <m:sSub>
                                        <m:sSubPr>
                                          <m:ctrlPr>
                                            <a:rPr lang="en-US" altLang="zh-TW" sz="1400" i="1">
                                              <a:latin typeface="Cambria Math" panose="02040503050406030204" pitchFamily="18" charset="0"/>
                                            </a:rPr>
                                          </m:ctrlPr>
                                        </m:sSubPr>
                                        <m:e>
                                          <m:r>
                                            <a:rPr lang="en-US" altLang="zh-TW" sz="1400" i="1">
                                              <a:latin typeface="Cambria Math" panose="02040503050406030204" pitchFamily="18" charset="0"/>
                                            </a:rPr>
                                            <m:t>𝑏</m:t>
                                          </m:r>
                                        </m:e>
                                        <m:sub>
                                          <m:r>
                                            <a:rPr lang="en-US" altLang="zh-TW" sz="1400" i="1">
                                              <a:latin typeface="Cambria Math" panose="02040503050406030204" pitchFamily="18" charset="0"/>
                                            </a:rPr>
                                            <m:t>𝑖𝑗</m:t>
                                          </m:r>
                                        </m:sub>
                                      </m:sSub>
                                    </m:e>
                                  </m:d>
                                </m:e>
                              </m:nary>
                            </m:e>
                          </m:nary>
                        </m:den>
                      </m:f>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rPr>
                        <m:t>100</m:t>
                      </m:r>
                      <m:r>
                        <a:rPr lang="en-US" altLang="zh-TW" sz="1400" b="0" i="1" smtClean="0">
                          <a:latin typeface="Cambria Math" panose="02040503050406030204" pitchFamily="18" charset="0"/>
                        </a:rPr>
                        <m:t>%=2.85%</m:t>
                      </m:r>
                    </m:oMath>
                  </m:oMathPara>
                </a14:m>
                <a:endParaRPr lang="zh-TW" altLang="en-US" sz="1400" dirty="0"/>
              </a:p>
            </p:txBody>
          </p:sp>
        </mc:Choice>
        <mc:Fallback xmlns="">
          <p:sp>
            <p:nvSpPr>
              <p:cNvPr id="30" name="文字方塊 29">
                <a:extLst>
                  <a:ext uri="{FF2B5EF4-FFF2-40B4-BE49-F238E27FC236}">
                    <a16:creationId xmlns:a16="http://schemas.microsoft.com/office/drawing/2014/main" id="{05D4D494-842A-47CF-AA77-F7674C9C2B84}"/>
                  </a:ext>
                </a:extLst>
              </p:cNvPr>
              <p:cNvSpPr txBox="1">
                <a:spLocks noRot="1" noChangeAspect="1" noMove="1" noResize="1" noEditPoints="1" noAdjustHandles="1" noChangeArrowheads="1" noChangeShapeType="1" noTextEdit="1"/>
              </p:cNvSpPr>
              <p:nvPr/>
            </p:nvSpPr>
            <p:spPr>
              <a:xfrm>
                <a:off x="7826034" y="951888"/>
                <a:ext cx="4191000" cy="549509"/>
              </a:xfrm>
              <a:prstGeom prst="rect">
                <a:avLst/>
              </a:prstGeom>
              <a:blipFill>
                <a:blip r:embed="rId26"/>
                <a:stretch>
                  <a:fillRect b="-111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2" name="文字方塊 31">
                <a:extLst>
                  <a:ext uri="{FF2B5EF4-FFF2-40B4-BE49-F238E27FC236}">
                    <a16:creationId xmlns:a16="http://schemas.microsoft.com/office/drawing/2014/main" id="{C685C6EE-EA50-4331-ADBB-49A0A8EDD3B1}"/>
                  </a:ext>
                </a:extLst>
              </p:cNvPr>
              <p:cNvSpPr txBox="1"/>
              <p:nvPr/>
            </p:nvSpPr>
            <p:spPr>
              <a:xfrm>
                <a:off x="7826034" y="2520139"/>
                <a:ext cx="4191000" cy="54950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altLang="zh-TW" sz="1400" smtClean="0">
                          <a:latin typeface="Cambria Math" panose="02040503050406030204" pitchFamily="18" charset="0"/>
                        </a:rPr>
                        <m:t>NMAE</m:t>
                      </m:r>
                      <m:r>
                        <a:rPr lang="en-US" altLang="zh-TW" sz="1400" i="1" smtClean="0">
                          <a:latin typeface="Cambria Math" panose="02040503050406030204" pitchFamily="18" charset="0"/>
                        </a:rPr>
                        <m:t>=</m:t>
                      </m:r>
                      <m:f>
                        <m:fPr>
                          <m:ctrlPr>
                            <a:rPr lang="en-US" altLang="zh-TW" sz="1400" i="1">
                              <a:latin typeface="Cambria Math" panose="02040503050406030204" pitchFamily="18" charset="0"/>
                            </a:rPr>
                          </m:ctrlPr>
                        </m:fPr>
                        <m:num>
                          <m:nary>
                            <m:naryPr>
                              <m:chr m:val="∑"/>
                              <m:supHide m:val="on"/>
                              <m:ctrlPr>
                                <a:rPr lang="en-US" altLang="zh-TW" sz="1400" i="1">
                                  <a:latin typeface="Cambria Math" panose="02040503050406030204" pitchFamily="18" charset="0"/>
                                </a:rPr>
                              </m:ctrlPr>
                            </m:naryPr>
                            <m:sub>
                              <m:r>
                                <m:rPr>
                                  <m:brk m:alnAt="7"/>
                                </m:rPr>
                                <a:rPr lang="en-US" altLang="zh-TW" sz="1400" i="1">
                                  <a:latin typeface="Cambria Math" panose="02040503050406030204" pitchFamily="18" charset="0"/>
                                </a:rPr>
                                <m:t>𝑗</m:t>
                              </m:r>
                            </m:sub>
                            <m:sup/>
                            <m:e>
                              <m:nary>
                                <m:naryPr>
                                  <m:chr m:val="∑"/>
                                  <m:supHide m:val="on"/>
                                  <m:ctrlPr>
                                    <a:rPr lang="en-US" altLang="zh-TW" sz="1400" i="1">
                                      <a:latin typeface="Cambria Math" panose="02040503050406030204" pitchFamily="18" charset="0"/>
                                    </a:rPr>
                                  </m:ctrlPr>
                                </m:naryPr>
                                <m:sub>
                                  <m:r>
                                    <m:rPr>
                                      <m:brk m:alnAt="7"/>
                                    </m:rPr>
                                    <a:rPr lang="en-US" altLang="zh-TW" sz="1400" i="1">
                                      <a:latin typeface="Cambria Math" panose="02040503050406030204" pitchFamily="18" charset="0"/>
                                    </a:rPr>
                                    <m:t>𝑖</m:t>
                                  </m:r>
                                </m:sub>
                                <m:sup/>
                                <m:e>
                                  <m:d>
                                    <m:dPr>
                                      <m:begChr m:val="‖"/>
                                      <m:endChr m:val="‖"/>
                                      <m:ctrlPr>
                                        <a:rPr lang="en-US" altLang="zh-TW" sz="1400" i="1">
                                          <a:latin typeface="Cambria Math" panose="02040503050406030204" pitchFamily="18" charset="0"/>
                                        </a:rPr>
                                      </m:ctrlPr>
                                    </m:dPr>
                                    <m:e>
                                      <m:sSub>
                                        <m:sSubPr>
                                          <m:ctrlPr>
                                            <a:rPr lang="en-US" altLang="zh-TW" sz="1400" i="1">
                                              <a:latin typeface="Cambria Math" panose="02040503050406030204" pitchFamily="18" charset="0"/>
                                            </a:rPr>
                                          </m:ctrlPr>
                                        </m:sSubPr>
                                        <m:e>
                                          <m:r>
                                            <a:rPr lang="en-US" altLang="zh-TW" sz="1400" i="1">
                                              <a:latin typeface="Cambria Math" panose="02040503050406030204" pitchFamily="18" charset="0"/>
                                            </a:rPr>
                                            <m:t>𝑏</m:t>
                                          </m:r>
                                        </m:e>
                                        <m:sub>
                                          <m:r>
                                            <a:rPr lang="en-US" altLang="zh-TW" sz="1400" i="1">
                                              <a:latin typeface="Cambria Math" panose="02040503050406030204" pitchFamily="18" charset="0"/>
                                            </a:rPr>
                                            <m:t>𝑖𝑗</m:t>
                                          </m:r>
                                        </m:sub>
                                      </m:sSub>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a:rPr lang="en-US" altLang="zh-TW" sz="1400" i="1">
                                              <a:latin typeface="Cambria Math" panose="02040503050406030204" pitchFamily="18" charset="0"/>
                                              <a:ea typeface="Cambria Math" panose="02040503050406030204" pitchFamily="18" charset="0"/>
                                            </a:rPr>
                                            <m:t>𝑆</m:t>
                                          </m:r>
                                        </m:e>
                                        <m:sub>
                                          <m:r>
                                            <a:rPr lang="en-US" altLang="zh-TW" sz="1400" i="1">
                                              <a:latin typeface="Cambria Math" panose="02040503050406030204" pitchFamily="18" charset="0"/>
                                              <a:ea typeface="Cambria Math" panose="02040503050406030204" pitchFamily="18" charset="0"/>
                                            </a:rPr>
                                            <m:t>𝑖</m:t>
                                          </m:r>
                                        </m:sub>
                                      </m:sSub>
                                      <m:sPre>
                                        <m:sPrePr>
                                          <m:ctrlPr>
                                            <a:rPr lang="en-US" altLang="zh-TW" sz="1400" i="1">
                                              <a:latin typeface="Cambria Math" panose="02040503050406030204" pitchFamily="18" charset="0"/>
                                              <a:ea typeface="Cambria Math" panose="02040503050406030204" pitchFamily="18" charset="0"/>
                                            </a:rPr>
                                          </m:ctrlPr>
                                        </m:sPrePr>
                                        <m:sub/>
                                        <m:sup>
                                          <m:r>
                                            <a:rPr lang="en-US" altLang="zh-TW" sz="1400" i="1">
                                              <a:latin typeface="Cambria Math" panose="02040503050406030204" pitchFamily="18" charset="0"/>
                                            </a:rPr>
                                            <m:t>𝐵</m:t>
                                          </m:r>
                                        </m:sup>
                                        <m:e>
                                          <m:sSub>
                                            <m:sSubPr>
                                              <m:ctrlPr>
                                                <a:rPr lang="en-US" altLang="zh-TW" sz="1400" i="1">
                                                  <a:latin typeface="Cambria Math" panose="02040503050406030204" pitchFamily="18" charset="0"/>
                                                </a:rPr>
                                              </m:ctrlPr>
                                            </m:sSubPr>
                                            <m:e>
                                              <m:acc>
                                                <m:accPr>
                                                  <m:chr m:val="̂"/>
                                                  <m:ctrlPr>
                                                    <a:rPr lang="en-US" altLang="zh-TW" sz="1400" i="1">
                                                      <a:latin typeface="Cambria Math" panose="02040503050406030204" pitchFamily="18" charset="0"/>
                                                    </a:rPr>
                                                  </m:ctrlPr>
                                                </m:accPr>
                                                <m:e>
                                                  <m:r>
                                                    <a:rPr lang="en-US" altLang="zh-TW" sz="1400" i="1">
                                                      <a:latin typeface="Cambria Math" panose="02040503050406030204" pitchFamily="18" charset="0"/>
                                                    </a:rPr>
                                                    <m:t>𝑔</m:t>
                                                  </m:r>
                                                </m:e>
                                              </m:acc>
                                            </m:e>
                                            <m:sub>
                                              <m:r>
                                                <a:rPr lang="en-US" altLang="zh-TW" sz="1400" i="1">
                                                  <a:latin typeface="Cambria Math" panose="02040503050406030204" pitchFamily="18" charset="0"/>
                                                </a:rPr>
                                                <m:t>𝑉</m:t>
                                              </m:r>
                                            </m:sub>
                                          </m:sSub>
                                        </m:e>
                                      </m:sPre>
                                      <m:acc>
                                        <m:accPr>
                                          <m:chr m:val="̅"/>
                                          <m:ctrlPr>
                                            <a:rPr lang="zh-TW" altLang="en-US" sz="1400" i="1">
                                              <a:latin typeface="Cambria Math" panose="02040503050406030204" pitchFamily="18" charset="0"/>
                                            </a:rPr>
                                          </m:ctrlPr>
                                        </m:accPr>
                                        <m:e>
                                          <m:r>
                                            <a:rPr lang="en-US" altLang="zh-TW" sz="1400" i="1">
                                              <a:latin typeface="Cambria Math" panose="02040503050406030204" pitchFamily="18" charset="0"/>
                                            </a:rPr>
                                            <m:t>𝐷</m:t>
                                          </m:r>
                                        </m:e>
                                      </m:acc>
                                      <m:sSub>
                                        <m:sSubPr>
                                          <m:ctrlPr>
                                            <a:rPr lang="en-US" altLang="zh-TW" sz="1400" i="1">
                                              <a:latin typeface="Cambria Math" panose="02040503050406030204" pitchFamily="18" charset="0"/>
                                            </a:rPr>
                                          </m:ctrlPr>
                                        </m:sSubPr>
                                        <m:e>
                                          <m:r>
                                            <a:rPr lang="en-US" altLang="zh-TW" sz="1400" i="1">
                                              <a:latin typeface="Cambria Math" panose="02040503050406030204" pitchFamily="18" charset="0"/>
                                            </a:rPr>
                                            <m:t>𝑉</m:t>
                                          </m:r>
                                        </m:e>
                                        <m:sub>
                                          <m:r>
                                            <a:rPr lang="en-US" altLang="zh-TW" sz="1400" i="1">
                                              <a:latin typeface="Cambria Math" panose="02040503050406030204" pitchFamily="18" charset="0"/>
                                            </a:rPr>
                                            <m:t>𝑗</m:t>
                                          </m:r>
                                        </m:sub>
                                      </m:sSub>
                                    </m:e>
                                  </m:d>
                                </m:e>
                              </m:nary>
                            </m:e>
                          </m:nary>
                        </m:num>
                        <m:den>
                          <m:nary>
                            <m:naryPr>
                              <m:chr m:val="∑"/>
                              <m:supHide m:val="on"/>
                              <m:ctrlPr>
                                <a:rPr lang="en-US" altLang="zh-TW" sz="1400" i="1">
                                  <a:latin typeface="Cambria Math" panose="02040503050406030204" pitchFamily="18" charset="0"/>
                                </a:rPr>
                              </m:ctrlPr>
                            </m:naryPr>
                            <m:sub>
                              <m:r>
                                <m:rPr>
                                  <m:brk m:alnAt="7"/>
                                </m:rPr>
                                <a:rPr lang="en-US" altLang="zh-TW" sz="1400" i="1">
                                  <a:latin typeface="Cambria Math" panose="02040503050406030204" pitchFamily="18" charset="0"/>
                                </a:rPr>
                                <m:t>𝑗</m:t>
                              </m:r>
                            </m:sub>
                            <m:sup/>
                            <m:e>
                              <m:nary>
                                <m:naryPr>
                                  <m:chr m:val="∑"/>
                                  <m:supHide m:val="on"/>
                                  <m:ctrlPr>
                                    <a:rPr lang="en-US" altLang="zh-TW" sz="1400" i="1">
                                      <a:latin typeface="Cambria Math" panose="02040503050406030204" pitchFamily="18" charset="0"/>
                                    </a:rPr>
                                  </m:ctrlPr>
                                </m:naryPr>
                                <m:sub>
                                  <m:r>
                                    <m:rPr>
                                      <m:brk m:alnAt="7"/>
                                    </m:rPr>
                                    <a:rPr lang="en-US" altLang="zh-TW" sz="1400" i="1">
                                      <a:latin typeface="Cambria Math" panose="02040503050406030204" pitchFamily="18" charset="0"/>
                                    </a:rPr>
                                    <m:t>𝑖</m:t>
                                  </m:r>
                                </m:sub>
                                <m:sup/>
                                <m:e>
                                  <m:d>
                                    <m:dPr>
                                      <m:begChr m:val="‖"/>
                                      <m:endChr m:val="‖"/>
                                      <m:ctrlPr>
                                        <a:rPr lang="en-US" altLang="zh-TW" sz="1400" i="1">
                                          <a:latin typeface="Cambria Math" panose="02040503050406030204" pitchFamily="18" charset="0"/>
                                        </a:rPr>
                                      </m:ctrlPr>
                                    </m:dPr>
                                    <m:e>
                                      <m:sSub>
                                        <m:sSubPr>
                                          <m:ctrlPr>
                                            <a:rPr lang="en-US" altLang="zh-TW" sz="1400" i="1">
                                              <a:latin typeface="Cambria Math" panose="02040503050406030204" pitchFamily="18" charset="0"/>
                                            </a:rPr>
                                          </m:ctrlPr>
                                        </m:sSubPr>
                                        <m:e>
                                          <m:r>
                                            <a:rPr lang="en-US" altLang="zh-TW" sz="1400" i="1">
                                              <a:latin typeface="Cambria Math" panose="02040503050406030204" pitchFamily="18" charset="0"/>
                                            </a:rPr>
                                            <m:t>𝑏</m:t>
                                          </m:r>
                                        </m:e>
                                        <m:sub>
                                          <m:r>
                                            <a:rPr lang="en-US" altLang="zh-TW" sz="1400" i="1">
                                              <a:latin typeface="Cambria Math" panose="02040503050406030204" pitchFamily="18" charset="0"/>
                                            </a:rPr>
                                            <m:t>𝑖𝑗</m:t>
                                          </m:r>
                                        </m:sub>
                                      </m:sSub>
                                    </m:e>
                                  </m:d>
                                </m:e>
                              </m:nary>
                            </m:e>
                          </m:nary>
                        </m:den>
                      </m:f>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rPr>
                        <m:t>100</m:t>
                      </m:r>
                      <m:r>
                        <a:rPr lang="en-US" altLang="zh-TW" sz="1400" b="0" i="1" smtClean="0">
                          <a:latin typeface="Cambria Math" panose="02040503050406030204" pitchFamily="18" charset="0"/>
                        </a:rPr>
                        <m:t>%=0.26%</m:t>
                      </m:r>
                    </m:oMath>
                  </m:oMathPara>
                </a14:m>
                <a:endParaRPr lang="zh-TW" altLang="en-US" sz="1400" dirty="0"/>
              </a:p>
            </p:txBody>
          </p:sp>
        </mc:Choice>
        <mc:Fallback xmlns="">
          <p:sp>
            <p:nvSpPr>
              <p:cNvPr id="32" name="文字方塊 31">
                <a:extLst>
                  <a:ext uri="{FF2B5EF4-FFF2-40B4-BE49-F238E27FC236}">
                    <a16:creationId xmlns:a16="http://schemas.microsoft.com/office/drawing/2014/main" id="{C685C6EE-EA50-4331-ADBB-49A0A8EDD3B1}"/>
                  </a:ext>
                </a:extLst>
              </p:cNvPr>
              <p:cNvSpPr txBox="1">
                <a:spLocks noRot="1" noChangeAspect="1" noMove="1" noResize="1" noEditPoints="1" noAdjustHandles="1" noChangeArrowheads="1" noChangeShapeType="1" noTextEdit="1"/>
              </p:cNvSpPr>
              <p:nvPr/>
            </p:nvSpPr>
            <p:spPr>
              <a:xfrm>
                <a:off x="7826034" y="2520139"/>
                <a:ext cx="4191000" cy="549509"/>
              </a:xfrm>
              <a:prstGeom prst="rect">
                <a:avLst/>
              </a:prstGeom>
              <a:blipFill>
                <a:blip r:embed="rId27"/>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950" name="CalibV_Vmat"/>
              <p:cNvSpPr txBox="1"/>
              <p:nvPr/>
            </p:nvSpPr>
            <p:spPr>
              <a:xfrm>
                <a:off x="2988287" y="5042291"/>
                <a:ext cx="6215426" cy="1527623"/>
              </a:xfrm>
              <a:prstGeom prst="rect">
                <a:avLst/>
              </a:prstGeom>
              <a:noFill/>
            </p:spPr>
            <p:txBody>
              <a:bodyPr wrap="none" lIns="0" tIns="0" rIns="0" bIns="0" rtlCol="0" anchor="t"/>
              <a:lstStyle/>
              <a:p>
                <a:pPr algn="ctr"/>
                <a14:m>
                  <m:oMathPara xmlns:m="http://schemas.openxmlformats.org/officeDocument/2006/math">
                    <m:oMathParaPr>
                      <m:jc m:val="centerGroup"/>
                    </m:oMathParaPr>
                    <m:oMath xmlns:m="http://schemas.openxmlformats.org/officeDocument/2006/math">
                      <m:r>
                        <a:rPr lang="en-US" sz="1100" b="0" i="1" smtClean="0">
                          <a:latin typeface="Cambria Math" panose="02040503050406030204" pitchFamily="18" charset="0"/>
                        </a:rPr>
                        <m:t>𝑉</m:t>
                      </m:r>
                      <m:r>
                        <a:rPr lang="en-US" sz="1100" b="0" i="0">
                          <a:latin typeface="Cambria Math" panose="02040503050406030204" pitchFamily="18" charset="0"/>
                        </a:rPr>
                        <m:t> = </m:t>
                      </m:r>
                      <m:d>
                        <m:dPr>
                          <m:begChr m:val="["/>
                          <m:endChr m:val="]"/>
                          <m:ctrlPr>
                            <a:rPr lang="en-US" sz="1100" b="0" i="1">
                              <a:latin typeface="Cambria Math" panose="02040503050406030204" pitchFamily="18" charset="0"/>
                            </a:rPr>
                          </m:ctrlPr>
                        </m:dPr>
                        <m:e>
                          <m:m>
                            <m:mPr>
                              <m:mcs>
                                <m:mc>
                                  <m:mcPr>
                                    <m:count m:val="6"/>
                                    <m:mcJc m:val="center"/>
                                  </m:mcPr>
                                </m:mc>
                              </m:mcs>
                              <m:ctrlPr>
                                <a:rPr lang="en-US" sz="1100" b="0" i="1">
                                  <a:latin typeface="Cambria Math" panose="02040503050406030204" pitchFamily="18" charset="0"/>
                                </a:rPr>
                              </m:ctrlPr>
                            </m:mPr>
                            <m:mr>
                              <m:e>
                                <m:r>
                                  <a:rPr lang="en-US" sz="1100" b="0" i="0">
                                    <a:latin typeface="Cambria Math" panose="02040503050406030204" pitchFamily="18" charset="0"/>
                                  </a:rPr>
                                  <m:t>1397.5153</m:t>
                                </m:r>
                              </m:e>
                              <m:e>
                                <m:r>
                                  <a:rPr lang="en-US" sz="1100" b="0" i="0">
                                    <a:latin typeface="Cambria Math" panose="02040503050406030204" pitchFamily="18" charset="0"/>
                                  </a:rPr>
                                  <m:t>−44.8949</m:t>
                                </m:r>
                              </m:e>
                              <m:e>
                                <m:r>
                                  <a:rPr lang="en-US" sz="1100" b="0" i="0">
                                    <a:latin typeface="Cambria Math" panose="02040503050406030204" pitchFamily="18" charset="0"/>
                                  </a:rPr>
                                  <m:t>−296.4434</m:t>
                                </m:r>
                              </m:e>
                              <m:e>
                                <m:r>
                                  <a:rPr lang="en-US" sz="1100" b="0" i="0">
                                    <a:latin typeface="Cambria Math" panose="02040503050406030204" pitchFamily="18" charset="0"/>
                                  </a:rPr>
                                  <m:t>−239.1196</m:t>
                                </m:r>
                              </m:e>
                              <m:e>
                                <m:r>
                                  <a:rPr lang="en-US" sz="1100" b="0" i="0">
                                    <a:latin typeface="Cambria Math" panose="02040503050406030204" pitchFamily="18" charset="0"/>
                                  </a:rPr>
                                  <m:t>−249.0026</m:t>
                                </m:r>
                              </m:e>
                              <m:e>
                                <m:r>
                                  <a:rPr lang="en-US" sz="1100" b="0" i="0">
                                    <a:latin typeface="Cambria Math" panose="02040503050406030204" pitchFamily="18" charset="0"/>
                                  </a:rPr>
                                  <m:t>−294.9264</m:t>
                                </m:r>
                              </m:e>
                            </m:mr>
                            <m:mr>
                              <m:e>
                                <m:r>
                                  <a:rPr lang="en-US" sz="1100" b="0" i="0">
                                    <a:latin typeface="Cambria Math" panose="02040503050406030204" pitchFamily="18" charset="0"/>
                                  </a:rPr>
                                  <m:t>−52.3899</m:t>
                                </m:r>
                              </m:e>
                              <m:e>
                                <m:r>
                                  <a:rPr lang="en-US" sz="1100" b="0" i="0">
                                    <a:latin typeface="Cambria Math" panose="02040503050406030204" pitchFamily="18" charset="0"/>
                                  </a:rPr>
                                  <m:t>1598.4115</m:t>
                                </m:r>
                              </m:e>
                              <m:e>
                                <m:r>
                                  <a:rPr lang="en-US" sz="1100" b="0" i="0">
                                    <a:latin typeface="Cambria Math" panose="02040503050406030204" pitchFamily="18" charset="0"/>
                                  </a:rPr>
                                  <m:t>−236.0011</m:t>
                                </m:r>
                              </m:e>
                              <m:e>
                                <m:r>
                                  <a:rPr lang="en-US" sz="1100" b="0" i="0">
                                    <a:latin typeface="Cambria Math" panose="02040503050406030204" pitchFamily="18" charset="0"/>
                                  </a:rPr>
                                  <m:t>−508.1098</m:t>
                                </m:r>
                              </m:e>
                              <m:e>
                                <m:r>
                                  <a:rPr lang="en-US" sz="1100" b="0" i="0">
                                    <a:latin typeface="Cambria Math" panose="02040503050406030204" pitchFamily="18" charset="0"/>
                                  </a:rPr>
                                  <m:t>−515.4042</m:t>
                                </m:r>
                              </m:e>
                              <m:e>
                                <m:r>
                                  <a:rPr lang="en-US" sz="1100" b="0" i="0">
                                    <a:latin typeface="Cambria Math" panose="02040503050406030204" pitchFamily="18" charset="0"/>
                                  </a:rPr>
                                  <m:t>−237.3949</m:t>
                                </m:r>
                              </m:e>
                            </m:mr>
                            <m:mr>
                              <m:e>
                                <m:r>
                                  <a:rPr lang="en-US" sz="1100" b="0" i="0">
                                    <a:latin typeface="Cambria Math" panose="02040503050406030204" pitchFamily="18" charset="0"/>
                                  </a:rPr>
                                  <m:t>−294.5246</m:t>
                                </m:r>
                              </m:e>
                              <m:e>
                                <m:r>
                                  <a:rPr lang="en-US" sz="1100" b="0" i="0">
                                    <a:latin typeface="Cambria Math" panose="02040503050406030204" pitchFamily="18" charset="0"/>
                                  </a:rPr>
                                  <m:t>−235.2099</m:t>
                                </m:r>
                              </m:e>
                              <m:e>
                                <m:r>
                                  <a:rPr lang="en-US" sz="1100" b="0" i="0">
                                    <a:latin typeface="Cambria Math" panose="02040503050406030204" pitchFamily="18" charset="0"/>
                                  </a:rPr>
                                  <m:t>1397.1511</m:t>
                                </m:r>
                              </m:e>
                              <m:e>
                                <m:r>
                                  <a:rPr lang="en-US" sz="1100" b="0" i="0">
                                    <a:latin typeface="Cambria Math" panose="02040503050406030204" pitchFamily="18" charset="0"/>
                                  </a:rPr>
                                  <m:t>−46.2959</m:t>
                                </m:r>
                              </m:e>
                              <m:e>
                                <m:r>
                                  <a:rPr lang="en-US" sz="1100" b="0" i="0">
                                    <a:latin typeface="Cambria Math" panose="02040503050406030204" pitchFamily="18" charset="0"/>
                                  </a:rPr>
                                  <m:t>−241.8620</m:t>
                                </m:r>
                              </m:e>
                              <m:e>
                                <m:r>
                                  <a:rPr lang="en-US" sz="1100" b="0" i="0">
                                    <a:latin typeface="Cambria Math" panose="02040503050406030204" pitchFamily="18" charset="0"/>
                                  </a:rPr>
                                  <m:t>−295.1847</m:t>
                                </m:r>
                              </m:e>
                            </m:mr>
                            <m:mr>
                              <m:e>
                                <m:r>
                                  <a:rPr lang="en-US" sz="1100" b="0" i="0">
                                    <a:latin typeface="Cambria Math" panose="02040503050406030204" pitchFamily="18" charset="0"/>
                                  </a:rPr>
                                  <m:t>−235.7501</m:t>
                                </m:r>
                              </m:e>
                              <m:e>
                                <m:r>
                                  <a:rPr lang="en-US" sz="1100" b="0" i="0">
                                    <a:latin typeface="Cambria Math" panose="02040503050406030204" pitchFamily="18" charset="0"/>
                                  </a:rPr>
                                  <m:t>−532.4126</m:t>
                                </m:r>
                              </m:e>
                              <m:e>
                                <m:r>
                                  <a:rPr lang="en-US" sz="1100" b="0" i="0">
                                    <a:latin typeface="Cambria Math" panose="02040503050406030204" pitchFamily="18" charset="0"/>
                                  </a:rPr>
                                  <m:t>−51.6440</m:t>
                                </m:r>
                              </m:e>
                              <m:e>
                                <m:r>
                                  <a:rPr lang="en-US" sz="1100" b="0" i="0">
                                    <a:latin typeface="Cambria Math" panose="02040503050406030204" pitchFamily="18" charset="0"/>
                                  </a:rPr>
                                  <m:t>1588.6363</m:t>
                                </m:r>
                              </m:e>
                              <m:e>
                                <m:r>
                                  <a:rPr lang="en-US" sz="1100" b="0" i="0">
                                    <a:latin typeface="Cambria Math" panose="02040503050406030204" pitchFamily="18" charset="0"/>
                                  </a:rPr>
                                  <m:t>−528.6298</m:t>
                                </m:r>
                              </m:e>
                              <m:e>
                                <m:r>
                                  <a:rPr lang="en-US" sz="1100" b="0" i="0">
                                    <a:latin typeface="Cambria Math" panose="02040503050406030204" pitchFamily="18" charset="0"/>
                                  </a:rPr>
                                  <m:t>−226.1507</m:t>
                                </m:r>
                              </m:e>
                            </m:mr>
                            <m:mr>
                              <m:e>
                                <m:r>
                                  <a:rPr lang="en-US" sz="1100" b="0" i="0">
                                    <a:latin typeface="Cambria Math" panose="02040503050406030204" pitchFamily="18" charset="0"/>
                                  </a:rPr>
                                  <m:t>−241.2077</m:t>
                                </m:r>
                              </m:e>
                              <m:e>
                                <m:r>
                                  <a:rPr lang="en-US" sz="1100" b="0" i="0">
                                    <a:latin typeface="Cambria Math" panose="02040503050406030204" pitchFamily="18" charset="0"/>
                                  </a:rPr>
                                  <m:t>−521.3975</m:t>
                                </m:r>
                              </m:e>
                              <m:e>
                                <m:r>
                                  <a:rPr lang="en-US" sz="1100" b="0" i="0">
                                    <a:latin typeface="Cambria Math" panose="02040503050406030204" pitchFamily="18" charset="0"/>
                                  </a:rPr>
                                  <m:t>−229.4493</m:t>
                                </m:r>
                              </m:e>
                              <m:e>
                                <m:r>
                                  <a:rPr lang="en-US" sz="1100" b="0" i="0">
                                    <a:latin typeface="Cambria Math" panose="02040503050406030204" pitchFamily="18" charset="0"/>
                                  </a:rPr>
                                  <m:t>−520.3586</m:t>
                                </m:r>
                              </m:e>
                              <m:e>
                                <m:r>
                                  <a:rPr lang="en-US" sz="1100" b="0" i="0">
                                    <a:latin typeface="Cambria Math" panose="02040503050406030204" pitchFamily="18" charset="0"/>
                                  </a:rPr>
                                  <m:t>1580.8644</m:t>
                                </m:r>
                              </m:e>
                              <m:e>
                                <m:r>
                                  <a:rPr lang="en-US" sz="1100" b="0" i="0">
                                    <a:latin typeface="Cambria Math" panose="02040503050406030204" pitchFamily="18" charset="0"/>
                                  </a:rPr>
                                  <m:t>−48.3108</m:t>
                                </m:r>
                              </m:e>
                            </m:mr>
                            <m:mr>
                              <m:e>
                                <m:r>
                                  <a:rPr lang="en-US" sz="1100" b="0" i="0">
                                    <a:latin typeface="Cambria Math" panose="02040503050406030204" pitchFamily="18" charset="0"/>
                                  </a:rPr>
                                  <m:t>−288.5384</m:t>
                                </m:r>
                              </m:e>
                              <m:e>
                                <m:r>
                                  <a:rPr lang="en-US" sz="1100" b="0" i="0">
                                    <a:latin typeface="Cambria Math" panose="02040503050406030204" pitchFamily="18" charset="0"/>
                                  </a:rPr>
                                  <m:t>−243.6843</m:t>
                                </m:r>
                              </m:e>
                              <m:e>
                                <m:r>
                                  <a:rPr lang="en-US" sz="1100" b="0" i="0">
                                    <a:latin typeface="Cambria Math" panose="02040503050406030204" pitchFamily="18" charset="0"/>
                                  </a:rPr>
                                  <m:t>−297.2197</m:t>
                                </m:r>
                              </m:e>
                              <m:e>
                                <m:r>
                                  <a:rPr lang="en-US" sz="1100" b="0" i="0">
                                    <a:latin typeface="Cambria Math" panose="02040503050406030204" pitchFamily="18" charset="0"/>
                                  </a:rPr>
                                  <m:t>−235.9084</m:t>
                                </m:r>
                              </m:e>
                              <m:e>
                                <m:r>
                                  <a:rPr lang="en-US" sz="1100" b="0" i="0">
                                    <a:latin typeface="Cambria Math" panose="02040503050406030204" pitchFamily="18" charset="0"/>
                                  </a:rPr>
                                  <m:t>−44.7064</m:t>
                                </m:r>
                              </m:e>
                              <m:e>
                                <m:r>
                                  <a:rPr lang="en-US" sz="1100" b="0" i="0">
                                    <a:latin typeface="Cambria Math" panose="02040503050406030204" pitchFamily="18" charset="0"/>
                                  </a:rPr>
                                  <m:t>1386.2112</m:t>
                                </m:r>
                              </m:e>
                            </m:mr>
                          </m:m>
                        </m:e>
                      </m:d>
                      <m:r>
                        <a:rPr lang="zh-TW" altLang="en-US" sz="1100" i="1">
                          <a:latin typeface="Cambria Math" panose="02040503050406030204" pitchFamily="18" charset="0"/>
                        </a:rPr>
                        <m:t> </m:t>
                      </m:r>
                      <m:r>
                        <a:rPr lang="en-US" altLang="zh-TW" sz="1100" b="0" i="1" smtClean="0">
                          <a:latin typeface="Cambria Math" panose="02040503050406030204" pitchFamily="18" charset="0"/>
                        </a:rPr>
                        <m:t> (</m:t>
                      </m:r>
                      <m:r>
                        <a:rPr lang="en-US" altLang="zh-TW" sz="1100" b="0" i="1" smtClean="0">
                          <a:latin typeface="Cambria Math" panose="02040503050406030204" pitchFamily="18" charset="0"/>
                        </a:rPr>
                        <m:t>𝑚𝑉</m:t>
                      </m:r>
                      <m:r>
                        <a:rPr lang="en-US" altLang="zh-TW" sz="1100" b="0" i="1" smtClean="0">
                          <a:latin typeface="Cambria Math" panose="02040503050406030204" pitchFamily="18" charset="0"/>
                        </a:rPr>
                        <m:t>)</m:t>
                      </m:r>
                    </m:oMath>
                  </m:oMathPara>
                </a14:m>
                <a:endParaRPr lang="en-US" sz="900" dirty="0"/>
              </a:p>
            </p:txBody>
          </p:sp>
        </mc:Choice>
        <mc:Fallback xmlns="">
          <p:sp>
            <p:nvSpPr>
              <p:cNvPr id="950" name="CalibV_Vmat"/>
              <p:cNvSpPr txBox="1">
                <a:spLocks noRot="1" noChangeAspect="1" noMove="1" noResize="1" noEditPoints="1" noAdjustHandles="1" noChangeArrowheads="1" noChangeShapeType="1" noTextEdit="1"/>
              </p:cNvSpPr>
              <p:nvPr/>
            </p:nvSpPr>
            <p:spPr>
              <a:xfrm>
                <a:off x="2988287" y="5042291"/>
                <a:ext cx="6215426" cy="1527623"/>
              </a:xfrm>
              <a:prstGeom prst="rect">
                <a:avLst/>
              </a:prstGeom>
              <a:blipFill>
                <a:blip r:embed="rId2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9" name="文字方塊 28">
                <a:extLst>
                  <a:ext uri="{FF2B5EF4-FFF2-40B4-BE49-F238E27FC236}">
                    <a16:creationId xmlns:a16="http://schemas.microsoft.com/office/drawing/2014/main" id="{41DBDD30-8739-417A-9ECC-F38CA06CA214}"/>
                  </a:ext>
                </a:extLst>
              </p:cNvPr>
              <p:cNvSpPr txBox="1"/>
              <p:nvPr/>
            </p:nvSpPr>
            <p:spPr>
              <a:xfrm>
                <a:off x="8551747" y="376422"/>
                <a:ext cx="3688638" cy="3215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𝐶𝑎𝑙𝑖𝑏𝑟𝑎𝑡𝑒</m:t>
                      </m:r>
                      <m:r>
                        <a:rPr lang="en-US" altLang="zh-TW" b="0" i="1" smtClean="0">
                          <a:latin typeface="Cambria Math" panose="02040503050406030204" pitchFamily="18" charset="0"/>
                        </a:rPr>
                        <m:t> </m:t>
                      </m:r>
                      <m:r>
                        <a:rPr lang="en-US" altLang="zh-TW" b="0" i="1" smtClean="0">
                          <a:latin typeface="Cambria Math" panose="02040503050406030204" pitchFamily="18" charset="0"/>
                        </a:rPr>
                        <m:t>𝑚𝑜𝑑𝑒𝑙</m:t>
                      </m:r>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𝑏</m:t>
                          </m:r>
                        </m:e>
                        <m:sub>
                          <m:r>
                            <a:rPr lang="en-US" altLang="zh-TW" b="0" i="1" smtClean="0">
                              <a:latin typeface="Cambria Math" panose="02040503050406030204" pitchFamily="18" charset="0"/>
                              <a:ea typeface="Cambria Math" panose="02040503050406030204" pitchFamily="18" charset="0"/>
                            </a:rPr>
                            <m:t>𝑖𝑗</m:t>
                          </m:r>
                        </m:sub>
                      </m:sSub>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𝑆</m:t>
                          </m:r>
                        </m:e>
                        <m:sub>
                          <m:r>
                            <a:rPr lang="en-US" altLang="zh-TW" b="0" i="1" smtClean="0">
                              <a:latin typeface="Cambria Math" panose="02040503050406030204" pitchFamily="18" charset="0"/>
                              <a:ea typeface="Cambria Math" panose="02040503050406030204" pitchFamily="18" charset="0"/>
                            </a:rPr>
                            <m:t>𝑖</m:t>
                          </m:r>
                        </m:sub>
                      </m:sSub>
                      <m:sPre>
                        <m:sPrePr>
                          <m:ctrlPr>
                            <a:rPr lang="en-US" altLang="zh-TW" b="0" i="1" smtClean="0">
                              <a:latin typeface="Cambria Math" panose="02040503050406030204" pitchFamily="18" charset="0"/>
                              <a:ea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𝑉</m:t>
                              </m:r>
                            </m:sub>
                          </m:sSub>
                        </m:e>
                      </m:sPr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𝐷</m:t>
                          </m:r>
                        </m:e>
                      </m:acc>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𝑉</m:t>
                          </m:r>
                        </m:e>
                        <m:sub>
                          <m:r>
                            <a:rPr lang="en-US" altLang="zh-TW" b="0" i="1" smtClean="0">
                              <a:latin typeface="Cambria Math" panose="02040503050406030204" pitchFamily="18" charset="0"/>
                            </a:rPr>
                            <m:t>𝑗</m:t>
                          </m:r>
                        </m:sub>
                      </m:sSub>
                    </m:oMath>
                  </m:oMathPara>
                </a14:m>
                <a:endParaRPr lang="zh-TW" altLang="en-US" dirty="0"/>
              </a:p>
            </p:txBody>
          </p:sp>
        </mc:Choice>
        <mc:Fallback xmlns="">
          <p:sp>
            <p:nvSpPr>
              <p:cNvPr id="29" name="文字方塊 28">
                <a:extLst>
                  <a:ext uri="{FF2B5EF4-FFF2-40B4-BE49-F238E27FC236}">
                    <a16:creationId xmlns:a16="http://schemas.microsoft.com/office/drawing/2014/main" id="{41DBDD30-8739-417A-9ECC-F38CA06CA214}"/>
                  </a:ext>
                </a:extLst>
              </p:cNvPr>
              <p:cNvSpPr txBox="1">
                <a:spLocks noRot="1" noChangeAspect="1" noMove="1" noResize="1" noEditPoints="1" noAdjustHandles="1" noChangeArrowheads="1" noChangeShapeType="1" noTextEdit="1"/>
              </p:cNvSpPr>
              <p:nvPr/>
            </p:nvSpPr>
            <p:spPr>
              <a:xfrm>
                <a:off x="8551747" y="376422"/>
                <a:ext cx="3688638" cy="321563"/>
              </a:xfrm>
              <a:prstGeom prst="rect">
                <a:avLst/>
              </a:prstGeom>
              <a:blipFill>
                <a:blip r:embed="rId29"/>
                <a:stretch>
                  <a:fillRect t="-15385" r="-3802" b="-25000"/>
                </a:stretch>
              </a:blipFill>
            </p:spPr>
            <p:txBody>
              <a:bodyPr/>
              <a:lstStyle/>
              <a:p>
                <a:r>
                  <a:rPr lang="zh-TW" altLang="en-US">
                    <a:noFill/>
                  </a:rPr>
                  <a:t> </a:t>
                </a:r>
              </a:p>
            </p:txBody>
          </p:sp>
        </mc:Fallback>
      </mc:AlternateContent>
      <p:sp>
        <p:nvSpPr>
          <p:cNvPr id="10" name="文字方塊 9">
            <a:extLst>
              <a:ext uri="{FF2B5EF4-FFF2-40B4-BE49-F238E27FC236}">
                <a16:creationId xmlns:a16="http://schemas.microsoft.com/office/drawing/2014/main" id="{8CD6E91D-DA9C-48D6-8E1D-D3024F8E65AA}"/>
              </a:ext>
            </a:extLst>
          </p:cNvPr>
          <p:cNvSpPr txBox="1"/>
          <p:nvPr/>
        </p:nvSpPr>
        <p:spPr>
          <a:xfrm>
            <a:off x="8155400" y="6292513"/>
            <a:ext cx="3869266" cy="307777"/>
          </a:xfrm>
          <a:prstGeom prst="rect">
            <a:avLst/>
          </a:prstGeom>
          <a:noFill/>
        </p:spPr>
        <p:txBody>
          <a:bodyPr wrap="square" rtlCol="0">
            <a:spAutoFit/>
          </a:bodyPr>
          <a:lstStyle/>
          <a:p>
            <a:pPr marL="285750" indent="-285750">
              <a:buFont typeface="Wingdings" panose="05000000000000000000" pitchFamily="2" charset="2"/>
              <a:buChar char="Ø"/>
            </a:pPr>
            <a:r>
              <a:rPr lang="en-US" altLang="zh-TW" sz="1400" dirty="0"/>
              <a:t>Number of Interpolation Points:180(six sensor)</a:t>
            </a:r>
            <a:endParaRPr lang="zh-TW" altLang="en-US" sz="1400" dirty="0"/>
          </a:p>
        </p:txBody>
      </p:sp>
    </p:spTree>
    <p:extLst>
      <p:ext uri="{BB962C8B-B14F-4D97-AF65-F5344CB8AC3E}">
        <p14:creationId xmlns:p14="http://schemas.microsoft.com/office/powerpoint/2010/main" val="13672797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192000" cy="837142"/>
          </a:xfrm>
        </p:spPr>
        <p:txBody>
          <a:bodyPr>
            <a:normAutofit fontScale="90000"/>
          </a:bodyPr>
          <a:lstStyle/>
          <a:p>
            <a:r>
              <a:rPr lang="en-US" altLang="zh-TW" sz="3600" b="1" kern="100" dirty="0">
                <a:solidFill>
                  <a:srgbClr val="000000"/>
                </a:solidFill>
                <a:latin typeface="Aptos"/>
                <a:ea typeface="新細明體" panose="02020500000000000000" pitchFamily="18" charset="-120"/>
                <a:cs typeface="Times New Roman" panose="02020603050405020304" pitchFamily="18" charset="0"/>
              </a:rPr>
              <a:t>Hall-sensor-voltage-based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7" name="文字方塊 6">
            <a:extLst>
              <a:ext uri="{FF2B5EF4-FFF2-40B4-BE49-F238E27FC236}">
                <a16:creationId xmlns:a16="http://schemas.microsoft.com/office/drawing/2014/main" id="{3B970DD4-BBB5-449B-A35D-ACB34E775395}"/>
              </a:ext>
            </a:extLst>
          </p:cNvPr>
          <p:cNvSpPr txBox="1"/>
          <p:nvPr/>
        </p:nvSpPr>
        <p:spPr>
          <a:xfrm>
            <a:off x="3141579" y="553537"/>
            <a:ext cx="3793066" cy="369332"/>
          </a:xfrm>
          <a:prstGeom prst="rect">
            <a:avLst/>
          </a:prstGeom>
          <a:noFill/>
        </p:spPr>
        <p:txBody>
          <a:bodyPr wrap="square" rtlCol="0">
            <a:spAutoFit/>
          </a:bodyPr>
          <a:lstStyle/>
          <a:p>
            <a:pPr marL="285750" indent="-285750">
              <a:buFont typeface="Arial" panose="020B0604020202020204" pitchFamily="34" charset="0"/>
              <a:buChar char="•"/>
            </a:pPr>
            <a:r>
              <a:rPr lang="en-US" altLang="zh-TW" dirty="0"/>
              <a:t>Single parameter</a:t>
            </a:r>
            <a:endParaRPr lang="zh-TW" altLang="en-US" dirty="0"/>
          </a:p>
        </p:txBody>
      </p:sp>
      <p:sp>
        <p:nvSpPr>
          <p:cNvPr id="9" name="文字方塊 8">
            <a:extLst>
              <a:ext uri="{FF2B5EF4-FFF2-40B4-BE49-F238E27FC236}">
                <a16:creationId xmlns:a16="http://schemas.microsoft.com/office/drawing/2014/main" id="{9FF4D34D-ECD2-4F94-BEEC-33EA0D199F4B}"/>
              </a:ext>
            </a:extLst>
          </p:cNvPr>
          <p:cNvSpPr txBox="1"/>
          <p:nvPr/>
        </p:nvSpPr>
        <p:spPr>
          <a:xfrm>
            <a:off x="3141579" y="2198624"/>
            <a:ext cx="3793066" cy="369332"/>
          </a:xfrm>
          <a:prstGeom prst="rect">
            <a:avLst/>
          </a:prstGeom>
          <a:noFill/>
        </p:spPr>
        <p:txBody>
          <a:bodyPr wrap="square" rtlCol="0">
            <a:spAutoFit/>
          </a:bodyPr>
          <a:lstStyle/>
          <a:p>
            <a:pPr marL="285750" indent="-285750">
              <a:buFont typeface="Arial" panose="020B0604020202020204" pitchFamily="34" charset="0"/>
              <a:buChar char="•"/>
            </a:pPr>
            <a:r>
              <a:rPr lang="en-US" altLang="zh-TW" dirty="0"/>
              <a:t>Eighteen parameters</a:t>
            </a:r>
            <a:endParaRPr lang="zh-TW" altLang="en-US" dirty="0"/>
          </a:p>
        </p:txBody>
      </p:sp>
      <p:grpSp>
        <p:nvGrpSpPr>
          <p:cNvPr id="11" name="群組 10">
            <a:extLst>
              <a:ext uri="{FF2B5EF4-FFF2-40B4-BE49-F238E27FC236}">
                <a16:creationId xmlns:a16="http://schemas.microsoft.com/office/drawing/2014/main" id="{F8B1ABB2-778A-49C9-AFA2-90D17FFE48E7}"/>
              </a:ext>
            </a:extLst>
          </p:cNvPr>
          <p:cNvGrpSpPr/>
          <p:nvPr/>
        </p:nvGrpSpPr>
        <p:grpSpPr>
          <a:xfrm>
            <a:off x="-34701" y="601115"/>
            <a:ext cx="3252483" cy="2344135"/>
            <a:chOff x="-34701" y="601115"/>
            <a:chExt cx="3252483" cy="2344135"/>
          </a:xfrm>
        </p:grpSpPr>
        <p:pic>
          <p:nvPicPr>
            <p:cNvPr id="10" name="圖片 9">
              <a:extLst>
                <a:ext uri="{FF2B5EF4-FFF2-40B4-BE49-F238E27FC236}">
                  <a16:creationId xmlns:a16="http://schemas.microsoft.com/office/drawing/2014/main" id="{0E1B2118-8979-445C-AE40-2D7B23093CC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3306" y="601115"/>
              <a:ext cx="3014476" cy="2058086"/>
            </a:xfrm>
            <a:prstGeom prst="rect">
              <a:avLst/>
            </a:prstGeom>
          </p:spPr>
        </p:pic>
        <mc:AlternateContent xmlns:mc="http://schemas.openxmlformats.org/markup-compatibility/2006" xmlns:a14="http://schemas.microsoft.com/office/drawing/2010/main">
          <mc:Choice Requires="a14">
            <p:sp>
              <p:nvSpPr>
                <p:cNvPr id="26" name="文字方塊 25">
                  <a:extLst>
                    <a:ext uri="{FF2B5EF4-FFF2-40B4-BE49-F238E27FC236}">
                      <a16:creationId xmlns:a16="http://schemas.microsoft.com/office/drawing/2014/main" id="{472A2684-72C2-4C5B-8160-BCFB1EA46AC0}"/>
                    </a:ext>
                  </a:extLst>
                </p:cNvPr>
                <p:cNvSpPr txBox="1"/>
                <p:nvPr/>
              </p:nvSpPr>
              <p:spPr>
                <a:xfrm>
                  <a:off x="1045794" y="2669287"/>
                  <a:ext cx="1106536" cy="2759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𝑥</m:t>
                        </m:r>
                        <m:r>
                          <a:rPr lang="en-US" altLang="zh-TW" b="0" i="1" smtClean="0">
                            <a:latin typeface="Cambria Math" panose="02040503050406030204" pitchFamily="18" charset="0"/>
                          </a:rPr>
                          <m:t>−</m:t>
                        </m:r>
                        <m:r>
                          <m:rPr>
                            <m:sty m:val="p"/>
                          </m:rPr>
                          <a:rPr lang="en-US" altLang="zh-TW" b="0" i="0" smtClean="0">
                            <a:latin typeface="Cambria Math" panose="02040503050406030204" pitchFamily="18" charset="0"/>
                          </a:rPr>
                          <m:t>axis</m:t>
                        </m:r>
                        <m:r>
                          <a:rPr lang="en-US" altLang="zh-TW" b="0" i="1" smtClean="0">
                            <a:latin typeface="Cambria Math" panose="02040503050406030204" pitchFamily="18" charset="0"/>
                          </a:rPr>
                          <m:t>(</m:t>
                        </m:r>
                        <m:r>
                          <a:rPr lang="en-US" altLang="zh-TW" b="0" i="1" smtClean="0">
                            <a:latin typeface="Cambria Math" panose="02040503050406030204" pitchFamily="18" charset="0"/>
                          </a:rPr>
                          <m:t>𝑚𝑚</m:t>
                        </m:r>
                        <m:r>
                          <a:rPr lang="en-US" altLang="zh-TW" b="0" i="1" smtClean="0">
                            <a:latin typeface="Cambria Math" panose="02040503050406030204" pitchFamily="18" charset="0"/>
                          </a:rPr>
                          <m:t>)</m:t>
                        </m:r>
                      </m:oMath>
                    </m:oMathPara>
                  </a14:m>
                  <a:endParaRPr lang="zh-TW" altLang="en-US" i="1" dirty="0">
                    <a:latin typeface="Times New Roman" panose="02020603050405020304" pitchFamily="18" charset="0"/>
                    <a:cs typeface="Times New Roman" panose="02020603050405020304" pitchFamily="18" charset="0"/>
                  </a:endParaRPr>
                </a:p>
              </p:txBody>
            </p:sp>
          </mc:Choice>
          <mc:Fallback xmlns="">
            <p:sp>
              <p:nvSpPr>
                <p:cNvPr id="26" name="文字方塊 25">
                  <a:extLst>
                    <a:ext uri="{FF2B5EF4-FFF2-40B4-BE49-F238E27FC236}">
                      <a16:creationId xmlns:a16="http://schemas.microsoft.com/office/drawing/2014/main" id="{472A2684-72C2-4C5B-8160-BCFB1EA46AC0}"/>
                    </a:ext>
                  </a:extLst>
                </p:cNvPr>
                <p:cNvSpPr txBox="1">
                  <a:spLocks noRot="1" noChangeAspect="1" noMove="1" noResize="1" noEditPoints="1" noAdjustHandles="1" noChangeArrowheads="1" noChangeShapeType="1" noTextEdit="1"/>
                </p:cNvSpPr>
                <p:nvPr/>
              </p:nvSpPr>
              <p:spPr>
                <a:xfrm>
                  <a:off x="1045794" y="2669287"/>
                  <a:ext cx="1106536" cy="275963"/>
                </a:xfrm>
                <a:prstGeom prst="rect">
                  <a:avLst/>
                </a:prstGeom>
                <a:blipFill>
                  <a:blip r:embed="rId12"/>
                  <a:stretch>
                    <a:fillRect l="-5525" r="-34254" b="-3777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7" name="文字方塊 26">
                  <a:extLst>
                    <a:ext uri="{FF2B5EF4-FFF2-40B4-BE49-F238E27FC236}">
                      <a16:creationId xmlns:a16="http://schemas.microsoft.com/office/drawing/2014/main" id="{D2AA26C0-3566-4313-BBA8-98963FD7E103}"/>
                    </a:ext>
                  </a:extLst>
                </p:cNvPr>
                <p:cNvSpPr txBox="1"/>
                <p:nvPr/>
              </p:nvSpPr>
              <p:spPr>
                <a:xfrm rot="16200000">
                  <a:off x="-630248" y="1277868"/>
                  <a:ext cx="1404535" cy="21344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𝑧</m:t>
                        </m:r>
                        <m:r>
                          <a:rPr lang="en-US" altLang="zh-TW" b="0" i="1" smtClean="0">
                            <a:latin typeface="Cambria Math" panose="02040503050406030204" pitchFamily="18" charset="0"/>
                          </a:rPr>
                          <m:t>−</m:t>
                        </m:r>
                        <m:r>
                          <m:rPr>
                            <m:sty m:val="p"/>
                          </m:rPr>
                          <a:rPr lang="en-US" altLang="zh-TW" b="0" i="0" smtClean="0">
                            <a:latin typeface="Cambria Math" panose="02040503050406030204" pitchFamily="18" charset="0"/>
                          </a:rPr>
                          <m:t>axis</m:t>
                        </m:r>
                        <m:r>
                          <a:rPr lang="en-US" altLang="zh-TW" b="0" i="1" smtClean="0">
                            <a:latin typeface="Cambria Math" panose="02040503050406030204" pitchFamily="18" charset="0"/>
                          </a:rPr>
                          <m:t>(</m:t>
                        </m:r>
                        <m:r>
                          <a:rPr lang="en-US" altLang="zh-TW" b="0" i="1" smtClean="0">
                            <a:latin typeface="Cambria Math" panose="02040503050406030204" pitchFamily="18" charset="0"/>
                          </a:rPr>
                          <m:t>𝑚𝑚</m:t>
                        </m:r>
                        <m:r>
                          <a:rPr lang="en-US" altLang="zh-TW" b="0" i="1" smtClean="0">
                            <a:latin typeface="Cambria Math" panose="02040503050406030204" pitchFamily="18" charset="0"/>
                          </a:rPr>
                          <m:t>)</m:t>
                        </m:r>
                      </m:oMath>
                    </m:oMathPara>
                  </a14:m>
                  <a:endParaRPr lang="zh-TW" altLang="en-US" i="1" dirty="0">
                    <a:latin typeface="Times New Roman" panose="02020603050405020304" pitchFamily="18" charset="0"/>
                    <a:cs typeface="Times New Roman" panose="02020603050405020304" pitchFamily="18" charset="0"/>
                  </a:endParaRPr>
                </a:p>
              </p:txBody>
            </p:sp>
          </mc:Choice>
          <mc:Fallback xmlns="">
            <p:sp>
              <p:nvSpPr>
                <p:cNvPr id="27" name="文字方塊 26">
                  <a:extLst>
                    <a:ext uri="{FF2B5EF4-FFF2-40B4-BE49-F238E27FC236}">
                      <a16:creationId xmlns:a16="http://schemas.microsoft.com/office/drawing/2014/main" id="{D2AA26C0-3566-4313-BBA8-98963FD7E103}"/>
                    </a:ext>
                  </a:extLst>
                </p:cNvPr>
                <p:cNvSpPr txBox="1">
                  <a:spLocks noRot="1" noChangeAspect="1" noMove="1" noResize="1" noEditPoints="1" noAdjustHandles="1" noChangeArrowheads="1" noChangeShapeType="1" noTextEdit="1"/>
                </p:cNvSpPr>
                <p:nvPr/>
              </p:nvSpPr>
              <p:spPr>
                <a:xfrm rot="16200000">
                  <a:off x="-630248" y="1277868"/>
                  <a:ext cx="1404535" cy="213442"/>
                </a:xfrm>
                <a:prstGeom prst="rect">
                  <a:avLst/>
                </a:prstGeom>
                <a:blipFill>
                  <a:blip r:embed="rId13"/>
                  <a:stretch>
                    <a:fillRect t="-6522" r="-77143" b="-260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0" name="文字方塊 29">
                  <a:extLst>
                    <a:ext uri="{FF2B5EF4-FFF2-40B4-BE49-F238E27FC236}">
                      <a16:creationId xmlns:a16="http://schemas.microsoft.com/office/drawing/2014/main" id="{7E2BA711-BDB0-46F6-B316-8F3387FD23F6}"/>
                    </a:ext>
                  </a:extLst>
                </p:cNvPr>
                <p:cNvSpPr txBox="1"/>
                <p:nvPr/>
              </p:nvSpPr>
              <p:spPr>
                <a:xfrm rot="16976090">
                  <a:off x="2108984" y="1768527"/>
                  <a:ext cx="843092" cy="246221"/>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600" smtClean="0">
                            <a:solidFill>
                              <a:schemeClr val="accent2"/>
                            </a:solidFill>
                            <a:latin typeface="Cambria Math" panose="02040503050406030204" pitchFamily="18" charset="0"/>
                          </a:rPr>
                          <m:t>0</m:t>
                        </m:r>
                        <m:r>
                          <a:rPr lang="en-US" altLang="zh-TW" sz="1600" b="0" i="0" smtClean="0">
                            <a:solidFill>
                              <a:schemeClr val="accent2"/>
                            </a:solidFill>
                            <a:latin typeface="Cambria Math" panose="02040503050406030204" pitchFamily="18" charset="0"/>
                          </a:rPr>
                          <m:t>.41</m:t>
                        </m:r>
                        <m:r>
                          <m:rPr>
                            <m:sty m:val="p"/>
                          </m:rPr>
                          <a:rPr lang="en-US" altLang="zh-TW" sz="1600" b="0" i="0" smtClean="0">
                            <a:solidFill>
                              <a:schemeClr val="accent2"/>
                            </a:solidFill>
                            <a:latin typeface="Cambria Math" panose="02040503050406030204" pitchFamily="18" charset="0"/>
                          </a:rPr>
                          <m:t>mm</m:t>
                        </m:r>
                      </m:oMath>
                    </m:oMathPara>
                  </a14:m>
                  <a:endParaRPr lang="zh-TW" altLang="en-US" sz="1600" dirty="0">
                    <a:solidFill>
                      <a:schemeClr val="accent2"/>
                    </a:solidFill>
                  </a:endParaRPr>
                </a:p>
              </p:txBody>
            </p:sp>
          </mc:Choice>
          <mc:Fallback xmlns="">
            <p:sp>
              <p:nvSpPr>
                <p:cNvPr id="30" name="文字方塊 29">
                  <a:extLst>
                    <a:ext uri="{FF2B5EF4-FFF2-40B4-BE49-F238E27FC236}">
                      <a16:creationId xmlns:a16="http://schemas.microsoft.com/office/drawing/2014/main" id="{7E2BA711-BDB0-46F6-B316-8F3387FD23F6}"/>
                    </a:ext>
                  </a:extLst>
                </p:cNvPr>
                <p:cNvSpPr txBox="1">
                  <a:spLocks noRot="1" noChangeAspect="1" noMove="1" noResize="1" noEditPoints="1" noAdjustHandles="1" noChangeArrowheads="1" noChangeShapeType="1" noTextEdit="1"/>
                </p:cNvSpPr>
                <p:nvPr/>
              </p:nvSpPr>
              <p:spPr>
                <a:xfrm rot="16976090">
                  <a:off x="2108984" y="1768527"/>
                  <a:ext cx="843092" cy="246221"/>
                </a:xfrm>
                <a:prstGeom prst="rect">
                  <a:avLst/>
                </a:prstGeom>
                <a:blipFill>
                  <a:blip r:embed="rId14"/>
                  <a:stretch>
                    <a:fillRect b="-69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1" name="文字方塊 30">
                  <a:extLst>
                    <a:ext uri="{FF2B5EF4-FFF2-40B4-BE49-F238E27FC236}">
                      <a16:creationId xmlns:a16="http://schemas.microsoft.com/office/drawing/2014/main" id="{4D476910-9804-4F30-902D-4DA6EC29C3BD}"/>
                    </a:ext>
                  </a:extLst>
                </p:cNvPr>
                <p:cNvSpPr txBox="1"/>
                <p:nvPr/>
              </p:nvSpPr>
              <p:spPr>
                <a:xfrm rot="678839">
                  <a:off x="1695937" y="1336955"/>
                  <a:ext cx="503343" cy="24622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600">
                            <a:solidFill>
                              <a:schemeClr val="accent1"/>
                            </a:solidFill>
                            <a:latin typeface="Cambria Math" panose="02040503050406030204" pitchFamily="18" charset="0"/>
                          </a:rPr>
                          <m:t>5</m:t>
                        </m:r>
                        <m:r>
                          <m:rPr>
                            <m:sty m:val="p"/>
                          </m:rPr>
                          <a:rPr lang="en-US" altLang="zh-TW" sz="1600" b="0" i="0" smtClean="0">
                            <a:solidFill>
                              <a:schemeClr val="accent1"/>
                            </a:solidFill>
                            <a:latin typeface="Cambria Math" panose="02040503050406030204" pitchFamily="18" charset="0"/>
                          </a:rPr>
                          <m:t>mm</m:t>
                        </m:r>
                      </m:oMath>
                    </m:oMathPara>
                  </a14:m>
                  <a:endParaRPr lang="zh-TW" altLang="en-US" sz="1600" dirty="0">
                    <a:solidFill>
                      <a:schemeClr val="accent1"/>
                    </a:solidFill>
                  </a:endParaRPr>
                </a:p>
              </p:txBody>
            </p:sp>
          </mc:Choice>
          <mc:Fallback xmlns="">
            <p:sp>
              <p:nvSpPr>
                <p:cNvPr id="31" name="文字方塊 30">
                  <a:extLst>
                    <a:ext uri="{FF2B5EF4-FFF2-40B4-BE49-F238E27FC236}">
                      <a16:creationId xmlns:a16="http://schemas.microsoft.com/office/drawing/2014/main" id="{4D476910-9804-4F30-902D-4DA6EC29C3BD}"/>
                    </a:ext>
                  </a:extLst>
                </p:cNvPr>
                <p:cNvSpPr txBox="1">
                  <a:spLocks noRot="1" noChangeAspect="1" noMove="1" noResize="1" noEditPoints="1" noAdjustHandles="1" noChangeArrowheads="1" noChangeShapeType="1" noTextEdit="1"/>
                </p:cNvSpPr>
                <p:nvPr/>
              </p:nvSpPr>
              <p:spPr>
                <a:xfrm rot="678839">
                  <a:off x="1695937" y="1336955"/>
                  <a:ext cx="503343" cy="246221"/>
                </a:xfrm>
                <a:prstGeom prst="rect">
                  <a:avLst/>
                </a:prstGeom>
                <a:blipFill>
                  <a:blip r:embed="rId15"/>
                  <a:stretch>
                    <a:fillRect l="-8989" r="-1124"/>
                  </a:stretch>
                </a:blipFill>
              </p:spPr>
              <p:txBody>
                <a:bodyPr/>
                <a:lstStyle/>
                <a:p>
                  <a:r>
                    <a:rPr lang="zh-TW" altLang="en-US">
                      <a:noFill/>
                    </a:rPr>
                    <a:t> </a:t>
                  </a:r>
                </a:p>
              </p:txBody>
            </p:sp>
          </mc:Fallback>
        </mc:AlternateContent>
      </p:grpSp>
      <p:grpSp>
        <p:nvGrpSpPr>
          <p:cNvPr id="12" name="群組 11">
            <a:extLst>
              <a:ext uri="{FF2B5EF4-FFF2-40B4-BE49-F238E27FC236}">
                <a16:creationId xmlns:a16="http://schemas.microsoft.com/office/drawing/2014/main" id="{079819BA-2246-4E2F-8920-F8581BF37279}"/>
              </a:ext>
            </a:extLst>
          </p:cNvPr>
          <p:cNvGrpSpPr/>
          <p:nvPr/>
        </p:nvGrpSpPr>
        <p:grpSpPr>
          <a:xfrm>
            <a:off x="62717" y="3075736"/>
            <a:ext cx="2837834" cy="3392828"/>
            <a:chOff x="62717" y="3075736"/>
            <a:chExt cx="2837834" cy="3392828"/>
          </a:xfrm>
        </p:grpSpPr>
        <p:pic>
          <p:nvPicPr>
            <p:cNvPr id="5" name="圖片 4">
              <a:extLst>
                <a:ext uri="{FF2B5EF4-FFF2-40B4-BE49-F238E27FC236}">
                  <a16:creationId xmlns:a16="http://schemas.microsoft.com/office/drawing/2014/main" id="{0E31BFEE-D2A3-4622-B97C-397DAA2F63A5}"/>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366740" y="3075736"/>
              <a:ext cx="2533811" cy="3124361"/>
            </a:xfrm>
            <a:prstGeom prst="rect">
              <a:avLst/>
            </a:prstGeom>
          </p:spPr>
        </p:pic>
        <mc:AlternateContent xmlns:mc="http://schemas.openxmlformats.org/markup-compatibility/2006" xmlns:a14="http://schemas.microsoft.com/office/drawing/2010/main">
          <mc:Choice Requires="a14">
            <p:sp>
              <p:nvSpPr>
                <p:cNvPr id="28" name="文字方塊 27">
                  <a:extLst>
                    <a:ext uri="{FF2B5EF4-FFF2-40B4-BE49-F238E27FC236}">
                      <a16:creationId xmlns:a16="http://schemas.microsoft.com/office/drawing/2014/main" id="{B1AB3FE2-4E70-4C38-BB01-9CD45BE7A717}"/>
                    </a:ext>
                  </a:extLst>
                </p:cNvPr>
                <p:cNvSpPr txBox="1"/>
                <p:nvPr/>
              </p:nvSpPr>
              <p:spPr>
                <a:xfrm>
                  <a:off x="1045794" y="6192601"/>
                  <a:ext cx="1106536" cy="2759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𝑥</m:t>
                        </m:r>
                        <m:r>
                          <a:rPr lang="en-US" altLang="zh-TW" b="0" i="1" smtClean="0">
                            <a:latin typeface="Cambria Math" panose="02040503050406030204" pitchFamily="18" charset="0"/>
                          </a:rPr>
                          <m:t>−</m:t>
                        </m:r>
                        <m:r>
                          <m:rPr>
                            <m:sty m:val="p"/>
                          </m:rPr>
                          <a:rPr lang="en-US" altLang="zh-TW" b="0" i="0" smtClean="0">
                            <a:latin typeface="Cambria Math" panose="02040503050406030204" pitchFamily="18" charset="0"/>
                          </a:rPr>
                          <m:t>axis</m:t>
                        </m:r>
                        <m:r>
                          <a:rPr lang="en-US" altLang="zh-TW" b="0" i="1" smtClean="0">
                            <a:latin typeface="Cambria Math" panose="02040503050406030204" pitchFamily="18" charset="0"/>
                          </a:rPr>
                          <m:t>(</m:t>
                        </m:r>
                        <m:r>
                          <a:rPr lang="en-US" altLang="zh-TW" b="0" i="1" smtClean="0">
                            <a:latin typeface="Cambria Math" panose="02040503050406030204" pitchFamily="18" charset="0"/>
                          </a:rPr>
                          <m:t>𝑚𝑚</m:t>
                        </m:r>
                        <m:r>
                          <a:rPr lang="en-US" altLang="zh-TW" b="0" i="1" smtClean="0">
                            <a:latin typeface="Cambria Math" panose="02040503050406030204" pitchFamily="18" charset="0"/>
                          </a:rPr>
                          <m:t>)</m:t>
                        </m:r>
                      </m:oMath>
                    </m:oMathPara>
                  </a14:m>
                  <a:endParaRPr lang="zh-TW" altLang="en-US" i="1" dirty="0">
                    <a:latin typeface="Times New Roman" panose="02020603050405020304" pitchFamily="18" charset="0"/>
                    <a:cs typeface="Times New Roman" panose="02020603050405020304" pitchFamily="18" charset="0"/>
                  </a:endParaRPr>
                </a:p>
              </p:txBody>
            </p:sp>
          </mc:Choice>
          <mc:Fallback xmlns="">
            <p:sp>
              <p:nvSpPr>
                <p:cNvPr id="28" name="文字方塊 27">
                  <a:extLst>
                    <a:ext uri="{FF2B5EF4-FFF2-40B4-BE49-F238E27FC236}">
                      <a16:creationId xmlns:a16="http://schemas.microsoft.com/office/drawing/2014/main" id="{B1AB3FE2-4E70-4C38-BB01-9CD45BE7A717}"/>
                    </a:ext>
                  </a:extLst>
                </p:cNvPr>
                <p:cNvSpPr txBox="1">
                  <a:spLocks noRot="1" noChangeAspect="1" noMove="1" noResize="1" noEditPoints="1" noAdjustHandles="1" noChangeArrowheads="1" noChangeShapeType="1" noTextEdit="1"/>
                </p:cNvSpPr>
                <p:nvPr/>
              </p:nvSpPr>
              <p:spPr>
                <a:xfrm>
                  <a:off x="1045794" y="6192601"/>
                  <a:ext cx="1106536" cy="275963"/>
                </a:xfrm>
                <a:prstGeom prst="rect">
                  <a:avLst/>
                </a:prstGeom>
                <a:blipFill>
                  <a:blip r:embed="rId17"/>
                  <a:stretch>
                    <a:fillRect l="-5525" r="-34254" b="-3777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9" name="文字方塊 28">
                  <a:extLst>
                    <a:ext uri="{FF2B5EF4-FFF2-40B4-BE49-F238E27FC236}">
                      <a16:creationId xmlns:a16="http://schemas.microsoft.com/office/drawing/2014/main" id="{5F1F8972-9FD8-4880-8DDF-14A9664CB3D6}"/>
                    </a:ext>
                  </a:extLst>
                </p:cNvPr>
                <p:cNvSpPr txBox="1"/>
                <p:nvPr/>
              </p:nvSpPr>
              <p:spPr>
                <a:xfrm rot="16200000">
                  <a:off x="-532830" y="4664423"/>
                  <a:ext cx="1404535" cy="21344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𝑧</m:t>
                        </m:r>
                        <m:r>
                          <a:rPr lang="en-US" altLang="zh-TW" b="0" i="1" smtClean="0">
                            <a:latin typeface="Cambria Math" panose="02040503050406030204" pitchFamily="18" charset="0"/>
                          </a:rPr>
                          <m:t>−</m:t>
                        </m:r>
                        <m:r>
                          <m:rPr>
                            <m:sty m:val="p"/>
                          </m:rPr>
                          <a:rPr lang="en-US" altLang="zh-TW" b="0" i="0" smtClean="0">
                            <a:latin typeface="Cambria Math" panose="02040503050406030204" pitchFamily="18" charset="0"/>
                          </a:rPr>
                          <m:t>axis</m:t>
                        </m:r>
                        <m:r>
                          <a:rPr lang="en-US" altLang="zh-TW" b="0" i="1" smtClean="0">
                            <a:latin typeface="Cambria Math" panose="02040503050406030204" pitchFamily="18" charset="0"/>
                          </a:rPr>
                          <m:t>(</m:t>
                        </m:r>
                        <m:r>
                          <a:rPr lang="en-US" altLang="zh-TW" b="0" i="1" smtClean="0">
                            <a:latin typeface="Cambria Math" panose="02040503050406030204" pitchFamily="18" charset="0"/>
                          </a:rPr>
                          <m:t>𝑚𝑚</m:t>
                        </m:r>
                        <m:r>
                          <a:rPr lang="en-US" altLang="zh-TW" b="0" i="1" smtClean="0">
                            <a:latin typeface="Cambria Math" panose="02040503050406030204" pitchFamily="18" charset="0"/>
                          </a:rPr>
                          <m:t>)</m:t>
                        </m:r>
                      </m:oMath>
                    </m:oMathPara>
                  </a14:m>
                  <a:endParaRPr lang="zh-TW" altLang="en-US" i="1" dirty="0">
                    <a:latin typeface="Times New Roman" panose="02020603050405020304" pitchFamily="18" charset="0"/>
                    <a:cs typeface="Times New Roman" panose="02020603050405020304" pitchFamily="18" charset="0"/>
                  </a:endParaRPr>
                </a:p>
              </p:txBody>
            </p:sp>
          </mc:Choice>
          <mc:Fallback xmlns="">
            <p:sp>
              <p:nvSpPr>
                <p:cNvPr id="29" name="文字方塊 28">
                  <a:extLst>
                    <a:ext uri="{FF2B5EF4-FFF2-40B4-BE49-F238E27FC236}">
                      <a16:creationId xmlns:a16="http://schemas.microsoft.com/office/drawing/2014/main" id="{5F1F8972-9FD8-4880-8DDF-14A9664CB3D6}"/>
                    </a:ext>
                  </a:extLst>
                </p:cNvPr>
                <p:cNvSpPr txBox="1">
                  <a:spLocks noRot="1" noChangeAspect="1" noMove="1" noResize="1" noEditPoints="1" noAdjustHandles="1" noChangeArrowheads="1" noChangeShapeType="1" noTextEdit="1"/>
                </p:cNvSpPr>
                <p:nvPr/>
              </p:nvSpPr>
              <p:spPr>
                <a:xfrm rot="16200000">
                  <a:off x="-532830" y="4664423"/>
                  <a:ext cx="1404535" cy="213442"/>
                </a:xfrm>
                <a:prstGeom prst="rect">
                  <a:avLst/>
                </a:prstGeom>
                <a:blipFill>
                  <a:blip r:embed="rId18"/>
                  <a:stretch>
                    <a:fillRect t="-6061" r="-77143" b="-25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2" name="文字方塊 31">
                  <a:extLst>
                    <a:ext uri="{FF2B5EF4-FFF2-40B4-BE49-F238E27FC236}">
                      <a16:creationId xmlns:a16="http://schemas.microsoft.com/office/drawing/2014/main" id="{00A1019C-F400-46B4-B8F7-E4096A6658C0}"/>
                    </a:ext>
                  </a:extLst>
                </p:cNvPr>
                <p:cNvSpPr txBox="1"/>
                <p:nvPr/>
              </p:nvSpPr>
              <p:spPr>
                <a:xfrm rot="2864554">
                  <a:off x="1435579" y="4378977"/>
                  <a:ext cx="503343" cy="24622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600">
                            <a:solidFill>
                              <a:schemeClr val="accent1"/>
                            </a:solidFill>
                            <a:latin typeface="Cambria Math" panose="02040503050406030204" pitchFamily="18" charset="0"/>
                          </a:rPr>
                          <m:t>5</m:t>
                        </m:r>
                        <m:r>
                          <m:rPr>
                            <m:sty m:val="p"/>
                          </m:rPr>
                          <a:rPr lang="en-US" altLang="zh-TW" sz="1600" b="0" i="0" smtClean="0">
                            <a:solidFill>
                              <a:schemeClr val="accent1"/>
                            </a:solidFill>
                            <a:latin typeface="Cambria Math" panose="02040503050406030204" pitchFamily="18" charset="0"/>
                          </a:rPr>
                          <m:t>mm</m:t>
                        </m:r>
                      </m:oMath>
                    </m:oMathPara>
                  </a14:m>
                  <a:endParaRPr lang="zh-TW" altLang="en-US" sz="1600" dirty="0">
                    <a:solidFill>
                      <a:schemeClr val="accent1"/>
                    </a:solidFill>
                  </a:endParaRPr>
                </a:p>
              </p:txBody>
            </p:sp>
          </mc:Choice>
          <mc:Fallback xmlns="">
            <p:sp>
              <p:nvSpPr>
                <p:cNvPr id="32" name="文字方塊 31">
                  <a:extLst>
                    <a:ext uri="{FF2B5EF4-FFF2-40B4-BE49-F238E27FC236}">
                      <a16:creationId xmlns:a16="http://schemas.microsoft.com/office/drawing/2014/main" id="{00A1019C-F400-46B4-B8F7-E4096A6658C0}"/>
                    </a:ext>
                  </a:extLst>
                </p:cNvPr>
                <p:cNvSpPr txBox="1">
                  <a:spLocks noRot="1" noChangeAspect="1" noMove="1" noResize="1" noEditPoints="1" noAdjustHandles="1" noChangeArrowheads="1" noChangeShapeType="1" noTextEdit="1"/>
                </p:cNvSpPr>
                <p:nvPr/>
              </p:nvSpPr>
              <p:spPr>
                <a:xfrm rot="2864554">
                  <a:off x="1435579" y="4378977"/>
                  <a:ext cx="503343" cy="246221"/>
                </a:xfrm>
                <a:prstGeom prst="rect">
                  <a:avLst/>
                </a:prstGeom>
                <a:blipFill>
                  <a:blip r:embed="rId19"/>
                  <a:stretch>
                    <a:fillRect l="-8140" t="-4494"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3" name="文字方塊 32">
                  <a:extLst>
                    <a:ext uri="{FF2B5EF4-FFF2-40B4-BE49-F238E27FC236}">
                      <a16:creationId xmlns:a16="http://schemas.microsoft.com/office/drawing/2014/main" id="{033A328B-D4B6-483F-883D-D9A49E44841D}"/>
                    </a:ext>
                  </a:extLst>
                </p:cNvPr>
                <p:cNvSpPr txBox="1"/>
                <p:nvPr/>
              </p:nvSpPr>
              <p:spPr>
                <a:xfrm rot="18991667">
                  <a:off x="875084" y="3618042"/>
                  <a:ext cx="843092" cy="246221"/>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600" smtClean="0">
                            <a:solidFill>
                              <a:schemeClr val="accent2"/>
                            </a:solidFill>
                            <a:latin typeface="Cambria Math" panose="02040503050406030204" pitchFamily="18" charset="0"/>
                          </a:rPr>
                          <m:t>0</m:t>
                        </m:r>
                        <m:r>
                          <a:rPr lang="en-US" altLang="zh-TW" sz="1600" b="0" i="0" smtClean="0">
                            <a:solidFill>
                              <a:schemeClr val="accent2"/>
                            </a:solidFill>
                            <a:latin typeface="Cambria Math" panose="02040503050406030204" pitchFamily="18" charset="0"/>
                          </a:rPr>
                          <m:t>.41</m:t>
                        </m:r>
                        <m:r>
                          <m:rPr>
                            <m:sty m:val="p"/>
                          </m:rPr>
                          <a:rPr lang="en-US" altLang="zh-TW" sz="1600" b="0" i="0" smtClean="0">
                            <a:solidFill>
                              <a:schemeClr val="accent2"/>
                            </a:solidFill>
                            <a:latin typeface="Cambria Math" panose="02040503050406030204" pitchFamily="18" charset="0"/>
                          </a:rPr>
                          <m:t>mm</m:t>
                        </m:r>
                      </m:oMath>
                    </m:oMathPara>
                  </a14:m>
                  <a:endParaRPr lang="zh-TW" altLang="en-US" sz="1600" dirty="0">
                    <a:solidFill>
                      <a:schemeClr val="accent2"/>
                    </a:solidFill>
                  </a:endParaRPr>
                </a:p>
              </p:txBody>
            </p:sp>
          </mc:Choice>
          <mc:Fallback xmlns="">
            <p:sp>
              <p:nvSpPr>
                <p:cNvPr id="33" name="文字方塊 32">
                  <a:extLst>
                    <a:ext uri="{FF2B5EF4-FFF2-40B4-BE49-F238E27FC236}">
                      <a16:creationId xmlns:a16="http://schemas.microsoft.com/office/drawing/2014/main" id="{033A328B-D4B6-483F-883D-D9A49E44841D}"/>
                    </a:ext>
                  </a:extLst>
                </p:cNvPr>
                <p:cNvSpPr txBox="1">
                  <a:spLocks noRot="1" noChangeAspect="1" noMove="1" noResize="1" noEditPoints="1" noAdjustHandles="1" noChangeArrowheads="1" noChangeShapeType="1" noTextEdit="1"/>
                </p:cNvSpPr>
                <p:nvPr/>
              </p:nvSpPr>
              <p:spPr>
                <a:xfrm rot="18991667">
                  <a:off x="875084" y="3618042"/>
                  <a:ext cx="843092" cy="246221"/>
                </a:xfrm>
                <a:prstGeom prst="rect">
                  <a:avLst/>
                </a:prstGeom>
                <a:blipFill>
                  <a:blip r:embed="rId20"/>
                  <a:stretch>
                    <a:fillRect b="-1600"/>
                  </a:stretch>
                </a:blipFill>
              </p:spPr>
              <p:txBody>
                <a:bodyPr/>
                <a:lstStyle/>
                <a:p>
                  <a:r>
                    <a:rPr lang="zh-TW" altLang="en-US">
                      <a:noFill/>
                    </a:rPr>
                    <a:t> </a:t>
                  </a:r>
                </a:p>
              </p:txBody>
            </p:sp>
          </mc:Fallback>
        </mc:AlternateContent>
      </p:grpSp>
      <p:sp>
        <p:nvSpPr>
          <p:cNvPr id="34" name="auto caption"/>
          <p:cNvSpPr txBox="1"/>
          <p:nvPr/>
        </p:nvSpPr>
        <p:spPr>
          <a:xfrm>
            <a:off x="3047020" y="5318739"/>
            <a:ext cx="8778240" cy="1463040"/>
          </a:xfrm>
          <a:prstGeom prst="rect">
            <a:avLst/>
          </a:prstGeom>
          <a:noFill/>
        </p:spPr>
        <p:txBody>
          <a:bodyPr wrap="square" rtlCol="0">
            <a:normAutofit fontScale="77500" lnSpcReduction="20000"/>
          </a:bodyPr>
          <a:lstStyle/>
          <a:p>
            <a:pPr marL="285750" indent="-285750"/>
            <a:r>
              <a:rPr lang="en-US" altLang="zh-TW" dirty="0"/>
              <a:t>Moving the sensors further out along the pole flank leaves the field model completely untouched: the effective length, the charge-offset matrix and the fit error are identical to the closer mounting — and identical to the current-based results as well, since both reduce to the same transfer matrix. Only the voltage scale changes: further from the tip the leakage field is weaker, so the measured voltages drop and the voltage gain rises to compensate. This is structural rather than coincidental — the field model is fitted from the workspace field alone, and the sensor geometry enters only afterwards, when the excitation is re-expressed in volts. The predictive accuracy of the model is therefore independent of where the sensor is mounted, and the mounting position becomes a free design choice, bounded in practice only by keeping the sensor voltage within its linear range.</a:t>
            </a:r>
          </a:p>
        </p:txBody>
      </p:sp>
      <mc:AlternateContent xmlns:mc="http://schemas.openxmlformats.org/markup-compatibility/2006" xmlns:a14="http://schemas.microsoft.com/office/drawing/2010/main">
        <mc:Choice Requires="a14">
          <p:sp>
            <p:nvSpPr>
              <p:cNvPr id="900" name="CalibV_s_mat"/>
              <p:cNvSpPr txBox="1"/>
              <p:nvPr/>
            </p:nvSpPr>
            <p:spPr>
              <a:xfrm>
                <a:off x="3200400" y="932688"/>
                <a:ext cx="3793066" cy="868680"/>
              </a:xfrm>
              <a:prstGeom prst="rect">
                <a:avLst/>
              </a:prstGeom>
              <a:noFill/>
            </p:spPr>
            <p:txBody>
              <a:bodyPr wrap="none" lIns="0" tIns="0" rIns="0" bIns="0" rtlCol="0" anchor="t"/>
              <a:lstStyle/>
              <a:p>
                <a:pPr algn="ctr"/>
                <a14:m>
                  <m:oMathPara xmlns:m="http://schemas.openxmlformats.org/officeDocument/2006/math">
                    <m:oMathParaPr>
                      <m:jc m:val="centerGroup"/>
                    </m:oMathParaPr>
                    <m:oMath xmlns:m="http://schemas.openxmlformats.org/officeDocument/2006/math">
                      <m:acc>
                        <m:accPr>
                          <m:chr m:val="̄"/>
                          <m:ctrlPr>
                            <a:rPr lang="en-US" sz="900" b="0" i="1">
                              <a:latin typeface="Cambria Math" panose="02040503050406030204" pitchFamily="18" charset="0"/>
                            </a:rPr>
                          </m:ctrlPr>
                        </m:accPr>
                        <m:e>
                          <m:r>
                            <a:rPr lang="en-US" sz="900" b="0" i="1">
                              <a:latin typeface="Cambria Math" panose="02040503050406030204" pitchFamily="18" charset="0"/>
                            </a:rPr>
                            <m:t>𝐷</m:t>
                          </m:r>
                        </m:e>
                      </m:acc>
                      <m:r>
                        <a:rPr lang="en-US" sz="900" b="0" i="0">
                          <a:latin typeface="Cambria Math" panose="02040503050406030204" pitchFamily="18" charset="0"/>
                        </a:rPr>
                        <m:t> = </m:t>
                      </m:r>
                      <m:d>
                        <m:dPr>
                          <m:begChr m:val="["/>
                          <m:endChr m:val="]"/>
                          <m:ctrlPr>
                            <a:rPr lang="en-US" sz="900" b="0" i="1">
                              <a:latin typeface="Cambria Math" panose="02040503050406030204" pitchFamily="18" charset="0"/>
                            </a:rPr>
                          </m:ctrlPr>
                        </m:dPr>
                        <m:e>
                          <m:m>
                            <m:mPr>
                              <m:mcs>
                                <m:mc>
                                  <m:mcPr>
                                    <m:count m:val="6"/>
                                    <m:mcJc m:val="center"/>
                                  </m:mcPr>
                                </m:mc>
                              </m:mcs>
                              <m:ctrlPr>
                                <a:rPr lang="en-US" sz="900" b="0" i="1">
                                  <a:latin typeface="Cambria Math" panose="02040503050406030204" pitchFamily="18" charset="0"/>
                                </a:rPr>
                              </m:ctrlPr>
                            </m:mPr>
                            <m:mr>
                              <m:e>
                                <m:r>
                                  <a:rPr lang="en-US" sz="900" b="0" i="0">
                                    <a:latin typeface="Cambria Math" panose="02040503050406030204" pitchFamily="18" charset="0"/>
                                  </a:rPr>
                                  <m:t>0.8333</m:t>
                                </m:r>
                              </m:e>
                              <m:e>
                                <m:r>
                                  <a:rPr lang="en-US" sz="900" b="0" i="0">
                                    <a:latin typeface="Cambria Math" panose="02040503050406030204" pitchFamily="18" charset="0"/>
                                  </a:rPr>
                                  <m:t>−0.3405</m:t>
                                </m:r>
                              </m:e>
                              <m:e>
                                <m:r>
                                  <a:rPr lang="en-US" sz="900" b="0" i="0">
                                    <a:latin typeface="Cambria Math" panose="02040503050406030204" pitchFamily="18" charset="0"/>
                                  </a:rPr>
                                  <m:t>−0.2722</m:t>
                                </m:r>
                              </m:e>
                              <m:e>
                                <m:r>
                                  <a:rPr lang="en-US" sz="900" b="0" i="0">
                                    <a:latin typeface="Cambria Math" panose="02040503050406030204" pitchFamily="18" charset="0"/>
                                  </a:rPr>
                                  <m:t>−0.2776</m:t>
                                </m:r>
                              </m:e>
                              <m:e>
                                <m:r>
                                  <a:rPr lang="en-US" sz="900" b="0" i="0">
                                    <a:latin typeface="Cambria Math" panose="02040503050406030204" pitchFamily="18" charset="0"/>
                                  </a:rPr>
                                  <m:t>−0.2864</m:t>
                                </m:r>
                              </m:e>
                              <m:e>
                                <m:r>
                                  <a:rPr lang="en-US" sz="900" b="0" i="0">
                                    <a:latin typeface="Cambria Math" panose="02040503050406030204" pitchFamily="18" charset="0"/>
                                  </a:rPr>
                                  <m:t>−0.2702</m:t>
                                </m:r>
                              </m:e>
                            </m:mr>
                            <m:mr>
                              <m:e>
                                <m:r>
                                  <a:rPr lang="en-US" sz="900" b="0" i="0">
                                    <a:latin typeface="Cambria Math" panose="02040503050406030204" pitchFamily="18" charset="0"/>
                                  </a:rPr>
                                  <m:t>−0.2154</m:t>
                                </m:r>
                              </m:e>
                              <m:e>
                                <m:r>
                                  <a:rPr lang="en-US" sz="900" b="0" i="0">
                                    <a:latin typeface="Cambria Math" panose="02040503050406030204" pitchFamily="18" charset="0"/>
                                  </a:rPr>
                                  <m:t>1.2558</m:t>
                                </m:r>
                              </m:e>
                              <m:e>
                                <m:r>
                                  <a:rPr lang="en-US" sz="900" b="0" i="0">
                                    <a:latin typeface="Cambria Math" panose="02040503050406030204" pitchFamily="18" charset="0"/>
                                  </a:rPr>
                                  <m:t>−0.0837</m:t>
                                </m:r>
                              </m:e>
                              <m:e>
                                <m:r>
                                  <a:rPr lang="en-US" sz="900" b="0" i="0">
                                    <a:latin typeface="Cambria Math" panose="02040503050406030204" pitchFamily="18" charset="0"/>
                                  </a:rPr>
                                  <m:t>0.2482</m:t>
                                </m:r>
                              </m:e>
                              <m:e>
                                <m:r>
                                  <a:rPr lang="en-US" sz="900" b="0" i="0">
                                    <a:latin typeface="Cambria Math" panose="02040503050406030204" pitchFamily="18" charset="0"/>
                                  </a:rPr>
                                  <m:t>0.2607</m:t>
                                </m:r>
                              </m:e>
                              <m:e>
                                <m:r>
                                  <a:rPr lang="en-US" sz="900" b="0" i="0">
                                    <a:latin typeface="Cambria Math" panose="02040503050406030204" pitchFamily="18" charset="0"/>
                                  </a:rPr>
                                  <m:t>−0.0826</m:t>
                                </m:r>
                              </m:e>
                            </m:mr>
                            <m:mr>
                              <m:e>
                                <m:r>
                                  <a:rPr lang="en-US" sz="900" b="0" i="0">
                                    <a:latin typeface="Cambria Math" panose="02040503050406030204" pitchFamily="18" charset="0"/>
                                  </a:rPr>
                                  <m:t>−0.2775</m:t>
                                </m:r>
                              </m:e>
                              <m:e>
                                <m:r>
                                  <a:rPr lang="en-US" sz="900" b="0" i="0">
                                    <a:latin typeface="Cambria Math" panose="02040503050406030204" pitchFamily="18" charset="0"/>
                                  </a:rPr>
                                  <m:t>−0.2878</m:t>
                                </m:r>
                              </m:e>
                              <m:e>
                                <m:r>
                                  <a:rPr lang="en-US" sz="900" b="0" i="0">
                                    <a:latin typeface="Cambria Math" panose="02040503050406030204" pitchFamily="18" charset="0"/>
                                  </a:rPr>
                                  <m:t>0.8279</m:t>
                                </m:r>
                              </m:e>
                              <m:e>
                                <m:r>
                                  <a:rPr lang="en-US" sz="900" b="0" i="0">
                                    <a:latin typeface="Cambria Math" panose="02040503050406030204" pitchFamily="18" charset="0"/>
                                  </a:rPr>
                                  <m:t>−0.3486</m:t>
                                </m:r>
                              </m:e>
                              <m:e>
                                <m:r>
                                  <a:rPr lang="en-US" sz="900" b="0" i="0">
                                    <a:latin typeface="Cambria Math" panose="02040503050406030204" pitchFamily="18" charset="0"/>
                                  </a:rPr>
                                  <m:t>−0.2934</m:t>
                                </m:r>
                              </m:e>
                              <m:e>
                                <m:r>
                                  <a:rPr lang="en-US" sz="900" b="0" i="0">
                                    <a:latin typeface="Cambria Math" panose="02040503050406030204" pitchFamily="18" charset="0"/>
                                  </a:rPr>
                                  <m:t>−0.2794</m:t>
                                </m:r>
                              </m:e>
                            </m:mr>
                            <m:mr>
                              <m:e>
                                <m:r>
                                  <a:rPr lang="en-US" sz="900" b="0" i="0">
                                    <a:latin typeface="Cambria Math" panose="02040503050406030204" pitchFamily="18" charset="0"/>
                                  </a:rPr>
                                  <m:t>−0.0873</m:t>
                                </m:r>
                              </m:e>
                              <m:e>
                                <m:r>
                                  <a:rPr lang="en-US" sz="900" b="0" i="0">
                                    <a:latin typeface="Cambria Math" panose="02040503050406030204" pitchFamily="18" charset="0"/>
                                  </a:rPr>
                                  <m:t>0.2468</m:t>
                                </m:r>
                              </m:e>
                              <m:e>
                                <m:r>
                                  <a:rPr lang="en-US" sz="900" b="0" i="0">
                                    <a:latin typeface="Cambria Math" panose="02040503050406030204" pitchFamily="18" charset="0"/>
                                  </a:rPr>
                                  <m:t>−0.2180</m:t>
                                </m:r>
                              </m:e>
                              <m:e>
                                <m:r>
                                  <a:rPr lang="en-US" sz="900" b="0" i="0">
                                    <a:latin typeface="Cambria Math" panose="02040503050406030204" pitchFamily="18" charset="0"/>
                                  </a:rPr>
                                  <m:t>1.2346</m:t>
                                </m:r>
                              </m:e>
                              <m:e>
                                <m:r>
                                  <a:rPr lang="en-US" sz="900" b="0" i="0">
                                    <a:latin typeface="Cambria Math" panose="02040503050406030204" pitchFamily="18" charset="0"/>
                                  </a:rPr>
                                  <m:t>0.2477</m:t>
                                </m:r>
                              </m:e>
                              <m:e>
                                <m:r>
                                  <a:rPr lang="en-US" sz="900" b="0" i="0">
                                    <a:latin typeface="Cambria Math" panose="02040503050406030204" pitchFamily="18" charset="0"/>
                                  </a:rPr>
                                  <m:t>−0.0829</m:t>
                                </m:r>
                              </m:e>
                            </m:mr>
                            <m:mr>
                              <m:e>
                                <m:r>
                                  <a:rPr lang="en-US" sz="900" b="0" i="0">
                                    <a:latin typeface="Cambria Math" panose="02040503050406030204" pitchFamily="18" charset="0"/>
                                  </a:rPr>
                                  <m:t>−0.0922</m:t>
                                </m:r>
                              </m:e>
                              <m:e>
                                <m:r>
                                  <a:rPr lang="en-US" sz="900" b="0" i="0">
                                    <a:latin typeface="Cambria Math" panose="02040503050406030204" pitchFamily="18" charset="0"/>
                                  </a:rPr>
                                  <m:t>0.2368</m:t>
                                </m:r>
                              </m:e>
                              <m:e>
                                <m:r>
                                  <a:rPr lang="en-US" sz="900" b="0" i="0">
                                    <a:latin typeface="Cambria Math" panose="02040503050406030204" pitchFamily="18" charset="0"/>
                                  </a:rPr>
                                  <m:t>−0.0955</m:t>
                                </m:r>
                              </m:e>
                              <m:e>
                                <m:r>
                                  <a:rPr lang="en-US" sz="900" b="0" i="0">
                                    <a:latin typeface="Cambria Math" panose="02040503050406030204" pitchFamily="18" charset="0"/>
                                  </a:rPr>
                                  <m:t>0.2320</m:t>
                                </m:r>
                              </m:e>
                              <m:e>
                                <m:r>
                                  <a:rPr lang="en-US" sz="900" b="0" i="0">
                                    <a:latin typeface="Cambria Math" panose="02040503050406030204" pitchFamily="18" charset="0"/>
                                  </a:rPr>
                                  <m:t>1.2519</m:t>
                                </m:r>
                              </m:e>
                              <m:e>
                                <m:r>
                                  <a:rPr lang="en-US" sz="900" b="0" i="0">
                                    <a:latin typeface="Cambria Math" panose="02040503050406030204" pitchFamily="18" charset="0"/>
                                  </a:rPr>
                                  <m:t>−0.2255</m:t>
                                </m:r>
                              </m:e>
                            </m:mr>
                            <m:mr>
                              <m:e>
                                <m:r>
                                  <a:rPr lang="en-US" sz="900" b="0" i="0">
                                    <a:latin typeface="Cambria Math" panose="02040503050406030204" pitchFamily="18" charset="0"/>
                                  </a:rPr>
                                  <m:t>−0.2655</m:t>
                                </m:r>
                              </m:e>
                              <m:e>
                                <m:r>
                                  <a:rPr lang="en-US" sz="900" b="0" i="0">
                                    <a:latin typeface="Cambria Math" panose="02040503050406030204" pitchFamily="18" charset="0"/>
                                  </a:rPr>
                                  <m:t>−0.2723</m:t>
                                </m:r>
                              </m:e>
                              <m:e>
                                <m:r>
                                  <a:rPr lang="en-US" sz="900" b="0" i="0">
                                    <a:latin typeface="Cambria Math" panose="02040503050406030204" pitchFamily="18" charset="0"/>
                                  </a:rPr>
                                  <m:t>−0.2622</m:t>
                                </m:r>
                              </m:e>
                              <m:e>
                                <m:r>
                                  <a:rPr lang="en-US" sz="900" b="0" i="0">
                                    <a:latin typeface="Cambria Math" panose="02040503050406030204" pitchFamily="18" charset="0"/>
                                  </a:rPr>
                                  <m:t>−0.2671</m:t>
                                </m:r>
                              </m:e>
                              <m:e>
                                <m:r>
                                  <a:rPr lang="en-US" sz="900" b="0" i="0">
                                    <a:latin typeface="Cambria Math" panose="02040503050406030204" pitchFamily="18" charset="0"/>
                                  </a:rPr>
                                  <m:t>−0.3353</m:t>
                                </m:r>
                              </m:e>
                              <m:e>
                                <m:r>
                                  <a:rPr lang="en-US" sz="900" b="0" i="0">
                                    <a:latin typeface="Cambria Math" panose="02040503050406030204" pitchFamily="18" charset="0"/>
                                  </a:rPr>
                                  <m:t>0.8344</m:t>
                                </m:r>
                              </m:e>
                            </m:mr>
                          </m:m>
                        </m:e>
                      </m:d>
                      <m:r>
                        <a:rPr lang="en-US" sz="900" b="0" i="0">
                          <a:latin typeface="Cambria Math" panose="02040503050406030204" pitchFamily="18" charset="0"/>
                        </a:rPr>
                        <m:t> </m:t>
                      </m:r>
                    </m:oMath>
                  </m:oMathPara>
                </a14:m>
                <a:endParaRPr lang="en-US" sz="900" dirty="0"/>
              </a:p>
            </p:txBody>
          </p:sp>
        </mc:Choice>
        <mc:Fallback xmlns="">
          <p:sp>
            <p:nvSpPr>
              <p:cNvPr id="900" name="CalibV_s_mat"/>
              <p:cNvSpPr txBox="1">
                <a:spLocks noRot="1" noChangeAspect="1" noMove="1" noResize="1" noEditPoints="1" noAdjustHandles="1" noChangeArrowheads="1" noChangeShapeType="1" noTextEdit="1"/>
              </p:cNvSpPr>
              <p:nvPr/>
            </p:nvSpPr>
            <p:spPr>
              <a:xfrm>
                <a:off x="3200400" y="932688"/>
                <a:ext cx="3793066" cy="868680"/>
              </a:xfrm>
              <a:prstGeom prst="rect">
                <a:avLst/>
              </a:prstGeom>
              <a:blipFill>
                <a:blip r:embed="rId21"/>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901" name="CalibV_s_sc"/>
              <p:cNvSpPr txBox="1"/>
              <p:nvPr/>
            </p:nvSpPr>
            <p:spPr>
              <a:xfrm>
                <a:off x="3421089" y="1869440"/>
                <a:ext cx="3233712" cy="256032"/>
              </a:xfrm>
              <a:prstGeom prst="rect">
                <a:avLst/>
              </a:prstGeom>
              <a:noFill/>
            </p:spPr>
            <p:txBody>
              <a:bodyPr wrap="none" lIns="0" tIns="0" rIns="0" bIns="0" rtlCol="0" anchor="t"/>
              <a:lstStyle/>
              <a:p>
                <a:pPr algn="ctr"/>
                <a14:m>
                  <m:oMathPara xmlns:m="http://schemas.openxmlformats.org/officeDocument/2006/math">
                    <m:oMathParaPr>
                      <m:jc m:val="centerGroup"/>
                    </m:oMathParaPr>
                    <m:oMath xmlns:m="http://schemas.openxmlformats.org/officeDocument/2006/math">
                      <m:acc>
                        <m:accPr>
                          <m:chr m:val="̂"/>
                          <m:ctrlPr>
                            <a:rPr lang="en-US" sz="1100" b="0" i="1">
                              <a:latin typeface="Cambria Math" panose="02040503050406030204" pitchFamily="18" charset="0"/>
                            </a:rPr>
                          </m:ctrlPr>
                        </m:accPr>
                        <m:e>
                          <m:r>
                            <a:rPr lang="en-US" sz="1100" b="0" i="1">
                              <a:latin typeface="Cambria Math" panose="02040503050406030204" pitchFamily="18" charset="0"/>
                            </a:rPr>
                            <m:t>ℓ</m:t>
                          </m:r>
                        </m:e>
                      </m:acc>
                      <m:r>
                        <a:rPr lang="en-US" sz="1100" b="0" i="0">
                          <a:latin typeface="Cambria Math" panose="02040503050406030204" pitchFamily="18" charset="0"/>
                        </a:rPr>
                        <m:t> = 875.1 </m:t>
                      </m:r>
                      <m:r>
                        <m:rPr>
                          <m:sty m:val="p"/>
                        </m:rPr>
                        <a:rPr lang="en-US" sz="1100" b="0" i="0">
                          <a:latin typeface="Cambria Math" panose="02040503050406030204" pitchFamily="18" charset="0"/>
                        </a:rPr>
                        <m:t>μm</m:t>
                      </m:r>
                      <m:r>
                        <a:rPr lang="en-US" sz="1100" b="0" i="0">
                          <a:latin typeface="Cambria Math" panose="02040503050406030204" pitchFamily="18" charset="0"/>
                        </a:rPr>
                        <m:t>  </m:t>
                      </m:r>
                      <m:sPre>
                        <m:sPrePr>
                          <m:ctrlPr>
                            <a:rPr lang="en-US" sz="1100" b="0" i="1">
                              <a:latin typeface="Cambria Math" panose="02040503050406030204" pitchFamily="18" charset="0"/>
                            </a:rPr>
                          </m:ctrlPr>
                        </m:sPrePr>
                        <m:sub/>
                        <m:sup>
                          <m:r>
                            <a:rPr lang="en-US" sz="1100" b="0" i="1">
                              <a:latin typeface="Cambria Math" panose="02040503050406030204" pitchFamily="18" charset="0"/>
                            </a:rPr>
                            <m:t>𝐵</m:t>
                          </m:r>
                        </m:sup>
                        <m:e>
                          <m:sSub>
                            <m:sSubPr>
                              <m:ctrlPr>
                                <a:rPr lang="en-US" sz="1100" b="0" i="1">
                                  <a:latin typeface="Cambria Math" panose="02040503050406030204" pitchFamily="18" charset="0"/>
                                </a:rPr>
                              </m:ctrlPr>
                            </m:sSubPr>
                            <m:e>
                              <m:acc>
                                <m:accPr>
                                  <m:chr m:val="̂"/>
                                  <m:ctrlPr>
                                    <a:rPr lang="en-US" sz="1100" b="0" i="1">
                                      <a:latin typeface="Cambria Math" panose="02040503050406030204" pitchFamily="18" charset="0"/>
                                    </a:rPr>
                                  </m:ctrlPr>
                                </m:accPr>
                                <m:e>
                                  <m:r>
                                    <a:rPr lang="en-US" sz="1100" b="0" i="1">
                                      <a:latin typeface="Cambria Math" panose="02040503050406030204" pitchFamily="18" charset="0"/>
                                    </a:rPr>
                                    <m:t>𝑔</m:t>
                                  </m:r>
                                </m:e>
                              </m:acc>
                            </m:e>
                            <m:sub>
                              <m:r>
                                <a:rPr lang="en-US" sz="1100" b="0" i="1">
                                  <a:latin typeface="Cambria Math" panose="02040503050406030204" pitchFamily="18" charset="0"/>
                                </a:rPr>
                                <m:t>𝑉</m:t>
                              </m:r>
                            </m:sub>
                          </m:sSub>
                        </m:e>
                      </m:sPre>
                      <m:r>
                        <a:rPr lang="en-US" sz="1100" b="0" i="0">
                          <a:latin typeface="Cambria Math" panose="02040503050406030204" pitchFamily="18" charset="0"/>
                        </a:rPr>
                        <m:t> = 6.5513×</m:t>
                      </m:r>
                      <m:sSup>
                        <m:sSupPr>
                          <m:ctrlPr>
                            <a:rPr lang="en-US" sz="1100" b="0" i="1">
                              <a:latin typeface="Cambria Math" panose="02040503050406030204" pitchFamily="18" charset="0"/>
                            </a:rPr>
                          </m:ctrlPr>
                        </m:sSupPr>
                        <m:e>
                          <m:r>
                            <a:rPr lang="en-US" sz="1100" b="0" i="0">
                              <a:latin typeface="Cambria Math" panose="02040503050406030204" pitchFamily="18" charset="0"/>
                            </a:rPr>
                            <m:t>10</m:t>
                          </m:r>
                        </m:e>
                        <m:sup>
                          <m:r>
                            <a:rPr lang="en-US" sz="1100" b="0" i="0">
                              <a:latin typeface="Cambria Math" panose="02040503050406030204" pitchFamily="18" charset="0"/>
                            </a:rPr>
                            <m:t>−3</m:t>
                          </m:r>
                        </m:sup>
                      </m:sSup>
                      <m:r>
                        <a:rPr lang="en-US" sz="1100" b="0" i="0">
                          <a:latin typeface="Cambria Math" panose="02040503050406030204" pitchFamily="18" charset="0"/>
                        </a:rPr>
                        <m:t> </m:t>
                      </m:r>
                      <m:r>
                        <m:rPr>
                          <m:sty m:val="p"/>
                        </m:rPr>
                        <a:rPr lang="en-US" sz="1100" b="0" i="0">
                          <a:latin typeface="Cambria Math" panose="02040503050406030204" pitchFamily="18" charset="0"/>
                        </a:rPr>
                        <m:t>mT</m:t>
                      </m:r>
                      <m:r>
                        <a:rPr lang="en-US" sz="1100" b="0" i="0">
                          <a:latin typeface="Cambria Math" panose="02040503050406030204" pitchFamily="18" charset="0"/>
                        </a:rPr>
                        <m:t>/</m:t>
                      </m:r>
                      <m:r>
                        <m:rPr>
                          <m:sty m:val="p"/>
                        </m:rPr>
                        <a:rPr lang="en-US" sz="1100" b="0" i="0">
                          <a:latin typeface="Cambria Math" panose="02040503050406030204" pitchFamily="18" charset="0"/>
                        </a:rPr>
                        <m:t>mV</m:t>
                      </m:r>
                    </m:oMath>
                  </m:oMathPara>
                </a14:m>
                <a:endParaRPr lang="en-US" sz="1100" dirty="0"/>
              </a:p>
            </p:txBody>
          </p:sp>
        </mc:Choice>
        <mc:Fallback xmlns="">
          <p:sp>
            <p:nvSpPr>
              <p:cNvPr id="901" name="CalibV_s_sc"/>
              <p:cNvSpPr txBox="1">
                <a:spLocks noRot="1" noChangeAspect="1" noMove="1" noResize="1" noEditPoints="1" noAdjustHandles="1" noChangeArrowheads="1" noChangeShapeType="1" noTextEdit="1"/>
              </p:cNvSpPr>
              <p:nvPr/>
            </p:nvSpPr>
            <p:spPr>
              <a:xfrm>
                <a:off x="3421089" y="1869440"/>
                <a:ext cx="3233712" cy="256032"/>
              </a:xfrm>
              <a:prstGeom prst="rect">
                <a:avLst/>
              </a:prstGeom>
              <a:blipFill>
                <a:blip r:embed="rId22"/>
                <a:stretch>
                  <a:fillRect t="-11905" b="-7143"/>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902" name="CalibV_e_mat"/>
              <p:cNvSpPr txBox="1"/>
              <p:nvPr/>
            </p:nvSpPr>
            <p:spPr>
              <a:xfrm>
                <a:off x="3200400" y="2615184"/>
                <a:ext cx="3556000" cy="868680"/>
              </a:xfrm>
              <a:prstGeom prst="rect">
                <a:avLst/>
              </a:prstGeom>
              <a:noFill/>
            </p:spPr>
            <p:txBody>
              <a:bodyPr wrap="none" lIns="0" tIns="0" rIns="0" bIns="0" rtlCol="0" anchor="t"/>
              <a:lstStyle/>
              <a:p>
                <a:pPr algn="ctr"/>
                <a14:m>
                  <m:oMathPara xmlns:m="http://schemas.openxmlformats.org/officeDocument/2006/math">
                    <m:oMathParaPr>
                      <m:jc m:val="centerGroup"/>
                    </m:oMathParaPr>
                    <m:oMath xmlns:m="http://schemas.openxmlformats.org/officeDocument/2006/math">
                      <m:acc>
                        <m:accPr>
                          <m:chr m:val="̄"/>
                          <m:ctrlPr>
                            <a:rPr lang="en-US" sz="900" b="0" i="1">
                              <a:latin typeface="Cambria Math" panose="02040503050406030204" pitchFamily="18" charset="0"/>
                            </a:rPr>
                          </m:ctrlPr>
                        </m:accPr>
                        <m:e>
                          <m:r>
                            <a:rPr lang="en-US" sz="900" b="0" i="1">
                              <a:latin typeface="Cambria Math" panose="02040503050406030204" pitchFamily="18" charset="0"/>
                            </a:rPr>
                            <m:t>𝐷</m:t>
                          </m:r>
                        </m:e>
                      </m:acc>
                      <m:r>
                        <a:rPr lang="en-US" sz="900" b="0" i="0">
                          <a:latin typeface="Cambria Math" panose="02040503050406030204" pitchFamily="18" charset="0"/>
                        </a:rPr>
                        <m:t> = </m:t>
                      </m:r>
                      <m:d>
                        <m:dPr>
                          <m:begChr m:val="["/>
                          <m:endChr m:val="]"/>
                          <m:ctrlPr>
                            <a:rPr lang="en-US" sz="900" b="0" i="1">
                              <a:latin typeface="Cambria Math" panose="02040503050406030204" pitchFamily="18" charset="0"/>
                            </a:rPr>
                          </m:ctrlPr>
                        </m:dPr>
                        <m:e>
                          <m:m>
                            <m:mPr>
                              <m:mcs>
                                <m:mc>
                                  <m:mcPr>
                                    <m:count m:val="6"/>
                                    <m:mcJc m:val="center"/>
                                  </m:mcPr>
                                </m:mc>
                              </m:mcs>
                              <m:ctrlPr>
                                <a:rPr lang="en-US" sz="900" b="0" i="1">
                                  <a:latin typeface="Cambria Math" panose="02040503050406030204" pitchFamily="18" charset="0"/>
                                </a:rPr>
                              </m:ctrlPr>
                            </m:mPr>
                            <m:mr>
                              <m:e>
                                <m:r>
                                  <a:rPr lang="en-US" sz="900" b="0" i="0">
                                    <a:latin typeface="Cambria Math" panose="02040503050406030204" pitchFamily="18" charset="0"/>
                                  </a:rPr>
                                  <m:t>0.8333</m:t>
                                </m:r>
                              </m:e>
                              <m:e>
                                <m:r>
                                  <a:rPr lang="en-US" sz="900" b="0" i="0">
                                    <a:latin typeface="Cambria Math" panose="02040503050406030204" pitchFamily="18" charset="0"/>
                                  </a:rPr>
                                  <m:t>−0.3802</m:t>
                                </m:r>
                              </m:e>
                              <m:e>
                                <m:r>
                                  <a:rPr lang="en-US" sz="900" b="0" i="0">
                                    <a:latin typeface="Cambria Math" panose="02040503050406030204" pitchFamily="18" charset="0"/>
                                  </a:rPr>
                                  <m:t>−0.1534</m:t>
                                </m:r>
                              </m:e>
                              <m:e>
                                <m:r>
                                  <a:rPr lang="en-US" sz="900" b="0" i="0">
                                    <a:latin typeface="Cambria Math" panose="02040503050406030204" pitchFamily="18" charset="0"/>
                                  </a:rPr>
                                  <m:t>−0.3142</m:t>
                                </m:r>
                              </m:e>
                              <m:e>
                                <m:r>
                                  <a:rPr lang="en-US" sz="900" b="0" i="0">
                                    <a:latin typeface="Cambria Math" panose="02040503050406030204" pitchFamily="18" charset="0"/>
                                  </a:rPr>
                                  <m:t>−0.3247</m:t>
                                </m:r>
                              </m:e>
                              <m:e>
                                <m:r>
                                  <a:rPr lang="en-US" sz="900" b="0" i="0">
                                    <a:latin typeface="Cambria Math" panose="02040503050406030204" pitchFamily="18" charset="0"/>
                                  </a:rPr>
                                  <m:t>−0.1519</m:t>
                                </m:r>
                              </m:e>
                            </m:mr>
                            <m:mr>
                              <m:e>
                                <m:r>
                                  <a:rPr lang="en-US" sz="900" b="0" i="0">
                                    <a:latin typeface="Cambria Math" panose="02040503050406030204" pitchFamily="18" charset="0"/>
                                  </a:rPr>
                                  <m:t>−0.0870</m:t>
                                </m:r>
                              </m:e>
                              <m:e>
                                <m:r>
                                  <a:rPr lang="en-US" sz="900" b="0" i="0">
                                    <a:latin typeface="Cambria Math" panose="02040503050406030204" pitchFamily="18" charset="0"/>
                                  </a:rPr>
                                  <m:t>1.0354</m:t>
                                </m:r>
                              </m:e>
                              <m:e>
                                <m:r>
                                  <a:rPr lang="en-US" sz="900" b="0" i="0">
                                    <a:latin typeface="Cambria Math" panose="02040503050406030204" pitchFamily="18" charset="0"/>
                                  </a:rPr>
                                  <m:t>−0.0524</m:t>
                                </m:r>
                              </m:e>
                              <m:e>
                                <m:r>
                                  <a:rPr lang="en-US" sz="900" b="0" i="0">
                                    <a:latin typeface="Cambria Math" panose="02040503050406030204" pitchFamily="18" charset="0"/>
                                  </a:rPr>
                                  <m:t>0.2247</m:t>
                                </m:r>
                              </m:e>
                              <m:e>
                                <m:r>
                                  <a:rPr lang="en-US" sz="900" b="0" i="0">
                                    <a:latin typeface="Cambria Math" panose="02040503050406030204" pitchFamily="18" charset="0"/>
                                  </a:rPr>
                                  <m:t>0.2344</m:t>
                                </m:r>
                              </m:e>
                              <m:e>
                                <m:r>
                                  <a:rPr lang="en-US" sz="900" b="0" i="0">
                                    <a:latin typeface="Cambria Math" panose="02040503050406030204" pitchFamily="18" charset="0"/>
                                  </a:rPr>
                                  <m:t>−0.0516</m:t>
                                </m:r>
                              </m:e>
                            </m:mr>
                            <m:mr>
                              <m:e>
                                <m:r>
                                  <a:rPr lang="en-US" sz="900" b="0" i="0">
                                    <a:latin typeface="Cambria Math" panose="02040503050406030204" pitchFamily="18" charset="0"/>
                                  </a:rPr>
                                  <m:t>−0.1588</m:t>
                                </m:r>
                              </m:e>
                              <m:e>
                                <m:r>
                                  <a:rPr lang="en-US" sz="900" b="0" i="0">
                                    <a:latin typeface="Cambria Math" panose="02040503050406030204" pitchFamily="18" charset="0"/>
                                  </a:rPr>
                                  <m:t>−0.3220</m:t>
                                </m:r>
                              </m:e>
                              <m:e>
                                <m:r>
                                  <a:rPr lang="en-US" sz="900" b="0" i="0">
                                    <a:latin typeface="Cambria Math" panose="02040503050406030204" pitchFamily="18" charset="0"/>
                                  </a:rPr>
                                  <m:t>0.8266</m:t>
                                </m:r>
                              </m:e>
                              <m:e>
                                <m:r>
                                  <a:rPr lang="en-US" sz="900" b="0" i="0">
                                    <a:latin typeface="Cambria Math" panose="02040503050406030204" pitchFamily="18" charset="0"/>
                                  </a:rPr>
                                  <m:t>−0.3816</m:t>
                                </m:r>
                              </m:e>
                              <m:e>
                                <m:r>
                                  <a:rPr lang="en-US" sz="900" b="0" i="0">
                                    <a:latin typeface="Cambria Math" panose="02040503050406030204" pitchFamily="18" charset="0"/>
                                  </a:rPr>
                                  <m:t>−0.3284</m:t>
                                </m:r>
                              </m:e>
                              <m:e>
                                <m:r>
                                  <a:rPr lang="en-US" sz="900" b="0" i="0">
                                    <a:latin typeface="Cambria Math" panose="02040503050406030204" pitchFamily="18" charset="0"/>
                                  </a:rPr>
                                  <m:t>−0.1591</m:t>
                                </m:r>
                              </m:e>
                            </m:mr>
                            <m:mr>
                              <m:e>
                                <m:r>
                                  <a:rPr lang="en-US" sz="900" b="0" i="0">
                                    <a:latin typeface="Cambria Math" panose="02040503050406030204" pitchFamily="18" charset="0"/>
                                  </a:rPr>
                                  <m:t>−0.0575</m:t>
                                </m:r>
                              </m:e>
                              <m:e>
                                <m:r>
                                  <a:rPr lang="en-US" sz="900" b="0" i="0">
                                    <a:latin typeface="Cambria Math" panose="02040503050406030204" pitchFamily="18" charset="0"/>
                                  </a:rPr>
                                  <m:t>0.2264</m:t>
                                </m:r>
                              </m:e>
                              <m:e>
                                <m:r>
                                  <a:rPr lang="en-US" sz="900" b="0" i="0">
                                    <a:latin typeface="Cambria Math" panose="02040503050406030204" pitchFamily="18" charset="0"/>
                                  </a:rPr>
                                  <m:t>−0.0893</m:t>
                                </m:r>
                              </m:e>
                              <m:e>
                                <m:r>
                                  <a:rPr lang="en-US" sz="900" b="0" i="0">
                                    <a:latin typeface="Cambria Math" panose="02040503050406030204" pitchFamily="18" charset="0"/>
                                  </a:rPr>
                                  <m:t>1.0290</m:t>
                                </m:r>
                              </m:e>
                              <m:e>
                                <m:r>
                                  <a:rPr lang="en-US" sz="900" b="0" i="0">
                                    <a:latin typeface="Cambria Math" panose="02040503050406030204" pitchFamily="18" charset="0"/>
                                  </a:rPr>
                                  <m:t>0.2265</m:t>
                                </m:r>
                              </m:e>
                              <m:e>
                                <m:r>
                                  <a:rPr lang="en-US" sz="900" b="0" i="0">
                                    <a:latin typeface="Cambria Math" panose="02040503050406030204" pitchFamily="18" charset="0"/>
                                  </a:rPr>
                                  <m:t>−0.0527</m:t>
                                </m:r>
                              </m:e>
                            </m:mr>
                            <m:mr>
                              <m:e>
                                <m:r>
                                  <a:rPr lang="en-US" sz="900" b="0" i="0">
                                    <a:latin typeface="Cambria Math" panose="02040503050406030204" pitchFamily="18" charset="0"/>
                                  </a:rPr>
                                  <m:t>−0.0602</m:t>
                                </m:r>
                              </m:e>
                              <m:e>
                                <m:r>
                                  <a:rPr lang="en-US" sz="900" b="0" i="0">
                                    <a:latin typeface="Cambria Math" panose="02040503050406030204" pitchFamily="18" charset="0"/>
                                  </a:rPr>
                                  <m:t>0.2176</m:t>
                                </m:r>
                              </m:e>
                              <m:e>
                                <m:r>
                                  <a:rPr lang="en-US" sz="900" b="0" i="0">
                                    <a:latin typeface="Cambria Math" panose="02040503050406030204" pitchFamily="18" charset="0"/>
                                  </a:rPr>
                                  <m:t>−0.0609</m:t>
                                </m:r>
                              </m:e>
                              <m:e>
                                <m:r>
                                  <a:rPr lang="en-US" sz="900" b="0" i="0">
                                    <a:latin typeface="Cambria Math" panose="02040503050406030204" pitchFamily="18" charset="0"/>
                                  </a:rPr>
                                  <m:t>0.2139</m:t>
                                </m:r>
                              </m:e>
                              <m:e>
                                <m:r>
                                  <a:rPr lang="en-US" sz="900" b="0" i="0">
                                    <a:latin typeface="Cambria Math" panose="02040503050406030204" pitchFamily="18" charset="0"/>
                                  </a:rPr>
                                  <m:t>1.0378</m:t>
                                </m:r>
                              </m:e>
                              <m:e>
                                <m:r>
                                  <a:rPr lang="en-US" sz="900" b="0" i="0">
                                    <a:latin typeface="Cambria Math" panose="02040503050406030204" pitchFamily="18" charset="0"/>
                                  </a:rPr>
                                  <m:t>−0.0931</m:t>
                                </m:r>
                              </m:e>
                            </m:mr>
                            <m:mr>
                              <m:e>
                                <m:r>
                                  <a:rPr lang="en-US" sz="900" b="0" i="0">
                                    <a:latin typeface="Cambria Math" panose="02040503050406030204" pitchFamily="18" charset="0"/>
                                  </a:rPr>
                                  <m:t>−0.1489</m:t>
                                </m:r>
                              </m:e>
                              <m:e>
                                <m:r>
                                  <a:rPr lang="en-US" sz="900" b="0" i="0">
                                    <a:latin typeface="Cambria Math" panose="02040503050406030204" pitchFamily="18" charset="0"/>
                                  </a:rPr>
                                  <m:t>−0.3113</m:t>
                                </m:r>
                              </m:e>
                              <m:e>
                                <m:r>
                                  <a:rPr lang="en-US" sz="900" b="0" i="0">
                                    <a:latin typeface="Cambria Math" panose="02040503050406030204" pitchFamily="18" charset="0"/>
                                  </a:rPr>
                                  <m:t>−0.1447</m:t>
                                </m:r>
                              </m:e>
                              <m:e>
                                <m:r>
                                  <a:rPr lang="en-US" sz="900" b="0" i="0">
                                    <a:latin typeface="Cambria Math" panose="02040503050406030204" pitchFamily="18" charset="0"/>
                                  </a:rPr>
                                  <m:t>−0.3055</m:t>
                                </m:r>
                              </m:e>
                              <m:e>
                                <m:r>
                                  <a:rPr lang="en-US" sz="900" b="0" i="0">
                                    <a:latin typeface="Cambria Math" panose="02040503050406030204" pitchFamily="18" charset="0"/>
                                  </a:rPr>
                                  <m:t>−0.3773</m:t>
                                </m:r>
                              </m:e>
                              <m:e>
                                <m:r>
                                  <a:rPr lang="en-US" sz="900" b="0" i="0">
                                    <a:latin typeface="Cambria Math" panose="02040503050406030204" pitchFamily="18" charset="0"/>
                                  </a:rPr>
                                  <m:t>0.8390</m:t>
                                </m:r>
                              </m:e>
                            </m:mr>
                          </m:m>
                        </m:e>
                      </m:d>
                    </m:oMath>
                  </m:oMathPara>
                </a14:m>
                <a:endParaRPr lang="en-US" sz="900" dirty="0"/>
              </a:p>
            </p:txBody>
          </p:sp>
        </mc:Choice>
        <mc:Fallback xmlns="">
          <p:sp>
            <p:nvSpPr>
              <p:cNvPr id="902" name="CalibV_e_mat"/>
              <p:cNvSpPr txBox="1">
                <a:spLocks noRot="1" noChangeAspect="1" noMove="1" noResize="1" noEditPoints="1" noAdjustHandles="1" noChangeArrowheads="1" noChangeShapeType="1" noTextEdit="1"/>
              </p:cNvSpPr>
              <p:nvPr/>
            </p:nvSpPr>
            <p:spPr>
              <a:xfrm>
                <a:off x="3200400" y="2615184"/>
                <a:ext cx="3556000" cy="868680"/>
              </a:xfrm>
              <a:prstGeom prst="rect">
                <a:avLst/>
              </a:prstGeom>
              <a:blipFill>
                <a:blip r:embed="rId23"/>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903" name="CalibV_e_bias"/>
              <p:cNvSpPr txBox="1"/>
              <p:nvPr/>
            </p:nvSpPr>
            <p:spPr>
              <a:xfrm>
                <a:off x="3200400" y="3584448"/>
                <a:ext cx="3632200" cy="457200"/>
              </a:xfrm>
              <a:prstGeom prst="rect">
                <a:avLst/>
              </a:prstGeom>
              <a:noFill/>
            </p:spPr>
            <p:txBody>
              <a:bodyPr wrap="none" lIns="0" tIns="0" rIns="0" bIns="0" rtlCol="0" anchor="t"/>
              <a:lstStyle/>
              <a:p>
                <a:pPr algn="ctr"/>
                <a14:m>
                  <m:oMathPara xmlns:m="http://schemas.openxmlformats.org/officeDocument/2006/math">
                    <m:oMathParaPr>
                      <m:jc m:val="centerGroup"/>
                    </m:oMathParaPr>
                    <m:oMath xmlns:m="http://schemas.openxmlformats.org/officeDocument/2006/math">
                      <m:acc>
                        <m:accPr>
                          <m:chr m:val="̂"/>
                          <m:ctrlPr>
                            <a:rPr lang="en-US" altLang="zh-TW" sz="900" b="0" i="1" smtClean="0">
                              <a:latin typeface="Cambria Math" panose="02040503050406030204" pitchFamily="18" charset="0"/>
                            </a:rPr>
                          </m:ctrlPr>
                        </m:accPr>
                        <m:e>
                          <m:r>
                            <a:rPr lang="en-US" altLang="zh-TW" sz="900" b="0" i="1" smtClean="0">
                              <a:latin typeface="Cambria Math" panose="02040503050406030204" pitchFamily="18" charset="0"/>
                            </a:rPr>
                            <m:t>𝑒</m:t>
                          </m:r>
                        </m:e>
                      </m:acc>
                      <m:r>
                        <a:rPr lang="en-US" sz="900" b="0" i="0">
                          <a:latin typeface="Cambria Math" panose="02040503050406030204" pitchFamily="18" charset="0"/>
                        </a:rPr>
                        <m:t>= </m:t>
                      </m:r>
                      <m:d>
                        <m:dPr>
                          <m:begChr m:val="["/>
                          <m:endChr m:val="]"/>
                          <m:ctrlPr>
                            <a:rPr lang="en-US" sz="900" b="0" i="1">
                              <a:latin typeface="Cambria Math" panose="02040503050406030204" pitchFamily="18" charset="0"/>
                            </a:rPr>
                          </m:ctrlPr>
                        </m:dPr>
                        <m:e>
                          <m:m>
                            <m:mPr>
                              <m:mcs>
                                <m:mc>
                                  <m:mcPr>
                                    <m:count m:val="6"/>
                                    <m:mcJc m:val="center"/>
                                  </m:mcPr>
                                </m:mc>
                              </m:mcs>
                              <m:ctrlPr>
                                <a:rPr lang="en-US" sz="900" b="0" i="1">
                                  <a:latin typeface="Cambria Math" panose="02040503050406030204" pitchFamily="18" charset="0"/>
                                </a:rPr>
                              </m:ctrlPr>
                            </m:mPr>
                            <m:mr>
                              <m:e>
                                <m:r>
                                  <a:rPr lang="en-US" sz="900" b="0" i="0">
                                    <a:latin typeface="Cambria Math" panose="02040503050406030204" pitchFamily="18" charset="0"/>
                                  </a:rPr>
                                  <m:t>0.0185</m:t>
                                </m:r>
                              </m:e>
                              <m:e>
                                <m:r>
                                  <a:rPr lang="en-US" sz="900" b="0" i="0">
                                    <a:latin typeface="Cambria Math" panose="02040503050406030204" pitchFamily="18" charset="0"/>
                                  </a:rPr>
                                  <m:t>0.0203</m:t>
                                </m:r>
                              </m:e>
                              <m:e>
                                <m:r>
                                  <a:rPr lang="en-US" sz="900" b="0" i="0">
                                    <a:latin typeface="Cambria Math" panose="02040503050406030204" pitchFamily="18" charset="0"/>
                                  </a:rPr>
                                  <m:t>−0.1173</m:t>
                                </m:r>
                              </m:e>
                              <m:e>
                                <m:r>
                                  <a:rPr lang="en-US" sz="900" b="0" i="0">
                                    <a:latin typeface="Cambria Math" panose="02040503050406030204" pitchFamily="18" charset="0"/>
                                  </a:rPr>
                                  <m:t>0.0024</m:t>
                                </m:r>
                              </m:e>
                              <m:e>
                                <m:r>
                                  <a:rPr lang="en-US" sz="900" b="0" i="0">
                                    <a:latin typeface="Cambria Math" panose="02040503050406030204" pitchFamily="18" charset="0"/>
                                  </a:rPr>
                                  <m:t>0.0018</m:t>
                                </m:r>
                              </m:e>
                              <m:e>
                                <m:r>
                                  <a:rPr lang="en-US" sz="900" b="0" i="0">
                                    <a:latin typeface="Cambria Math" panose="02040503050406030204" pitchFamily="18" charset="0"/>
                                  </a:rPr>
                                  <m:t>−0.1186</m:t>
                                </m:r>
                              </m:e>
                            </m:mr>
                            <m:mr>
                              <m:e>
                                <m:r>
                                  <a:rPr lang="en-US" sz="900" b="0" i="0">
                                    <a:latin typeface="Cambria Math" panose="02040503050406030204" pitchFamily="18" charset="0"/>
                                  </a:rPr>
                                  <m:t>−0.1183</m:t>
                                </m:r>
                              </m:e>
                              <m:e>
                                <m:r>
                                  <a:rPr lang="en-US" sz="900" b="0" i="0">
                                    <a:latin typeface="Cambria Math" panose="02040503050406030204" pitchFamily="18" charset="0"/>
                                  </a:rPr>
                                  <m:t>0.0026</m:t>
                                </m:r>
                              </m:e>
                              <m:e>
                                <m:r>
                                  <a:rPr lang="en-US" sz="900" b="0" i="0">
                                    <a:latin typeface="Cambria Math" panose="02040503050406030204" pitchFamily="18" charset="0"/>
                                  </a:rPr>
                                  <m:t>0.0168</m:t>
                                </m:r>
                              </m:e>
                              <m:e>
                                <m:r>
                                  <a:rPr lang="en-US" sz="900" b="0" i="0">
                                    <a:latin typeface="Cambria Math" panose="02040503050406030204" pitchFamily="18" charset="0"/>
                                  </a:rPr>
                                  <m:t>0.0163</m:t>
                                </m:r>
                              </m:e>
                              <m:e>
                                <m:r>
                                  <a:rPr lang="en-US" sz="900" b="0" i="0">
                                    <a:latin typeface="Cambria Math" panose="02040503050406030204" pitchFamily="18" charset="0"/>
                                  </a:rPr>
                                  <m:t>0.0019</m:t>
                                </m:r>
                              </m:e>
                              <m:e>
                                <m:r>
                                  <a:rPr lang="en-US" sz="900" b="0" i="0">
                                    <a:latin typeface="Cambria Math" panose="02040503050406030204" pitchFamily="18" charset="0"/>
                                  </a:rPr>
                                  <m:t>−0.1185</m:t>
                                </m:r>
                              </m:e>
                            </m:mr>
                            <m:mr>
                              <m:e>
                                <m:r>
                                  <a:rPr lang="en-US" sz="900" b="0" i="0">
                                    <a:latin typeface="Cambria Math" panose="02040503050406030204" pitchFamily="18" charset="0"/>
                                  </a:rPr>
                                  <m:t>0.1182</m:t>
                                </m:r>
                              </m:e>
                              <m:e>
                                <m:r>
                                  <a:rPr lang="en-US" sz="900" b="0" i="0">
                                    <a:latin typeface="Cambria Math" panose="02040503050406030204" pitchFamily="18" charset="0"/>
                                  </a:rPr>
                                  <m:t>−0.0029</m:t>
                                </m:r>
                              </m:e>
                              <m:e>
                                <m:r>
                                  <a:rPr lang="en-US" sz="900" b="0" i="0">
                                    <a:latin typeface="Cambria Math" panose="02040503050406030204" pitchFamily="18" charset="0"/>
                                  </a:rPr>
                                  <m:t>0.1166</m:t>
                                </m:r>
                              </m:e>
                              <m:e>
                                <m:r>
                                  <a:rPr lang="en-US" sz="900" b="0" i="0">
                                    <a:latin typeface="Cambria Math" panose="02040503050406030204" pitchFamily="18" charset="0"/>
                                  </a:rPr>
                                  <m:t>−0.0029</m:t>
                                </m:r>
                              </m:e>
                              <m:e>
                                <m:r>
                                  <a:rPr lang="en-US" sz="900" b="0" i="0">
                                    <a:latin typeface="Cambria Math" panose="02040503050406030204" pitchFamily="18" charset="0"/>
                                  </a:rPr>
                                  <m:t>−0.0186</m:t>
                                </m:r>
                              </m:e>
                              <m:e>
                                <m:r>
                                  <a:rPr lang="en-US" sz="900" b="0" i="0">
                                    <a:latin typeface="Cambria Math" panose="02040503050406030204" pitchFamily="18" charset="0"/>
                                  </a:rPr>
                                  <m:t>−0.0199</m:t>
                                </m:r>
                              </m:e>
                            </m:mr>
                          </m:m>
                        </m:e>
                      </m:d>
                    </m:oMath>
                  </m:oMathPara>
                </a14:m>
                <a:endParaRPr lang="en-US" sz="900" dirty="0"/>
              </a:p>
            </p:txBody>
          </p:sp>
        </mc:Choice>
        <mc:Fallback xmlns="">
          <p:sp>
            <p:nvSpPr>
              <p:cNvPr id="903" name="CalibV_e_bias"/>
              <p:cNvSpPr txBox="1">
                <a:spLocks noRot="1" noChangeAspect="1" noMove="1" noResize="1" noEditPoints="1" noAdjustHandles="1" noChangeArrowheads="1" noChangeShapeType="1" noTextEdit="1"/>
              </p:cNvSpPr>
              <p:nvPr/>
            </p:nvSpPr>
            <p:spPr>
              <a:xfrm>
                <a:off x="3200400" y="3584448"/>
                <a:ext cx="3632200" cy="457200"/>
              </a:xfrm>
              <a:prstGeom prst="rect">
                <a:avLst/>
              </a:prstGeom>
              <a:blipFill>
                <a:blip r:embed="rId24"/>
                <a:stretch>
                  <a:fillRect t="-2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904" name="CalibV_e_sc"/>
              <p:cNvSpPr txBox="1"/>
              <p:nvPr/>
            </p:nvSpPr>
            <p:spPr>
              <a:xfrm>
                <a:off x="3200401" y="4114800"/>
                <a:ext cx="3556000" cy="256032"/>
              </a:xfrm>
              <a:prstGeom prst="rect">
                <a:avLst/>
              </a:prstGeom>
              <a:noFill/>
            </p:spPr>
            <p:txBody>
              <a:bodyPr wrap="none" lIns="0" tIns="0" rIns="0" bIns="0" rtlCol="0" anchor="t"/>
              <a:lstStyle/>
              <a:p>
                <a:pPr algn="ctr"/>
                <a14:m>
                  <m:oMathPara xmlns:m="http://schemas.openxmlformats.org/officeDocument/2006/math">
                    <m:oMathParaPr>
                      <m:jc m:val="centerGroup"/>
                    </m:oMathParaPr>
                    <m:oMath xmlns:m="http://schemas.openxmlformats.org/officeDocument/2006/math">
                      <m:acc>
                        <m:accPr>
                          <m:chr m:val="̂"/>
                          <m:ctrlPr>
                            <a:rPr lang="en-US" sz="1100" b="0" i="1">
                              <a:latin typeface="Cambria Math" panose="02040503050406030204" pitchFamily="18" charset="0"/>
                            </a:rPr>
                          </m:ctrlPr>
                        </m:accPr>
                        <m:e>
                          <m:r>
                            <a:rPr lang="en-US" sz="1100" b="0" i="1">
                              <a:latin typeface="Cambria Math" panose="02040503050406030204" pitchFamily="18" charset="0"/>
                            </a:rPr>
                            <m:t>ℓ</m:t>
                          </m:r>
                        </m:e>
                      </m:acc>
                      <m:r>
                        <a:rPr lang="en-US" sz="1100" b="0" i="0">
                          <a:latin typeface="Cambria Math" panose="02040503050406030204" pitchFamily="18" charset="0"/>
                        </a:rPr>
                        <m:t> = 873.0 </m:t>
                      </m:r>
                      <m:r>
                        <m:rPr>
                          <m:sty m:val="p"/>
                        </m:rPr>
                        <a:rPr lang="en-US" sz="1100" b="0" i="0">
                          <a:latin typeface="Cambria Math" panose="02040503050406030204" pitchFamily="18" charset="0"/>
                        </a:rPr>
                        <m:t>μm</m:t>
                      </m:r>
                      <m:r>
                        <a:rPr lang="en-US" sz="1100" b="0" i="0">
                          <a:latin typeface="Cambria Math" panose="02040503050406030204" pitchFamily="18" charset="0"/>
                        </a:rPr>
                        <m:t>  </m:t>
                      </m:r>
                      <m:sPre>
                        <m:sPrePr>
                          <m:ctrlPr>
                            <a:rPr lang="en-US" sz="1100" b="0" i="1">
                              <a:latin typeface="Cambria Math" panose="02040503050406030204" pitchFamily="18" charset="0"/>
                            </a:rPr>
                          </m:ctrlPr>
                        </m:sPrePr>
                        <m:sub/>
                        <m:sup>
                          <m:r>
                            <a:rPr lang="en-US" sz="1100" b="0" i="1">
                              <a:latin typeface="Cambria Math" panose="02040503050406030204" pitchFamily="18" charset="0"/>
                            </a:rPr>
                            <m:t>𝐵</m:t>
                          </m:r>
                        </m:sup>
                        <m:e>
                          <m:sSub>
                            <m:sSubPr>
                              <m:ctrlPr>
                                <a:rPr lang="en-US" sz="1100" b="0" i="1">
                                  <a:latin typeface="Cambria Math" panose="02040503050406030204" pitchFamily="18" charset="0"/>
                                </a:rPr>
                              </m:ctrlPr>
                            </m:sSubPr>
                            <m:e>
                              <m:acc>
                                <m:accPr>
                                  <m:chr m:val="̂"/>
                                  <m:ctrlPr>
                                    <a:rPr lang="en-US" sz="1100" b="0" i="1">
                                      <a:latin typeface="Cambria Math" panose="02040503050406030204" pitchFamily="18" charset="0"/>
                                    </a:rPr>
                                  </m:ctrlPr>
                                </m:accPr>
                                <m:e>
                                  <m:r>
                                    <a:rPr lang="en-US" sz="1100" b="0" i="1">
                                      <a:latin typeface="Cambria Math" panose="02040503050406030204" pitchFamily="18" charset="0"/>
                                    </a:rPr>
                                    <m:t>𝑔</m:t>
                                  </m:r>
                                </m:e>
                              </m:acc>
                            </m:e>
                            <m:sub>
                              <m:r>
                                <a:rPr lang="en-US" sz="1100" b="0" i="1">
                                  <a:latin typeface="Cambria Math" panose="02040503050406030204" pitchFamily="18" charset="0"/>
                                </a:rPr>
                                <m:t>𝑉</m:t>
                              </m:r>
                            </m:sub>
                          </m:sSub>
                        </m:e>
                      </m:sPre>
                      <m:r>
                        <a:rPr lang="en-US" sz="1100" b="0" i="0">
                          <a:latin typeface="Cambria Math" panose="02040503050406030204" pitchFamily="18" charset="0"/>
                        </a:rPr>
                        <m:t> = 7.6756×</m:t>
                      </m:r>
                      <m:sSup>
                        <m:sSupPr>
                          <m:ctrlPr>
                            <a:rPr lang="en-US" sz="1100" b="0" i="1">
                              <a:latin typeface="Cambria Math" panose="02040503050406030204" pitchFamily="18" charset="0"/>
                            </a:rPr>
                          </m:ctrlPr>
                        </m:sSupPr>
                        <m:e>
                          <m:r>
                            <a:rPr lang="en-US" sz="1100" b="0" i="0">
                              <a:latin typeface="Cambria Math" panose="02040503050406030204" pitchFamily="18" charset="0"/>
                            </a:rPr>
                            <m:t>10</m:t>
                          </m:r>
                        </m:e>
                        <m:sup>
                          <m:r>
                            <a:rPr lang="en-US" sz="1100" b="0" i="0">
                              <a:latin typeface="Cambria Math" panose="02040503050406030204" pitchFamily="18" charset="0"/>
                            </a:rPr>
                            <m:t>−3</m:t>
                          </m:r>
                        </m:sup>
                      </m:sSup>
                      <m:r>
                        <a:rPr lang="en-US" sz="1100" b="0" i="0">
                          <a:latin typeface="Cambria Math" panose="02040503050406030204" pitchFamily="18" charset="0"/>
                        </a:rPr>
                        <m:t> </m:t>
                      </m:r>
                      <m:r>
                        <m:rPr>
                          <m:sty m:val="p"/>
                        </m:rPr>
                        <a:rPr lang="en-US" sz="1100" b="0" i="0">
                          <a:latin typeface="Cambria Math" panose="02040503050406030204" pitchFamily="18" charset="0"/>
                        </a:rPr>
                        <m:t>mT</m:t>
                      </m:r>
                      <m:r>
                        <a:rPr lang="en-US" sz="1100" b="0" i="0">
                          <a:latin typeface="Cambria Math" panose="02040503050406030204" pitchFamily="18" charset="0"/>
                        </a:rPr>
                        <m:t>/</m:t>
                      </m:r>
                      <m:r>
                        <m:rPr>
                          <m:sty m:val="p"/>
                        </m:rPr>
                        <a:rPr lang="en-US" sz="1100" b="0" i="0">
                          <a:latin typeface="Cambria Math" panose="02040503050406030204" pitchFamily="18" charset="0"/>
                        </a:rPr>
                        <m:t>mV</m:t>
                      </m:r>
                      <m:r>
                        <a:rPr lang="en-US" sz="1100" b="0" i="0">
                          <a:latin typeface="Cambria Math" panose="02040503050406030204" pitchFamily="18" charset="0"/>
                        </a:rPr>
                        <m:t> </m:t>
                      </m:r>
                    </m:oMath>
                  </m:oMathPara>
                </a14:m>
                <a:endParaRPr lang="en-US" sz="1100" dirty="0"/>
              </a:p>
            </p:txBody>
          </p:sp>
        </mc:Choice>
        <mc:Fallback xmlns="">
          <p:sp>
            <p:nvSpPr>
              <p:cNvPr id="904" name="CalibV_e_sc"/>
              <p:cNvSpPr txBox="1">
                <a:spLocks noRot="1" noChangeAspect="1" noMove="1" noResize="1" noEditPoints="1" noAdjustHandles="1" noChangeArrowheads="1" noChangeShapeType="1" noTextEdit="1"/>
              </p:cNvSpPr>
              <p:nvPr/>
            </p:nvSpPr>
            <p:spPr>
              <a:xfrm>
                <a:off x="3200401" y="4114800"/>
                <a:ext cx="3556000" cy="256032"/>
              </a:xfrm>
              <a:prstGeom prst="rect">
                <a:avLst/>
              </a:prstGeom>
              <a:blipFill>
                <a:blip r:embed="rId25"/>
                <a:stretch>
                  <a:fillRect t="-9524" b="-7143"/>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3" name="文字方塊 22">
                <a:extLst>
                  <a:ext uri="{FF2B5EF4-FFF2-40B4-BE49-F238E27FC236}">
                    <a16:creationId xmlns:a16="http://schemas.microsoft.com/office/drawing/2014/main" id="{8AC383EA-779C-4C2C-B098-EF723DE49D7C}"/>
                  </a:ext>
                </a:extLst>
              </p:cNvPr>
              <p:cNvSpPr txBox="1"/>
              <p:nvPr/>
            </p:nvSpPr>
            <p:spPr>
              <a:xfrm>
                <a:off x="8551747" y="376422"/>
                <a:ext cx="3688638" cy="3215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𝐶𝑎𝑙𝑖𝑏𝑟𝑎𝑡𝑒</m:t>
                      </m:r>
                      <m:r>
                        <a:rPr lang="en-US" altLang="zh-TW" b="0" i="1" smtClean="0">
                          <a:latin typeface="Cambria Math" panose="02040503050406030204" pitchFamily="18" charset="0"/>
                        </a:rPr>
                        <m:t> </m:t>
                      </m:r>
                      <m:r>
                        <a:rPr lang="en-US" altLang="zh-TW" b="0" i="1" smtClean="0">
                          <a:latin typeface="Cambria Math" panose="02040503050406030204" pitchFamily="18" charset="0"/>
                        </a:rPr>
                        <m:t>𝑚𝑜𝑑𝑒𝑙</m:t>
                      </m:r>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𝑏</m:t>
                          </m:r>
                        </m:e>
                        <m:sub>
                          <m:r>
                            <a:rPr lang="en-US" altLang="zh-TW" b="0" i="1" smtClean="0">
                              <a:latin typeface="Cambria Math" panose="02040503050406030204" pitchFamily="18" charset="0"/>
                              <a:ea typeface="Cambria Math" panose="02040503050406030204" pitchFamily="18" charset="0"/>
                            </a:rPr>
                            <m:t>𝑖𝑗</m:t>
                          </m:r>
                        </m:sub>
                      </m:sSub>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𝑆</m:t>
                          </m:r>
                        </m:e>
                        <m:sub>
                          <m:r>
                            <a:rPr lang="en-US" altLang="zh-TW" b="0" i="1" smtClean="0">
                              <a:latin typeface="Cambria Math" panose="02040503050406030204" pitchFamily="18" charset="0"/>
                              <a:ea typeface="Cambria Math" panose="02040503050406030204" pitchFamily="18" charset="0"/>
                            </a:rPr>
                            <m:t>𝑖</m:t>
                          </m:r>
                        </m:sub>
                      </m:sSub>
                      <m:sPre>
                        <m:sPrePr>
                          <m:ctrlPr>
                            <a:rPr lang="en-US" altLang="zh-TW" b="0" i="1" smtClean="0">
                              <a:latin typeface="Cambria Math" panose="02040503050406030204" pitchFamily="18" charset="0"/>
                              <a:ea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𝑉</m:t>
                              </m:r>
                            </m:sub>
                          </m:sSub>
                        </m:e>
                      </m:sPr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𝐷</m:t>
                          </m:r>
                        </m:e>
                      </m:acc>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𝑉</m:t>
                          </m:r>
                        </m:e>
                        <m:sub>
                          <m:r>
                            <a:rPr lang="en-US" altLang="zh-TW" b="0" i="1" smtClean="0">
                              <a:latin typeface="Cambria Math" panose="02040503050406030204" pitchFamily="18" charset="0"/>
                            </a:rPr>
                            <m:t>𝑗</m:t>
                          </m:r>
                        </m:sub>
                      </m:sSub>
                    </m:oMath>
                  </m:oMathPara>
                </a14:m>
                <a:endParaRPr lang="zh-TW" altLang="en-US" dirty="0"/>
              </a:p>
            </p:txBody>
          </p:sp>
        </mc:Choice>
        <mc:Fallback xmlns="">
          <p:sp>
            <p:nvSpPr>
              <p:cNvPr id="23" name="文字方塊 22">
                <a:extLst>
                  <a:ext uri="{FF2B5EF4-FFF2-40B4-BE49-F238E27FC236}">
                    <a16:creationId xmlns:a16="http://schemas.microsoft.com/office/drawing/2014/main" id="{8AC383EA-779C-4C2C-B098-EF723DE49D7C}"/>
                  </a:ext>
                </a:extLst>
              </p:cNvPr>
              <p:cNvSpPr txBox="1">
                <a:spLocks noRot="1" noChangeAspect="1" noMove="1" noResize="1" noEditPoints="1" noAdjustHandles="1" noChangeArrowheads="1" noChangeShapeType="1" noTextEdit="1"/>
              </p:cNvSpPr>
              <p:nvPr/>
            </p:nvSpPr>
            <p:spPr>
              <a:xfrm>
                <a:off x="8551747" y="376422"/>
                <a:ext cx="3688638" cy="321563"/>
              </a:xfrm>
              <a:prstGeom prst="rect">
                <a:avLst/>
              </a:prstGeom>
              <a:blipFill>
                <a:blip r:embed="rId26"/>
                <a:stretch>
                  <a:fillRect t="-15385" r="-3802" b="-2500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4" name="文字方塊 23">
                <a:extLst>
                  <a:ext uri="{FF2B5EF4-FFF2-40B4-BE49-F238E27FC236}">
                    <a16:creationId xmlns:a16="http://schemas.microsoft.com/office/drawing/2014/main" id="{0E47CCE1-4504-404E-836B-C65D993B87CC}"/>
                  </a:ext>
                </a:extLst>
              </p:cNvPr>
              <p:cNvSpPr txBox="1"/>
              <p:nvPr/>
            </p:nvSpPr>
            <p:spPr>
              <a:xfrm>
                <a:off x="6756400" y="832104"/>
                <a:ext cx="4191000" cy="54950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altLang="zh-TW" sz="1400" smtClean="0">
                          <a:latin typeface="Cambria Math" panose="02040503050406030204" pitchFamily="18" charset="0"/>
                        </a:rPr>
                        <m:t>NMAE</m:t>
                      </m:r>
                      <m:r>
                        <a:rPr lang="en-US" altLang="zh-TW" sz="1400" i="1" smtClean="0">
                          <a:latin typeface="Cambria Math" panose="02040503050406030204" pitchFamily="18" charset="0"/>
                        </a:rPr>
                        <m:t>=</m:t>
                      </m:r>
                      <m:f>
                        <m:fPr>
                          <m:ctrlPr>
                            <a:rPr lang="en-US" altLang="zh-TW" sz="1400" i="1">
                              <a:latin typeface="Cambria Math" panose="02040503050406030204" pitchFamily="18" charset="0"/>
                            </a:rPr>
                          </m:ctrlPr>
                        </m:fPr>
                        <m:num>
                          <m:nary>
                            <m:naryPr>
                              <m:chr m:val="∑"/>
                              <m:supHide m:val="on"/>
                              <m:ctrlPr>
                                <a:rPr lang="en-US" altLang="zh-TW" sz="1400" i="1">
                                  <a:latin typeface="Cambria Math" panose="02040503050406030204" pitchFamily="18" charset="0"/>
                                </a:rPr>
                              </m:ctrlPr>
                            </m:naryPr>
                            <m:sub>
                              <m:r>
                                <m:rPr>
                                  <m:brk m:alnAt="7"/>
                                </m:rPr>
                                <a:rPr lang="en-US" altLang="zh-TW" sz="1400" i="1">
                                  <a:latin typeface="Cambria Math" panose="02040503050406030204" pitchFamily="18" charset="0"/>
                                </a:rPr>
                                <m:t>𝑗</m:t>
                              </m:r>
                            </m:sub>
                            <m:sup/>
                            <m:e>
                              <m:nary>
                                <m:naryPr>
                                  <m:chr m:val="∑"/>
                                  <m:supHide m:val="on"/>
                                  <m:ctrlPr>
                                    <a:rPr lang="en-US" altLang="zh-TW" sz="1400" i="1">
                                      <a:latin typeface="Cambria Math" panose="02040503050406030204" pitchFamily="18" charset="0"/>
                                    </a:rPr>
                                  </m:ctrlPr>
                                </m:naryPr>
                                <m:sub>
                                  <m:r>
                                    <m:rPr>
                                      <m:brk m:alnAt="7"/>
                                    </m:rPr>
                                    <a:rPr lang="en-US" altLang="zh-TW" sz="1400" i="1">
                                      <a:latin typeface="Cambria Math" panose="02040503050406030204" pitchFamily="18" charset="0"/>
                                    </a:rPr>
                                    <m:t>𝑖</m:t>
                                  </m:r>
                                </m:sub>
                                <m:sup/>
                                <m:e>
                                  <m:d>
                                    <m:dPr>
                                      <m:begChr m:val="‖"/>
                                      <m:endChr m:val="‖"/>
                                      <m:ctrlPr>
                                        <a:rPr lang="en-US" altLang="zh-TW" sz="1400" i="1">
                                          <a:latin typeface="Cambria Math" panose="02040503050406030204" pitchFamily="18" charset="0"/>
                                        </a:rPr>
                                      </m:ctrlPr>
                                    </m:dPr>
                                    <m:e>
                                      <m:sSub>
                                        <m:sSubPr>
                                          <m:ctrlPr>
                                            <a:rPr lang="en-US" altLang="zh-TW" sz="1400" i="1">
                                              <a:latin typeface="Cambria Math" panose="02040503050406030204" pitchFamily="18" charset="0"/>
                                            </a:rPr>
                                          </m:ctrlPr>
                                        </m:sSubPr>
                                        <m:e>
                                          <m:r>
                                            <a:rPr lang="en-US" altLang="zh-TW" sz="1400" i="1">
                                              <a:latin typeface="Cambria Math" panose="02040503050406030204" pitchFamily="18" charset="0"/>
                                            </a:rPr>
                                            <m:t>𝑏</m:t>
                                          </m:r>
                                        </m:e>
                                        <m:sub>
                                          <m:r>
                                            <a:rPr lang="en-US" altLang="zh-TW" sz="1400" i="1">
                                              <a:latin typeface="Cambria Math" panose="02040503050406030204" pitchFamily="18" charset="0"/>
                                            </a:rPr>
                                            <m:t>𝑖𝑗</m:t>
                                          </m:r>
                                        </m:sub>
                                      </m:sSub>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a:rPr lang="en-US" altLang="zh-TW" sz="1400" i="1">
                                              <a:latin typeface="Cambria Math" panose="02040503050406030204" pitchFamily="18" charset="0"/>
                                              <a:ea typeface="Cambria Math" panose="02040503050406030204" pitchFamily="18" charset="0"/>
                                            </a:rPr>
                                            <m:t>𝑆</m:t>
                                          </m:r>
                                        </m:e>
                                        <m:sub>
                                          <m:r>
                                            <a:rPr lang="en-US" altLang="zh-TW" sz="1400" i="1">
                                              <a:latin typeface="Cambria Math" panose="02040503050406030204" pitchFamily="18" charset="0"/>
                                              <a:ea typeface="Cambria Math" panose="02040503050406030204" pitchFamily="18" charset="0"/>
                                            </a:rPr>
                                            <m:t>𝑖</m:t>
                                          </m:r>
                                        </m:sub>
                                      </m:sSub>
                                      <m:sPre>
                                        <m:sPrePr>
                                          <m:ctrlPr>
                                            <a:rPr lang="en-US" altLang="zh-TW" sz="1400" i="1">
                                              <a:latin typeface="Cambria Math" panose="02040503050406030204" pitchFamily="18" charset="0"/>
                                              <a:ea typeface="Cambria Math" panose="02040503050406030204" pitchFamily="18" charset="0"/>
                                            </a:rPr>
                                          </m:ctrlPr>
                                        </m:sPrePr>
                                        <m:sub/>
                                        <m:sup>
                                          <m:r>
                                            <a:rPr lang="en-US" altLang="zh-TW" sz="1400" i="1">
                                              <a:latin typeface="Cambria Math" panose="02040503050406030204" pitchFamily="18" charset="0"/>
                                            </a:rPr>
                                            <m:t>𝐵</m:t>
                                          </m:r>
                                        </m:sup>
                                        <m:e>
                                          <m:sSub>
                                            <m:sSubPr>
                                              <m:ctrlPr>
                                                <a:rPr lang="en-US" altLang="zh-TW" sz="1400" i="1">
                                                  <a:latin typeface="Cambria Math" panose="02040503050406030204" pitchFamily="18" charset="0"/>
                                                </a:rPr>
                                              </m:ctrlPr>
                                            </m:sSubPr>
                                            <m:e>
                                              <m:acc>
                                                <m:accPr>
                                                  <m:chr m:val="̂"/>
                                                  <m:ctrlPr>
                                                    <a:rPr lang="en-US" altLang="zh-TW" sz="1400" i="1">
                                                      <a:latin typeface="Cambria Math" panose="02040503050406030204" pitchFamily="18" charset="0"/>
                                                    </a:rPr>
                                                  </m:ctrlPr>
                                                </m:accPr>
                                                <m:e>
                                                  <m:r>
                                                    <a:rPr lang="en-US" altLang="zh-TW" sz="1400" i="1">
                                                      <a:latin typeface="Cambria Math" panose="02040503050406030204" pitchFamily="18" charset="0"/>
                                                    </a:rPr>
                                                    <m:t>𝑔</m:t>
                                                  </m:r>
                                                </m:e>
                                              </m:acc>
                                            </m:e>
                                            <m:sub>
                                              <m:r>
                                                <a:rPr lang="en-US" altLang="zh-TW" sz="1400" i="1">
                                                  <a:latin typeface="Cambria Math" panose="02040503050406030204" pitchFamily="18" charset="0"/>
                                                </a:rPr>
                                                <m:t>𝑉</m:t>
                                              </m:r>
                                            </m:sub>
                                          </m:sSub>
                                        </m:e>
                                      </m:sPre>
                                      <m:acc>
                                        <m:accPr>
                                          <m:chr m:val="̅"/>
                                          <m:ctrlPr>
                                            <a:rPr lang="zh-TW" altLang="en-US" sz="1400" i="1">
                                              <a:latin typeface="Cambria Math" panose="02040503050406030204" pitchFamily="18" charset="0"/>
                                            </a:rPr>
                                          </m:ctrlPr>
                                        </m:accPr>
                                        <m:e>
                                          <m:r>
                                            <a:rPr lang="en-US" altLang="zh-TW" sz="1400" i="1">
                                              <a:latin typeface="Cambria Math" panose="02040503050406030204" pitchFamily="18" charset="0"/>
                                            </a:rPr>
                                            <m:t>𝐷</m:t>
                                          </m:r>
                                        </m:e>
                                      </m:acc>
                                      <m:sSub>
                                        <m:sSubPr>
                                          <m:ctrlPr>
                                            <a:rPr lang="en-US" altLang="zh-TW" sz="1400" i="1">
                                              <a:latin typeface="Cambria Math" panose="02040503050406030204" pitchFamily="18" charset="0"/>
                                            </a:rPr>
                                          </m:ctrlPr>
                                        </m:sSubPr>
                                        <m:e>
                                          <m:r>
                                            <a:rPr lang="en-US" altLang="zh-TW" sz="1400" i="1">
                                              <a:latin typeface="Cambria Math" panose="02040503050406030204" pitchFamily="18" charset="0"/>
                                            </a:rPr>
                                            <m:t>𝑉</m:t>
                                          </m:r>
                                        </m:e>
                                        <m:sub>
                                          <m:r>
                                            <a:rPr lang="en-US" altLang="zh-TW" sz="1400" i="1">
                                              <a:latin typeface="Cambria Math" panose="02040503050406030204" pitchFamily="18" charset="0"/>
                                            </a:rPr>
                                            <m:t>𝑗</m:t>
                                          </m:r>
                                        </m:sub>
                                      </m:sSub>
                                    </m:e>
                                  </m:d>
                                </m:e>
                              </m:nary>
                            </m:e>
                          </m:nary>
                        </m:num>
                        <m:den>
                          <m:nary>
                            <m:naryPr>
                              <m:chr m:val="∑"/>
                              <m:supHide m:val="on"/>
                              <m:ctrlPr>
                                <a:rPr lang="en-US" altLang="zh-TW" sz="1400" i="1">
                                  <a:latin typeface="Cambria Math" panose="02040503050406030204" pitchFamily="18" charset="0"/>
                                </a:rPr>
                              </m:ctrlPr>
                            </m:naryPr>
                            <m:sub>
                              <m:r>
                                <m:rPr>
                                  <m:brk m:alnAt="7"/>
                                </m:rPr>
                                <a:rPr lang="en-US" altLang="zh-TW" sz="1400" i="1">
                                  <a:latin typeface="Cambria Math" panose="02040503050406030204" pitchFamily="18" charset="0"/>
                                </a:rPr>
                                <m:t>𝑗</m:t>
                              </m:r>
                            </m:sub>
                            <m:sup/>
                            <m:e>
                              <m:nary>
                                <m:naryPr>
                                  <m:chr m:val="∑"/>
                                  <m:supHide m:val="on"/>
                                  <m:ctrlPr>
                                    <a:rPr lang="en-US" altLang="zh-TW" sz="1400" i="1">
                                      <a:latin typeface="Cambria Math" panose="02040503050406030204" pitchFamily="18" charset="0"/>
                                    </a:rPr>
                                  </m:ctrlPr>
                                </m:naryPr>
                                <m:sub>
                                  <m:r>
                                    <m:rPr>
                                      <m:brk m:alnAt="7"/>
                                    </m:rPr>
                                    <a:rPr lang="en-US" altLang="zh-TW" sz="1400" i="1">
                                      <a:latin typeface="Cambria Math" panose="02040503050406030204" pitchFamily="18" charset="0"/>
                                    </a:rPr>
                                    <m:t>𝑖</m:t>
                                  </m:r>
                                </m:sub>
                                <m:sup/>
                                <m:e>
                                  <m:d>
                                    <m:dPr>
                                      <m:begChr m:val="‖"/>
                                      <m:endChr m:val="‖"/>
                                      <m:ctrlPr>
                                        <a:rPr lang="en-US" altLang="zh-TW" sz="1400" i="1">
                                          <a:latin typeface="Cambria Math" panose="02040503050406030204" pitchFamily="18" charset="0"/>
                                        </a:rPr>
                                      </m:ctrlPr>
                                    </m:dPr>
                                    <m:e>
                                      <m:sSub>
                                        <m:sSubPr>
                                          <m:ctrlPr>
                                            <a:rPr lang="en-US" altLang="zh-TW" sz="1400" i="1">
                                              <a:latin typeface="Cambria Math" panose="02040503050406030204" pitchFamily="18" charset="0"/>
                                            </a:rPr>
                                          </m:ctrlPr>
                                        </m:sSubPr>
                                        <m:e>
                                          <m:r>
                                            <a:rPr lang="en-US" altLang="zh-TW" sz="1400" i="1">
                                              <a:latin typeface="Cambria Math" panose="02040503050406030204" pitchFamily="18" charset="0"/>
                                            </a:rPr>
                                            <m:t>𝑏</m:t>
                                          </m:r>
                                        </m:e>
                                        <m:sub>
                                          <m:r>
                                            <a:rPr lang="en-US" altLang="zh-TW" sz="1400" i="1">
                                              <a:latin typeface="Cambria Math" panose="02040503050406030204" pitchFamily="18" charset="0"/>
                                            </a:rPr>
                                            <m:t>𝑖𝑗</m:t>
                                          </m:r>
                                        </m:sub>
                                      </m:sSub>
                                    </m:e>
                                  </m:d>
                                </m:e>
                              </m:nary>
                            </m:e>
                          </m:nary>
                        </m:den>
                      </m:f>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rPr>
                        <m:t>100</m:t>
                      </m:r>
                      <m:r>
                        <a:rPr lang="en-US" altLang="zh-TW" sz="1400" b="0" i="1" smtClean="0">
                          <a:latin typeface="Cambria Math" panose="02040503050406030204" pitchFamily="18" charset="0"/>
                        </a:rPr>
                        <m:t>%=2.85%</m:t>
                      </m:r>
                    </m:oMath>
                  </m:oMathPara>
                </a14:m>
                <a:endParaRPr lang="zh-TW" altLang="en-US" sz="1400" dirty="0"/>
              </a:p>
            </p:txBody>
          </p:sp>
        </mc:Choice>
        <mc:Fallback xmlns="">
          <p:sp>
            <p:nvSpPr>
              <p:cNvPr id="24" name="文字方塊 23">
                <a:extLst>
                  <a:ext uri="{FF2B5EF4-FFF2-40B4-BE49-F238E27FC236}">
                    <a16:creationId xmlns:a16="http://schemas.microsoft.com/office/drawing/2014/main" id="{0E47CCE1-4504-404E-836B-C65D993B87CC}"/>
                  </a:ext>
                </a:extLst>
              </p:cNvPr>
              <p:cNvSpPr txBox="1">
                <a:spLocks noRot="1" noChangeAspect="1" noMove="1" noResize="1" noEditPoints="1" noAdjustHandles="1" noChangeArrowheads="1" noChangeShapeType="1" noTextEdit="1"/>
              </p:cNvSpPr>
              <p:nvPr/>
            </p:nvSpPr>
            <p:spPr>
              <a:xfrm>
                <a:off x="6756400" y="832104"/>
                <a:ext cx="4191000" cy="549509"/>
              </a:xfrm>
              <a:prstGeom prst="rect">
                <a:avLst/>
              </a:prstGeom>
              <a:blipFill>
                <a:blip r:embed="rId27"/>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EBA49798-FF6E-40E0-BBA9-161C19277A44}"/>
                  </a:ext>
                </a:extLst>
              </p:cNvPr>
              <p:cNvSpPr txBox="1"/>
              <p:nvPr/>
            </p:nvSpPr>
            <p:spPr>
              <a:xfrm>
                <a:off x="6832600" y="2583179"/>
                <a:ext cx="4191000" cy="54950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altLang="zh-TW" sz="1400" smtClean="0">
                          <a:latin typeface="Cambria Math" panose="02040503050406030204" pitchFamily="18" charset="0"/>
                        </a:rPr>
                        <m:t>NMAE</m:t>
                      </m:r>
                      <m:r>
                        <a:rPr lang="en-US" altLang="zh-TW" sz="1400" i="1" smtClean="0">
                          <a:latin typeface="Cambria Math" panose="02040503050406030204" pitchFamily="18" charset="0"/>
                        </a:rPr>
                        <m:t>=</m:t>
                      </m:r>
                      <m:f>
                        <m:fPr>
                          <m:ctrlPr>
                            <a:rPr lang="en-US" altLang="zh-TW" sz="1400" i="1">
                              <a:latin typeface="Cambria Math" panose="02040503050406030204" pitchFamily="18" charset="0"/>
                            </a:rPr>
                          </m:ctrlPr>
                        </m:fPr>
                        <m:num>
                          <m:nary>
                            <m:naryPr>
                              <m:chr m:val="∑"/>
                              <m:supHide m:val="on"/>
                              <m:ctrlPr>
                                <a:rPr lang="en-US" altLang="zh-TW" sz="1400" i="1">
                                  <a:latin typeface="Cambria Math" panose="02040503050406030204" pitchFamily="18" charset="0"/>
                                </a:rPr>
                              </m:ctrlPr>
                            </m:naryPr>
                            <m:sub>
                              <m:r>
                                <m:rPr>
                                  <m:brk m:alnAt="7"/>
                                </m:rPr>
                                <a:rPr lang="en-US" altLang="zh-TW" sz="1400" i="1">
                                  <a:latin typeface="Cambria Math" panose="02040503050406030204" pitchFamily="18" charset="0"/>
                                </a:rPr>
                                <m:t>𝑗</m:t>
                              </m:r>
                            </m:sub>
                            <m:sup/>
                            <m:e>
                              <m:nary>
                                <m:naryPr>
                                  <m:chr m:val="∑"/>
                                  <m:supHide m:val="on"/>
                                  <m:ctrlPr>
                                    <a:rPr lang="en-US" altLang="zh-TW" sz="1400" i="1">
                                      <a:latin typeface="Cambria Math" panose="02040503050406030204" pitchFamily="18" charset="0"/>
                                    </a:rPr>
                                  </m:ctrlPr>
                                </m:naryPr>
                                <m:sub>
                                  <m:r>
                                    <m:rPr>
                                      <m:brk m:alnAt="7"/>
                                    </m:rPr>
                                    <a:rPr lang="en-US" altLang="zh-TW" sz="1400" i="1">
                                      <a:latin typeface="Cambria Math" panose="02040503050406030204" pitchFamily="18" charset="0"/>
                                    </a:rPr>
                                    <m:t>𝑖</m:t>
                                  </m:r>
                                </m:sub>
                                <m:sup/>
                                <m:e>
                                  <m:d>
                                    <m:dPr>
                                      <m:begChr m:val="‖"/>
                                      <m:endChr m:val="‖"/>
                                      <m:ctrlPr>
                                        <a:rPr lang="en-US" altLang="zh-TW" sz="1400" i="1">
                                          <a:latin typeface="Cambria Math" panose="02040503050406030204" pitchFamily="18" charset="0"/>
                                        </a:rPr>
                                      </m:ctrlPr>
                                    </m:dPr>
                                    <m:e>
                                      <m:sSub>
                                        <m:sSubPr>
                                          <m:ctrlPr>
                                            <a:rPr lang="en-US" altLang="zh-TW" sz="1400" i="1">
                                              <a:latin typeface="Cambria Math" panose="02040503050406030204" pitchFamily="18" charset="0"/>
                                            </a:rPr>
                                          </m:ctrlPr>
                                        </m:sSubPr>
                                        <m:e>
                                          <m:r>
                                            <a:rPr lang="en-US" altLang="zh-TW" sz="1400" i="1">
                                              <a:latin typeface="Cambria Math" panose="02040503050406030204" pitchFamily="18" charset="0"/>
                                            </a:rPr>
                                            <m:t>𝑏</m:t>
                                          </m:r>
                                        </m:e>
                                        <m:sub>
                                          <m:r>
                                            <a:rPr lang="en-US" altLang="zh-TW" sz="1400" i="1">
                                              <a:latin typeface="Cambria Math" panose="02040503050406030204" pitchFamily="18" charset="0"/>
                                            </a:rPr>
                                            <m:t>𝑖𝑗</m:t>
                                          </m:r>
                                        </m:sub>
                                      </m:sSub>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a:rPr lang="en-US" altLang="zh-TW" sz="1400" i="1">
                                              <a:latin typeface="Cambria Math" panose="02040503050406030204" pitchFamily="18" charset="0"/>
                                              <a:ea typeface="Cambria Math" panose="02040503050406030204" pitchFamily="18" charset="0"/>
                                            </a:rPr>
                                            <m:t>𝑆</m:t>
                                          </m:r>
                                        </m:e>
                                        <m:sub>
                                          <m:r>
                                            <a:rPr lang="en-US" altLang="zh-TW" sz="1400" i="1">
                                              <a:latin typeface="Cambria Math" panose="02040503050406030204" pitchFamily="18" charset="0"/>
                                              <a:ea typeface="Cambria Math" panose="02040503050406030204" pitchFamily="18" charset="0"/>
                                            </a:rPr>
                                            <m:t>𝑖</m:t>
                                          </m:r>
                                        </m:sub>
                                      </m:sSub>
                                      <m:sPre>
                                        <m:sPrePr>
                                          <m:ctrlPr>
                                            <a:rPr lang="en-US" altLang="zh-TW" sz="1400" i="1">
                                              <a:latin typeface="Cambria Math" panose="02040503050406030204" pitchFamily="18" charset="0"/>
                                              <a:ea typeface="Cambria Math" panose="02040503050406030204" pitchFamily="18" charset="0"/>
                                            </a:rPr>
                                          </m:ctrlPr>
                                        </m:sPrePr>
                                        <m:sub/>
                                        <m:sup>
                                          <m:r>
                                            <a:rPr lang="en-US" altLang="zh-TW" sz="1400" i="1">
                                              <a:latin typeface="Cambria Math" panose="02040503050406030204" pitchFamily="18" charset="0"/>
                                            </a:rPr>
                                            <m:t>𝐵</m:t>
                                          </m:r>
                                        </m:sup>
                                        <m:e>
                                          <m:sSub>
                                            <m:sSubPr>
                                              <m:ctrlPr>
                                                <a:rPr lang="en-US" altLang="zh-TW" sz="1400" i="1">
                                                  <a:latin typeface="Cambria Math" panose="02040503050406030204" pitchFamily="18" charset="0"/>
                                                </a:rPr>
                                              </m:ctrlPr>
                                            </m:sSubPr>
                                            <m:e>
                                              <m:acc>
                                                <m:accPr>
                                                  <m:chr m:val="̂"/>
                                                  <m:ctrlPr>
                                                    <a:rPr lang="en-US" altLang="zh-TW" sz="1400" i="1">
                                                      <a:latin typeface="Cambria Math" panose="02040503050406030204" pitchFamily="18" charset="0"/>
                                                    </a:rPr>
                                                  </m:ctrlPr>
                                                </m:accPr>
                                                <m:e>
                                                  <m:r>
                                                    <a:rPr lang="en-US" altLang="zh-TW" sz="1400" i="1">
                                                      <a:latin typeface="Cambria Math" panose="02040503050406030204" pitchFamily="18" charset="0"/>
                                                    </a:rPr>
                                                    <m:t>𝑔</m:t>
                                                  </m:r>
                                                </m:e>
                                              </m:acc>
                                            </m:e>
                                            <m:sub>
                                              <m:r>
                                                <a:rPr lang="en-US" altLang="zh-TW" sz="1400" i="1">
                                                  <a:latin typeface="Cambria Math" panose="02040503050406030204" pitchFamily="18" charset="0"/>
                                                </a:rPr>
                                                <m:t>𝑉</m:t>
                                              </m:r>
                                            </m:sub>
                                          </m:sSub>
                                        </m:e>
                                      </m:sPre>
                                      <m:acc>
                                        <m:accPr>
                                          <m:chr m:val="̅"/>
                                          <m:ctrlPr>
                                            <a:rPr lang="zh-TW" altLang="en-US" sz="1400" i="1">
                                              <a:latin typeface="Cambria Math" panose="02040503050406030204" pitchFamily="18" charset="0"/>
                                            </a:rPr>
                                          </m:ctrlPr>
                                        </m:accPr>
                                        <m:e>
                                          <m:r>
                                            <a:rPr lang="en-US" altLang="zh-TW" sz="1400" i="1">
                                              <a:latin typeface="Cambria Math" panose="02040503050406030204" pitchFamily="18" charset="0"/>
                                            </a:rPr>
                                            <m:t>𝐷</m:t>
                                          </m:r>
                                        </m:e>
                                      </m:acc>
                                      <m:sSub>
                                        <m:sSubPr>
                                          <m:ctrlPr>
                                            <a:rPr lang="en-US" altLang="zh-TW" sz="1400" i="1">
                                              <a:latin typeface="Cambria Math" panose="02040503050406030204" pitchFamily="18" charset="0"/>
                                            </a:rPr>
                                          </m:ctrlPr>
                                        </m:sSubPr>
                                        <m:e>
                                          <m:r>
                                            <a:rPr lang="en-US" altLang="zh-TW" sz="1400" i="1">
                                              <a:latin typeface="Cambria Math" panose="02040503050406030204" pitchFamily="18" charset="0"/>
                                            </a:rPr>
                                            <m:t>𝑉</m:t>
                                          </m:r>
                                        </m:e>
                                        <m:sub>
                                          <m:r>
                                            <a:rPr lang="en-US" altLang="zh-TW" sz="1400" i="1">
                                              <a:latin typeface="Cambria Math" panose="02040503050406030204" pitchFamily="18" charset="0"/>
                                            </a:rPr>
                                            <m:t>𝑗</m:t>
                                          </m:r>
                                        </m:sub>
                                      </m:sSub>
                                    </m:e>
                                  </m:d>
                                </m:e>
                              </m:nary>
                            </m:e>
                          </m:nary>
                        </m:num>
                        <m:den>
                          <m:nary>
                            <m:naryPr>
                              <m:chr m:val="∑"/>
                              <m:supHide m:val="on"/>
                              <m:ctrlPr>
                                <a:rPr lang="en-US" altLang="zh-TW" sz="1400" i="1">
                                  <a:latin typeface="Cambria Math" panose="02040503050406030204" pitchFamily="18" charset="0"/>
                                </a:rPr>
                              </m:ctrlPr>
                            </m:naryPr>
                            <m:sub>
                              <m:r>
                                <m:rPr>
                                  <m:brk m:alnAt="7"/>
                                </m:rPr>
                                <a:rPr lang="en-US" altLang="zh-TW" sz="1400" i="1">
                                  <a:latin typeface="Cambria Math" panose="02040503050406030204" pitchFamily="18" charset="0"/>
                                </a:rPr>
                                <m:t>𝑗</m:t>
                              </m:r>
                            </m:sub>
                            <m:sup/>
                            <m:e>
                              <m:nary>
                                <m:naryPr>
                                  <m:chr m:val="∑"/>
                                  <m:supHide m:val="on"/>
                                  <m:ctrlPr>
                                    <a:rPr lang="en-US" altLang="zh-TW" sz="1400" i="1">
                                      <a:latin typeface="Cambria Math" panose="02040503050406030204" pitchFamily="18" charset="0"/>
                                    </a:rPr>
                                  </m:ctrlPr>
                                </m:naryPr>
                                <m:sub>
                                  <m:r>
                                    <m:rPr>
                                      <m:brk m:alnAt="7"/>
                                    </m:rPr>
                                    <a:rPr lang="en-US" altLang="zh-TW" sz="1400" i="1">
                                      <a:latin typeface="Cambria Math" panose="02040503050406030204" pitchFamily="18" charset="0"/>
                                    </a:rPr>
                                    <m:t>𝑖</m:t>
                                  </m:r>
                                </m:sub>
                                <m:sup/>
                                <m:e>
                                  <m:d>
                                    <m:dPr>
                                      <m:begChr m:val="‖"/>
                                      <m:endChr m:val="‖"/>
                                      <m:ctrlPr>
                                        <a:rPr lang="en-US" altLang="zh-TW" sz="1400" i="1">
                                          <a:latin typeface="Cambria Math" panose="02040503050406030204" pitchFamily="18" charset="0"/>
                                        </a:rPr>
                                      </m:ctrlPr>
                                    </m:dPr>
                                    <m:e>
                                      <m:sSub>
                                        <m:sSubPr>
                                          <m:ctrlPr>
                                            <a:rPr lang="en-US" altLang="zh-TW" sz="1400" i="1">
                                              <a:latin typeface="Cambria Math" panose="02040503050406030204" pitchFamily="18" charset="0"/>
                                            </a:rPr>
                                          </m:ctrlPr>
                                        </m:sSubPr>
                                        <m:e>
                                          <m:r>
                                            <a:rPr lang="en-US" altLang="zh-TW" sz="1400" i="1">
                                              <a:latin typeface="Cambria Math" panose="02040503050406030204" pitchFamily="18" charset="0"/>
                                            </a:rPr>
                                            <m:t>𝑏</m:t>
                                          </m:r>
                                        </m:e>
                                        <m:sub>
                                          <m:r>
                                            <a:rPr lang="en-US" altLang="zh-TW" sz="1400" i="1">
                                              <a:latin typeface="Cambria Math" panose="02040503050406030204" pitchFamily="18" charset="0"/>
                                            </a:rPr>
                                            <m:t>𝑖𝑗</m:t>
                                          </m:r>
                                        </m:sub>
                                      </m:sSub>
                                    </m:e>
                                  </m:d>
                                </m:e>
                              </m:nary>
                            </m:e>
                          </m:nary>
                        </m:den>
                      </m:f>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rPr>
                        <m:t>100</m:t>
                      </m:r>
                      <m:r>
                        <a:rPr lang="en-US" altLang="zh-TW" sz="1400" b="0" i="1" smtClean="0">
                          <a:latin typeface="Cambria Math" panose="02040503050406030204" pitchFamily="18" charset="0"/>
                        </a:rPr>
                        <m:t>%=0.26%</m:t>
                      </m:r>
                    </m:oMath>
                  </m:oMathPara>
                </a14:m>
                <a:endParaRPr lang="zh-TW" altLang="en-US" sz="1400" dirty="0"/>
              </a:p>
            </p:txBody>
          </p:sp>
        </mc:Choice>
        <mc:Fallback xmlns="">
          <p:sp>
            <p:nvSpPr>
              <p:cNvPr id="25" name="文字方塊 24">
                <a:extLst>
                  <a:ext uri="{FF2B5EF4-FFF2-40B4-BE49-F238E27FC236}">
                    <a16:creationId xmlns:a16="http://schemas.microsoft.com/office/drawing/2014/main" id="{EBA49798-FF6E-40E0-BBA9-161C19277A44}"/>
                  </a:ext>
                </a:extLst>
              </p:cNvPr>
              <p:cNvSpPr txBox="1">
                <a:spLocks noRot="1" noChangeAspect="1" noMove="1" noResize="1" noEditPoints="1" noAdjustHandles="1" noChangeArrowheads="1" noChangeShapeType="1" noTextEdit="1"/>
              </p:cNvSpPr>
              <p:nvPr/>
            </p:nvSpPr>
            <p:spPr>
              <a:xfrm>
                <a:off x="6832600" y="2583179"/>
                <a:ext cx="4191000" cy="549509"/>
              </a:xfrm>
              <a:prstGeom prst="rect">
                <a:avLst/>
              </a:prstGeom>
              <a:blipFill>
                <a:blip r:embed="rId2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950" name="CalibV_Vmat"/>
              <p:cNvSpPr txBox="1"/>
              <p:nvPr/>
            </p:nvSpPr>
            <p:spPr>
              <a:xfrm>
                <a:off x="3217782" y="4370832"/>
                <a:ext cx="5192875" cy="947907"/>
              </a:xfrm>
              <a:prstGeom prst="rect">
                <a:avLst/>
              </a:prstGeom>
              <a:noFill/>
            </p:spPr>
            <p:txBody>
              <a:bodyPr wrap="none" lIns="0" tIns="0" rIns="0" bIns="0" rtlCol="0" anchor="t"/>
              <a:lstStyle/>
              <a:p>
                <a:pPr algn="ctr"/>
                <a14:m>
                  <m:oMathPara xmlns:m="http://schemas.openxmlformats.org/officeDocument/2006/math">
                    <m:oMathParaPr>
                      <m:jc m:val="centerGroup"/>
                    </m:oMathParaPr>
                    <m:oMath xmlns:m="http://schemas.openxmlformats.org/officeDocument/2006/math">
                      <m:r>
                        <a:rPr lang="en-US" sz="1050" b="0" i="1" smtClean="0">
                          <a:latin typeface="Cambria Math" panose="02040503050406030204" pitchFamily="18" charset="0"/>
                        </a:rPr>
                        <m:t>𝑉</m:t>
                      </m:r>
                      <m:r>
                        <a:rPr lang="en-US" sz="1050" b="0" i="0">
                          <a:latin typeface="Cambria Math" panose="02040503050406030204" pitchFamily="18" charset="0"/>
                        </a:rPr>
                        <m:t> = </m:t>
                      </m:r>
                      <m:d>
                        <m:dPr>
                          <m:begChr m:val="["/>
                          <m:endChr m:val="]"/>
                          <m:ctrlPr>
                            <a:rPr lang="en-US" sz="1050" b="0" i="1">
                              <a:latin typeface="Cambria Math" panose="02040503050406030204" pitchFamily="18" charset="0"/>
                            </a:rPr>
                          </m:ctrlPr>
                        </m:dPr>
                        <m:e>
                          <m:m>
                            <m:mPr>
                              <m:mcs>
                                <m:mc>
                                  <m:mcPr>
                                    <m:count m:val="6"/>
                                    <m:mcJc m:val="center"/>
                                  </m:mcPr>
                                </m:mc>
                              </m:mcs>
                              <m:ctrlPr>
                                <a:rPr lang="en-US" sz="1050" b="0" i="1">
                                  <a:latin typeface="Cambria Math" panose="02040503050406030204" pitchFamily="18" charset="0"/>
                                </a:rPr>
                              </m:ctrlPr>
                            </m:mPr>
                            <m:mr>
                              <m:e>
                                <m:r>
                                  <a:rPr lang="en-US" sz="1050" b="0" i="0">
                                    <a:latin typeface="Cambria Math" panose="02040503050406030204" pitchFamily="18" charset="0"/>
                                  </a:rPr>
                                  <m:t>1159.5668</m:t>
                                </m:r>
                              </m:e>
                              <m:e>
                                <m:r>
                                  <a:rPr lang="en-US" sz="1050" b="0" i="0">
                                    <a:latin typeface="Cambria Math" panose="02040503050406030204" pitchFamily="18" charset="0"/>
                                  </a:rPr>
                                  <m:t>−23.5248</m:t>
                                </m:r>
                              </m:e>
                              <m:e>
                                <m:r>
                                  <a:rPr lang="en-US" sz="1050" b="0" i="0">
                                    <a:latin typeface="Cambria Math" panose="02040503050406030204" pitchFamily="18" charset="0"/>
                                  </a:rPr>
                                  <m:t>−213.7308</m:t>
                                </m:r>
                              </m:e>
                              <m:e>
                                <m:r>
                                  <a:rPr lang="en-US" sz="1050" b="0" i="0">
                                    <a:latin typeface="Cambria Math" panose="02040503050406030204" pitchFamily="18" charset="0"/>
                                  </a:rPr>
                                  <m:t>−208.7612</m:t>
                                </m:r>
                              </m:e>
                              <m:e>
                                <m:r>
                                  <a:rPr lang="en-US" sz="1050" b="0" i="0">
                                    <a:latin typeface="Cambria Math" panose="02040503050406030204" pitchFamily="18" charset="0"/>
                                  </a:rPr>
                                  <m:t>−202.0178</m:t>
                                </m:r>
                              </m:e>
                              <m:e>
                                <m:r>
                                  <a:rPr lang="en-US" sz="1050" b="0" i="0">
                                    <a:latin typeface="Cambria Math" panose="02040503050406030204" pitchFamily="18" charset="0"/>
                                  </a:rPr>
                                  <m:t>−217.6552</m:t>
                                </m:r>
                              </m:e>
                            </m:mr>
                            <m:mr>
                              <m:e>
                                <m:r>
                                  <a:rPr lang="en-US" sz="1050" b="0" i="0">
                                    <a:latin typeface="Cambria Math" panose="02040503050406030204" pitchFamily="18" charset="0"/>
                                  </a:rPr>
                                  <m:t>−25.8751</m:t>
                                </m:r>
                              </m:e>
                              <m:e>
                                <m:r>
                                  <a:rPr lang="en-US" sz="1050" b="0" i="0">
                                    <a:latin typeface="Cambria Math" panose="02040503050406030204" pitchFamily="18" charset="0"/>
                                  </a:rPr>
                                  <m:t>1270.3779</m:t>
                                </m:r>
                              </m:e>
                              <m:e>
                                <m:r>
                                  <a:rPr lang="en-US" sz="1050" b="0" i="0">
                                    <a:latin typeface="Cambria Math" panose="02040503050406030204" pitchFamily="18" charset="0"/>
                                  </a:rPr>
                                  <m:t>−194.5319</m:t>
                                </m:r>
                              </m:e>
                              <m:e>
                                <m:r>
                                  <a:rPr lang="en-US" sz="1050" b="0" i="0">
                                    <a:latin typeface="Cambria Math" panose="02040503050406030204" pitchFamily="18" charset="0"/>
                                  </a:rPr>
                                  <m:t>−385.6372</m:t>
                                </m:r>
                              </m:e>
                              <m:e>
                                <m:r>
                                  <a:rPr lang="en-US" sz="1050" b="0" i="0">
                                    <a:latin typeface="Cambria Math" panose="02040503050406030204" pitchFamily="18" charset="0"/>
                                  </a:rPr>
                                  <m:t>−395.0217</m:t>
                                </m:r>
                              </m:e>
                              <m:e>
                                <m:r>
                                  <a:rPr lang="en-US" sz="1050" b="0" i="0">
                                    <a:latin typeface="Cambria Math" panose="02040503050406030204" pitchFamily="18" charset="0"/>
                                  </a:rPr>
                                  <m:t>−196.1640</m:t>
                                </m:r>
                              </m:e>
                            </m:mr>
                            <m:mr>
                              <m:e>
                                <m:r>
                                  <a:rPr lang="en-US" sz="1050" b="0" i="0">
                                    <a:latin typeface="Cambria Math" panose="02040503050406030204" pitchFamily="18" charset="0"/>
                                  </a:rPr>
                                  <m:t>−214.4977</m:t>
                                </m:r>
                              </m:e>
                              <m:e>
                                <m:r>
                                  <a:rPr lang="en-US" sz="1050" b="0" i="0">
                                    <a:latin typeface="Cambria Math" panose="02040503050406030204" pitchFamily="18" charset="0"/>
                                  </a:rPr>
                                  <m:t>−207.8367</m:t>
                                </m:r>
                              </m:e>
                              <m:e>
                                <m:r>
                                  <a:rPr lang="en-US" sz="1050" b="0" i="0">
                                    <a:latin typeface="Cambria Math" panose="02040503050406030204" pitchFamily="18" charset="0"/>
                                  </a:rPr>
                                  <m:t>1164.1663</m:t>
                                </m:r>
                              </m:e>
                              <m:e>
                                <m:r>
                                  <a:rPr lang="en-US" sz="1050" b="0" i="0">
                                    <a:latin typeface="Cambria Math" panose="02040503050406030204" pitchFamily="18" charset="0"/>
                                  </a:rPr>
                                  <m:t>−23.2533</m:t>
                                </m:r>
                              </m:e>
                              <m:e>
                                <m:r>
                                  <a:rPr lang="en-US" sz="1050" b="0" i="0">
                                    <a:latin typeface="Cambria Math" panose="02040503050406030204" pitchFamily="18" charset="0"/>
                                  </a:rPr>
                                  <m:t>−202.7730</m:t>
                                </m:r>
                              </m:e>
                              <m:e>
                                <m:r>
                                  <a:rPr lang="en-US" sz="1050" b="0" i="0">
                                    <a:latin typeface="Cambria Math" panose="02040503050406030204" pitchFamily="18" charset="0"/>
                                  </a:rPr>
                                  <m:t>−213.7765</m:t>
                                </m:r>
                              </m:e>
                            </m:mr>
                            <m:mr>
                              <m:e>
                                <m:r>
                                  <a:rPr lang="en-US" sz="1050" b="0" i="0">
                                    <a:latin typeface="Cambria Math" panose="02040503050406030204" pitchFamily="18" charset="0"/>
                                  </a:rPr>
                                  <m:t>−194.8479</m:t>
                                </m:r>
                              </m:e>
                              <m:e>
                                <m:r>
                                  <a:rPr lang="en-US" sz="1050" b="0" i="0">
                                    <a:latin typeface="Cambria Math" panose="02040503050406030204" pitchFamily="18" charset="0"/>
                                  </a:rPr>
                                  <m:t>−391.6311</m:t>
                                </m:r>
                              </m:e>
                              <m:e>
                                <m:r>
                                  <a:rPr lang="en-US" sz="1050" b="0" i="0">
                                    <a:latin typeface="Cambria Math" panose="02040503050406030204" pitchFamily="18" charset="0"/>
                                  </a:rPr>
                                  <m:t>−25.8715</m:t>
                                </m:r>
                              </m:e>
                              <m:e>
                                <m:r>
                                  <a:rPr lang="en-US" sz="1050" b="0" i="0">
                                    <a:latin typeface="Cambria Math" panose="02040503050406030204" pitchFamily="18" charset="0"/>
                                  </a:rPr>
                                  <m:t>1278.5043</m:t>
                                </m:r>
                              </m:e>
                              <m:e>
                                <m:r>
                                  <a:rPr lang="en-US" sz="1050" b="0" i="0">
                                    <a:latin typeface="Cambria Math" panose="02040503050406030204" pitchFamily="18" charset="0"/>
                                  </a:rPr>
                                  <m:t>−387.9531</m:t>
                                </m:r>
                              </m:e>
                              <m:e>
                                <m:r>
                                  <a:rPr lang="en-US" sz="1050" b="0" i="0">
                                    <a:latin typeface="Cambria Math" panose="02040503050406030204" pitchFamily="18" charset="0"/>
                                  </a:rPr>
                                  <m:t>−200.2446</m:t>
                                </m:r>
                              </m:e>
                            </m:mr>
                            <m:mr>
                              <m:e>
                                <m:r>
                                  <a:rPr lang="en-US" sz="1050" b="0" i="0">
                                    <a:latin typeface="Cambria Math" panose="02040503050406030204" pitchFamily="18" charset="0"/>
                                  </a:rPr>
                                  <m:t>−194.4885</m:t>
                                </m:r>
                              </m:e>
                              <m:e>
                                <m:r>
                                  <a:rPr lang="en-US" sz="1050" b="0" i="0">
                                    <a:latin typeface="Cambria Math" panose="02040503050406030204" pitchFamily="18" charset="0"/>
                                  </a:rPr>
                                  <m:t>−382.5715</m:t>
                                </m:r>
                              </m:e>
                              <m:e>
                                <m:r>
                                  <a:rPr lang="en-US" sz="1050" b="0" i="0">
                                    <a:latin typeface="Cambria Math" panose="02040503050406030204" pitchFamily="18" charset="0"/>
                                  </a:rPr>
                                  <m:t>−191.0582</m:t>
                                </m:r>
                              </m:e>
                              <m:e>
                                <m:r>
                                  <a:rPr lang="en-US" sz="1050" b="0" i="0">
                                    <a:latin typeface="Cambria Math" panose="02040503050406030204" pitchFamily="18" charset="0"/>
                                  </a:rPr>
                                  <m:t>−380.5290</m:t>
                                </m:r>
                              </m:e>
                              <m:e>
                                <m:r>
                                  <a:rPr lang="en-US" sz="1050" b="0" i="0">
                                    <a:latin typeface="Cambria Math" panose="02040503050406030204" pitchFamily="18" charset="0"/>
                                  </a:rPr>
                                  <m:t>1259.5404</m:t>
                                </m:r>
                              </m:e>
                              <m:e>
                                <m:r>
                                  <a:rPr lang="en-US" sz="1050" b="0" i="0">
                                    <a:latin typeface="Cambria Math" panose="02040503050406030204" pitchFamily="18" charset="0"/>
                                  </a:rPr>
                                  <m:t>−25.1148</m:t>
                                </m:r>
                              </m:e>
                            </m:mr>
                            <m:mr>
                              <m:e>
                                <m:r>
                                  <a:rPr lang="en-US" sz="1050" b="0" i="0">
                                    <a:latin typeface="Cambria Math" panose="02040503050406030204" pitchFamily="18" charset="0"/>
                                  </a:rPr>
                                  <m:t>−215.1006</m:t>
                                </m:r>
                              </m:e>
                              <m:e>
                                <m:r>
                                  <a:rPr lang="en-US" sz="1050" b="0" i="0">
                                    <a:latin typeface="Cambria Math" panose="02040503050406030204" pitchFamily="18" charset="0"/>
                                  </a:rPr>
                                  <m:t>−206.1265</m:t>
                                </m:r>
                              </m:e>
                              <m:e>
                                <m:r>
                                  <a:rPr lang="en-US" sz="1050" b="0" i="0">
                                    <a:latin typeface="Cambria Math" panose="02040503050406030204" pitchFamily="18" charset="0"/>
                                  </a:rPr>
                                  <m:t>−218.6404</m:t>
                                </m:r>
                              </m:e>
                              <m:e>
                                <m:r>
                                  <a:rPr lang="en-US" sz="1050" b="0" i="0">
                                    <a:latin typeface="Cambria Math" panose="02040503050406030204" pitchFamily="18" charset="0"/>
                                  </a:rPr>
                                  <m:t>−212.7699</m:t>
                                </m:r>
                              </m:e>
                              <m:e>
                                <m:r>
                                  <a:rPr lang="en-US" sz="1050" b="0" i="0">
                                    <a:latin typeface="Cambria Math" panose="02040503050406030204" pitchFamily="18" charset="0"/>
                                  </a:rPr>
                                  <m:t>−23.0765</m:t>
                                </m:r>
                              </m:e>
                              <m:e>
                                <m:r>
                                  <a:rPr lang="en-US" sz="1050" b="0" i="0">
                                    <a:latin typeface="Cambria Math" panose="02040503050406030204" pitchFamily="18" charset="0"/>
                                  </a:rPr>
                                  <m:t>1164.4823</m:t>
                                </m:r>
                              </m:e>
                            </m:mr>
                          </m:m>
                        </m:e>
                      </m:d>
                      <m:r>
                        <a:rPr lang="en-US" sz="1050" b="0" i="0" smtClean="0">
                          <a:latin typeface="Cambria Math" panose="02040503050406030204" pitchFamily="18" charset="0"/>
                        </a:rPr>
                        <m:t>(</m:t>
                      </m:r>
                      <m:r>
                        <m:rPr>
                          <m:sty m:val="p"/>
                        </m:rPr>
                        <a:rPr lang="en-US" sz="1050" b="0" i="0" smtClean="0">
                          <a:latin typeface="Cambria Math" panose="02040503050406030204" pitchFamily="18" charset="0"/>
                        </a:rPr>
                        <m:t>mV</m:t>
                      </m:r>
                      <m:r>
                        <a:rPr lang="en-US" sz="1050" b="0" i="0" smtClean="0">
                          <a:latin typeface="Cambria Math" panose="02040503050406030204" pitchFamily="18" charset="0"/>
                        </a:rPr>
                        <m:t>)</m:t>
                      </m:r>
                    </m:oMath>
                  </m:oMathPara>
                </a14:m>
                <a:endParaRPr lang="en-US" sz="1050" dirty="0"/>
              </a:p>
            </p:txBody>
          </p:sp>
        </mc:Choice>
        <mc:Fallback xmlns="">
          <p:sp>
            <p:nvSpPr>
              <p:cNvPr id="950" name="CalibV_Vmat"/>
              <p:cNvSpPr txBox="1">
                <a:spLocks noRot="1" noChangeAspect="1" noMove="1" noResize="1" noEditPoints="1" noAdjustHandles="1" noChangeArrowheads="1" noChangeShapeType="1" noTextEdit="1"/>
              </p:cNvSpPr>
              <p:nvPr/>
            </p:nvSpPr>
            <p:spPr>
              <a:xfrm>
                <a:off x="3217782" y="4370832"/>
                <a:ext cx="5192875" cy="947907"/>
              </a:xfrm>
              <a:prstGeom prst="rect">
                <a:avLst/>
              </a:prstGeom>
              <a:blipFill>
                <a:blip r:embed="rId29"/>
                <a:stretch>
                  <a:fillRect l="-1291" r="-469"/>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1487071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204261"/>
            <a:ext cx="12192000" cy="837142"/>
          </a:xfrm>
        </p:spPr>
        <p:txBody>
          <a:bodyPr>
            <a:normAutofit fontScale="90000"/>
          </a:bodyPr>
          <a:lstStyle/>
          <a:p>
            <a:r>
              <a:rPr lang="en-US" altLang="zh-TW" sz="3600" b="1" kern="100" dirty="0">
                <a:solidFill>
                  <a:srgbClr val="000000"/>
                </a:solidFill>
                <a:latin typeface="Aptos"/>
                <a:ea typeface="新細明體" panose="02020500000000000000" pitchFamily="18" charset="-120"/>
                <a:cs typeface="Times New Roman" panose="02020603050405020304" pitchFamily="18" charset="0"/>
              </a:rPr>
              <a:t>Quantitative Assessment of Multi-Pole Actuators</a:t>
            </a:r>
            <a:br>
              <a:rPr lang="zh-TW" altLang="zh-TW" sz="1800" kern="100" dirty="0">
                <a:effectLst/>
                <a:latin typeface="Aptos"/>
                <a:ea typeface="新細明體" panose="02020500000000000000" pitchFamily="18" charset="-120"/>
                <a:cs typeface="Times New Roman" panose="02020603050405020304" pitchFamily="18" charset="0"/>
              </a:rPr>
            </a:b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3" name="文字方塊 2">
            <a:extLst>
              <a:ext uri="{FF2B5EF4-FFF2-40B4-BE49-F238E27FC236}">
                <a16:creationId xmlns:a16="http://schemas.microsoft.com/office/drawing/2014/main" id="{8C7984F6-0281-4747-8F4D-3E7C18B8A63B}"/>
              </a:ext>
            </a:extLst>
          </p:cNvPr>
          <p:cNvSpPr txBox="1"/>
          <p:nvPr/>
        </p:nvSpPr>
        <p:spPr>
          <a:xfrm>
            <a:off x="409671" y="2626733"/>
            <a:ext cx="2480733" cy="369332"/>
          </a:xfrm>
          <a:prstGeom prst="rect">
            <a:avLst/>
          </a:prstGeom>
          <a:noFill/>
        </p:spPr>
        <p:txBody>
          <a:bodyPr wrap="square" rtlCol="0">
            <a:spAutoFit/>
          </a:bodyPr>
          <a:lstStyle/>
          <a:p>
            <a:pPr marL="285750" indent="-285750">
              <a:buFont typeface="Arial" panose="020B0604020202020204" pitchFamily="34" charset="0"/>
              <a:buChar char="•"/>
            </a:pPr>
            <a:r>
              <a:rPr lang="en-US" altLang="zh-TW" dirty="0" err="1"/>
              <a:t>DesignA</a:t>
            </a:r>
            <a:endParaRPr lang="zh-TW" altLang="en-US" dirty="0"/>
          </a:p>
        </p:txBody>
      </p:sp>
      <p:sp>
        <p:nvSpPr>
          <p:cNvPr id="5" name="文字方塊 4">
            <a:extLst>
              <a:ext uri="{FF2B5EF4-FFF2-40B4-BE49-F238E27FC236}">
                <a16:creationId xmlns:a16="http://schemas.microsoft.com/office/drawing/2014/main" id="{ABD4ECE5-F0B8-49EE-9F5A-DF43669489B7}"/>
              </a:ext>
            </a:extLst>
          </p:cNvPr>
          <p:cNvSpPr txBox="1"/>
          <p:nvPr/>
        </p:nvSpPr>
        <p:spPr>
          <a:xfrm>
            <a:off x="6418127" y="2649838"/>
            <a:ext cx="2480733" cy="369332"/>
          </a:xfrm>
          <a:prstGeom prst="rect">
            <a:avLst/>
          </a:prstGeom>
          <a:noFill/>
        </p:spPr>
        <p:txBody>
          <a:bodyPr wrap="square" rtlCol="0">
            <a:spAutoFit/>
          </a:bodyPr>
          <a:lstStyle/>
          <a:p>
            <a:pPr marL="285750" indent="-285750">
              <a:buFont typeface="Arial" panose="020B0604020202020204" pitchFamily="34" charset="0"/>
              <a:buChar char="•"/>
            </a:pPr>
            <a:r>
              <a:rPr lang="en-US" altLang="zh-TW" dirty="0" err="1"/>
              <a:t>DesignB</a:t>
            </a:r>
            <a:endParaRPr lang="zh-TW" altLang="en-US" dirty="0"/>
          </a:p>
        </p:txBody>
      </p:sp>
      <p:grpSp>
        <p:nvGrpSpPr>
          <p:cNvPr id="6" name="群組 5">
            <a:extLst>
              <a:ext uri="{FF2B5EF4-FFF2-40B4-BE49-F238E27FC236}">
                <a16:creationId xmlns:a16="http://schemas.microsoft.com/office/drawing/2014/main" id="{09BCDCB1-9092-4EEE-B020-6AB25F6593D9}"/>
              </a:ext>
            </a:extLst>
          </p:cNvPr>
          <p:cNvGrpSpPr/>
          <p:nvPr/>
        </p:nvGrpSpPr>
        <p:grpSpPr>
          <a:xfrm>
            <a:off x="6804867" y="3222729"/>
            <a:ext cx="3410596" cy="2477943"/>
            <a:chOff x="373689" y="2613691"/>
            <a:chExt cx="3410596" cy="2477943"/>
          </a:xfrm>
        </p:grpSpPr>
        <p:pic>
          <p:nvPicPr>
            <p:cNvPr id="7" name="圖片 6">
              <a:extLst>
                <a:ext uri="{FF2B5EF4-FFF2-40B4-BE49-F238E27FC236}">
                  <a16:creationId xmlns:a16="http://schemas.microsoft.com/office/drawing/2014/main" id="{EAA45487-594C-4CAB-8051-280C7BD62FE4}"/>
                </a:ext>
              </a:extLst>
            </p:cNvPr>
            <p:cNvPicPr>
              <a:picLocks noChangeAspect="1"/>
            </p:cNvPicPr>
            <p:nvPr/>
          </p:nvPicPr>
          <p:blipFill rotWithShape="1">
            <a:blip r:embed="rId2">
              <a:extLst>
                <a:ext uri="{28A0092B-C50C-407E-A947-70E740481C1C}">
                  <a14:useLocalDpi xmlns:a14="http://schemas.microsoft.com/office/drawing/2010/main" val="0"/>
                </a:ext>
              </a:extLst>
            </a:blip>
            <a:srcRect l="21153" t="21077" r="17406" b="12392"/>
            <a:stretch/>
          </p:blipFill>
          <p:spPr>
            <a:xfrm>
              <a:off x="373689" y="2613691"/>
              <a:ext cx="3410596" cy="2477943"/>
            </a:xfrm>
            <a:prstGeom prst="rect">
              <a:avLst/>
            </a:prstGeom>
          </p:spPr>
        </p:pic>
        <p:grpSp>
          <p:nvGrpSpPr>
            <p:cNvPr id="9" name="群組 8">
              <a:extLst>
                <a:ext uri="{FF2B5EF4-FFF2-40B4-BE49-F238E27FC236}">
                  <a16:creationId xmlns:a16="http://schemas.microsoft.com/office/drawing/2014/main" id="{58CE3C77-D104-404F-82D4-0C83DAEED912}"/>
                </a:ext>
              </a:extLst>
            </p:cNvPr>
            <p:cNvGrpSpPr/>
            <p:nvPr/>
          </p:nvGrpSpPr>
          <p:grpSpPr>
            <a:xfrm>
              <a:off x="1491261" y="3253470"/>
              <a:ext cx="1228561" cy="1176562"/>
              <a:chOff x="2701406" y="2893183"/>
              <a:chExt cx="1228561" cy="1176562"/>
            </a:xfrm>
          </p:grpSpPr>
          <p:sp>
            <p:nvSpPr>
              <p:cNvPr id="13" name="文字方塊 12">
                <a:extLst>
                  <a:ext uri="{FF2B5EF4-FFF2-40B4-BE49-F238E27FC236}">
                    <a16:creationId xmlns:a16="http://schemas.microsoft.com/office/drawing/2014/main" id="{C0E75292-499D-410E-BCF9-A2D24F3B152B}"/>
                  </a:ext>
                </a:extLst>
              </p:cNvPr>
              <p:cNvSpPr txBox="1"/>
              <p:nvPr/>
            </p:nvSpPr>
            <p:spPr>
              <a:xfrm>
                <a:off x="3460750" y="3608079"/>
                <a:ext cx="434155"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P1</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14" name="文字方塊 13">
                <a:extLst>
                  <a:ext uri="{FF2B5EF4-FFF2-40B4-BE49-F238E27FC236}">
                    <a16:creationId xmlns:a16="http://schemas.microsoft.com/office/drawing/2014/main" id="{F88C5623-FFDF-438A-B840-17AF3FA5AA30}"/>
                  </a:ext>
                </a:extLst>
              </p:cNvPr>
              <p:cNvSpPr txBox="1"/>
              <p:nvPr/>
            </p:nvSpPr>
            <p:spPr>
              <a:xfrm>
                <a:off x="2818838" y="3184598"/>
                <a:ext cx="43201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P2</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15" name="文字方塊 14">
                <a:extLst>
                  <a:ext uri="{FF2B5EF4-FFF2-40B4-BE49-F238E27FC236}">
                    <a16:creationId xmlns:a16="http://schemas.microsoft.com/office/drawing/2014/main" id="{EF756CA1-B35F-46FC-8E2D-8A602E20A801}"/>
                  </a:ext>
                </a:extLst>
              </p:cNvPr>
              <p:cNvSpPr txBox="1"/>
              <p:nvPr/>
            </p:nvSpPr>
            <p:spPr>
              <a:xfrm>
                <a:off x="3146620" y="2893183"/>
                <a:ext cx="531208"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P3</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16" name="文字方塊 15">
                <a:extLst>
                  <a:ext uri="{FF2B5EF4-FFF2-40B4-BE49-F238E27FC236}">
                    <a16:creationId xmlns:a16="http://schemas.microsoft.com/office/drawing/2014/main" id="{7ADAF09B-1C24-49E7-A12E-4FA623B349D7}"/>
                  </a:ext>
                </a:extLst>
              </p:cNvPr>
              <p:cNvSpPr txBox="1"/>
              <p:nvPr/>
            </p:nvSpPr>
            <p:spPr>
              <a:xfrm>
                <a:off x="2701406" y="3608079"/>
                <a:ext cx="442165"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P6</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17" name="文字方塊 16">
                <a:extLst>
                  <a:ext uri="{FF2B5EF4-FFF2-40B4-BE49-F238E27FC236}">
                    <a16:creationId xmlns:a16="http://schemas.microsoft.com/office/drawing/2014/main" id="{37C301C1-DDCC-438C-996B-2D11692E1DE3}"/>
                  </a:ext>
                </a:extLst>
              </p:cNvPr>
              <p:cNvSpPr txBox="1"/>
              <p:nvPr/>
            </p:nvSpPr>
            <p:spPr>
              <a:xfrm>
                <a:off x="3092558" y="3761968"/>
                <a:ext cx="458652"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P4</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18" name="文字方塊 17">
                <a:extLst>
                  <a:ext uri="{FF2B5EF4-FFF2-40B4-BE49-F238E27FC236}">
                    <a16:creationId xmlns:a16="http://schemas.microsoft.com/office/drawing/2014/main" id="{22A0295E-5236-4D9B-9E34-4666437E4B01}"/>
                  </a:ext>
                </a:extLst>
              </p:cNvPr>
              <p:cNvSpPr txBox="1"/>
              <p:nvPr/>
            </p:nvSpPr>
            <p:spPr>
              <a:xfrm>
                <a:off x="3499145" y="3162394"/>
                <a:ext cx="430822"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P5</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grpSp>
      </p:grpSp>
      <p:grpSp>
        <p:nvGrpSpPr>
          <p:cNvPr id="4" name="群組 3">
            <a:extLst>
              <a:ext uri="{FF2B5EF4-FFF2-40B4-BE49-F238E27FC236}">
                <a16:creationId xmlns:a16="http://schemas.microsoft.com/office/drawing/2014/main" id="{1FDC83DC-92D9-4D5E-BBD7-36A1268AD8C9}"/>
              </a:ext>
            </a:extLst>
          </p:cNvPr>
          <p:cNvGrpSpPr/>
          <p:nvPr/>
        </p:nvGrpSpPr>
        <p:grpSpPr>
          <a:xfrm>
            <a:off x="575874" y="3278260"/>
            <a:ext cx="3509191" cy="2598287"/>
            <a:chOff x="667123" y="3381820"/>
            <a:chExt cx="3509191" cy="2598287"/>
          </a:xfrm>
        </p:grpSpPr>
        <p:pic>
          <p:nvPicPr>
            <p:cNvPr id="20" name="圖片 19">
              <a:extLst>
                <a:ext uri="{FF2B5EF4-FFF2-40B4-BE49-F238E27FC236}">
                  <a16:creationId xmlns:a16="http://schemas.microsoft.com/office/drawing/2014/main" id="{6A8FD489-3B78-4DCA-83AE-A0C17F587CFB}"/>
                </a:ext>
              </a:extLst>
            </p:cNvPr>
            <p:cNvPicPr>
              <a:picLocks noChangeAspect="1"/>
            </p:cNvPicPr>
            <p:nvPr/>
          </p:nvPicPr>
          <p:blipFill rotWithShape="1">
            <a:blip r:embed="rId3">
              <a:extLst>
                <a:ext uri="{28A0092B-C50C-407E-A947-70E740481C1C}">
                  <a14:useLocalDpi xmlns:a14="http://schemas.microsoft.com/office/drawing/2010/main" val="0"/>
                </a:ext>
              </a:extLst>
            </a:blip>
            <a:srcRect l="26359" t="20047" r="19666" b="12831"/>
            <a:stretch/>
          </p:blipFill>
          <p:spPr>
            <a:xfrm>
              <a:off x="667123" y="3381820"/>
              <a:ext cx="3509191" cy="2598287"/>
            </a:xfrm>
            <a:prstGeom prst="rect">
              <a:avLst/>
            </a:prstGeom>
          </p:spPr>
        </p:pic>
        <p:sp>
          <p:nvSpPr>
            <p:cNvPr id="21" name="文字方塊 20">
              <a:extLst>
                <a:ext uri="{FF2B5EF4-FFF2-40B4-BE49-F238E27FC236}">
                  <a16:creationId xmlns:a16="http://schemas.microsoft.com/office/drawing/2014/main" id="{E8C74A71-E267-4230-A329-BCD1C12EDE61}"/>
                </a:ext>
              </a:extLst>
            </p:cNvPr>
            <p:cNvSpPr txBox="1"/>
            <p:nvPr/>
          </p:nvSpPr>
          <p:spPr>
            <a:xfrm>
              <a:off x="2672497" y="4791315"/>
              <a:ext cx="500058"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P1</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22" name="文字方塊 21">
              <a:extLst>
                <a:ext uri="{FF2B5EF4-FFF2-40B4-BE49-F238E27FC236}">
                  <a16:creationId xmlns:a16="http://schemas.microsoft.com/office/drawing/2014/main" id="{79ED01CA-201F-4FBD-B1BE-8C7F2E5A57F6}"/>
                </a:ext>
              </a:extLst>
            </p:cNvPr>
            <p:cNvSpPr txBox="1"/>
            <p:nvPr/>
          </p:nvSpPr>
          <p:spPr>
            <a:xfrm>
              <a:off x="1648976" y="4369251"/>
              <a:ext cx="500058"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P2</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23" name="文字方塊 22">
              <a:extLst>
                <a:ext uri="{FF2B5EF4-FFF2-40B4-BE49-F238E27FC236}">
                  <a16:creationId xmlns:a16="http://schemas.microsoft.com/office/drawing/2014/main" id="{9B1A8B7B-69AC-402B-82C6-FA98B1FBEC36}"/>
                </a:ext>
              </a:extLst>
            </p:cNvPr>
            <p:cNvSpPr txBox="1"/>
            <p:nvPr/>
          </p:nvSpPr>
          <p:spPr>
            <a:xfrm>
              <a:off x="2080822" y="4023193"/>
              <a:ext cx="565348"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P3</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24" name="文字方塊 23">
              <a:extLst>
                <a:ext uri="{FF2B5EF4-FFF2-40B4-BE49-F238E27FC236}">
                  <a16:creationId xmlns:a16="http://schemas.microsoft.com/office/drawing/2014/main" id="{46769671-FF10-4489-9DC5-83CD62854141}"/>
                </a:ext>
              </a:extLst>
            </p:cNvPr>
            <p:cNvSpPr txBox="1"/>
            <p:nvPr/>
          </p:nvSpPr>
          <p:spPr>
            <a:xfrm>
              <a:off x="2202260" y="5009637"/>
              <a:ext cx="70684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P4</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25" name="文字方塊 24">
              <a:extLst>
                <a:ext uri="{FF2B5EF4-FFF2-40B4-BE49-F238E27FC236}">
                  <a16:creationId xmlns:a16="http://schemas.microsoft.com/office/drawing/2014/main" id="{09D03EFE-B287-4CCF-94E7-84A1CD90A171}"/>
                </a:ext>
              </a:extLst>
            </p:cNvPr>
            <p:cNvSpPr txBox="1"/>
            <p:nvPr/>
          </p:nvSpPr>
          <p:spPr>
            <a:xfrm>
              <a:off x="1722778" y="4920250"/>
              <a:ext cx="716087"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P6</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26" name="文字方塊 25">
              <a:extLst>
                <a:ext uri="{FF2B5EF4-FFF2-40B4-BE49-F238E27FC236}">
                  <a16:creationId xmlns:a16="http://schemas.microsoft.com/office/drawing/2014/main" id="{1E74A96C-F4DC-406B-9866-99487CFE1AF9}"/>
                </a:ext>
              </a:extLst>
            </p:cNvPr>
            <p:cNvSpPr txBox="1"/>
            <p:nvPr/>
          </p:nvSpPr>
          <p:spPr>
            <a:xfrm>
              <a:off x="2646170" y="4218252"/>
              <a:ext cx="500058"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P5</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grpSp>
      <p:sp>
        <p:nvSpPr>
          <p:cNvPr id="27" name="auto caption"/>
          <p:cNvSpPr txBox="1"/>
          <p:nvPr/>
        </p:nvSpPr>
        <p:spPr>
          <a:xfrm>
            <a:off x="282787" y="583936"/>
            <a:ext cx="11155680" cy="1325880"/>
          </a:xfrm>
          <a:prstGeom prst="rect">
            <a:avLst/>
          </a:prstGeom>
          <a:noFill/>
        </p:spPr>
        <p:txBody>
          <a:bodyPr wrap="square" rtlCol="0">
            <a:normAutofit lnSpcReduction="10000"/>
          </a:bodyPr>
          <a:lstStyle/>
          <a:p>
            <a:pPr marL="285750" indent="-285750"/>
            <a:r>
              <a:rPr lang="en-US" altLang="zh-TW" dirty="0"/>
              <a:t>Setup: The assessment that follows compares two six-pole actuator designs, Design 1 on a circular yoke and Design 2 on a planar square frame. Both are described by the same lumped-parameter model and use the pole numbering P1-P6 shown here.</a:t>
            </a:r>
          </a:p>
          <a:p>
            <a:pPr marL="285750" indent="-285750"/>
            <a:r>
              <a:rPr lang="en-US" altLang="zh-TW" dirty="0"/>
              <a:t>Sharing the model form and the pole numbering, the two differ only in geometry, so their calibrated parameters can be compared directly in the following slides.</a:t>
            </a:r>
          </a:p>
        </p:txBody>
      </p:sp>
    </p:spTree>
    <p:extLst>
      <p:ext uri="{BB962C8B-B14F-4D97-AF65-F5344CB8AC3E}">
        <p14:creationId xmlns:p14="http://schemas.microsoft.com/office/powerpoint/2010/main" val="235154543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矩形 47">
            <a:extLst>
              <a:ext uri="{FF2B5EF4-FFF2-40B4-BE49-F238E27FC236}">
                <a16:creationId xmlns:a16="http://schemas.microsoft.com/office/drawing/2014/main" id="{D04B276D-81CC-4937-B2F5-C3C828784D45}"/>
              </a:ext>
            </a:extLst>
          </p:cNvPr>
          <p:cNvSpPr/>
          <p:nvPr/>
        </p:nvSpPr>
        <p:spPr>
          <a:xfrm>
            <a:off x="10917927" y="1323922"/>
            <a:ext cx="245534" cy="79815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204261"/>
            <a:ext cx="12192000" cy="837142"/>
          </a:xfrm>
        </p:spPr>
        <p:txBody>
          <a:bodyPr>
            <a:normAutofit fontScale="90000"/>
          </a:bodyPr>
          <a:lstStyle/>
          <a:p>
            <a:r>
              <a:rPr lang="en-US" altLang="zh-TW" sz="3600" b="1" kern="100" dirty="0">
                <a:solidFill>
                  <a:srgbClr val="000000"/>
                </a:solidFill>
                <a:latin typeface="Aptos"/>
                <a:ea typeface="新細明體" panose="02020500000000000000" pitchFamily="18" charset="-120"/>
                <a:cs typeface="Times New Roman" panose="02020603050405020304" pitchFamily="18" charset="0"/>
              </a:rPr>
              <a:t>Quantitative Assessment of Multi-Pole Actuators</a:t>
            </a:r>
            <a:br>
              <a:rPr lang="zh-TW" altLang="zh-TW" sz="1800" kern="100" dirty="0">
                <a:effectLst/>
                <a:latin typeface="Aptos"/>
                <a:ea typeface="新細明體" panose="02020500000000000000" pitchFamily="18" charset="-120"/>
                <a:cs typeface="Times New Roman" panose="02020603050405020304" pitchFamily="18" charset="0"/>
              </a:rPr>
            </a:b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16" name="文字方塊 15">
            <a:extLst>
              <a:ext uri="{FF2B5EF4-FFF2-40B4-BE49-F238E27FC236}">
                <a16:creationId xmlns:a16="http://schemas.microsoft.com/office/drawing/2014/main" id="{6BA9955A-92B3-406A-93D9-E13D8B8C100E}"/>
              </a:ext>
            </a:extLst>
          </p:cNvPr>
          <p:cNvSpPr txBox="1"/>
          <p:nvPr/>
        </p:nvSpPr>
        <p:spPr>
          <a:xfrm>
            <a:off x="118533" y="516467"/>
            <a:ext cx="3588625" cy="369332"/>
          </a:xfrm>
          <a:prstGeom prst="rect">
            <a:avLst/>
          </a:prstGeom>
          <a:noFill/>
        </p:spPr>
        <p:txBody>
          <a:bodyPr wrap="square" rtlCol="0">
            <a:spAutoFit/>
          </a:bodyPr>
          <a:lstStyle/>
          <a:p>
            <a:pPr marL="285750" indent="-285750">
              <a:buFont typeface="Arial" panose="020B0604020202020204" pitchFamily="34" charset="0"/>
              <a:buChar char="•"/>
            </a:pPr>
            <a:r>
              <a:rPr lang="en-US" altLang="zh-TW" dirty="0" err="1"/>
              <a:t>DesignA</a:t>
            </a:r>
            <a:endParaRPr lang="zh-TW" altLang="en-US" dirty="0"/>
          </a:p>
        </p:txBody>
      </p:sp>
      <p:sp>
        <p:nvSpPr>
          <p:cNvPr id="34" name="矩形 33">
            <a:extLst>
              <a:ext uri="{FF2B5EF4-FFF2-40B4-BE49-F238E27FC236}">
                <a16:creationId xmlns:a16="http://schemas.microsoft.com/office/drawing/2014/main" id="{79D2E760-7634-49B3-8738-C566096C37A8}"/>
              </a:ext>
            </a:extLst>
          </p:cNvPr>
          <p:cNvSpPr/>
          <p:nvPr/>
        </p:nvSpPr>
        <p:spPr>
          <a:xfrm>
            <a:off x="5460999" y="1928550"/>
            <a:ext cx="245534" cy="1693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2" name="矩形 41">
            <a:extLst>
              <a:ext uri="{FF2B5EF4-FFF2-40B4-BE49-F238E27FC236}">
                <a16:creationId xmlns:a16="http://schemas.microsoft.com/office/drawing/2014/main" id="{1190983A-5C39-4886-9619-EB987BA08A5A}"/>
              </a:ext>
            </a:extLst>
          </p:cNvPr>
          <p:cNvSpPr/>
          <p:nvPr/>
        </p:nvSpPr>
        <p:spPr>
          <a:xfrm>
            <a:off x="10797843" y="1658714"/>
            <a:ext cx="453262" cy="29472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43" name="矩形 42">
            <a:extLst>
              <a:ext uri="{FF2B5EF4-FFF2-40B4-BE49-F238E27FC236}">
                <a16:creationId xmlns:a16="http://schemas.microsoft.com/office/drawing/2014/main" id="{DAC22EB2-D2BB-462C-BC74-58FD2DE4BA6A}"/>
              </a:ext>
            </a:extLst>
          </p:cNvPr>
          <p:cNvSpPr/>
          <p:nvPr/>
        </p:nvSpPr>
        <p:spPr>
          <a:xfrm>
            <a:off x="6256928" y="770989"/>
            <a:ext cx="245534" cy="1693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6" name="矩形 45">
            <a:extLst>
              <a:ext uri="{FF2B5EF4-FFF2-40B4-BE49-F238E27FC236}">
                <a16:creationId xmlns:a16="http://schemas.microsoft.com/office/drawing/2014/main" id="{8CA65E4A-CFB2-4EA2-85BD-0D9730ADE9B3}"/>
              </a:ext>
            </a:extLst>
          </p:cNvPr>
          <p:cNvSpPr/>
          <p:nvPr/>
        </p:nvSpPr>
        <p:spPr>
          <a:xfrm>
            <a:off x="8173347" y="3538569"/>
            <a:ext cx="245534" cy="1693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47" name="矩形 46">
            <a:extLst>
              <a:ext uri="{FF2B5EF4-FFF2-40B4-BE49-F238E27FC236}">
                <a16:creationId xmlns:a16="http://schemas.microsoft.com/office/drawing/2014/main" id="{F8240F74-EA98-4ED3-B43E-B311F02C30DD}"/>
              </a:ext>
            </a:extLst>
          </p:cNvPr>
          <p:cNvSpPr/>
          <p:nvPr/>
        </p:nvSpPr>
        <p:spPr>
          <a:xfrm>
            <a:off x="8932275" y="770989"/>
            <a:ext cx="245534" cy="1693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0" name="矩形 49">
            <a:extLst>
              <a:ext uri="{FF2B5EF4-FFF2-40B4-BE49-F238E27FC236}">
                <a16:creationId xmlns:a16="http://schemas.microsoft.com/office/drawing/2014/main" id="{E3B77C83-699E-461F-B4BA-8C2FA871DCA2}"/>
              </a:ext>
            </a:extLst>
          </p:cNvPr>
          <p:cNvSpPr/>
          <p:nvPr/>
        </p:nvSpPr>
        <p:spPr>
          <a:xfrm>
            <a:off x="5351905" y="2059278"/>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1" name="矩形 50">
            <a:extLst>
              <a:ext uri="{FF2B5EF4-FFF2-40B4-BE49-F238E27FC236}">
                <a16:creationId xmlns:a16="http://schemas.microsoft.com/office/drawing/2014/main" id="{3D14EEA7-B1CC-4A28-BF80-872555CF32BF}"/>
              </a:ext>
            </a:extLst>
          </p:cNvPr>
          <p:cNvSpPr/>
          <p:nvPr/>
        </p:nvSpPr>
        <p:spPr>
          <a:xfrm>
            <a:off x="6535040" y="2906549"/>
            <a:ext cx="218554" cy="18287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6" name="矩形 55">
            <a:extLst>
              <a:ext uri="{FF2B5EF4-FFF2-40B4-BE49-F238E27FC236}">
                <a16:creationId xmlns:a16="http://schemas.microsoft.com/office/drawing/2014/main" id="{3FBA3E74-E0D9-4C92-89A1-FC1810D9C593}"/>
              </a:ext>
            </a:extLst>
          </p:cNvPr>
          <p:cNvSpPr/>
          <p:nvPr/>
        </p:nvSpPr>
        <p:spPr>
          <a:xfrm>
            <a:off x="10419603" y="2544525"/>
            <a:ext cx="61970" cy="4109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6" name="群組 65">
            <a:extLst>
              <a:ext uri="{FF2B5EF4-FFF2-40B4-BE49-F238E27FC236}">
                <a16:creationId xmlns:a16="http://schemas.microsoft.com/office/drawing/2014/main" id="{B8B44E8A-7C69-40AF-868C-858D8E255A75}"/>
              </a:ext>
            </a:extLst>
          </p:cNvPr>
          <p:cNvGrpSpPr/>
          <p:nvPr/>
        </p:nvGrpSpPr>
        <p:grpSpPr>
          <a:xfrm>
            <a:off x="7498212" y="3763636"/>
            <a:ext cx="2973497" cy="2082167"/>
            <a:chOff x="6051068" y="3773292"/>
            <a:chExt cx="3462496" cy="2286540"/>
          </a:xfrm>
        </p:grpSpPr>
        <p:sp>
          <p:nvSpPr>
            <p:cNvPr id="61" name="矩形 60">
              <a:extLst>
                <a:ext uri="{FF2B5EF4-FFF2-40B4-BE49-F238E27FC236}">
                  <a16:creationId xmlns:a16="http://schemas.microsoft.com/office/drawing/2014/main" id="{654CDC74-E55F-4DBC-B616-357EBC5F4474}"/>
                </a:ext>
              </a:extLst>
            </p:cNvPr>
            <p:cNvSpPr/>
            <p:nvPr/>
          </p:nvSpPr>
          <p:spPr>
            <a:xfrm>
              <a:off x="8324876" y="5644809"/>
              <a:ext cx="258270" cy="27092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2" name="矩形 61">
              <a:extLst>
                <a:ext uri="{FF2B5EF4-FFF2-40B4-BE49-F238E27FC236}">
                  <a16:creationId xmlns:a16="http://schemas.microsoft.com/office/drawing/2014/main" id="{CD1471C2-34F2-4760-BFF2-E80C9E428DEC}"/>
                </a:ext>
              </a:extLst>
            </p:cNvPr>
            <p:cNvSpPr/>
            <p:nvPr/>
          </p:nvSpPr>
          <p:spPr>
            <a:xfrm>
              <a:off x="6446961" y="3773292"/>
              <a:ext cx="323457" cy="23153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63" name="矩形 62">
              <a:extLst>
                <a:ext uri="{FF2B5EF4-FFF2-40B4-BE49-F238E27FC236}">
                  <a16:creationId xmlns:a16="http://schemas.microsoft.com/office/drawing/2014/main" id="{90FF13F8-3A65-4128-BC28-CAC513B4FB57}"/>
                </a:ext>
              </a:extLst>
            </p:cNvPr>
            <p:cNvSpPr/>
            <p:nvPr/>
          </p:nvSpPr>
          <p:spPr>
            <a:xfrm>
              <a:off x="6051068" y="5067090"/>
              <a:ext cx="323457" cy="23153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4" name="矩形 63">
              <a:extLst>
                <a:ext uri="{FF2B5EF4-FFF2-40B4-BE49-F238E27FC236}">
                  <a16:creationId xmlns:a16="http://schemas.microsoft.com/office/drawing/2014/main" id="{5BAF1E9B-9DCD-467B-B70A-E5CD30B363C2}"/>
                </a:ext>
              </a:extLst>
            </p:cNvPr>
            <p:cNvSpPr/>
            <p:nvPr/>
          </p:nvSpPr>
          <p:spPr>
            <a:xfrm>
              <a:off x="7250039" y="5828298"/>
              <a:ext cx="323457" cy="23153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65" name="矩形 64">
              <a:extLst>
                <a:ext uri="{FF2B5EF4-FFF2-40B4-BE49-F238E27FC236}">
                  <a16:creationId xmlns:a16="http://schemas.microsoft.com/office/drawing/2014/main" id="{9D7F0799-F13A-4899-9213-C4590823EDB0}"/>
                </a:ext>
              </a:extLst>
            </p:cNvPr>
            <p:cNvSpPr/>
            <p:nvPr/>
          </p:nvSpPr>
          <p:spPr>
            <a:xfrm>
              <a:off x="9295009" y="4197827"/>
              <a:ext cx="218555" cy="92286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grpSp>
      <p:sp>
        <p:nvSpPr>
          <p:cNvPr id="79" name="矩形 78">
            <a:extLst>
              <a:ext uri="{FF2B5EF4-FFF2-40B4-BE49-F238E27FC236}">
                <a16:creationId xmlns:a16="http://schemas.microsoft.com/office/drawing/2014/main" id="{6EE2C76E-7851-4AB6-9A3E-18664BA7EDA9}"/>
              </a:ext>
            </a:extLst>
          </p:cNvPr>
          <p:cNvSpPr/>
          <p:nvPr/>
        </p:nvSpPr>
        <p:spPr>
          <a:xfrm>
            <a:off x="5106371" y="3533630"/>
            <a:ext cx="245534" cy="26643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5" name="群組 4">
            <a:extLst>
              <a:ext uri="{FF2B5EF4-FFF2-40B4-BE49-F238E27FC236}">
                <a16:creationId xmlns:a16="http://schemas.microsoft.com/office/drawing/2014/main" id="{1076ECCF-AE78-499B-802A-49657D03E324}"/>
              </a:ext>
            </a:extLst>
          </p:cNvPr>
          <p:cNvGrpSpPr/>
          <p:nvPr/>
        </p:nvGrpSpPr>
        <p:grpSpPr>
          <a:xfrm>
            <a:off x="6937522" y="587617"/>
            <a:ext cx="4480574" cy="2181247"/>
            <a:chOff x="6659389" y="655634"/>
            <a:chExt cx="4480574" cy="2181247"/>
          </a:xfrm>
        </p:grpSpPr>
        <p:pic>
          <p:nvPicPr>
            <p:cNvPr id="4" name="圖片 3">
              <a:extLst>
                <a:ext uri="{FF2B5EF4-FFF2-40B4-BE49-F238E27FC236}">
                  <a16:creationId xmlns:a16="http://schemas.microsoft.com/office/drawing/2014/main" id="{FD0E1181-1334-454B-9EC1-F138635B0AE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23748" y="766703"/>
              <a:ext cx="4226819" cy="1972467"/>
            </a:xfrm>
            <a:prstGeom prst="rect">
              <a:avLst/>
            </a:prstGeom>
          </p:spPr>
        </p:pic>
        <p:grpSp>
          <p:nvGrpSpPr>
            <p:cNvPr id="126" name="群組 125">
              <a:extLst>
                <a:ext uri="{FF2B5EF4-FFF2-40B4-BE49-F238E27FC236}">
                  <a16:creationId xmlns:a16="http://schemas.microsoft.com/office/drawing/2014/main" id="{D2C34612-FE87-41C5-9E68-80C0F016BEEF}"/>
                </a:ext>
              </a:extLst>
            </p:cNvPr>
            <p:cNvGrpSpPr/>
            <p:nvPr/>
          </p:nvGrpSpPr>
          <p:grpSpPr>
            <a:xfrm>
              <a:off x="6659389" y="655634"/>
              <a:ext cx="4480574" cy="2181247"/>
              <a:chOff x="5745188" y="774368"/>
              <a:chExt cx="4480574" cy="2181247"/>
            </a:xfrm>
          </p:grpSpPr>
          <p:grpSp>
            <p:nvGrpSpPr>
              <p:cNvPr id="104" name="群組 103">
                <a:extLst>
                  <a:ext uri="{FF2B5EF4-FFF2-40B4-BE49-F238E27FC236}">
                    <a16:creationId xmlns:a16="http://schemas.microsoft.com/office/drawing/2014/main" id="{A6B76983-543C-42CB-9656-7C72DACBE64A}"/>
                  </a:ext>
                </a:extLst>
              </p:cNvPr>
              <p:cNvGrpSpPr/>
              <p:nvPr/>
            </p:nvGrpSpPr>
            <p:grpSpPr>
              <a:xfrm>
                <a:off x="5815627" y="842775"/>
                <a:ext cx="4410135" cy="2052179"/>
                <a:chOff x="5798794" y="875955"/>
                <a:chExt cx="4410135" cy="2011622"/>
              </a:xfrm>
            </p:grpSpPr>
            <p:grpSp>
              <p:nvGrpSpPr>
                <p:cNvPr id="103" name="群組 102">
                  <a:extLst>
                    <a:ext uri="{FF2B5EF4-FFF2-40B4-BE49-F238E27FC236}">
                      <a16:creationId xmlns:a16="http://schemas.microsoft.com/office/drawing/2014/main" id="{B312056C-7B99-454C-9849-1B693289290F}"/>
                    </a:ext>
                  </a:extLst>
                </p:cNvPr>
                <p:cNvGrpSpPr/>
                <p:nvPr/>
              </p:nvGrpSpPr>
              <p:grpSpPr>
                <a:xfrm>
                  <a:off x="5798794" y="875955"/>
                  <a:ext cx="4332546" cy="2011622"/>
                  <a:chOff x="5798794" y="875955"/>
                  <a:chExt cx="4332546" cy="2011622"/>
                </a:xfrm>
              </p:grpSpPr>
              <p:sp>
                <p:nvSpPr>
                  <p:cNvPr id="93" name="矩形 92">
                    <a:extLst>
                      <a:ext uri="{FF2B5EF4-FFF2-40B4-BE49-F238E27FC236}">
                        <a16:creationId xmlns:a16="http://schemas.microsoft.com/office/drawing/2014/main" id="{525AE447-9ED2-4513-9B43-301DCA1B05D1}"/>
                      </a:ext>
                    </a:extLst>
                  </p:cNvPr>
                  <p:cNvSpPr/>
                  <p:nvPr/>
                </p:nvSpPr>
                <p:spPr>
                  <a:xfrm>
                    <a:off x="6753594" y="885799"/>
                    <a:ext cx="245534" cy="19014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矩形 93">
                    <a:extLst>
                      <a:ext uri="{FF2B5EF4-FFF2-40B4-BE49-F238E27FC236}">
                        <a16:creationId xmlns:a16="http://schemas.microsoft.com/office/drawing/2014/main" id="{D65C1B0B-E03C-4C86-8C56-4B5AF5A3BD39}"/>
                      </a:ext>
                    </a:extLst>
                  </p:cNvPr>
                  <p:cNvSpPr/>
                  <p:nvPr/>
                </p:nvSpPr>
                <p:spPr>
                  <a:xfrm>
                    <a:off x="8658167" y="875955"/>
                    <a:ext cx="308314" cy="19998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5" name="矩形 94">
                    <a:extLst>
                      <a:ext uri="{FF2B5EF4-FFF2-40B4-BE49-F238E27FC236}">
                        <a16:creationId xmlns:a16="http://schemas.microsoft.com/office/drawing/2014/main" id="{97A0856B-15B2-45BC-9274-DEE2C95991E2}"/>
                      </a:ext>
                    </a:extLst>
                  </p:cNvPr>
                  <p:cNvSpPr/>
                  <p:nvPr/>
                </p:nvSpPr>
                <p:spPr>
                  <a:xfrm>
                    <a:off x="7598726" y="1782249"/>
                    <a:ext cx="415695" cy="21617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6" name="矩形 95">
                    <a:extLst>
                      <a:ext uri="{FF2B5EF4-FFF2-40B4-BE49-F238E27FC236}">
                        <a16:creationId xmlns:a16="http://schemas.microsoft.com/office/drawing/2014/main" id="{EAF62A92-51E9-40BA-860A-15EE3CC9F38C}"/>
                      </a:ext>
                    </a:extLst>
                  </p:cNvPr>
                  <p:cNvSpPr/>
                  <p:nvPr/>
                </p:nvSpPr>
                <p:spPr>
                  <a:xfrm>
                    <a:off x="5798794" y="1782756"/>
                    <a:ext cx="245534" cy="19014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7" name="矩形 96">
                    <a:extLst>
                      <a:ext uri="{FF2B5EF4-FFF2-40B4-BE49-F238E27FC236}">
                        <a16:creationId xmlns:a16="http://schemas.microsoft.com/office/drawing/2014/main" id="{428B6E4B-BA92-4351-AF44-9EDCF9387C43}"/>
                      </a:ext>
                    </a:extLst>
                  </p:cNvPr>
                  <p:cNvSpPr/>
                  <p:nvPr/>
                </p:nvSpPr>
                <p:spPr>
                  <a:xfrm>
                    <a:off x="6686652" y="2687208"/>
                    <a:ext cx="245534" cy="19014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8" name="矩形 97">
                    <a:extLst>
                      <a:ext uri="{FF2B5EF4-FFF2-40B4-BE49-F238E27FC236}">
                        <a16:creationId xmlns:a16="http://schemas.microsoft.com/office/drawing/2014/main" id="{10C9BAEF-BFCC-48D3-98B8-BA829C8B86D9}"/>
                      </a:ext>
                    </a:extLst>
                  </p:cNvPr>
                  <p:cNvSpPr/>
                  <p:nvPr/>
                </p:nvSpPr>
                <p:spPr>
                  <a:xfrm>
                    <a:off x="8658167" y="2697434"/>
                    <a:ext cx="245534" cy="19014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9" name="矩形 98">
                    <a:extLst>
                      <a:ext uri="{FF2B5EF4-FFF2-40B4-BE49-F238E27FC236}">
                        <a16:creationId xmlns:a16="http://schemas.microsoft.com/office/drawing/2014/main" id="{A6345865-5CDE-4A43-810D-D8AAECD35F25}"/>
                      </a:ext>
                    </a:extLst>
                  </p:cNvPr>
                  <p:cNvSpPr/>
                  <p:nvPr/>
                </p:nvSpPr>
                <p:spPr>
                  <a:xfrm>
                    <a:off x="9557111" y="1725679"/>
                    <a:ext cx="181350" cy="25898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0" name="矩形 99">
                    <a:extLst>
                      <a:ext uri="{FF2B5EF4-FFF2-40B4-BE49-F238E27FC236}">
                        <a16:creationId xmlns:a16="http://schemas.microsoft.com/office/drawing/2014/main" id="{AD847CB7-AB23-4174-880D-8148114705A1}"/>
                      </a:ext>
                    </a:extLst>
                  </p:cNvPr>
                  <p:cNvSpPr/>
                  <p:nvPr/>
                </p:nvSpPr>
                <p:spPr>
                  <a:xfrm>
                    <a:off x="10008573" y="1597528"/>
                    <a:ext cx="122767" cy="57102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786A494C-BAF4-4D1F-BA9A-4460EFDB47C1}"/>
                        </a:ext>
                      </a:extLst>
                    </p:cNvPr>
                    <p:cNvSpPr txBox="1"/>
                    <p:nvPr/>
                  </p:nvSpPr>
                  <p:spPr>
                    <a:xfrm rot="16200000">
                      <a:off x="9154140" y="1727490"/>
                      <a:ext cx="1832580" cy="27699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altLang="zh-TW" sz="120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apacity</m:t>
                            </m:r>
                            <m:r>
                              <a:rPr lang="en-US" altLang="zh-TW" sz="1200" b="0" i="0" smtClean="0">
                                <a:latin typeface="Cambria Math" panose="02040503050406030204" pitchFamily="18" charset="0"/>
                                <a:ea typeface="Cambria Math" panose="02040503050406030204" pitchFamily="18" charset="0"/>
                              </a:rPr>
                              <m:t> </m:t>
                            </m:r>
                            <m:r>
                              <m:rPr>
                                <m:sty m:val="p"/>
                              </m:rPr>
                              <a:rPr lang="en-US" altLang="zh-TW" sz="1200" b="0" i="0" smtClean="0">
                                <a:latin typeface="Cambria Math" panose="02040503050406030204" pitchFamily="18" charset="0"/>
                                <a:ea typeface="Cambria Math" panose="02040503050406030204" pitchFamily="18" charset="0"/>
                              </a:rPr>
                              <m:t>measure</m:t>
                            </m:r>
                            <m:r>
                              <a:rPr lang="en-US" altLang="zh-TW" sz="1200" b="0" i="0" smtClean="0">
                                <a:latin typeface="Cambria Math" panose="02040503050406030204" pitchFamily="18" charset="0"/>
                                <a:ea typeface="Cambria Math" panose="02040503050406030204" pitchFamily="18" charset="0"/>
                              </a:rPr>
                              <m:t> </m:t>
                            </m:r>
                            <m:r>
                              <a:rPr lang="en-US" altLang="zh-TW" sz="1200" b="0" i="1" smtClean="0">
                                <a:latin typeface="Cambria Math" panose="02040503050406030204" pitchFamily="18" charset="0"/>
                                <a:ea typeface="Cambria Math" panose="02040503050406030204" pitchFamily="18" charset="0"/>
                              </a:rPr>
                              <m:t>(</m:t>
                            </m:r>
                            <m:f>
                              <m:fPr>
                                <m:type m:val="lin"/>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𝑚𝑇</m:t>
                                </m:r>
                              </m:num>
                              <m:den>
                                <m:r>
                                  <a:rPr lang="en-US" altLang="zh-TW" sz="1200" b="0" i="1" smtClean="0">
                                    <a:latin typeface="Cambria Math" panose="02040503050406030204" pitchFamily="18" charset="0"/>
                                    <a:ea typeface="Cambria Math" panose="02040503050406030204" pitchFamily="18" charset="0"/>
                                  </a:rPr>
                                  <m:t>𝐴</m:t>
                                </m:r>
                              </m:den>
                            </m:f>
                            <m:r>
                              <a:rPr lang="en-US" altLang="zh-TW" sz="1200" b="0" i="1" smtClean="0">
                                <a:latin typeface="Cambria Math" panose="02040503050406030204" pitchFamily="18" charset="0"/>
                                <a:ea typeface="Cambria Math" panose="02040503050406030204" pitchFamily="18" charset="0"/>
                              </a:rPr>
                              <m:t>)</m:t>
                            </m:r>
                          </m:oMath>
                        </m:oMathPara>
                      </a14:m>
                      <a:endParaRPr lang="zh-TW" altLang="en-US" sz="1600" dirty="0"/>
                    </a:p>
                  </p:txBody>
                </p:sp>
              </mc:Choice>
              <mc:Fallback xmlns="">
                <p:sp>
                  <p:nvSpPr>
                    <p:cNvPr id="59" name="文字方塊 58">
                      <a:extLst>
                        <a:ext uri="{FF2B5EF4-FFF2-40B4-BE49-F238E27FC236}">
                          <a16:creationId xmlns:a16="http://schemas.microsoft.com/office/drawing/2014/main" id="{786A494C-BAF4-4D1F-BA9A-4460EFDB47C1}"/>
                        </a:ext>
                      </a:extLst>
                    </p:cNvPr>
                    <p:cNvSpPr txBox="1">
                      <a:spLocks noRot="1" noChangeAspect="1" noMove="1" noResize="1" noEditPoints="1" noAdjustHandles="1" noChangeArrowheads="1" noChangeShapeType="1" noTextEdit="1"/>
                    </p:cNvSpPr>
                    <p:nvPr/>
                  </p:nvSpPr>
                  <p:spPr>
                    <a:xfrm rot="16200000">
                      <a:off x="9154140" y="1727490"/>
                      <a:ext cx="1832580" cy="276999"/>
                    </a:xfrm>
                    <a:prstGeom prst="rect">
                      <a:avLst/>
                    </a:prstGeom>
                    <a:blipFill>
                      <a:blip r:embed="rId3"/>
                      <a:stretch>
                        <a:fillRect l="-95556" t="-13681" r="-148889"/>
                      </a:stretch>
                    </a:blipFill>
                  </p:spPr>
                  <p:txBody>
                    <a:bodyPr/>
                    <a:lstStyle/>
                    <a:p>
                      <a:r>
                        <a:rPr lang="zh-TW" altLang="en-US">
                          <a:noFill/>
                        </a:rPr>
                        <a:t> </a:t>
                      </a:r>
                    </a:p>
                  </p:txBody>
                </p:sp>
              </mc:Fallback>
            </mc:AlternateContent>
          </p:grpSp>
          <p:sp>
            <p:nvSpPr>
              <p:cNvPr id="114" name="文字方塊 113">
                <a:extLst>
                  <a:ext uri="{FF2B5EF4-FFF2-40B4-BE49-F238E27FC236}">
                    <a16:creationId xmlns:a16="http://schemas.microsoft.com/office/drawing/2014/main" id="{E622866F-97AA-4705-A2C2-49B20B60A011}"/>
                  </a:ext>
                </a:extLst>
              </p:cNvPr>
              <p:cNvSpPr txBox="1"/>
              <p:nvPr/>
            </p:nvSpPr>
            <p:spPr>
              <a:xfrm>
                <a:off x="7572305" y="1801354"/>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P1</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115" name="文字方塊 114">
                <a:extLst>
                  <a:ext uri="{FF2B5EF4-FFF2-40B4-BE49-F238E27FC236}">
                    <a16:creationId xmlns:a16="http://schemas.microsoft.com/office/drawing/2014/main" id="{BF354481-1145-4CE9-A8D7-E3EB0E045610}"/>
                  </a:ext>
                </a:extLst>
              </p:cNvPr>
              <p:cNvSpPr txBox="1"/>
              <p:nvPr/>
            </p:nvSpPr>
            <p:spPr>
              <a:xfrm>
                <a:off x="7703314" y="1592125"/>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P2</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116" name="文字方塊 115">
                <a:extLst>
                  <a:ext uri="{FF2B5EF4-FFF2-40B4-BE49-F238E27FC236}">
                    <a16:creationId xmlns:a16="http://schemas.microsoft.com/office/drawing/2014/main" id="{36C778ED-A77C-4E31-B310-802AEAED8562}"/>
                  </a:ext>
                </a:extLst>
              </p:cNvPr>
              <p:cNvSpPr txBox="1"/>
              <p:nvPr/>
            </p:nvSpPr>
            <p:spPr>
              <a:xfrm>
                <a:off x="6682607" y="785874"/>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P3</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117" name="文字方塊 116">
                <a:extLst>
                  <a:ext uri="{FF2B5EF4-FFF2-40B4-BE49-F238E27FC236}">
                    <a16:creationId xmlns:a16="http://schemas.microsoft.com/office/drawing/2014/main" id="{FC4BE724-CC8A-4AAD-AE24-C6703DBE7809}"/>
                  </a:ext>
                </a:extLst>
              </p:cNvPr>
              <p:cNvSpPr txBox="1"/>
              <p:nvPr/>
            </p:nvSpPr>
            <p:spPr>
              <a:xfrm>
                <a:off x="5745188" y="1626774"/>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P2</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118" name="文字方塊 117">
                <a:extLst>
                  <a:ext uri="{FF2B5EF4-FFF2-40B4-BE49-F238E27FC236}">
                    <a16:creationId xmlns:a16="http://schemas.microsoft.com/office/drawing/2014/main" id="{872148E4-1375-478B-B410-534E4E752F65}"/>
                  </a:ext>
                </a:extLst>
              </p:cNvPr>
              <p:cNvSpPr txBox="1"/>
              <p:nvPr/>
            </p:nvSpPr>
            <p:spPr>
              <a:xfrm>
                <a:off x="6700360" y="2647838"/>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P4</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119" name="文字方塊 118">
                <a:extLst>
                  <a:ext uri="{FF2B5EF4-FFF2-40B4-BE49-F238E27FC236}">
                    <a16:creationId xmlns:a16="http://schemas.microsoft.com/office/drawing/2014/main" id="{92DFC208-7E33-4AFA-9692-4CE531AC23A6}"/>
                  </a:ext>
                </a:extLst>
              </p:cNvPr>
              <p:cNvSpPr txBox="1"/>
              <p:nvPr/>
            </p:nvSpPr>
            <p:spPr>
              <a:xfrm>
                <a:off x="8611338" y="774368"/>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P5</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120" name="文字方塊 119">
                <a:extLst>
                  <a:ext uri="{FF2B5EF4-FFF2-40B4-BE49-F238E27FC236}">
                    <a16:creationId xmlns:a16="http://schemas.microsoft.com/office/drawing/2014/main" id="{0C02D05A-19CA-4649-8B73-FF2BACB0F342}"/>
                  </a:ext>
                </a:extLst>
              </p:cNvPr>
              <p:cNvSpPr txBox="1"/>
              <p:nvPr/>
            </p:nvSpPr>
            <p:spPr>
              <a:xfrm>
                <a:off x="8611338" y="2644076"/>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P6</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121" name="文字方塊 120">
                <a:extLst>
                  <a:ext uri="{FF2B5EF4-FFF2-40B4-BE49-F238E27FC236}">
                    <a16:creationId xmlns:a16="http://schemas.microsoft.com/office/drawing/2014/main" id="{F88C7781-126C-4732-B416-731CA551DC04}"/>
                  </a:ext>
                </a:extLst>
              </p:cNvPr>
              <p:cNvSpPr txBox="1"/>
              <p:nvPr/>
            </p:nvSpPr>
            <p:spPr>
              <a:xfrm>
                <a:off x="9500457" y="1824173"/>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P1</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22" name="文字方塊 121">
                    <a:extLst>
                      <a:ext uri="{FF2B5EF4-FFF2-40B4-BE49-F238E27FC236}">
                        <a16:creationId xmlns:a16="http://schemas.microsoft.com/office/drawing/2014/main" id="{E4ABD7FA-40B3-4FE8-BC0D-584449707A8F}"/>
                      </a:ext>
                    </a:extLst>
                  </p:cNvPr>
                  <p:cNvSpPr txBox="1"/>
                  <p:nvPr/>
                </p:nvSpPr>
                <p:spPr>
                  <a:xfrm>
                    <a:off x="7004962" y="1800305"/>
                    <a:ext cx="332369"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TW" sz="1400" b="1" i="1" smtClean="0">
                                  <a:solidFill>
                                    <a:schemeClr val="tx1"/>
                                  </a:solidFill>
                                  <a:latin typeface="Cambria Math" panose="02040503050406030204" pitchFamily="18" charset="0"/>
                                  <a:cs typeface="Times New Roman" panose="02020603050405020304" pitchFamily="18" charset="0"/>
                                </a:rPr>
                              </m:ctrlPr>
                            </m:sSubPr>
                            <m:e>
                              <m:r>
                                <a:rPr lang="en-US" altLang="zh-TW" sz="1400" b="1" i="0" smtClean="0">
                                  <a:solidFill>
                                    <a:schemeClr val="tx1"/>
                                  </a:solidFill>
                                  <a:latin typeface="Cambria Math" panose="02040503050406030204" pitchFamily="18" charset="0"/>
                                  <a:cs typeface="Times New Roman" panose="02020603050405020304" pitchFamily="18" charset="0"/>
                                </a:rPr>
                                <m:t>𝐱</m:t>
                              </m:r>
                            </m:e>
                            <m:sub>
                              <m:r>
                                <a:rPr lang="en-US" altLang="zh-TW" sz="1400" b="1" i="0" smtClean="0">
                                  <a:solidFill>
                                    <a:schemeClr val="tx1"/>
                                  </a:solidFill>
                                  <a:latin typeface="Cambria Math" panose="02040503050406030204" pitchFamily="18" charset="0"/>
                                  <a:cs typeface="Times New Roman" panose="02020603050405020304" pitchFamily="18" charset="0"/>
                                </a:rPr>
                                <m:t>𝐚</m:t>
                              </m:r>
                            </m:sub>
                          </m:sSub>
                        </m:oMath>
                      </m:oMathPara>
                    </a14:m>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Choice>
            <mc:Fallback xmlns="">
              <p:sp>
                <p:nvSpPr>
                  <p:cNvPr id="122" name="文字方塊 121">
                    <a:extLst>
                      <a:ext uri="{FF2B5EF4-FFF2-40B4-BE49-F238E27FC236}">
                        <a16:creationId xmlns:a16="http://schemas.microsoft.com/office/drawing/2014/main" id="{E4ABD7FA-40B3-4FE8-BC0D-584449707A8F}"/>
                      </a:ext>
                    </a:extLst>
                  </p:cNvPr>
                  <p:cNvSpPr txBox="1">
                    <a:spLocks noRot="1" noChangeAspect="1" noMove="1" noResize="1" noEditPoints="1" noAdjustHandles="1" noChangeArrowheads="1" noChangeShapeType="1" noTextEdit="1"/>
                  </p:cNvSpPr>
                  <p:nvPr/>
                </p:nvSpPr>
                <p:spPr>
                  <a:xfrm>
                    <a:off x="7004962" y="1800305"/>
                    <a:ext cx="332369" cy="307777"/>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3" name="文字方塊 122">
                    <a:extLst>
                      <a:ext uri="{FF2B5EF4-FFF2-40B4-BE49-F238E27FC236}">
                        <a16:creationId xmlns:a16="http://schemas.microsoft.com/office/drawing/2014/main" id="{EC2CC104-96C8-4CFE-8762-71B98E94DB61}"/>
                      </a:ext>
                    </a:extLst>
                  </p:cNvPr>
                  <p:cNvSpPr txBox="1"/>
                  <p:nvPr/>
                </p:nvSpPr>
                <p:spPr>
                  <a:xfrm>
                    <a:off x="6537691" y="1312479"/>
                    <a:ext cx="332369"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TW" sz="1400" b="1" i="1" smtClean="0">
                                  <a:solidFill>
                                    <a:schemeClr val="tx1"/>
                                  </a:solidFill>
                                  <a:latin typeface="Cambria Math" panose="02040503050406030204" pitchFamily="18" charset="0"/>
                                  <a:cs typeface="Times New Roman" panose="02020603050405020304" pitchFamily="18" charset="0"/>
                                </a:rPr>
                              </m:ctrlPr>
                            </m:sSubPr>
                            <m:e>
                              <m:r>
                                <a:rPr lang="en-US" altLang="zh-TW" sz="1400" b="1" i="0" smtClean="0">
                                  <a:solidFill>
                                    <a:schemeClr val="tx1"/>
                                  </a:solidFill>
                                  <a:latin typeface="Cambria Math" panose="02040503050406030204" pitchFamily="18" charset="0"/>
                                  <a:cs typeface="Times New Roman" panose="02020603050405020304" pitchFamily="18" charset="0"/>
                                </a:rPr>
                                <m:t>𝐲</m:t>
                              </m:r>
                            </m:e>
                            <m:sub>
                              <m:r>
                                <a:rPr lang="en-US" altLang="zh-TW" sz="1400" b="1" i="0" smtClean="0">
                                  <a:solidFill>
                                    <a:schemeClr val="tx1"/>
                                  </a:solidFill>
                                  <a:latin typeface="Cambria Math" panose="02040503050406030204" pitchFamily="18" charset="0"/>
                                  <a:cs typeface="Times New Roman" panose="02020603050405020304" pitchFamily="18" charset="0"/>
                                </a:rPr>
                                <m:t>𝐚</m:t>
                              </m:r>
                            </m:sub>
                          </m:sSub>
                        </m:oMath>
                      </m:oMathPara>
                    </a14:m>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Choice>
            <mc:Fallback xmlns="">
              <p:sp>
                <p:nvSpPr>
                  <p:cNvPr id="123" name="文字方塊 122">
                    <a:extLst>
                      <a:ext uri="{FF2B5EF4-FFF2-40B4-BE49-F238E27FC236}">
                        <a16:creationId xmlns:a16="http://schemas.microsoft.com/office/drawing/2014/main" id="{EC2CC104-96C8-4CFE-8762-71B98E94DB61}"/>
                      </a:ext>
                    </a:extLst>
                  </p:cNvPr>
                  <p:cNvSpPr txBox="1">
                    <a:spLocks noRot="1" noChangeAspect="1" noMove="1" noResize="1" noEditPoints="1" noAdjustHandles="1" noChangeArrowheads="1" noChangeShapeType="1" noTextEdit="1"/>
                  </p:cNvSpPr>
                  <p:nvPr/>
                </p:nvSpPr>
                <p:spPr>
                  <a:xfrm>
                    <a:off x="6537691" y="1312479"/>
                    <a:ext cx="332369" cy="307777"/>
                  </a:xfrm>
                  <a:prstGeom prst="rect">
                    <a:avLst/>
                  </a:prstGeom>
                  <a:blipFill>
                    <a:blip r:embed="rId9"/>
                    <a:stretch>
                      <a:fillRect b="-400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4" name="文字方塊 123">
                    <a:extLst>
                      <a:ext uri="{FF2B5EF4-FFF2-40B4-BE49-F238E27FC236}">
                        <a16:creationId xmlns:a16="http://schemas.microsoft.com/office/drawing/2014/main" id="{22776C41-A1CC-4F49-B102-F5A60EC60753}"/>
                      </a:ext>
                    </a:extLst>
                  </p:cNvPr>
                  <p:cNvSpPr txBox="1"/>
                  <p:nvPr/>
                </p:nvSpPr>
                <p:spPr>
                  <a:xfrm>
                    <a:off x="9021707" y="1790106"/>
                    <a:ext cx="332369"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TW" sz="1400" b="1" i="1" smtClean="0">
                                  <a:solidFill>
                                    <a:schemeClr val="tx1"/>
                                  </a:solidFill>
                                  <a:latin typeface="Cambria Math" panose="02040503050406030204" pitchFamily="18" charset="0"/>
                                  <a:cs typeface="Times New Roman" panose="02020603050405020304" pitchFamily="18" charset="0"/>
                                </a:rPr>
                              </m:ctrlPr>
                            </m:sSubPr>
                            <m:e>
                              <m:r>
                                <a:rPr lang="en-US" altLang="zh-TW" sz="1400" b="1" i="0" smtClean="0">
                                  <a:solidFill>
                                    <a:schemeClr val="tx1"/>
                                  </a:solidFill>
                                  <a:latin typeface="Cambria Math" panose="02040503050406030204" pitchFamily="18" charset="0"/>
                                  <a:cs typeface="Times New Roman" panose="02020603050405020304" pitchFamily="18" charset="0"/>
                                </a:rPr>
                                <m:t>𝐱</m:t>
                              </m:r>
                            </m:e>
                            <m:sub>
                              <m:r>
                                <a:rPr lang="en-US" altLang="zh-TW" sz="1400" b="1" i="0" smtClean="0">
                                  <a:solidFill>
                                    <a:schemeClr val="tx1"/>
                                  </a:solidFill>
                                  <a:latin typeface="Cambria Math" panose="02040503050406030204" pitchFamily="18" charset="0"/>
                                  <a:cs typeface="Times New Roman" panose="02020603050405020304" pitchFamily="18" charset="0"/>
                                </a:rPr>
                                <m:t>𝐚</m:t>
                              </m:r>
                            </m:sub>
                          </m:sSub>
                        </m:oMath>
                      </m:oMathPara>
                    </a14:m>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Choice>
            <mc:Fallback xmlns="">
              <p:sp>
                <p:nvSpPr>
                  <p:cNvPr id="124" name="文字方塊 123">
                    <a:extLst>
                      <a:ext uri="{FF2B5EF4-FFF2-40B4-BE49-F238E27FC236}">
                        <a16:creationId xmlns:a16="http://schemas.microsoft.com/office/drawing/2014/main" id="{22776C41-A1CC-4F49-B102-F5A60EC60753}"/>
                      </a:ext>
                    </a:extLst>
                  </p:cNvPr>
                  <p:cNvSpPr txBox="1">
                    <a:spLocks noRot="1" noChangeAspect="1" noMove="1" noResize="1" noEditPoints="1" noAdjustHandles="1" noChangeArrowheads="1" noChangeShapeType="1" noTextEdit="1"/>
                  </p:cNvSpPr>
                  <p:nvPr/>
                </p:nvSpPr>
                <p:spPr>
                  <a:xfrm>
                    <a:off x="9021707" y="1790106"/>
                    <a:ext cx="332369" cy="307777"/>
                  </a:xfrm>
                  <a:prstGeom prst="rect">
                    <a:avLst/>
                  </a:prstGeom>
                  <a:blipFill>
                    <a:blip r:embed="rId10"/>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5" name="文字方塊 124">
                    <a:extLst>
                      <a:ext uri="{FF2B5EF4-FFF2-40B4-BE49-F238E27FC236}">
                        <a16:creationId xmlns:a16="http://schemas.microsoft.com/office/drawing/2014/main" id="{8B69D8F6-84BA-4CE6-9868-BCC4F0E7F1D4}"/>
                      </a:ext>
                    </a:extLst>
                  </p:cNvPr>
                  <p:cNvSpPr txBox="1"/>
                  <p:nvPr/>
                </p:nvSpPr>
                <p:spPr>
                  <a:xfrm>
                    <a:off x="8491962" y="1312479"/>
                    <a:ext cx="332369"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TW" sz="1400" b="1" i="1" smtClean="0">
                                  <a:solidFill>
                                    <a:schemeClr val="tx1"/>
                                  </a:solidFill>
                                  <a:latin typeface="Cambria Math" panose="02040503050406030204" pitchFamily="18" charset="0"/>
                                  <a:cs typeface="Times New Roman" panose="02020603050405020304" pitchFamily="18" charset="0"/>
                                </a:rPr>
                              </m:ctrlPr>
                            </m:sSubPr>
                            <m:e>
                              <m:r>
                                <a:rPr lang="en-US" altLang="zh-TW" sz="1400" b="1" i="0" smtClean="0">
                                  <a:solidFill>
                                    <a:schemeClr val="tx1"/>
                                  </a:solidFill>
                                  <a:latin typeface="Cambria Math" panose="02040503050406030204" pitchFamily="18" charset="0"/>
                                  <a:cs typeface="Times New Roman" panose="02020603050405020304" pitchFamily="18" charset="0"/>
                                </a:rPr>
                                <m:t>𝐳</m:t>
                              </m:r>
                            </m:e>
                            <m:sub>
                              <m:r>
                                <a:rPr lang="en-US" altLang="zh-TW" sz="1400" b="1" i="0" smtClean="0">
                                  <a:solidFill>
                                    <a:schemeClr val="tx1"/>
                                  </a:solidFill>
                                  <a:latin typeface="Cambria Math" panose="02040503050406030204" pitchFamily="18" charset="0"/>
                                  <a:cs typeface="Times New Roman" panose="02020603050405020304" pitchFamily="18" charset="0"/>
                                </a:rPr>
                                <m:t>𝐚</m:t>
                              </m:r>
                            </m:sub>
                          </m:sSub>
                        </m:oMath>
                      </m:oMathPara>
                    </a14:m>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Choice>
            <mc:Fallback xmlns="">
              <p:sp>
                <p:nvSpPr>
                  <p:cNvPr id="125" name="文字方塊 124">
                    <a:extLst>
                      <a:ext uri="{FF2B5EF4-FFF2-40B4-BE49-F238E27FC236}">
                        <a16:creationId xmlns:a16="http://schemas.microsoft.com/office/drawing/2014/main" id="{8B69D8F6-84BA-4CE6-9868-BCC4F0E7F1D4}"/>
                      </a:ext>
                    </a:extLst>
                  </p:cNvPr>
                  <p:cNvSpPr txBox="1">
                    <a:spLocks noRot="1" noChangeAspect="1" noMove="1" noResize="1" noEditPoints="1" noAdjustHandles="1" noChangeArrowheads="1" noChangeShapeType="1" noTextEdit="1"/>
                  </p:cNvSpPr>
                  <p:nvPr/>
                </p:nvSpPr>
                <p:spPr>
                  <a:xfrm>
                    <a:off x="8491962" y="1312479"/>
                    <a:ext cx="332369" cy="307777"/>
                  </a:xfrm>
                  <a:prstGeom prst="rect">
                    <a:avLst/>
                  </a:prstGeom>
                  <a:blipFill>
                    <a:blip r:embed="rId11"/>
                    <a:stretch>
                      <a:fillRect/>
                    </a:stretch>
                  </a:blipFill>
                </p:spPr>
                <p:txBody>
                  <a:bodyPr/>
                  <a:lstStyle/>
                  <a:p>
                    <a:r>
                      <a:rPr lang="zh-TW" altLang="en-US">
                        <a:noFill/>
                      </a:rPr>
                      <a:t> </a:t>
                    </a:r>
                  </a:p>
                </p:txBody>
              </p:sp>
            </mc:Fallback>
          </mc:AlternateContent>
        </p:grpSp>
      </p:grpSp>
      <p:grpSp>
        <p:nvGrpSpPr>
          <p:cNvPr id="9" name="群組 8">
            <a:extLst>
              <a:ext uri="{FF2B5EF4-FFF2-40B4-BE49-F238E27FC236}">
                <a16:creationId xmlns:a16="http://schemas.microsoft.com/office/drawing/2014/main" id="{5BA6E45F-83F4-49BA-9969-1BD52A089820}"/>
              </a:ext>
            </a:extLst>
          </p:cNvPr>
          <p:cNvGrpSpPr/>
          <p:nvPr/>
        </p:nvGrpSpPr>
        <p:grpSpPr>
          <a:xfrm>
            <a:off x="7685757" y="3310273"/>
            <a:ext cx="2738570" cy="2197507"/>
            <a:chOff x="7770470" y="3356356"/>
            <a:chExt cx="2738570" cy="2197507"/>
          </a:xfrm>
        </p:grpSpPr>
        <p:pic>
          <p:nvPicPr>
            <p:cNvPr id="7" name="圖片 6">
              <a:extLst>
                <a:ext uri="{FF2B5EF4-FFF2-40B4-BE49-F238E27FC236}">
                  <a16:creationId xmlns:a16="http://schemas.microsoft.com/office/drawing/2014/main" id="{2E260574-64ED-41C4-9F08-96A790DE1D80}"/>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7925743" y="3454067"/>
              <a:ext cx="2488404" cy="2026650"/>
            </a:xfrm>
            <a:prstGeom prst="rect">
              <a:avLst/>
            </a:prstGeom>
          </p:spPr>
        </p:pic>
        <p:grpSp>
          <p:nvGrpSpPr>
            <p:cNvPr id="133" name="群組 132">
              <a:extLst>
                <a:ext uri="{FF2B5EF4-FFF2-40B4-BE49-F238E27FC236}">
                  <a16:creationId xmlns:a16="http://schemas.microsoft.com/office/drawing/2014/main" id="{05AB593D-3DDE-47C0-93D0-1FF33E1F6E12}"/>
                </a:ext>
              </a:extLst>
            </p:cNvPr>
            <p:cNvGrpSpPr/>
            <p:nvPr/>
          </p:nvGrpSpPr>
          <p:grpSpPr>
            <a:xfrm>
              <a:off x="7770470" y="3356356"/>
              <a:ext cx="2738570" cy="2197507"/>
              <a:chOff x="7770470" y="3356356"/>
              <a:chExt cx="2738570" cy="2197507"/>
            </a:xfrm>
          </p:grpSpPr>
          <p:grpSp>
            <p:nvGrpSpPr>
              <p:cNvPr id="111" name="群組 110">
                <a:extLst>
                  <a:ext uri="{FF2B5EF4-FFF2-40B4-BE49-F238E27FC236}">
                    <a16:creationId xmlns:a16="http://schemas.microsoft.com/office/drawing/2014/main" id="{B429A72B-68DB-41E5-9A77-601937261BE5}"/>
                  </a:ext>
                </a:extLst>
              </p:cNvPr>
              <p:cNvGrpSpPr/>
              <p:nvPr/>
            </p:nvGrpSpPr>
            <p:grpSpPr>
              <a:xfrm>
                <a:off x="7807394" y="3383336"/>
                <a:ext cx="2701646" cy="2140727"/>
                <a:chOff x="7139094" y="3815943"/>
                <a:chExt cx="2701646" cy="2140727"/>
              </a:xfrm>
            </p:grpSpPr>
            <p:grpSp>
              <p:nvGrpSpPr>
                <p:cNvPr id="110" name="群組 109">
                  <a:extLst>
                    <a:ext uri="{FF2B5EF4-FFF2-40B4-BE49-F238E27FC236}">
                      <a16:creationId xmlns:a16="http://schemas.microsoft.com/office/drawing/2014/main" id="{185FE1CC-FA74-495A-8F4C-C27BFA14E0E5}"/>
                    </a:ext>
                  </a:extLst>
                </p:cNvPr>
                <p:cNvGrpSpPr/>
                <p:nvPr/>
              </p:nvGrpSpPr>
              <p:grpSpPr>
                <a:xfrm>
                  <a:off x="7139094" y="3815943"/>
                  <a:ext cx="2642560" cy="2140727"/>
                  <a:chOff x="7139094" y="3815943"/>
                  <a:chExt cx="2642560" cy="2140727"/>
                </a:xfrm>
              </p:grpSpPr>
              <p:sp>
                <p:nvSpPr>
                  <p:cNvPr id="105" name="矩形 104">
                    <a:extLst>
                      <a:ext uri="{FF2B5EF4-FFF2-40B4-BE49-F238E27FC236}">
                        <a16:creationId xmlns:a16="http://schemas.microsoft.com/office/drawing/2014/main" id="{CEDE6DB8-73CE-4D0B-83CA-F007F7A25032}"/>
                      </a:ext>
                    </a:extLst>
                  </p:cNvPr>
                  <p:cNvSpPr/>
                  <p:nvPr/>
                </p:nvSpPr>
                <p:spPr>
                  <a:xfrm>
                    <a:off x="8092612" y="3815943"/>
                    <a:ext cx="277776" cy="25589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6" name="矩形 105">
                    <a:extLst>
                      <a:ext uri="{FF2B5EF4-FFF2-40B4-BE49-F238E27FC236}">
                        <a16:creationId xmlns:a16="http://schemas.microsoft.com/office/drawing/2014/main" id="{DCD55C8F-296C-4E3C-984F-6EDF4B36539C}"/>
                      </a:ext>
                    </a:extLst>
                  </p:cNvPr>
                  <p:cNvSpPr/>
                  <p:nvPr/>
                </p:nvSpPr>
                <p:spPr>
                  <a:xfrm>
                    <a:off x="7139094" y="4788351"/>
                    <a:ext cx="277776" cy="2108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7" name="矩形 106">
                    <a:extLst>
                      <a:ext uri="{FF2B5EF4-FFF2-40B4-BE49-F238E27FC236}">
                        <a16:creationId xmlns:a16="http://schemas.microsoft.com/office/drawing/2014/main" id="{CEA50DE1-0099-4B8E-B054-E2A2A728394C}"/>
                      </a:ext>
                    </a:extLst>
                  </p:cNvPr>
                  <p:cNvSpPr/>
                  <p:nvPr/>
                </p:nvSpPr>
                <p:spPr>
                  <a:xfrm>
                    <a:off x="8138267" y="5745831"/>
                    <a:ext cx="277776" cy="21083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8" name="矩形 107">
                    <a:extLst>
                      <a:ext uri="{FF2B5EF4-FFF2-40B4-BE49-F238E27FC236}">
                        <a16:creationId xmlns:a16="http://schemas.microsoft.com/office/drawing/2014/main" id="{88D8E9D5-10C5-46A7-B1DD-C0FE37EAF05E}"/>
                      </a:ext>
                    </a:extLst>
                  </p:cNvPr>
                  <p:cNvSpPr/>
                  <p:nvPr/>
                </p:nvSpPr>
                <p:spPr>
                  <a:xfrm>
                    <a:off x="9105542" y="4788350"/>
                    <a:ext cx="221795" cy="21083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9" name="矩形 108">
                    <a:extLst>
                      <a:ext uri="{FF2B5EF4-FFF2-40B4-BE49-F238E27FC236}">
                        <a16:creationId xmlns:a16="http://schemas.microsoft.com/office/drawing/2014/main" id="{2C626AEB-C80F-423D-A1AB-96EACC0012E6}"/>
                      </a:ext>
                    </a:extLst>
                  </p:cNvPr>
                  <p:cNvSpPr/>
                  <p:nvPr/>
                </p:nvSpPr>
                <p:spPr>
                  <a:xfrm>
                    <a:off x="9599653" y="4576159"/>
                    <a:ext cx="182001" cy="57512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1" name="文字方塊 100">
                      <a:extLst>
                        <a:ext uri="{FF2B5EF4-FFF2-40B4-BE49-F238E27FC236}">
                          <a16:creationId xmlns:a16="http://schemas.microsoft.com/office/drawing/2014/main" id="{D20AA81C-7F37-4628-A13A-25DB08A1B0F2}"/>
                        </a:ext>
                      </a:extLst>
                    </p:cNvPr>
                    <p:cNvSpPr txBox="1"/>
                    <p:nvPr/>
                  </p:nvSpPr>
                  <p:spPr>
                    <a:xfrm rot="16200000">
                      <a:off x="8785951" y="4777791"/>
                      <a:ext cx="1832580" cy="27699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altLang="zh-TW" sz="120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apacity</m:t>
                            </m:r>
                            <m:r>
                              <a:rPr lang="en-US" altLang="zh-TW" sz="1200" b="0" i="0" smtClean="0">
                                <a:latin typeface="Cambria Math" panose="02040503050406030204" pitchFamily="18" charset="0"/>
                                <a:ea typeface="Cambria Math" panose="02040503050406030204" pitchFamily="18" charset="0"/>
                              </a:rPr>
                              <m:t> </m:t>
                            </m:r>
                            <m:r>
                              <m:rPr>
                                <m:sty m:val="p"/>
                              </m:rPr>
                              <a:rPr lang="en-US" altLang="zh-TW" sz="1200" b="0" i="0" smtClean="0">
                                <a:latin typeface="Cambria Math" panose="02040503050406030204" pitchFamily="18" charset="0"/>
                                <a:ea typeface="Cambria Math" panose="02040503050406030204" pitchFamily="18" charset="0"/>
                              </a:rPr>
                              <m:t>measure</m:t>
                            </m:r>
                            <m:r>
                              <a:rPr lang="en-US" altLang="zh-TW" sz="1200" b="0" i="0" smtClean="0">
                                <a:latin typeface="Cambria Math" panose="02040503050406030204" pitchFamily="18" charset="0"/>
                                <a:ea typeface="Cambria Math" panose="02040503050406030204" pitchFamily="18" charset="0"/>
                              </a:rPr>
                              <m:t> </m:t>
                            </m:r>
                            <m:r>
                              <a:rPr lang="en-US" altLang="zh-TW" sz="1200" b="0" i="1" smtClean="0">
                                <a:latin typeface="Cambria Math" panose="02040503050406030204" pitchFamily="18" charset="0"/>
                                <a:ea typeface="Cambria Math" panose="02040503050406030204" pitchFamily="18" charset="0"/>
                              </a:rPr>
                              <m:t>(</m:t>
                            </m:r>
                            <m:f>
                              <m:fPr>
                                <m:type m:val="lin"/>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𝑚𝑇</m:t>
                                </m:r>
                              </m:num>
                              <m:den>
                                <m:r>
                                  <a:rPr lang="en-US" altLang="zh-TW" sz="1200" b="0" i="1" smtClean="0">
                                    <a:latin typeface="Cambria Math" panose="02040503050406030204" pitchFamily="18" charset="0"/>
                                    <a:ea typeface="Cambria Math" panose="02040503050406030204" pitchFamily="18" charset="0"/>
                                  </a:rPr>
                                  <m:t>𝐴</m:t>
                                </m:r>
                              </m:den>
                            </m:f>
                            <m:r>
                              <a:rPr lang="en-US" altLang="zh-TW" sz="1200" b="0" i="1" smtClean="0">
                                <a:latin typeface="Cambria Math" panose="02040503050406030204" pitchFamily="18" charset="0"/>
                                <a:ea typeface="Cambria Math" panose="02040503050406030204" pitchFamily="18" charset="0"/>
                              </a:rPr>
                              <m:t>)</m:t>
                            </m:r>
                          </m:oMath>
                        </m:oMathPara>
                      </a14:m>
                      <a:endParaRPr lang="zh-TW" altLang="en-US" sz="1600" dirty="0"/>
                    </a:p>
                  </p:txBody>
                </p:sp>
              </mc:Choice>
              <mc:Fallback xmlns="">
                <p:sp>
                  <p:nvSpPr>
                    <p:cNvPr id="101" name="文字方塊 100">
                      <a:extLst>
                        <a:ext uri="{FF2B5EF4-FFF2-40B4-BE49-F238E27FC236}">
                          <a16:creationId xmlns:a16="http://schemas.microsoft.com/office/drawing/2014/main" id="{D20AA81C-7F37-4628-A13A-25DB08A1B0F2}"/>
                        </a:ext>
                      </a:extLst>
                    </p:cNvPr>
                    <p:cNvSpPr txBox="1">
                      <a:spLocks noRot="1" noChangeAspect="1" noMove="1" noResize="1" noEditPoints="1" noAdjustHandles="1" noChangeArrowheads="1" noChangeShapeType="1" noTextEdit="1"/>
                    </p:cNvSpPr>
                    <p:nvPr/>
                  </p:nvSpPr>
                  <p:spPr>
                    <a:xfrm rot="16200000">
                      <a:off x="8785951" y="4777791"/>
                      <a:ext cx="1832580" cy="276999"/>
                    </a:xfrm>
                    <a:prstGeom prst="rect">
                      <a:avLst/>
                    </a:prstGeom>
                    <a:blipFill>
                      <a:blip r:embed="rId13"/>
                      <a:stretch>
                        <a:fillRect l="-95556" t="-16000" r="-148889"/>
                      </a:stretch>
                    </a:blipFill>
                  </p:spPr>
                  <p:txBody>
                    <a:bodyPr/>
                    <a:lstStyle/>
                    <a:p>
                      <a:r>
                        <a:rPr lang="zh-TW" altLang="en-US">
                          <a:noFill/>
                        </a:rPr>
                        <a:t> </a:t>
                      </a:r>
                    </a:p>
                  </p:txBody>
                </p:sp>
              </mc:Fallback>
            </mc:AlternateContent>
          </p:grpSp>
          <p:sp>
            <p:nvSpPr>
              <p:cNvPr id="127" name="文字方塊 126">
                <a:extLst>
                  <a:ext uri="{FF2B5EF4-FFF2-40B4-BE49-F238E27FC236}">
                    <a16:creationId xmlns:a16="http://schemas.microsoft.com/office/drawing/2014/main" id="{CDEC9209-7690-47D1-8032-24B7836DC655}"/>
                  </a:ext>
                </a:extLst>
              </p:cNvPr>
              <p:cNvSpPr txBox="1"/>
              <p:nvPr/>
            </p:nvSpPr>
            <p:spPr>
              <a:xfrm>
                <a:off x="7770470" y="4213538"/>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P4</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128" name="文字方塊 127">
                <a:extLst>
                  <a:ext uri="{FF2B5EF4-FFF2-40B4-BE49-F238E27FC236}">
                    <a16:creationId xmlns:a16="http://schemas.microsoft.com/office/drawing/2014/main" id="{D74981A4-1E26-4DB7-83C6-33379484CDF8}"/>
                  </a:ext>
                </a:extLst>
              </p:cNvPr>
              <p:cNvSpPr txBox="1"/>
              <p:nvPr/>
            </p:nvSpPr>
            <p:spPr>
              <a:xfrm>
                <a:off x="8785619" y="3356356"/>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P5</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129" name="文字方塊 128">
                <a:extLst>
                  <a:ext uri="{FF2B5EF4-FFF2-40B4-BE49-F238E27FC236}">
                    <a16:creationId xmlns:a16="http://schemas.microsoft.com/office/drawing/2014/main" id="{8962DFBE-B504-4F5F-A4F2-59323633F711}"/>
                  </a:ext>
                </a:extLst>
              </p:cNvPr>
              <p:cNvSpPr txBox="1"/>
              <p:nvPr/>
            </p:nvSpPr>
            <p:spPr>
              <a:xfrm>
                <a:off x="8742098" y="5246086"/>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P6</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130" name="文字方塊 129">
                <a:extLst>
                  <a:ext uri="{FF2B5EF4-FFF2-40B4-BE49-F238E27FC236}">
                    <a16:creationId xmlns:a16="http://schemas.microsoft.com/office/drawing/2014/main" id="{DA7B902F-473B-42D1-B8E1-2790BCFA74C8}"/>
                  </a:ext>
                </a:extLst>
              </p:cNvPr>
              <p:cNvSpPr txBox="1"/>
              <p:nvPr/>
            </p:nvSpPr>
            <p:spPr>
              <a:xfrm>
                <a:off x="9672691" y="4398553"/>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P3</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31" name="文字方塊 130">
                    <a:extLst>
                      <a:ext uri="{FF2B5EF4-FFF2-40B4-BE49-F238E27FC236}">
                        <a16:creationId xmlns:a16="http://schemas.microsoft.com/office/drawing/2014/main" id="{A1426993-665E-4AF4-BC9A-4D892A836CB1}"/>
                      </a:ext>
                    </a:extLst>
                  </p:cNvPr>
                  <p:cNvSpPr txBox="1"/>
                  <p:nvPr/>
                </p:nvSpPr>
                <p:spPr>
                  <a:xfrm>
                    <a:off x="9086706" y="4377944"/>
                    <a:ext cx="332369"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TW" sz="1400" b="1" i="1" smtClean="0">
                                  <a:solidFill>
                                    <a:schemeClr val="tx1"/>
                                  </a:solidFill>
                                  <a:latin typeface="Cambria Math" panose="02040503050406030204" pitchFamily="18" charset="0"/>
                                  <a:cs typeface="Times New Roman" panose="02020603050405020304" pitchFamily="18" charset="0"/>
                                </a:rPr>
                              </m:ctrlPr>
                            </m:sSubPr>
                            <m:e>
                              <m:r>
                                <a:rPr lang="en-US" altLang="zh-TW" sz="1400" b="1" i="0" smtClean="0">
                                  <a:solidFill>
                                    <a:schemeClr val="tx1"/>
                                  </a:solidFill>
                                  <a:latin typeface="Cambria Math" panose="02040503050406030204" pitchFamily="18" charset="0"/>
                                  <a:cs typeface="Times New Roman" panose="02020603050405020304" pitchFamily="18" charset="0"/>
                                </a:rPr>
                                <m:t>𝐲</m:t>
                              </m:r>
                            </m:e>
                            <m:sub>
                              <m:r>
                                <a:rPr lang="en-US" altLang="zh-TW" sz="1400" b="1" i="0" smtClean="0">
                                  <a:solidFill>
                                    <a:schemeClr val="tx1"/>
                                  </a:solidFill>
                                  <a:latin typeface="Cambria Math" panose="02040503050406030204" pitchFamily="18" charset="0"/>
                                  <a:cs typeface="Times New Roman" panose="02020603050405020304" pitchFamily="18" charset="0"/>
                                </a:rPr>
                                <m:t>𝐚</m:t>
                              </m:r>
                            </m:sub>
                          </m:sSub>
                        </m:oMath>
                      </m:oMathPara>
                    </a14:m>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Choice>
            <mc:Fallback xmlns="">
              <p:sp>
                <p:nvSpPr>
                  <p:cNvPr id="131" name="文字方塊 130">
                    <a:extLst>
                      <a:ext uri="{FF2B5EF4-FFF2-40B4-BE49-F238E27FC236}">
                        <a16:creationId xmlns:a16="http://schemas.microsoft.com/office/drawing/2014/main" id="{A1426993-665E-4AF4-BC9A-4D892A836CB1}"/>
                      </a:ext>
                    </a:extLst>
                  </p:cNvPr>
                  <p:cNvSpPr txBox="1">
                    <a:spLocks noRot="1" noChangeAspect="1" noMove="1" noResize="1" noEditPoints="1" noAdjustHandles="1" noChangeArrowheads="1" noChangeShapeType="1" noTextEdit="1"/>
                  </p:cNvSpPr>
                  <p:nvPr/>
                </p:nvSpPr>
                <p:spPr>
                  <a:xfrm>
                    <a:off x="9086706" y="4377944"/>
                    <a:ext cx="332369" cy="307777"/>
                  </a:xfrm>
                  <a:prstGeom prst="rect">
                    <a:avLst/>
                  </a:prstGeom>
                  <a:blipFill>
                    <a:blip r:embed="rId14"/>
                    <a:stretch>
                      <a:fillRect b="-196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32" name="文字方塊 131">
                    <a:extLst>
                      <a:ext uri="{FF2B5EF4-FFF2-40B4-BE49-F238E27FC236}">
                        <a16:creationId xmlns:a16="http://schemas.microsoft.com/office/drawing/2014/main" id="{06B8C82E-92F7-445B-99DE-A74AF1C2956D}"/>
                      </a:ext>
                    </a:extLst>
                  </p:cNvPr>
                  <p:cNvSpPr txBox="1"/>
                  <p:nvPr/>
                </p:nvSpPr>
                <p:spPr>
                  <a:xfrm>
                    <a:off x="8619435" y="3890118"/>
                    <a:ext cx="332369"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TW" sz="1400" b="1" i="1" smtClean="0">
                                  <a:solidFill>
                                    <a:schemeClr val="tx1"/>
                                  </a:solidFill>
                                  <a:latin typeface="Cambria Math" panose="02040503050406030204" pitchFamily="18" charset="0"/>
                                  <a:cs typeface="Times New Roman" panose="02020603050405020304" pitchFamily="18" charset="0"/>
                                </a:rPr>
                              </m:ctrlPr>
                            </m:sSubPr>
                            <m:e>
                              <m:r>
                                <a:rPr lang="en-US" altLang="zh-TW" sz="1400" b="1" i="0" smtClean="0">
                                  <a:solidFill>
                                    <a:schemeClr val="tx1"/>
                                  </a:solidFill>
                                  <a:latin typeface="Cambria Math" panose="02040503050406030204" pitchFamily="18" charset="0"/>
                                  <a:cs typeface="Times New Roman" panose="02020603050405020304" pitchFamily="18" charset="0"/>
                                </a:rPr>
                                <m:t>𝐳</m:t>
                              </m:r>
                            </m:e>
                            <m:sub>
                              <m:r>
                                <a:rPr lang="en-US" altLang="zh-TW" sz="1400" b="1" i="0" smtClean="0">
                                  <a:solidFill>
                                    <a:schemeClr val="tx1"/>
                                  </a:solidFill>
                                  <a:latin typeface="Cambria Math" panose="02040503050406030204" pitchFamily="18" charset="0"/>
                                  <a:cs typeface="Times New Roman" panose="02020603050405020304" pitchFamily="18" charset="0"/>
                                </a:rPr>
                                <m:t>𝐚</m:t>
                              </m:r>
                            </m:sub>
                          </m:sSub>
                        </m:oMath>
                      </m:oMathPara>
                    </a14:m>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Choice>
            <mc:Fallback xmlns="">
              <p:sp>
                <p:nvSpPr>
                  <p:cNvPr id="132" name="文字方塊 131">
                    <a:extLst>
                      <a:ext uri="{FF2B5EF4-FFF2-40B4-BE49-F238E27FC236}">
                        <a16:creationId xmlns:a16="http://schemas.microsoft.com/office/drawing/2014/main" id="{06B8C82E-92F7-445B-99DE-A74AF1C2956D}"/>
                      </a:ext>
                    </a:extLst>
                  </p:cNvPr>
                  <p:cNvSpPr txBox="1">
                    <a:spLocks noRot="1" noChangeAspect="1" noMove="1" noResize="1" noEditPoints="1" noAdjustHandles="1" noChangeArrowheads="1" noChangeShapeType="1" noTextEdit="1"/>
                  </p:cNvSpPr>
                  <p:nvPr/>
                </p:nvSpPr>
                <p:spPr>
                  <a:xfrm>
                    <a:off x="8619435" y="3890118"/>
                    <a:ext cx="332369" cy="307777"/>
                  </a:xfrm>
                  <a:prstGeom prst="rect">
                    <a:avLst/>
                  </a:prstGeom>
                  <a:blipFill>
                    <a:blip r:embed="rId15"/>
                    <a:stretch>
                      <a:fillRect/>
                    </a:stretch>
                  </a:blipFill>
                </p:spPr>
                <p:txBody>
                  <a:bodyPr/>
                  <a:lstStyle/>
                  <a:p>
                    <a:r>
                      <a:rPr lang="zh-TW" altLang="en-US">
                        <a:noFill/>
                      </a:rPr>
                      <a:t> </a:t>
                    </a:r>
                  </a:p>
                </p:txBody>
              </p:sp>
            </mc:Fallback>
          </mc:AlternateContent>
        </p:grpSp>
      </p:grpSp>
      <p:sp>
        <p:nvSpPr>
          <p:cNvPr id="67" name="auto caption">
            <a:extLst>
              <a:ext uri="{FF2B5EF4-FFF2-40B4-BE49-F238E27FC236}">
                <a16:creationId xmlns:a16="http://schemas.microsoft.com/office/drawing/2014/main" id="{B939D688-74BF-48DD-B637-E4F31386B5C8}"/>
              </a:ext>
            </a:extLst>
          </p:cNvPr>
          <p:cNvSpPr txBox="1"/>
          <p:nvPr/>
        </p:nvSpPr>
        <p:spPr>
          <a:xfrm>
            <a:off x="153910" y="885799"/>
            <a:ext cx="6375566" cy="5862134"/>
          </a:xfrm>
          <a:prstGeom prst="rect">
            <a:avLst/>
          </a:prstGeom>
          <a:noFill/>
        </p:spPr>
        <p:txBody>
          <a:bodyPr wrap="square" rtlCol="0">
            <a:normAutofit/>
          </a:bodyPr>
          <a:lstStyle/>
          <a:p>
            <a:pPr marL="285750" indent="-285750">
              <a:buFont typeface="Arial" panose="020B0604020202020204" pitchFamily="34" charset="0"/>
              <a:buChar char="•"/>
            </a:pPr>
            <a:r>
              <a:rPr lang="en-US" altLang="zh-TW" sz="1600" dirty="0"/>
              <a:t>The three reference planes are mutually orthogonal and all pass through the origin; the inset shows how they sit inside the pole-tip sphere, each disc extending out to that sphere. On every plane the calibrated model is evaluated point by point and the capacity measure is mapped in polar form, with the two pole pairs lying in that plane marked on the rim. The pattern is the same everywhere: the capacity is lowest at the center, grows steadily outwards, and reaches its maxima in four lobes pointing at the in-plane poles, with troughs between them. This is the gain signature of Design A: the gain is not uniform over the workspace but is smallest at the center and largest along the pole axes near the tips, and its variation with direction follows the pole layout directly. Because the three maps are indistinguishable, the gain field carries the full symmetry of the six-pole arrangement — six poles of equal strength, arranged as three opposing pairs whose axes are mutually perpendicular. The consequence is that the gain is limited not by any particular plane or direction, but by radial position: the lowest gain of the whole workspace sits at its center.</a:t>
            </a:r>
          </a:p>
        </p:txBody>
      </p:sp>
    </p:spTree>
    <p:extLst>
      <p:ext uri="{BB962C8B-B14F-4D97-AF65-F5344CB8AC3E}">
        <p14:creationId xmlns:p14="http://schemas.microsoft.com/office/powerpoint/2010/main" val="4520812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488031"/>
            <a:ext cx="12192000" cy="193506"/>
          </a:xfrm>
        </p:spPr>
        <p:txBody>
          <a:bodyPr>
            <a:normAutofit fontScale="90000"/>
          </a:bodyPr>
          <a:lstStyle/>
          <a:p>
            <a:r>
              <a:rPr lang="en-US" altLang="zh-TW" sz="3600" b="1" kern="100" dirty="0">
                <a:solidFill>
                  <a:srgbClr val="000000"/>
                </a:solidFill>
                <a:latin typeface="Aptos"/>
                <a:ea typeface="新細明體" panose="02020500000000000000" pitchFamily="18" charset="-120"/>
                <a:cs typeface="Times New Roman" panose="02020603050405020304" pitchFamily="18" charset="0"/>
              </a:rPr>
              <a:t>Quantitative Assessment of Multi-Pole Actuators</a:t>
            </a:r>
            <a:br>
              <a:rPr lang="zh-TW" altLang="zh-TW" sz="1800" kern="100" dirty="0">
                <a:effectLst/>
                <a:latin typeface="Aptos"/>
                <a:ea typeface="新細明體" panose="02020500000000000000" pitchFamily="18" charset="-120"/>
                <a:cs typeface="Times New Roman" panose="02020603050405020304" pitchFamily="18" charset="0"/>
              </a:rPr>
            </a:b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16" name="文字方塊 15">
            <a:extLst>
              <a:ext uri="{FF2B5EF4-FFF2-40B4-BE49-F238E27FC236}">
                <a16:creationId xmlns:a16="http://schemas.microsoft.com/office/drawing/2014/main" id="{6BA9955A-92B3-406A-93D9-E13D8B8C100E}"/>
              </a:ext>
            </a:extLst>
          </p:cNvPr>
          <p:cNvSpPr txBox="1"/>
          <p:nvPr/>
        </p:nvSpPr>
        <p:spPr>
          <a:xfrm>
            <a:off x="118533" y="516467"/>
            <a:ext cx="3588625" cy="369332"/>
          </a:xfrm>
          <a:prstGeom prst="rect">
            <a:avLst/>
          </a:prstGeom>
          <a:noFill/>
        </p:spPr>
        <p:txBody>
          <a:bodyPr wrap="square" rtlCol="0">
            <a:spAutoFit/>
          </a:bodyPr>
          <a:lstStyle/>
          <a:p>
            <a:pPr marL="285750" indent="-285750">
              <a:buFont typeface="Arial" panose="020B0604020202020204" pitchFamily="34" charset="0"/>
              <a:buChar char="•"/>
            </a:pPr>
            <a:r>
              <a:rPr lang="en-US" altLang="zh-TW" dirty="0" err="1"/>
              <a:t>DesignA</a:t>
            </a:r>
            <a:endParaRPr lang="zh-TW" altLang="en-US" dirty="0"/>
          </a:p>
        </p:txBody>
      </p:sp>
      <p:sp>
        <p:nvSpPr>
          <p:cNvPr id="34" name="矩形 33">
            <a:extLst>
              <a:ext uri="{FF2B5EF4-FFF2-40B4-BE49-F238E27FC236}">
                <a16:creationId xmlns:a16="http://schemas.microsoft.com/office/drawing/2014/main" id="{666288C7-F5CB-48E4-8D76-163CDF4E1521}"/>
              </a:ext>
            </a:extLst>
          </p:cNvPr>
          <p:cNvSpPr/>
          <p:nvPr/>
        </p:nvSpPr>
        <p:spPr>
          <a:xfrm>
            <a:off x="11485470" y="5360209"/>
            <a:ext cx="188693" cy="24873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5" name="矩形 34">
            <a:extLst>
              <a:ext uri="{FF2B5EF4-FFF2-40B4-BE49-F238E27FC236}">
                <a16:creationId xmlns:a16="http://schemas.microsoft.com/office/drawing/2014/main" id="{22C1E112-AE50-46DC-8251-D6D5E0450AA8}"/>
              </a:ext>
            </a:extLst>
          </p:cNvPr>
          <p:cNvSpPr/>
          <p:nvPr/>
        </p:nvSpPr>
        <p:spPr>
          <a:xfrm>
            <a:off x="8927424" y="703212"/>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5" name="矩形 44">
            <a:extLst>
              <a:ext uri="{FF2B5EF4-FFF2-40B4-BE49-F238E27FC236}">
                <a16:creationId xmlns:a16="http://schemas.microsoft.com/office/drawing/2014/main" id="{A7AC5CB5-ED89-4E3E-AD62-78E3BA5A407F}"/>
              </a:ext>
            </a:extLst>
          </p:cNvPr>
          <p:cNvSpPr/>
          <p:nvPr/>
        </p:nvSpPr>
        <p:spPr>
          <a:xfrm>
            <a:off x="6279842" y="703212"/>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6" name="矩形 45">
            <a:extLst>
              <a:ext uri="{FF2B5EF4-FFF2-40B4-BE49-F238E27FC236}">
                <a16:creationId xmlns:a16="http://schemas.microsoft.com/office/drawing/2014/main" id="{ECFCDEC8-6D9E-4F90-9164-5AFC45503F9D}"/>
              </a:ext>
            </a:extLst>
          </p:cNvPr>
          <p:cNvSpPr/>
          <p:nvPr/>
        </p:nvSpPr>
        <p:spPr>
          <a:xfrm>
            <a:off x="5541053" y="1762316"/>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7" name="矩形 46">
            <a:extLst>
              <a:ext uri="{FF2B5EF4-FFF2-40B4-BE49-F238E27FC236}">
                <a16:creationId xmlns:a16="http://schemas.microsoft.com/office/drawing/2014/main" id="{42375863-2208-49BC-A294-DC35BC7C0E6F}"/>
              </a:ext>
            </a:extLst>
          </p:cNvPr>
          <p:cNvSpPr/>
          <p:nvPr/>
        </p:nvSpPr>
        <p:spPr>
          <a:xfrm>
            <a:off x="6592957" y="2469682"/>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4" name="文字方塊 63">
            <a:extLst>
              <a:ext uri="{FF2B5EF4-FFF2-40B4-BE49-F238E27FC236}">
                <a16:creationId xmlns:a16="http://schemas.microsoft.com/office/drawing/2014/main" id="{5B421D71-8641-46AC-AFEE-B118C73A4CD4}"/>
              </a:ext>
            </a:extLst>
          </p:cNvPr>
          <p:cNvSpPr txBox="1"/>
          <p:nvPr/>
        </p:nvSpPr>
        <p:spPr>
          <a:xfrm>
            <a:off x="186061" y="950588"/>
            <a:ext cx="6176432" cy="3693319"/>
          </a:xfrm>
          <a:prstGeom prst="rect">
            <a:avLst/>
          </a:prstGeom>
          <a:noFill/>
        </p:spPr>
        <p:txBody>
          <a:bodyPr wrap="square">
            <a:spAutoFit/>
          </a:bodyPr>
          <a:lstStyle/>
          <a:p>
            <a:pPr marL="285750" indent="-285750">
              <a:buFont typeface="Arial" panose="020B0604020202020204" pitchFamily="34" charset="0"/>
              <a:buChar char="•"/>
            </a:pPr>
            <a:r>
              <a:rPr lang="zh-TW" altLang="en-US" dirty="0"/>
              <a:t>Same three planes and the same calibrated model as before, but now mapping the isotropy. The picture is the exact complement of the capacity map: isotropy is highest at the centre and decays outwards in an almost circular pattern, reaching its lowest values at the rim. The reason is geometric — at the centre all six poles are equidistant, so the three singular values are nearly equal and the system can push with almost the same strength in any direction; moving outwards means approaching one pole pair while receding from the other two, so one singular value grows while the others shrink and the ratio collapses. Again the three planes are indistinguishable, confirming that the isotropy inherits the symmetry of the pole layout.</a:t>
            </a:r>
          </a:p>
        </p:txBody>
      </p:sp>
      <p:grpSp>
        <p:nvGrpSpPr>
          <p:cNvPr id="17" name="群組 16">
            <a:extLst>
              <a:ext uri="{FF2B5EF4-FFF2-40B4-BE49-F238E27FC236}">
                <a16:creationId xmlns:a16="http://schemas.microsoft.com/office/drawing/2014/main" id="{8BE4C305-B690-4A6A-AB62-66C15A5C438C}"/>
              </a:ext>
            </a:extLst>
          </p:cNvPr>
          <p:cNvGrpSpPr/>
          <p:nvPr/>
        </p:nvGrpSpPr>
        <p:grpSpPr>
          <a:xfrm>
            <a:off x="7125953" y="692423"/>
            <a:ext cx="4243544" cy="1987523"/>
            <a:chOff x="6892848" y="818649"/>
            <a:chExt cx="4243544" cy="1987523"/>
          </a:xfrm>
        </p:grpSpPr>
        <p:grpSp>
          <p:nvGrpSpPr>
            <p:cNvPr id="15" name="群組 14">
              <a:extLst>
                <a:ext uri="{FF2B5EF4-FFF2-40B4-BE49-F238E27FC236}">
                  <a16:creationId xmlns:a16="http://schemas.microsoft.com/office/drawing/2014/main" id="{612F600C-B391-4D02-BE5B-9A6D0B54E62C}"/>
                </a:ext>
              </a:extLst>
            </p:cNvPr>
            <p:cNvGrpSpPr/>
            <p:nvPr/>
          </p:nvGrpSpPr>
          <p:grpSpPr>
            <a:xfrm>
              <a:off x="6892848" y="818649"/>
              <a:ext cx="4243544" cy="1987523"/>
              <a:chOff x="6892848" y="818649"/>
              <a:chExt cx="4243544" cy="1987523"/>
            </a:xfrm>
          </p:grpSpPr>
          <p:grpSp>
            <p:nvGrpSpPr>
              <p:cNvPr id="11" name="群組 10">
                <a:extLst>
                  <a:ext uri="{FF2B5EF4-FFF2-40B4-BE49-F238E27FC236}">
                    <a16:creationId xmlns:a16="http://schemas.microsoft.com/office/drawing/2014/main" id="{D2C9EE08-81D0-4C2D-B956-F0B60EAB80F7}"/>
                  </a:ext>
                </a:extLst>
              </p:cNvPr>
              <p:cNvGrpSpPr/>
              <p:nvPr/>
            </p:nvGrpSpPr>
            <p:grpSpPr>
              <a:xfrm>
                <a:off x="6982366" y="885799"/>
                <a:ext cx="4132233" cy="1892123"/>
                <a:chOff x="6982366" y="885799"/>
                <a:chExt cx="4132233" cy="1892123"/>
              </a:xfrm>
            </p:grpSpPr>
            <p:pic>
              <p:nvPicPr>
                <p:cNvPr id="4" name="圖片 3">
                  <a:extLst>
                    <a:ext uri="{FF2B5EF4-FFF2-40B4-BE49-F238E27FC236}">
                      <a16:creationId xmlns:a16="http://schemas.microsoft.com/office/drawing/2014/main" id="{0EB7B0DC-0746-4953-B3A4-E878E8A4C0A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41223" y="950588"/>
                  <a:ext cx="3964553" cy="1762545"/>
                </a:xfrm>
                <a:prstGeom prst="rect">
                  <a:avLst/>
                </a:prstGeom>
              </p:spPr>
            </p:pic>
            <p:sp>
              <p:nvSpPr>
                <p:cNvPr id="10" name="矩形 9">
                  <a:extLst>
                    <a:ext uri="{FF2B5EF4-FFF2-40B4-BE49-F238E27FC236}">
                      <a16:creationId xmlns:a16="http://schemas.microsoft.com/office/drawing/2014/main" id="{F5F07B25-EAB2-4083-9FAC-EFC85D2120CD}"/>
                    </a:ext>
                  </a:extLst>
                </p:cNvPr>
                <p:cNvSpPr/>
                <p:nvPr/>
              </p:nvSpPr>
              <p:spPr>
                <a:xfrm>
                  <a:off x="7831667" y="885799"/>
                  <a:ext cx="218554" cy="19350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0" name="矩形 69">
                  <a:extLst>
                    <a:ext uri="{FF2B5EF4-FFF2-40B4-BE49-F238E27FC236}">
                      <a16:creationId xmlns:a16="http://schemas.microsoft.com/office/drawing/2014/main" id="{FC3083EF-83C7-450B-8ADE-A99B46B37053}"/>
                    </a:ext>
                  </a:extLst>
                </p:cNvPr>
                <p:cNvSpPr/>
                <p:nvPr/>
              </p:nvSpPr>
              <p:spPr>
                <a:xfrm>
                  <a:off x="6982366" y="1730836"/>
                  <a:ext cx="218554" cy="19350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3722C7AD-6A4A-4007-AF36-5CCD4C5E8597}"/>
                    </a:ext>
                  </a:extLst>
                </p:cNvPr>
                <p:cNvSpPr/>
                <p:nvPr/>
              </p:nvSpPr>
              <p:spPr>
                <a:xfrm>
                  <a:off x="7827456" y="2584416"/>
                  <a:ext cx="218554" cy="19350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矩形 72">
                  <a:extLst>
                    <a:ext uri="{FF2B5EF4-FFF2-40B4-BE49-F238E27FC236}">
                      <a16:creationId xmlns:a16="http://schemas.microsoft.com/office/drawing/2014/main" id="{8C041678-A44A-4B2F-A86A-6D773426879F}"/>
                    </a:ext>
                  </a:extLst>
                </p:cNvPr>
                <p:cNvSpPr/>
                <p:nvPr/>
              </p:nvSpPr>
              <p:spPr>
                <a:xfrm>
                  <a:off x="8664546" y="1732546"/>
                  <a:ext cx="338637" cy="19179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4" name="矩形 73">
                  <a:extLst>
                    <a:ext uri="{FF2B5EF4-FFF2-40B4-BE49-F238E27FC236}">
                      <a16:creationId xmlns:a16="http://schemas.microsoft.com/office/drawing/2014/main" id="{0AB71390-058C-48DB-8F99-4472D1421CE3}"/>
                    </a:ext>
                  </a:extLst>
                </p:cNvPr>
                <p:cNvSpPr/>
                <p:nvPr/>
              </p:nvSpPr>
              <p:spPr>
                <a:xfrm>
                  <a:off x="9586634" y="904164"/>
                  <a:ext cx="338637" cy="19179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5" name="矩形 74">
                  <a:extLst>
                    <a:ext uri="{FF2B5EF4-FFF2-40B4-BE49-F238E27FC236}">
                      <a16:creationId xmlns:a16="http://schemas.microsoft.com/office/drawing/2014/main" id="{276E6E7F-1958-4F14-9108-30888D35FA5F}"/>
                    </a:ext>
                  </a:extLst>
                </p:cNvPr>
                <p:cNvSpPr/>
                <p:nvPr/>
              </p:nvSpPr>
              <p:spPr>
                <a:xfrm>
                  <a:off x="9586634" y="2582681"/>
                  <a:ext cx="338637" cy="19179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6" name="矩形 75">
                  <a:extLst>
                    <a:ext uri="{FF2B5EF4-FFF2-40B4-BE49-F238E27FC236}">
                      <a16:creationId xmlns:a16="http://schemas.microsoft.com/office/drawing/2014/main" id="{4FA014DA-9FFB-44C8-BC87-9425A4C49C84}"/>
                    </a:ext>
                  </a:extLst>
                </p:cNvPr>
                <p:cNvSpPr/>
                <p:nvPr/>
              </p:nvSpPr>
              <p:spPr>
                <a:xfrm>
                  <a:off x="10475277" y="1633803"/>
                  <a:ext cx="190544" cy="34980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7" name="矩形 76">
                  <a:extLst>
                    <a:ext uri="{FF2B5EF4-FFF2-40B4-BE49-F238E27FC236}">
                      <a16:creationId xmlns:a16="http://schemas.microsoft.com/office/drawing/2014/main" id="{D3E9EE23-9AC3-43BC-BF47-30C82E12B2A2}"/>
                    </a:ext>
                  </a:extLst>
                </p:cNvPr>
                <p:cNvSpPr/>
                <p:nvPr/>
              </p:nvSpPr>
              <p:spPr>
                <a:xfrm>
                  <a:off x="10924055" y="1761534"/>
                  <a:ext cx="190544" cy="16280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78" name="文字方塊 77">
                    <a:extLst>
                      <a:ext uri="{FF2B5EF4-FFF2-40B4-BE49-F238E27FC236}">
                        <a16:creationId xmlns:a16="http://schemas.microsoft.com/office/drawing/2014/main" id="{6E093EB9-B763-4483-A907-3DD06211420D}"/>
                      </a:ext>
                    </a:extLst>
                  </p:cNvPr>
                  <p:cNvSpPr txBox="1"/>
                  <p:nvPr/>
                </p:nvSpPr>
                <p:spPr>
                  <a:xfrm rot="16200000">
                    <a:off x="10554714" y="1607645"/>
                    <a:ext cx="855579"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altLang="zh-TW" sz="1400" b="0" i="0" smtClean="0">
                              <a:latin typeface="Cambria Math" panose="02040503050406030204" pitchFamily="18" charset="0"/>
                            </a:rPr>
                            <m:t>Isotropy</m:t>
                          </m:r>
                        </m:oMath>
                      </m:oMathPara>
                    </a14:m>
                    <a:endParaRPr lang="zh-TW" altLang="en-US" sz="1400" dirty="0"/>
                  </a:p>
                </p:txBody>
              </p:sp>
            </mc:Choice>
            <mc:Fallback xmlns="">
              <p:sp>
                <p:nvSpPr>
                  <p:cNvPr id="78" name="文字方塊 77">
                    <a:extLst>
                      <a:ext uri="{FF2B5EF4-FFF2-40B4-BE49-F238E27FC236}">
                        <a16:creationId xmlns:a16="http://schemas.microsoft.com/office/drawing/2014/main" id="{6E093EB9-B763-4483-A907-3DD06211420D}"/>
                      </a:ext>
                    </a:extLst>
                  </p:cNvPr>
                  <p:cNvSpPr txBox="1">
                    <a:spLocks noRot="1" noChangeAspect="1" noMove="1" noResize="1" noEditPoints="1" noAdjustHandles="1" noChangeArrowheads="1" noChangeShapeType="1" noTextEdit="1"/>
                  </p:cNvSpPr>
                  <p:nvPr/>
                </p:nvSpPr>
                <p:spPr>
                  <a:xfrm rot="16200000">
                    <a:off x="10554714" y="1607645"/>
                    <a:ext cx="855579" cy="307777"/>
                  </a:xfrm>
                  <a:prstGeom prst="rect">
                    <a:avLst/>
                  </a:prstGeom>
                  <a:blipFill>
                    <a:blip r:embed="rId3"/>
                    <a:stretch>
                      <a:fillRect r="-6000"/>
                    </a:stretch>
                  </a:blipFill>
                </p:spPr>
                <p:txBody>
                  <a:bodyPr/>
                  <a:lstStyle/>
                  <a:p>
                    <a:r>
                      <a:rPr lang="zh-TW" altLang="en-US">
                        <a:noFill/>
                      </a:rPr>
                      <a:t> </a:t>
                    </a:r>
                  </a:p>
                </p:txBody>
              </p:sp>
            </mc:Fallback>
          </mc:AlternateContent>
          <p:sp>
            <p:nvSpPr>
              <p:cNvPr id="80" name="文字方塊 79">
                <a:extLst>
                  <a:ext uri="{FF2B5EF4-FFF2-40B4-BE49-F238E27FC236}">
                    <a16:creationId xmlns:a16="http://schemas.microsoft.com/office/drawing/2014/main" id="{9B8EB1CD-A79B-47D9-AB70-E74BF30A65B7}"/>
                  </a:ext>
                </a:extLst>
              </p:cNvPr>
              <p:cNvSpPr txBox="1"/>
              <p:nvPr/>
            </p:nvSpPr>
            <p:spPr>
              <a:xfrm>
                <a:off x="8601434" y="1770453"/>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P1</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90" name="文字方塊 89">
                <a:extLst>
                  <a:ext uri="{FF2B5EF4-FFF2-40B4-BE49-F238E27FC236}">
                    <a16:creationId xmlns:a16="http://schemas.microsoft.com/office/drawing/2014/main" id="{92D55786-83DD-4F8D-8DFD-BE3DCCAD1169}"/>
                  </a:ext>
                </a:extLst>
              </p:cNvPr>
              <p:cNvSpPr txBox="1"/>
              <p:nvPr/>
            </p:nvSpPr>
            <p:spPr>
              <a:xfrm>
                <a:off x="7726146" y="832003"/>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P3</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91" name="文字方塊 90">
                <a:extLst>
                  <a:ext uri="{FF2B5EF4-FFF2-40B4-BE49-F238E27FC236}">
                    <a16:creationId xmlns:a16="http://schemas.microsoft.com/office/drawing/2014/main" id="{481EAFC4-8465-4D04-8689-9DA473F00F16}"/>
                  </a:ext>
                </a:extLst>
              </p:cNvPr>
              <p:cNvSpPr txBox="1"/>
              <p:nvPr/>
            </p:nvSpPr>
            <p:spPr>
              <a:xfrm>
                <a:off x="6892848" y="1571317"/>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P2</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92" name="文字方塊 91">
                <a:extLst>
                  <a:ext uri="{FF2B5EF4-FFF2-40B4-BE49-F238E27FC236}">
                    <a16:creationId xmlns:a16="http://schemas.microsoft.com/office/drawing/2014/main" id="{58303001-9243-4CE3-AB16-9F0D7C0BAA8D}"/>
                  </a:ext>
                </a:extLst>
              </p:cNvPr>
              <p:cNvSpPr txBox="1"/>
              <p:nvPr/>
            </p:nvSpPr>
            <p:spPr>
              <a:xfrm>
                <a:off x="7749182" y="2498395"/>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P4</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93" name="文字方塊 92">
                <a:extLst>
                  <a:ext uri="{FF2B5EF4-FFF2-40B4-BE49-F238E27FC236}">
                    <a16:creationId xmlns:a16="http://schemas.microsoft.com/office/drawing/2014/main" id="{B50C7079-CAA8-4007-9D2F-2B2CD971FFD6}"/>
                  </a:ext>
                </a:extLst>
              </p:cNvPr>
              <p:cNvSpPr txBox="1"/>
              <p:nvPr/>
            </p:nvSpPr>
            <p:spPr>
              <a:xfrm>
                <a:off x="8738791" y="1551775"/>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P2</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99" name="文字方塊 98">
                <a:extLst>
                  <a:ext uri="{FF2B5EF4-FFF2-40B4-BE49-F238E27FC236}">
                    <a16:creationId xmlns:a16="http://schemas.microsoft.com/office/drawing/2014/main" id="{523FB46B-214B-4674-A0BB-F7A2E5B66450}"/>
                  </a:ext>
                </a:extLst>
              </p:cNvPr>
              <p:cNvSpPr txBox="1"/>
              <p:nvPr/>
            </p:nvSpPr>
            <p:spPr>
              <a:xfrm>
                <a:off x="9564509" y="818649"/>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P5</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100" name="文字方塊 99">
                <a:extLst>
                  <a:ext uri="{FF2B5EF4-FFF2-40B4-BE49-F238E27FC236}">
                    <a16:creationId xmlns:a16="http://schemas.microsoft.com/office/drawing/2014/main" id="{6D0655F7-DECE-4E33-B8DB-34EAEA9FBCCD}"/>
                  </a:ext>
                </a:extLst>
              </p:cNvPr>
              <p:cNvSpPr txBox="1"/>
              <p:nvPr/>
            </p:nvSpPr>
            <p:spPr>
              <a:xfrm>
                <a:off x="9547808" y="2484494"/>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P6</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101" name="文字方塊 100">
                <a:extLst>
                  <a:ext uri="{FF2B5EF4-FFF2-40B4-BE49-F238E27FC236}">
                    <a16:creationId xmlns:a16="http://schemas.microsoft.com/office/drawing/2014/main" id="{15C241B5-3C9B-4E25-96F6-629915F58BB4}"/>
                  </a:ext>
                </a:extLst>
              </p:cNvPr>
              <p:cNvSpPr txBox="1"/>
              <p:nvPr/>
            </p:nvSpPr>
            <p:spPr>
              <a:xfrm>
                <a:off x="10394059" y="1763171"/>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P1</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37" name="文字方塊 136">
                    <a:extLst>
                      <a:ext uri="{FF2B5EF4-FFF2-40B4-BE49-F238E27FC236}">
                        <a16:creationId xmlns:a16="http://schemas.microsoft.com/office/drawing/2014/main" id="{D255ABDE-FE08-4D92-985E-D28FA82E5F65}"/>
                      </a:ext>
                    </a:extLst>
                  </p:cNvPr>
                  <p:cNvSpPr txBox="1"/>
                  <p:nvPr/>
                </p:nvSpPr>
                <p:spPr>
                  <a:xfrm>
                    <a:off x="8077059" y="1773962"/>
                    <a:ext cx="332369"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TW" sz="1400" b="1" i="1" smtClean="0">
                                  <a:solidFill>
                                    <a:schemeClr val="tx1"/>
                                  </a:solidFill>
                                  <a:latin typeface="Cambria Math" panose="02040503050406030204" pitchFamily="18" charset="0"/>
                                  <a:cs typeface="Times New Roman" panose="02020603050405020304" pitchFamily="18" charset="0"/>
                                </a:rPr>
                              </m:ctrlPr>
                            </m:sSubPr>
                            <m:e>
                              <m:r>
                                <a:rPr lang="en-US" altLang="zh-TW" sz="1400" b="1" i="0" smtClean="0">
                                  <a:solidFill>
                                    <a:schemeClr val="tx1"/>
                                  </a:solidFill>
                                  <a:latin typeface="Cambria Math" panose="02040503050406030204" pitchFamily="18" charset="0"/>
                                  <a:cs typeface="Times New Roman" panose="02020603050405020304" pitchFamily="18" charset="0"/>
                                </a:rPr>
                                <m:t>𝐱</m:t>
                              </m:r>
                            </m:e>
                            <m:sub>
                              <m:r>
                                <a:rPr lang="en-US" altLang="zh-TW" sz="1400" b="1" i="0" smtClean="0">
                                  <a:solidFill>
                                    <a:schemeClr val="tx1"/>
                                  </a:solidFill>
                                  <a:latin typeface="Cambria Math" panose="02040503050406030204" pitchFamily="18" charset="0"/>
                                  <a:cs typeface="Times New Roman" panose="02020603050405020304" pitchFamily="18" charset="0"/>
                                </a:rPr>
                                <m:t>𝐚</m:t>
                              </m:r>
                            </m:sub>
                          </m:sSub>
                        </m:oMath>
                      </m:oMathPara>
                    </a14:m>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Choice>
            <mc:Fallback xmlns="">
              <p:sp>
                <p:nvSpPr>
                  <p:cNvPr id="137" name="文字方塊 136">
                    <a:extLst>
                      <a:ext uri="{FF2B5EF4-FFF2-40B4-BE49-F238E27FC236}">
                        <a16:creationId xmlns:a16="http://schemas.microsoft.com/office/drawing/2014/main" id="{D255ABDE-FE08-4D92-985E-D28FA82E5F65}"/>
                      </a:ext>
                    </a:extLst>
                  </p:cNvPr>
                  <p:cNvSpPr txBox="1">
                    <a:spLocks noRot="1" noChangeAspect="1" noMove="1" noResize="1" noEditPoints="1" noAdjustHandles="1" noChangeArrowheads="1" noChangeShapeType="1" noTextEdit="1"/>
                  </p:cNvSpPr>
                  <p:nvPr/>
                </p:nvSpPr>
                <p:spPr>
                  <a:xfrm>
                    <a:off x="8077059" y="1773962"/>
                    <a:ext cx="332369" cy="307777"/>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38" name="文字方塊 137">
                    <a:extLst>
                      <a:ext uri="{FF2B5EF4-FFF2-40B4-BE49-F238E27FC236}">
                        <a16:creationId xmlns:a16="http://schemas.microsoft.com/office/drawing/2014/main" id="{04DB010C-9BAE-4354-BDBC-05D6FEB0ED55}"/>
                      </a:ext>
                    </a:extLst>
                  </p:cNvPr>
                  <p:cNvSpPr txBox="1"/>
                  <p:nvPr/>
                </p:nvSpPr>
                <p:spPr>
                  <a:xfrm>
                    <a:off x="7609788" y="1286136"/>
                    <a:ext cx="332369"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TW" sz="1400" b="1" i="1" smtClean="0">
                                  <a:solidFill>
                                    <a:schemeClr val="tx1"/>
                                  </a:solidFill>
                                  <a:latin typeface="Cambria Math" panose="02040503050406030204" pitchFamily="18" charset="0"/>
                                  <a:cs typeface="Times New Roman" panose="02020603050405020304" pitchFamily="18" charset="0"/>
                                </a:rPr>
                              </m:ctrlPr>
                            </m:sSubPr>
                            <m:e>
                              <m:r>
                                <a:rPr lang="en-US" altLang="zh-TW" sz="1400" b="1" i="0" smtClean="0">
                                  <a:solidFill>
                                    <a:schemeClr val="tx1"/>
                                  </a:solidFill>
                                  <a:latin typeface="Cambria Math" panose="02040503050406030204" pitchFamily="18" charset="0"/>
                                  <a:cs typeface="Times New Roman" panose="02020603050405020304" pitchFamily="18" charset="0"/>
                                </a:rPr>
                                <m:t>𝐲</m:t>
                              </m:r>
                            </m:e>
                            <m:sub>
                              <m:r>
                                <a:rPr lang="en-US" altLang="zh-TW" sz="1400" b="1" i="0" smtClean="0">
                                  <a:solidFill>
                                    <a:schemeClr val="tx1"/>
                                  </a:solidFill>
                                  <a:latin typeface="Cambria Math" panose="02040503050406030204" pitchFamily="18" charset="0"/>
                                  <a:cs typeface="Times New Roman" panose="02020603050405020304" pitchFamily="18" charset="0"/>
                                </a:rPr>
                                <m:t>𝐚</m:t>
                              </m:r>
                            </m:sub>
                          </m:sSub>
                        </m:oMath>
                      </m:oMathPara>
                    </a14:m>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Choice>
            <mc:Fallback xmlns="">
              <p:sp>
                <p:nvSpPr>
                  <p:cNvPr id="138" name="文字方塊 137">
                    <a:extLst>
                      <a:ext uri="{FF2B5EF4-FFF2-40B4-BE49-F238E27FC236}">
                        <a16:creationId xmlns:a16="http://schemas.microsoft.com/office/drawing/2014/main" id="{04DB010C-9BAE-4354-BDBC-05D6FEB0ED55}"/>
                      </a:ext>
                    </a:extLst>
                  </p:cNvPr>
                  <p:cNvSpPr txBox="1">
                    <a:spLocks noRot="1" noChangeAspect="1" noMove="1" noResize="1" noEditPoints="1" noAdjustHandles="1" noChangeArrowheads="1" noChangeShapeType="1" noTextEdit="1"/>
                  </p:cNvSpPr>
                  <p:nvPr/>
                </p:nvSpPr>
                <p:spPr>
                  <a:xfrm>
                    <a:off x="7609788" y="1286136"/>
                    <a:ext cx="332369" cy="307777"/>
                  </a:xfrm>
                  <a:prstGeom prst="rect">
                    <a:avLst/>
                  </a:prstGeom>
                  <a:blipFill>
                    <a:blip r:embed="rId5"/>
                    <a:stretch>
                      <a:fillRect b="-1961"/>
                    </a:stretch>
                  </a:blipFill>
                </p:spPr>
                <p:txBody>
                  <a:bodyPr/>
                  <a:lstStyle/>
                  <a:p>
                    <a:r>
                      <a:rPr lang="zh-TW" altLang="en-US">
                        <a:noFill/>
                      </a:rPr>
                      <a:t> </a:t>
                    </a:r>
                  </a:p>
                </p:txBody>
              </p:sp>
            </mc:Fallback>
          </mc:AlternateContent>
        </p:grpSp>
        <mc:AlternateContent xmlns:mc="http://schemas.openxmlformats.org/markup-compatibility/2006" xmlns:a14="http://schemas.microsoft.com/office/drawing/2010/main">
          <mc:Choice Requires="a14">
            <p:sp>
              <p:nvSpPr>
                <p:cNvPr id="139" name="文字方塊 138">
                  <a:extLst>
                    <a:ext uri="{FF2B5EF4-FFF2-40B4-BE49-F238E27FC236}">
                      <a16:creationId xmlns:a16="http://schemas.microsoft.com/office/drawing/2014/main" id="{74515AE3-A20F-4F0C-AD65-88EE10FC7A5A}"/>
                    </a:ext>
                  </a:extLst>
                </p:cNvPr>
                <p:cNvSpPr txBox="1"/>
                <p:nvPr/>
              </p:nvSpPr>
              <p:spPr>
                <a:xfrm>
                  <a:off x="9905538" y="1740710"/>
                  <a:ext cx="332369"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TW" sz="1400" b="1" i="1" smtClean="0">
                                <a:solidFill>
                                  <a:schemeClr val="tx1"/>
                                </a:solidFill>
                                <a:latin typeface="Cambria Math" panose="02040503050406030204" pitchFamily="18" charset="0"/>
                                <a:cs typeface="Times New Roman" panose="02020603050405020304" pitchFamily="18" charset="0"/>
                              </a:rPr>
                            </m:ctrlPr>
                          </m:sSubPr>
                          <m:e>
                            <m:r>
                              <a:rPr lang="en-US" altLang="zh-TW" sz="1400" b="1" i="0" smtClean="0">
                                <a:solidFill>
                                  <a:schemeClr val="tx1"/>
                                </a:solidFill>
                                <a:latin typeface="Cambria Math" panose="02040503050406030204" pitchFamily="18" charset="0"/>
                                <a:cs typeface="Times New Roman" panose="02020603050405020304" pitchFamily="18" charset="0"/>
                              </a:rPr>
                              <m:t>𝐱</m:t>
                            </m:r>
                          </m:e>
                          <m:sub>
                            <m:r>
                              <a:rPr lang="en-US" altLang="zh-TW" sz="1400" b="1" i="0" smtClean="0">
                                <a:solidFill>
                                  <a:schemeClr val="tx1"/>
                                </a:solidFill>
                                <a:latin typeface="Cambria Math" panose="02040503050406030204" pitchFamily="18" charset="0"/>
                                <a:cs typeface="Times New Roman" panose="02020603050405020304" pitchFamily="18" charset="0"/>
                              </a:rPr>
                              <m:t>𝐚</m:t>
                            </m:r>
                          </m:sub>
                        </m:sSub>
                      </m:oMath>
                    </m:oMathPara>
                  </a14:m>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Choice>
          <mc:Fallback xmlns="">
            <p:sp>
              <p:nvSpPr>
                <p:cNvPr id="139" name="文字方塊 138">
                  <a:extLst>
                    <a:ext uri="{FF2B5EF4-FFF2-40B4-BE49-F238E27FC236}">
                      <a16:creationId xmlns:a16="http://schemas.microsoft.com/office/drawing/2014/main" id="{74515AE3-A20F-4F0C-AD65-88EE10FC7A5A}"/>
                    </a:ext>
                  </a:extLst>
                </p:cNvPr>
                <p:cNvSpPr txBox="1">
                  <a:spLocks noRot="1" noChangeAspect="1" noMove="1" noResize="1" noEditPoints="1" noAdjustHandles="1" noChangeArrowheads="1" noChangeShapeType="1" noTextEdit="1"/>
                </p:cNvSpPr>
                <p:nvPr/>
              </p:nvSpPr>
              <p:spPr>
                <a:xfrm>
                  <a:off x="9905538" y="1740710"/>
                  <a:ext cx="332369" cy="307777"/>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40" name="文字方塊 139">
                  <a:extLst>
                    <a:ext uri="{FF2B5EF4-FFF2-40B4-BE49-F238E27FC236}">
                      <a16:creationId xmlns:a16="http://schemas.microsoft.com/office/drawing/2014/main" id="{62CB1572-73EF-459D-972D-CB9A0157F7EF}"/>
                    </a:ext>
                  </a:extLst>
                </p:cNvPr>
                <p:cNvSpPr txBox="1"/>
                <p:nvPr/>
              </p:nvSpPr>
              <p:spPr>
                <a:xfrm>
                  <a:off x="9452837" y="1286136"/>
                  <a:ext cx="332369"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TW" sz="1400" b="1" i="1" smtClean="0">
                                <a:solidFill>
                                  <a:schemeClr val="tx1"/>
                                </a:solidFill>
                                <a:latin typeface="Cambria Math" panose="02040503050406030204" pitchFamily="18" charset="0"/>
                                <a:cs typeface="Times New Roman" panose="02020603050405020304" pitchFamily="18" charset="0"/>
                              </a:rPr>
                            </m:ctrlPr>
                          </m:sSubPr>
                          <m:e>
                            <m:r>
                              <a:rPr lang="en-US" altLang="zh-TW" sz="1400" b="1" i="0" smtClean="0">
                                <a:solidFill>
                                  <a:schemeClr val="tx1"/>
                                </a:solidFill>
                                <a:latin typeface="Cambria Math" panose="02040503050406030204" pitchFamily="18" charset="0"/>
                                <a:cs typeface="Times New Roman" panose="02020603050405020304" pitchFamily="18" charset="0"/>
                              </a:rPr>
                              <m:t>𝐳</m:t>
                            </m:r>
                          </m:e>
                          <m:sub>
                            <m:r>
                              <a:rPr lang="en-US" altLang="zh-TW" sz="1400" b="1" i="0" smtClean="0">
                                <a:solidFill>
                                  <a:schemeClr val="tx1"/>
                                </a:solidFill>
                                <a:latin typeface="Cambria Math" panose="02040503050406030204" pitchFamily="18" charset="0"/>
                                <a:cs typeface="Times New Roman" panose="02020603050405020304" pitchFamily="18" charset="0"/>
                              </a:rPr>
                              <m:t>𝐚</m:t>
                            </m:r>
                          </m:sub>
                        </m:sSub>
                      </m:oMath>
                    </m:oMathPara>
                  </a14:m>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Choice>
          <mc:Fallback xmlns="">
            <p:sp>
              <p:nvSpPr>
                <p:cNvPr id="140" name="文字方塊 139">
                  <a:extLst>
                    <a:ext uri="{FF2B5EF4-FFF2-40B4-BE49-F238E27FC236}">
                      <a16:creationId xmlns:a16="http://schemas.microsoft.com/office/drawing/2014/main" id="{62CB1572-73EF-459D-972D-CB9A0157F7EF}"/>
                    </a:ext>
                  </a:extLst>
                </p:cNvPr>
                <p:cNvSpPr txBox="1">
                  <a:spLocks noRot="1" noChangeAspect="1" noMove="1" noResize="1" noEditPoints="1" noAdjustHandles="1" noChangeArrowheads="1" noChangeShapeType="1" noTextEdit="1"/>
                </p:cNvSpPr>
                <p:nvPr/>
              </p:nvSpPr>
              <p:spPr>
                <a:xfrm>
                  <a:off x="9452837" y="1286136"/>
                  <a:ext cx="332369" cy="307777"/>
                </a:xfrm>
                <a:prstGeom prst="rect">
                  <a:avLst/>
                </a:prstGeom>
                <a:blipFill>
                  <a:blip r:embed="rId7"/>
                  <a:stretch>
                    <a:fillRect/>
                  </a:stretch>
                </a:blipFill>
              </p:spPr>
              <p:txBody>
                <a:bodyPr/>
                <a:lstStyle/>
                <a:p>
                  <a:r>
                    <a:rPr lang="zh-TW" altLang="en-US">
                      <a:noFill/>
                    </a:rPr>
                    <a:t> </a:t>
                  </a:r>
                </a:p>
              </p:txBody>
            </p:sp>
          </mc:Fallback>
        </mc:AlternateContent>
      </p:grpSp>
      <p:grpSp>
        <p:nvGrpSpPr>
          <p:cNvPr id="14" name="群組 13">
            <a:extLst>
              <a:ext uri="{FF2B5EF4-FFF2-40B4-BE49-F238E27FC236}">
                <a16:creationId xmlns:a16="http://schemas.microsoft.com/office/drawing/2014/main" id="{04A1EDD4-6ABC-4799-BBCC-2AA9A741A982}"/>
              </a:ext>
            </a:extLst>
          </p:cNvPr>
          <p:cNvGrpSpPr/>
          <p:nvPr/>
        </p:nvGrpSpPr>
        <p:grpSpPr>
          <a:xfrm>
            <a:off x="7936732" y="3644615"/>
            <a:ext cx="2846322" cy="2335619"/>
            <a:chOff x="7936732" y="3644615"/>
            <a:chExt cx="2846322" cy="2335619"/>
          </a:xfrm>
        </p:grpSpPr>
        <p:grpSp>
          <p:nvGrpSpPr>
            <p:cNvPr id="13" name="群組 12">
              <a:extLst>
                <a:ext uri="{FF2B5EF4-FFF2-40B4-BE49-F238E27FC236}">
                  <a16:creationId xmlns:a16="http://schemas.microsoft.com/office/drawing/2014/main" id="{92E71AB5-F95C-4C50-942F-461AE8C8E21F}"/>
                </a:ext>
              </a:extLst>
            </p:cNvPr>
            <p:cNvGrpSpPr/>
            <p:nvPr/>
          </p:nvGrpSpPr>
          <p:grpSpPr>
            <a:xfrm>
              <a:off x="8034760" y="3667301"/>
              <a:ext cx="2743620" cy="2312933"/>
              <a:chOff x="8034760" y="3667301"/>
              <a:chExt cx="2743620" cy="2312933"/>
            </a:xfrm>
          </p:grpSpPr>
          <p:pic>
            <p:nvPicPr>
              <p:cNvPr id="6" name="圖片 5">
                <a:extLst>
                  <a:ext uri="{FF2B5EF4-FFF2-40B4-BE49-F238E27FC236}">
                    <a16:creationId xmlns:a16="http://schemas.microsoft.com/office/drawing/2014/main" id="{1086DBF9-3699-46F5-A3B0-2969AEF673A5}"/>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8066689" y="3771839"/>
                <a:ext cx="2590664" cy="2095390"/>
              </a:xfrm>
              <a:prstGeom prst="rect">
                <a:avLst/>
              </a:prstGeom>
            </p:spPr>
          </p:pic>
          <p:sp>
            <p:nvSpPr>
              <p:cNvPr id="12" name="矩形 11">
                <a:extLst>
                  <a:ext uri="{FF2B5EF4-FFF2-40B4-BE49-F238E27FC236}">
                    <a16:creationId xmlns:a16="http://schemas.microsoft.com/office/drawing/2014/main" id="{88E7A9EA-9DAB-451E-9FA8-F7163EE33F2E}"/>
                  </a:ext>
                </a:extLst>
              </p:cNvPr>
              <p:cNvSpPr/>
              <p:nvPr/>
            </p:nvSpPr>
            <p:spPr>
              <a:xfrm>
                <a:off x="9985682" y="4643907"/>
                <a:ext cx="225118" cy="2667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2" name="矩形 101">
                <a:extLst>
                  <a:ext uri="{FF2B5EF4-FFF2-40B4-BE49-F238E27FC236}">
                    <a16:creationId xmlns:a16="http://schemas.microsoft.com/office/drawing/2014/main" id="{697C6A31-1322-4648-82CE-4C68B357ADE9}"/>
                  </a:ext>
                </a:extLst>
              </p:cNvPr>
              <p:cNvSpPr/>
              <p:nvPr/>
            </p:nvSpPr>
            <p:spPr>
              <a:xfrm>
                <a:off x="9022607" y="3667301"/>
                <a:ext cx="225118" cy="2667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3" name="矩形 102">
                <a:extLst>
                  <a:ext uri="{FF2B5EF4-FFF2-40B4-BE49-F238E27FC236}">
                    <a16:creationId xmlns:a16="http://schemas.microsoft.com/office/drawing/2014/main" id="{252EA268-F4BF-4F6E-BC68-B74D1AB21EDC}"/>
                  </a:ext>
                </a:extLst>
              </p:cNvPr>
              <p:cNvSpPr/>
              <p:nvPr/>
            </p:nvSpPr>
            <p:spPr>
              <a:xfrm>
                <a:off x="8034760" y="4686154"/>
                <a:ext cx="225118" cy="2667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30" name="矩形 129">
                <a:extLst>
                  <a:ext uri="{FF2B5EF4-FFF2-40B4-BE49-F238E27FC236}">
                    <a16:creationId xmlns:a16="http://schemas.microsoft.com/office/drawing/2014/main" id="{FD58DA12-398D-4D81-A4DB-E7FFB2E04049}"/>
                  </a:ext>
                </a:extLst>
              </p:cNvPr>
              <p:cNvSpPr/>
              <p:nvPr/>
            </p:nvSpPr>
            <p:spPr>
              <a:xfrm>
                <a:off x="9009363" y="5713474"/>
                <a:ext cx="225118" cy="2667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31" name="矩形 130">
                <a:extLst>
                  <a:ext uri="{FF2B5EF4-FFF2-40B4-BE49-F238E27FC236}">
                    <a16:creationId xmlns:a16="http://schemas.microsoft.com/office/drawing/2014/main" id="{AAD8F26C-0C60-4BB4-A028-E7D8A910AD0D}"/>
                  </a:ext>
                </a:extLst>
              </p:cNvPr>
              <p:cNvSpPr/>
              <p:nvPr/>
            </p:nvSpPr>
            <p:spPr>
              <a:xfrm>
                <a:off x="10553262" y="4659017"/>
                <a:ext cx="225118" cy="2667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32" name="文字方塊 131">
                  <a:extLst>
                    <a:ext uri="{FF2B5EF4-FFF2-40B4-BE49-F238E27FC236}">
                      <a16:creationId xmlns:a16="http://schemas.microsoft.com/office/drawing/2014/main" id="{59C8220B-BA68-40B1-A2D1-60274F35F105}"/>
                    </a:ext>
                  </a:extLst>
                </p:cNvPr>
                <p:cNvSpPr txBox="1"/>
                <p:nvPr/>
              </p:nvSpPr>
              <p:spPr>
                <a:xfrm rot="16200000">
                  <a:off x="10201376" y="4665645"/>
                  <a:ext cx="855579"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altLang="zh-TW" sz="1400" b="0" i="0" smtClean="0">
                            <a:latin typeface="Cambria Math" panose="02040503050406030204" pitchFamily="18" charset="0"/>
                          </a:rPr>
                          <m:t>Isotropy</m:t>
                        </m:r>
                      </m:oMath>
                    </m:oMathPara>
                  </a14:m>
                  <a:endParaRPr lang="zh-TW" altLang="en-US" sz="1400" dirty="0"/>
                </a:p>
              </p:txBody>
            </p:sp>
          </mc:Choice>
          <mc:Fallback xmlns="">
            <p:sp>
              <p:nvSpPr>
                <p:cNvPr id="132" name="文字方塊 131">
                  <a:extLst>
                    <a:ext uri="{FF2B5EF4-FFF2-40B4-BE49-F238E27FC236}">
                      <a16:creationId xmlns:a16="http://schemas.microsoft.com/office/drawing/2014/main" id="{59C8220B-BA68-40B1-A2D1-60274F35F105}"/>
                    </a:ext>
                  </a:extLst>
                </p:cNvPr>
                <p:cNvSpPr txBox="1">
                  <a:spLocks noRot="1" noChangeAspect="1" noMove="1" noResize="1" noEditPoints="1" noAdjustHandles="1" noChangeArrowheads="1" noChangeShapeType="1" noTextEdit="1"/>
                </p:cNvSpPr>
                <p:nvPr/>
              </p:nvSpPr>
              <p:spPr>
                <a:xfrm rot="16200000">
                  <a:off x="10201376" y="4665645"/>
                  <a:ext cx="855579" cy="307777"/>
                </a:xfrm>
                <a:prstGeom prst="rect">
                  <a:avLst/>
                </a:prstGeom>
                <a:blipFill>
                  <a:blip r:embed="rId9"/>
                  <a:stretch>
                    <a:fillRect r="-5882"/>
                  </a:stretch>
                </a:blipFill>
              </p:spPr>
              <p:txBody>
                <a:bodyPr/>
                <a:lstStyle/>
                <a:p>
                  <a:r>
                    <a:rPr lang="zh-TW" altLang="en-US">
                      <a:noFill/>
                    </a:rPr>
                    <a:t> </a:t>
                  </a:r>
                </a:p>
              </p:txBody>
            </p:sp>
          </mc:Fallback>
        </mc:AlternateContent>
        <p:sp>
          <p:nvSpPr>
            <p:cNvPr id="133" name="文字方塊 132">
              <a:extLst>
                <a:ext uri="{FF2B5EF4-FFF2-40B4-BE49-F238E27FC236}">
                  <a16:creationId xmlns:a16="http://schemas.microsoft.com/office/drawing/2014/main" id="{6AB274B3-0995-4EEB-9013-E9FCFC70773D}"/>
                </a:ext>
              </a:extLst>
            </p:cNvPr>
            <p:cNvSpPr txBox="1"/>
            <p:nvPr/>
          </p:nvSpPr>
          <p:spPr>
            <a:xfrm>
              <a:off x="7936732" y="4583867"/>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P4</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134" name="文字方塊 133">
              <a:extLst>
                <a:ext uri="{FF2B5EF4-FFF2-40B4-BE49-F238E27FC236}">
                  <a16:creationId xmlns:a16="http://schemas.microsoft.com/office/drawing/2014/main" id="{860FFD41-4F96-4780-8E19-D375CBC57F46}"/>
                </a:ext>
              </a:extLst>
            </p:cNvPr>
            <p:cNvSpPr txBox="1"/>
            <p:nvPr/>
          </p:nvSpPr>
          <p:spPr>
            <a:xfrm>
              <a:off x="8923420" y="3644615"/>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P5</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135" name="文字方塊 134">
              <a:extLst>
                <a:ext uri="{FF2B5EF4-FFF2-40B4-BE49-F238E27FC236}">
                  <a16:creationId xmlns:a16="http://schemas.microsoft.com/office/drawing/2014/main" id="{18CB05BB-851D-48E2-B2C0-383926E2DC69}"/>
                </a:ext>
              </a:extLst>
            </p:cNvPr>
            <p:cNvSpPr txBox="1"/>
            <p:nvPr/>
          </p:nvSpPr>
          <p:spPr>
            <a:xfrm>
              <a:off x="8923420" y="5641829"/>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P6</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136" name="文字方塊 135">
              <a:extLst>
                <a:ext uri="{FF2B5EF4-FFF2-40B4-BE49-F238E27FC236}">
                  <a16:creationId xmlns:a16="http://schemas.microsoft.com/office/drawing/2014/main" id="{268A4645-B4C9-4C93-9DD7-258346092438}"/>
                </a:ext>
              </a:extLst>
            </p:cNvPr>
            <p:cNvSpPr txBox="1"/>
            <p:nvPr/>
          </p:nvSpPr>
          <p:spPr>
            <a:xfrm>
              <a:off x="9905538" y="4797967"/>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P3</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41" name="文字方塊 140">
                  <a:extLst>
                    <a:ext uri="{FF2B5EF4-FFF2-40B4-BE49-F238E27FC236}">
                      <a16:creationId xmlns:a16="http://schemas.microsoft.com/office/drawing/2014/main" id="{881B35F0-DFFE-4DE0-A1B4-E40D2CB808D8}"/>
                    </a:ext>
                  </a:extLst>
                </p:cNvPr>
                <p:cNvSpPr txBox="1"/>
                <p:nvPr/>
              </p:nvSpPr>
              <p:spPr>
                <a:xfrm>
                  <a:off x="9274555" y="4729985"/>
                  <a:ext cx="332369"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TW" sz="1400" b="1" i="1" smtClean="0">
                                <a:solidFill>
                                  <a:schemeClr val="tx1"/>
                                </a:solidFill>
                                <a:latin typeface="Cambria Math" panose="02040503050406030204" pitchFamily="18" charset="0"/>
                                <a:cs typeface="Times New Roman" panose="02020603050405020304" pitchFamily="18" charset="0"/>
                              </a:rPr>
                            </m:ctrlPr>
                          </m:sSubPr>
                          <m:e>
                            <m:r>
                              <a:rPr lang="en-US" altLang="zh-TW" sz="1400" b="1" i="0" smtClean="0">
                                <a:solidFill>
                                  <a:schemeClr val="tx1"/>
                                </a:solidFill>
                                <a:latin typeface="Cambria Math" panose="02040503050406030204" pitchFamily="18" charset="0"/>
                                <a:cs typeface="Times New Roman" panose="02020603050405020304" pitchFamily="18" charset="0"/>
                              </a:rPr>
                              <m:t>𝐲</m:t>
                            </m:r>
                          </m:e>
                          <m:sub>
                            <m:r>
                              <a:rPr lang="en-US" altLang="zh-TW" sz="1400" b="1" i="0" smtClean="0">
                                <a:solidFill>
                                  <a:schemeClr val="tx1"/>
                                </a:solidFill>
                                <a:latin typeface="Cambria Math" panose="02040503050406030204" pitchFamily="18" charset="0"/>
                                <a:cs typeface="Times New Roman" panose="02020603050405020304" pitchFamily="18" charset="0"/>
                              </a:rPr>
                              <m:t>𝐚</m:t>
                            </m:r>
                          </m:sub>
                        </m:sSub>
                      </m:oMath>
                    </m:oMathPara>
                  </a14:m>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Choice>
          <mc:Fallback xmlns="">
            <p:sp>
              <p:nvSpPr>
                <p:cNvPr id="141" name="文字方塊 140">
                  <a:extLst>
                    <a:ext uri="{FF2B5EF4-FFF2-40B4-BE49-F238E27FC236}">
                      <a16:creationId xmlns:a16="http://schemas.microsoft.com/office/drawing/2014/main" id="{881B35F0-DFFE-4DE0-A1B4-E40D2CB808D8}"/>
                    </a:ext>
                  </a:extLst>
                </p:cNvPr>
                <p:cNvSpPr txBox="1">
                  <a:spLocks noRot="1" noChangeAspect="1" noMove="1" noResize="1" noEditPoints="1" noAdjustHandles="1" noChangeArrowheads="1" noChangeShapeType="1" noTextEdit="1"/>
                </p:cNvSpPr>
                <p:nvPr/>
              </p:nvSpPr>
              <p:spPr>
                <a:xfrm>
                  <a:off x="9274555" y="4729985"/>
                  <a:ext cx="332369" cy="307777"/>
                </a:xfrm>
                <a:prstGeom prst="rect">
                  <a:avLst/>
                </a:prstGeom>
                <a:blipFill>
                  <a:blip r:embed="rId10"/>
                  <a:stretch>
                    <a:fillRect b="-400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42" name="文字方塊 141">
                  <a:extLst>
                    <a:ext uri="{FF2B5EF4-FFF2-40B4-BE49-F238E27FC236}">
                      <a16:creationId xmlns:a16="http://schemas.microsoft.com/office/drawing/2014/main" id="{82249A39-0601-4737-8A03-EA956AB6FF5A}"/>
                    </a:ext>
                  </a:extLst>
                </p:cNvPr>
                <p:cNvSpPr txBox="1"/>
                <p:nvPr/>
              </p:nvSpPr>
              <p:spPr>
                <a:xfrm>
                  <a:off x="8807284" y="4242159"/>
                  <a:ext cx="332369"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TW" sz="1400" b="1" i="1" smtClean="0">
                                <a:solidFill>
                                  <a:schemeClr val="tx1"/>
                                </a:solidFill>
                                <a:latin typeface="Cambria Math" panose="02040503050406030204" pitchFamily="18" charset="0"/>
                                <a:cs typeface="Times New Roman" panose="02020603050405020304" pitchFamily="18" charset="0"/>
                              </a:rPr>
                            </m:ctrlPr>
                          </m:sSubPr>
                          <m:e>
                            <m:r>
                              <a:rPr lang="en-US" altLang="zh-TW" sz="1400" b="1" i="0" smtClean="0">
                                <a:solidFill>
                                  <a:schemeClr val="tx1"/>
                                </a:solidFill>
                                <a:latin typeface="Cambria Math" panose="02040503050406030204" pitchFamily="18" charset="0"/>
                                <a:cs typeface="Times New Roman" panose="02020603050405020304" pitchFamily="18" charset="0"/>
                              </a:rPr>
                              <m:t>𝐳</m:t>
                            </m:r>
                          </m:e>
                          <m:sub>
                            <m:r>
                              <a:rPr lang="en-US" altLang="zh-TW" sz="1400" b="1" i="0" smtClean="0">
                                <a:solidFill>
                                  <a:schemeClr val="tx1"/>
                                </a:solidFill>
                                <a:latin typeface="Cambria Math" panose="02040503050406030204" pitchFamily="18" charset="0"/>
                                <a:cs typeface="Times New Roman" panose="02020603050405020304" pitchFamily="18" charset="0"/>
                              </a:rPr>
                              <m:t>𝐚</m:t>
                            </m:r>
                          </m:sub>
                        </m:sSub>
                      </m:oMath>
                    </m:oMathPara>
                  </a14:m>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Choice>
          <mc:Fallback xmlns="">
            <p:sp>
              <p:nvSpPr>
                <p:cNvPr id="142" name="文字方塊 141">
                  <a:extLst>
                    <a:ext uri="{FF2B5EF4-FFF2-40B4-BE49-F238E27FC236}">
                      <a16:creationId xmlns:a16="http://schemas.microsoft.com/office/drawing/2014/main" id="{82249A39-0601-4737-8A03-EA956AB6FF5A}"/>
                    </a:ext>
                  </a:extLst>
                </p:cNvPr>
                <p:cNvSpPr txBox="1">
                  <a:spLocks noRot="1" noChangeAspect="1" noMove="1" noResize="1" noEditPoints="1" noAdjustHandles="1" noChangeArrowheads="1" noChangeShapeType="1" noTextEdit="1"/>
                </p:cNvSpPr>
                <p:nvPr/>
              </p:nvSpPr>
              <p:spPr>
                <a:xfrm>
                  <a:off x="8807284" y="4242159"/>
                  <a:ext cx="332369" cy="307777"/>
                </a:xfrm>
                <a:prstGeom prst="rect">
                  <a:avLst/>
                </a:prstGeom>
                <a:blipFill>
                  <a:blip r:embed="rId11"/>
                  <a:stretch>
                    <a:fillRect/>
                  </a:stretch>
                </a:blipFill>
              </p:spPr>
              <p:txBody>
                <a:bodyPr/>
                <a:lstStyle/>
                <a:p>
                  <a:r>
                    <a:rPr lang="zh-TW" altLang="en-US">
                      <a:noFill/>
                    </a:rPr>
                    <a:t> </a:t>
                  </a:r>
                </a:p>
              </p:txBody>
            </p:sp>
          </mc:Fallback>
        </mc:AlternateContent>
      </p:grpSp>
    </p:spTree>
    <p:extLst>
      <p:ext uri="{BB962C8B-B14F-4D97-AF65-F5344CB8AC3E}">
        <p14:creationId xmlns:p14="http://schemas.microsoft.com/office/powerpoint/2010/main" val="141308416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488031"/>
            <a:ext cx="12192000" cy="193506"/>
          </a:xfrm>
        </p:spPr>
        <p:txBody>
          <a:bodyPr>
            <a:normAutofit fontScale="90000"/>
          </a:bodyPr>
          <a:lstStyle/>
          <a:p>
            <a:r>
              <a:rPr lang="en-US" altLang="zh-TW" sz="3600" b="1" kern="100" dirty="0">
                <a:solidFill>
                  <a:srgbClr val="000000"/>
                </a:solidFill>
                <a:latin typeface="Aptos"/>
                <a:ea typeface="新細明體" panose="02020500000000000000" pitchFamily="18" charset="-120"/>
                <a:cs typeface="Times New Roman" panose="02020603050405020304" pitchFamily="18" charset="0"/>
              </a:rPr>
              <a:t>Quantitative Assessment of Multi-Pole Actuators</a:t>
            </a:r>
            <a:br>
              <a:rPr lang="zh-TW" altLang="zh-TW" sz="1800" kern="100" dirty="0">
                <a:effectLst/>
                <a:latin typeface="Aptos"/>
                <a:ea typeface="新細明體" panose="02020500000000000000" pitchFamily="18" charset="-120"/>
                <a:cs typeface="Times New Roman" panose="02020603050405020304" pitchFamily="18" charset="0"/>
              </a:rPr>
            </a:b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16" name="文字方塊 15">
            <a:extLst>
              <a:ext uri="{FF2B5EF4-FFF2-40B4-BE49-F238E27FC236}">
                <a16:creationId xmlns:a16="http://schemas.microsoft.com/office/drawing/2014/main" id="{6BA9955A-92B3-406A-93D9-E13D8B8C100E}"/>
              </a:ext>
            </a:extLst>
          </p:cNvPr>
          <p:cNvSpPr txBox="1"/>
          <p:nvPr/>
        </p:nvSpPr>
        <p:spPr>
          <a:xfrm>
            <a:off x="98886" y="383190"/>
            <a:ext cx="3588625" cy="369332"/>
          </a:xfrm>
          <a:prstGeom prst="rect">
            <a:avLst/>
          </a:prstGeom>
          <a:noFill/>
        </p:spPr>
        <p:txBody>
          <a:bodyPr wrap="square" rtlCol="0">
            <a:spAutoFit/>
          </a:bodyPr>
          <a:lstStyle/>
          <a:p>
            <a:pPr marL="285750" indent="-285750">
              <a:buFont typeface="Arial" panose="020B0604020202020204" pitchFamily="34" charset="0"/>
              <a:buChar char="•"/>
            </a:pPr>
            <a:r>
              <a:rPr lang="en-US" altLang="zh-TW" dirty="0" err="1"/>
              <a:t>DesignA</a:t>
            </a:r>
            <a:endParaRPr lang="zh-TW" altLang="en-US" dirty="0"/>
          </a:p>
        </p:txBody>
      </p:sp>
      <p:sp>
        <p:nvSpPr>
          <p:cNvPr id="33" name="矩形 32">
            <a:extLst>
              <a:ext uri="{FF2B5EF4-FFF2-40B4-BE49-F238E27FC236}">
                <a16:creationId xmlns:a16="http://schemas.microsoft.com/office/drawing/2014/main" id="{BB2FC3B6-34F2-47A5-A4AF-A882448CE798}"/>
              </a:ext>
            </a:extLst>
          </p:cNvPr>
          <p:cNvSpPr/>
          <p:nvPr/>
        </p:nvSpPr>
        <p:spPr>
          <a:xfrm>
            <a:off x="11647706" y="2231996"/>
            <a:ext cx="188693" cy="24873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4" name="矩形 33">
            <a:extLst>
              <a:ext uri="{FF2B5EF4-FFF2-40B4-BE49-F238E27FC236}">
                <a16:creationId xmlns:a16="http://schemas.microsoft.com/office/drawing/2014/main" id="{666288C7-F5CB-48E4-8D76-163CDF4E1521}"/>
              </a:ext>
            </a:extLst>
          </p:cNvPr>
          <p:cNvSpPr/>
          <p:nvPr/>
        </p:nvSpPr>
        <p:spPr>
          <a:xfrm>
            <a:off x="11485470" y="5360209"/>
            <a:ext cx="188693" cy="24873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2" name="矩形 31">
            <a:extLst>
              <a:ext uri="{FF2B5EF4-FFF2-40B4-BE49-F238E27FC236}">
                <a16:creationId xmlns:a16="http://schemas.microsoft.com/office/drawing/2014/main" id="{735F99E3-440E-4460-B29E-1B9638171658}"/>
              </a:ext>
            </a:extLst>
          </p:cNvPr>
          <p:cNvSpPr/>
          <p:nvPr/>
        </p:nvSpPr>
        <p:spPr>
          <a:xfrm>
            <a:off x="9934416" y="1018389"/>
            <a:ext cx="218554" cy="27092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5" name="矩形 34">
            <a:extLst>
              <a:ext uri="{FF2B5EF4-FFF2-40B4-BE49-F238E27FC236}">
                <a16:creationId xmlns:a16="http://schemas.microsoft.com/office/drawing/2014/main" id="{22C1E112-AE50-46DC-8251-D6D5E0450AA8}"/>
              </a:ext>
            </a:extLst>
          </p:cNvPr>
          <p:cNvSpPr/>
          <p:nvPr/>
        </p:nvSpPr>
        <p:spPr>
          <a:xfrm>
            <a:off x="8927424" y="703212"/>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5" name="矩形 44">
            <a:extLst>
              <a:ext uri="{FF2B5EF4-FFF2-40B4-BE49-F238E27FC236}">
                <a16:creationId xmlns:a16="http://schemas.microsoft.com/office/drawing/2014/main" id="{A7AC5CB5-ED89-4E3E-AD62-78E3BA5A407F}"/>
              </a:ext>
            </a:extLst>
          </p:cNvPr>
          <p:cNvSpPr/>
          <p:nvPr/>
        </p:nvSpPr>
        <p:spPr>
          <a:xfrm>
            <a:off x="6279842" y="703212"/>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6" name="矩形 45">
            <a:extLst>
              <a:ext uri="{FF2B5EF4-FFF2-40B4-BE49-F238E27FC236}">
                <a16:creationId xmlns:a16="http://schemas.microsoft.com/office/drawing/2014/main" id="{ECFCDEC8-6D9E-4F90-9164-5AFC45503F9D}"/>
              </a:ext>
            </a:extLst>
          </p:cNvPr>
          <p:cNvSpPr/>
          <p:nvPr/>
        </p:nvSpPr>
        <p:spPr>
          <a:xfrm>
            <a:off x="5541053" y="1762316"/>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7" name="矩形 46">
            <a:extLst>
              <a:ext uri="{FF2B5EF4-FFF2-40B4-BE49-F238E27FC236}">
                <a16:creationId xmlns:a16="http://schemas.microsoft.com/office/drawing/2014/main" id="{42375863-2208-49BC-A294-DC35BC7C0E6F}"/>
              </a:ext>
            </a:extLst>
          </p:cNvPr>
          <p:cNvSpPr/>
          <p:nvPr/>
        </p:nvSpPr>
        <p:spPr>
          <a:xfrm>
            <a:off x="6592957" y="2469682"/>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0" name="矩形 29">
            <a:extLst>
              <a:ext uri="{FF2B5EF4-FFF2-40B4-BE49-F238E27FC236}">
                <a16:creationId xmlns:a16="http://schemas.microsoft.com/office/drawing/2014/main" id="{4AEC54F1-2642-426E-80DB-775A61DDF044}"/>
              </a:ext>
            </a:extLst>
          </p:cNvPr>
          <p:cNvSpPr/>
          <p:nvPr/>
        </p:nvSpPr>
        <p:spPr>
          <a:xfrm>
            <a:off x="10930467" y="1596950"/>
            <a:ext cx="107305"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 name="矩形 8">
            <a:extLst>
              <a:ext uri="{FF2B5EF4-FFF2-40B4-BE49-F238E27FC236}">
                <a16:creationId xmlns:a16="http://schemas.microsoft.com/office/drawing/2014/main" id="{7B2555E3-898A-435A-9CA9-B6575FB7B1AA}"/>
              </a:ext>
            </a:extLst>
          </p:cNvPr>
          <p:cNvSpPr/>
          <p:nvPr/>
        </p:nvSpPr>
        <p:spPr>
          <a:xfrm>
            <a:off x="9794725" y="4840409"/>
            <a:ext cx="467790" cy="3979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23" name="群組 22">
            <a:extLst>
              <a:ext uri="{FF2B5EF4-FFF2-40B4-BE49-F238E27FC236}">
                <a16:creationId xmlns:a16="http://schemas.microsoft.com/office/drawing/2014/main" id="{D872CA14-590B-4B25-8D56-51869107EFD2}"/>
              </a:ext>
            </a:extLst>
          </p:cNvPr>
          <p:cNvGrpSpPr/>
          <p:nvPr/>
        </p:nvGrpSpPr>
        <p:grpSpPr>
          <a:xfrm>
            <a:off x="6875133" y="3508868"/>
            <a:ext cx="3168560" cy="2172283"/>
            <a:chOff x="6867344" y="3740617"/>
            <a:chExt cx="3168560" cy="2172283"/>
          </a:xfrm>
        </p:grpSpPr>
        <p:sp>
          <p:nvSpPr>
            <p:cNvPr id="48" name="矩形 47">
              <a:extLst>
                <a:ext uri="{FF2B5EF4-FFF2-40B4-BE49-F238E27FC236}">
                  <a16:creationId xmlns:a16="http://schemas.microsoft.com/office/drawing/2014/main" id="{B096E37E-8AC9-44B3-8AC0-85DBA5186884}"/>
                </a:ext>
              </a:extLst>
            </p:cNvPr>
            <p:cNvSpPr/>
            <p:nvPr/>
          </p:nvSpPr>
          <p:spPr>
            <a:xfrm>
              <a:off x="8832312" y="4530195"/>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9" name="矩形 48">
              <a:extLst>
                <a:ext uri="{FF2B5EF4-FFF2-40B4-BE49-F238E27FC236}">
                  <a16:creationId xmlns:a16="http://schemas.microsoft.com/office/drawing/2014/main" id="{D78A5635-6392-4A3A-8FB5-9101D27D904D}"/>
                </a:ext>
              </a:extLst>
            </p:cNvPr>
            <p:cNvSpPr/>
            <p:nvPr/>
          </p:nvSpPr>
          <p:spPr>
            <a:xfrm>
              <a:off x="7680057" y="3740617"/>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0" name="矩形 49">
              <a:extLst>
                <a:ext uri="{FF2B5EF4-FFF2-40B4-BE49-F238E27FC236}">
                  <a16:creationId xmlns:a16="http://schemas.microsoft.com/office/drawing/2014/main" id="{9E623D93-181D-445B-A97C-8949FD369C96}"/>
                </a:ext>
              </a:extLst>
            </p:cNvPr>
            <p:cNvSpPr/>
            <p:nvPr/>
          </p:nvSpPr>
          <p:spPr>
            <a:xfrm>
              <a:off x="6867344" y="4901407"/>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1" name="矩形 50">
              <a:extLst>
                <a:ext uri="{FF2B5EF4-FFF2-40B4-BE49-F238E27FC236}">
                  <a16:creationId xmlns:a16="http://schemas.microsoft.com/office/drawing/2014/main" id="{291D2EE2-3DA4-43C1-834D-6A683319D87B}"/>
                </a:ext>
              </a:extLst>
            </p:cNvPr>
            <p:cNvSpPr/>
            <p:nvPr/>
          </p:nvSpPr>
          <p:spPr>
            <a:xfrm>
              <a:off x="8022867" y="5680623"/>
              <a:ext cx="279399"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62E44167-7C8B-4193-8CDE-E0AF63648A86}"/>
                </a:ext>
              </a:extLst>
            </p:cNvPr>
            <p:cNvSpPr/>
            <p:nvPr/>
          </p:nvSpPr>
          <p:spPr>
            <a:xfrm>
              <a:off x="9817350" y="4701989"/>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71" name="矩形 70">
            <a:extLst>
              <a:ext uri="{FF2B5EF4-FFF2-40B4-BE49-F238E27FC236}">
                <a16:creationId xmlns:a16="http://schemas.microsoft.com/office/drawing/2014/main" id="{339F7727-7052-4D90-B6A9-2AED4DBC48EF}"/>
              </a:ext>
            </a:extLst>
          </p:cNvPr>
          <p:cNvSpPr/>
          <p:nvPr/>
        </p:nvSpPr>
        <p:spPr>
          <a:xfrm>
            <a:off x="9556542" y="4654243"/>
            <a:ext cx="218554" cy="22185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8" name="群組 7">
            <a:extLst>
              <a:ext uri="{FF2B5EF4-FFF2-40B4-BE49-F238E27FC236}">
                <a16:creationId xmlns:a16="http://schemas.microsoft.com/office/drawing/2014/main" id="{54607F0B-9399-46DC-A751-46D610BD1351}"/>
              </a:ext>
            </a:extLst>
          </p:cNvPr>
          <p:cNvGrpSpPr/>
          <p:nvPr/>
        </p:nvGrpSpPr>
        <p:grpSpPr>
          <a:xfrm>
            <a:off x="7345935" y="1930440"/>
            <a:ext cx="3264315" cy="2877114"/>
            <a:chOff x="7276685" y="1998989"/>
            <a:chExt cx="3264315" cy="2877114"/>
          </a:xfrm>
        </p:grpSpPr>
        <p:sp>
          <p:nvSpPr>
            <p:cNvPr id="7" name="矩形 6">
              <a:extLst>
                <a:ext uri="{FF2B5EF4-FFF2-40B4-BE49-F238E27FC236}">
                  <a16:creationId xmlns:a16="http://schemas.microsoft.com/office/drawing/2014/main" id="{29F3120E-FFA5-49F9-B607-4539075AF0F8}"/>
                </a:ext>
              </a:extLst>
            </p:cNvPr>
            <p:cNvSpPr/>
            <p:nvPr/>
          </p:nvSpPr>
          <p:spPr>
            <a:xfrm>
              <a:off x="9145978" y="4605175"/>
              <a:ext cx="1395022" cy="27092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矩形 72">
              <a:extLst>
                <a:ext uri="{FF2B5EF4-FFF2-40B4-BE49-F238E27FC236}">
                  <a16:creationId xmlns:a16="http://schemas.microsoft.com/office/drawing/2014/main" id="{2F909DB8-68B5-4CC8-88B1-5CEC2797D52D}"/>
                </a:ext>
              </a:extLst>
            </p:cNvPr>
            <p:cNvSpPr/>
            <p:nvPr/>
          </p:nvSpPr>
          <p:spPr>
            <a:xfrm rot="16200000">
              <a:off x="6616710" y="2658964"/>
              <a:ext cx="1590877" cy="27092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36" name="文字方塊 35">
            <a:extLst>
              <a:ext uri="{FF2B5EF4-FFF2-40B4-BE49-F238E27FC236}">
                <a16:creationId xmlns:a16="http://schemas.microsoft.com/office/drawing/2014/main" id="{BC8D4A16-5CCA-40C5-9964-FFF5383065ED}"/>
              </a:ext>
            </a:extLst>
          </p:cNvPr>
          <p:cNvSpPr txBox="1"/>
          <p:nvPr/>
        </p:nvSpPr>
        <p:spPr>
          <a:xfrm>
            <a:off x="76852" y="703212"/>
            <a:ext cx="6176432" cy="4247317"/>
          </a:xfrm>
          <a:prstGeom prst="rect">
            <a:avLst/>
          </a:prstGeom>
          <a:noFill/>
        </p:spPr>
        <p:txBody>
          <a:bodyPr wrap="square">
            <a:spAutoFit/>
          </a:bodyPr>
          <a:lstStyle/>
          <a:p>
            <a:pPr marL="285750" indent="-285750">
              <a:buFont typeface="Arial" panose="020B0604020202020204" pitchFamily="34" charset="0"/>
              <a:buChar char="•"/>
            </a:pPr>
            <a:endParaRPr lang="en-US" altLang="zh-TW" dirty="0"/>
          </a:p>
          <a:p>
            <a:pPr marL="285750" indent="-285750">
              <a:buFont typeface="Arial" panose="020B0604020202020204" pitchFamily="34" charset="0"/>
              <a:buChar char="•"/>
            </a:pPr>
            <a:r>
              <a:rPr lang="zh-TW" altLang="en-US" dirty="0"/>
              <a:t>The three distributions separate clearly, and the separation is asymmetric: the largest singular value is roughly twice the other two and spreads over a wide range with a long tail towards high values, while the second and third are narrow and overlap heavily. Over most of its workspace Design A therefore has one dominant direction and two comparable, weaker ones, rather than three directions of similar strength; the isotropy deficit seen on the previous slide is driven mainly by the strong axis pulling away, not by the weakest axis collapsing. The long tail belongs to the points closest to the pole tips — the same points that form the four red lobes of the capacity map on slide 14.</a:t>
            </a:r>
            <a:endParaRPr lang="en-US" altLang="zh-TW" dirty="0"/>
          </a:p>
          <a:p>
            <a:pPr marL="285750" indent="-285750">
              <a:buFont typeface="Arial" panose="020B0604020202020204" pitchFamily="34" charset="0"/>
              <a:buChar char="•"/>
            </a:pPr>
            <a:r>
              <a:rPr lang="en-US" altLang="zh-TW" dirty="0"/>
              <a:t>Both histograms have the same resolution (22.04uT/A).</a:t>
            </a:r>
          </a:p>
          <a:p>
            <a:pPr marL="285750" indent="-285750">
              <a:buFont typeface="Arial" panose="020B0604020202020204" pitchFamily="34" charset="0"/>
              <a:buChar char="•"/>
            </a:pPr>
            <a:endParaRPr lang="zh-TW" altLang="en-US" dirty="0"/>
          </a:p>
        </p:txBody>
      </p:sp>
      <mc:AlternateContent xmlns:mc="http://schemas.openxmlformats.org/markup-compatibility/2006" xmlns:a14="http://schemas.microsoft.com/office/drawing/2010/main">
        <mc:Choice Requires="a14">
          <p:graphicFrame>
            <p:nvGraphicFramePr>
              <p:cNvPr id="10" name="表格 10">
                <a:extLst>
                  <a:ext uri="{FF2B5EF4-FFF2-40B4-BE49-F238E27FC236}">
                    <a16:creationId xmlns:a16="http://schemas.microsoft.com/office/drawing/2014/main" id="{8AD94496-9899-4763-AC19-DE9E4B62DF29}"/>
                  </a:ext>
                </a:extLst>
              </p:cNvPr>
              <p:cNvGraphicFramePr>
                <a:graphicFrameLocks noGrp="1"/>
              </p:cNvGraphicFramePr>
              <p:nvPr>
                <p:extLst>
                  <p:ext uri="{D42A27DB-BD31-4B8C-83A1-F6EECF244321}">
                    <p14:modId xmlns:p14="http://schemas.microsoft.com/office/powerpoint/2010/main" val="4105875477"/>
                  </p:ext>
                </p:extLst>
              </p:nvPr>
            </p:nvGraphicFramePr>
            <p:xfrm>
              <a:off x="316206" y="5100797"/>
              <a:ext cx="8128000" cy="741680"/>
            </p:xfrm>
            <a:graphic>
              <a:graphicData uri="http://schemas.openxmlformats.org/drawingml/2006/table">
                <a:tbl>
                  <a:tblPr firstRow="1" bandRow="1">
                    <a:tableStyleId>{5940675A-B579-460E-94D1-54222C63F5DA}</a:tableStyleId>
                  </a:tblPr>
                  <a:tblGrid>
                    <a:gridCol w="2032000">
                      <a:extLst>
                        <a:ext uri="{9D8B030D-6E8A-4147-A177-3AD203B41FA5}">
                          <a16:colId xmlns:a16="http://schemas.microsoft.com/office/drawing/2014/main" val="1576531335"/>
                        </a:ext>
                      </a:extLst>
                    </a:gridCol>
                    <a:gridCol w="2032000">
                      <a:extLst>
                        <a:ext uri="{9D8B030D-6E8A-4147-A177-3AD203B41FA5}">
                          <a16:colId xmlns:a16="http://schemas.microsoft.com/office/drawing/2014/main" val="3507019064"/>
                        </a:ext>
                      </a:extLst>
                    </a:gridCol>
                    <a:gridCol w="2032000">
                      <a:extLst>
                        <a:ext uri="{9D8B030D-6E8A-4147-A177-3AD203B41FA5}">
                          <a16:colId xmlns:a16="http://schemas.microsoft.com/office/drawing/2014/main" val="1921430209"/>
                        </a:ext>
                      </a:extLst>
                    </a:gridCol>
                    <a:gridCol w="2032000">
                      <a:extLst>
                        <a:ext uri="{9D8B030D-6E8A-4147-A177-3AD203B41FA5}">
                          <a16:colId xmlns:a16="http://schemas.microsoft.com/office/drawing/2014/main" val="2237932526"/>
                        </a:ext>
                      </a:extLst>
                    </a:gridCol>
                  </a:tblGrid>
                  <a:tr h="370840">
                    <a:tc>
                      <a:txBody>
                        <a:bodyPr/>
                        <a:lstStyle/>
                        <a:p>
                          <a:endParaRPr lang="zh-TW" altLang="en-US" dirty="0"/>
                        </a:p>
                      </a:txBody>
                      <a:tcPr>
                        <a:lnTlToBr w="12700" cap="flat" cmpd="sng" algn="ctr">
                          <a:solidFill>
                            <a:schemeClr val="tx1"/>
                          </a:solidFill>
                          <a:prstDash val="solid"/>
                          <a:round/>
                          <a:headEnd type="none" w="med" len="med"/>
                          <a:tailEnd type="none" w="med" len="med"/>
                        </a:lnTlToBr>
                      </a:tcPr>
                    </a:tc>
                    <a:tc>
                      <a:txBody>
                        <a:bodyPr/>
                        <a:lstStyle/>
                        <a:p>
                          <a:pPr algn="ctr"/>
                          <a14:m>
                            <m:oMathPara xmlns:m="http://schemas.openxmlformats.org/officeDocument/2006/math">
                              <m:oMathParaPr>
                                <m:jc m:val="centerGroup"/>
                              </m:oMathParaPr>
                              <m:oMath xmlns:m="http://schemas.openxmlformats.org/officeDocument/2006/math">
                                <m:sSub>
                                  <m:sSubPr>
                                    <m:ctrlPr>
                                      <a:rPr lang="en-US" altLang="zh-TW" i="1" smtClean="0">
                                        <a:latin typeface="Cambria Math" panose="02040503050406030204" pitchFamily="18" charset="0"/>
                                      </a:rPr>
                                    </m:ctrlPr>
                                  </m:sSubPr>
                                  <m:e>
                                    <m:r>
                                      <a:rPr lang="zh-TW" altLang="en-US" i="1" smtClean="0">
                                        <a:latin typeface="Cambria Math" panose="02040503050406030204" pitchFamily="18" charset="0"/>
                                      </a:rPr>
                                      <m:t>𝜎</m:t>
                                    </m:r>
                                  </m:e>
                                  <m:sub>
                                    <m:r>
                                      <a:rPr lang="en-US" altLang="zh-TW" b="0" i="1" smtClean="0">
                                        <a:latin typeface="Cambria Math" panose="02040503050406030204" pitchFamily="18" charset="0"/>
                                      </a:rPr>
                                      <m:t>11</m:t>
                                    </m:r>
                                  </m:sub>
                                </m:sSub>
                              </m:oMath>
                            </m:oMathPara>
                          </a14:m>
                          <a:endParaRPr lang="zh-TW" alt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altLang="zh-TW" i="1" smtClean="0">
                                        <a:latin typeface="Cambria Math" panose="02040503050406030204" pitchFamily="18" charset="0"/>
                                      </a:rPr>
                                    </m:ctrlPr>
                                  </m:sSubPr>
                                  <m:e>
                                    <m:r>
                                      <a:rPr lang="zh-TW" altLang="en-US" i="1" smtClean="0">
                                        <a:latin typeface="Cambria Math" panose="02040503050406030204" pitchFamily="18" charset="0"/>
                                      </a:rPr>
                                      <m:t>𝜎</m:t>
                                    </m:r>
                                  </m:e>
                                  <m:sub>
                                    <m:r>
                                      <a:rPr lang="en-US" altLang="zh-TW" b="0" i="1" smtClean="0">
                                        <a:latin typeface="Cambria Math" panose="02040503050406030204" pitchFamily="18" charset="0"/>
                                      </a:rPr>
                                      <m:t>22</m:t>
                                    </m:r>
                                  </m:sub>
                                </m:sSub>
                              </m:oMath>
                            </m:oMathPara>
                          </a14:m>
                          <a:endParaRPr lang="zh-TW" alt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altLang="zh-TW" i="1" smtClean="0">
                                        <a:latin typeface="Cambria Math" panose="02040503050406030204" pitchFamily="18" charset="0"/>
                                      </a:rPr>
                                    </m:ctrlPr>
                                  </m:sSubPr>
                                  <m:e>
                                    <m:r>
                                      <a:rPr lang="zh-TW" altLang="en-US" i="1" smtClean="0">
                                        <a:latin typeface="Cambria Math" panose="02040503050406030204" pitchFamily="18" charset="0"/>
                                      </a:rPr>
                                      <m:t>𝜎</m:t>
                                    </m:r>
                                  </m:e>
                                  <m:sub>
                                    <m:r>
                                      <a:rPr lang="en-US" altLang="zh-TW" b="0" i="1" smtClean="0">
                                        <a:latin typeface="Cambria Math" panose="02040503050406030204" pitchFamily="18" charset="0"/>
                                      </a:rPr>
                                      <m:t>33</m:t>
                                    </m:r>
                                  </m:sub>
                                </m:sSub>
                              </m:oMath>
                            </m:oMathPara>
                          </a14:m>
                          <a:endParaRPr lang="zh-TW" altLang="en-US" dirty="0"/>
                        </a:p>
                      </a:txBody>
                      <a:tcPr/>
                    </a:tc>
                    <a:extLst>
                      <a:ext uri="{0D108BD9-81ED-4DB2-BD59-A6C34878D82A}">
                        <a16:rowId xmlns:a16="http://schemas.microsoft.com/office/drawing/2014/main" val="168208475"/>
                      </a:ext>
                    </a:extLst>
                  </a:tr>
                  <a:tr h="370840">
                    <a:tc>
                      <a:txBody>
                        <a:bodyPr/>
                        <a:lstStyle/>
                        <a:p>
                          <a:pPr algn="ctr"/>
                          <a:r>
                            <a:rPr lang="en-US" altLang="zh-TW" dirty="0"/>
                            <a:t>Mean</a:t>
                          </a:r>
                          <a14:m>
                            <m:oMath xmlns:m="http://schemas.openxmlformats.org/officeDocument/2006/math">
                              <m:r>
                                <a:rPr lang="en-US" altLang="zh-TW" b="0" i="1" smtClean="0">
                                  <a:latin typeface="Cambria Math" panose="02040503050406030204" pitchFamily="18" charset="0"/>
                                </a:rPr>
                                <m:t>(</m:t>
                              </m:r>
                              <m:f>
                                <m:fPr>
                                  <m:type m:val="lin"/>
                                  <m:ctrlPr>
                                    <a:rPr lang="en-US" altLang="zh-TW" b="0" i="1" smtClean="0">
                                      <a:latin typeface="Cambria Math" panose="02040503050406030204" pitchFamily="18" charset="0"/>
                                    </a:rPr>
                                  </m:ctrlPr>
                                </m:fPr>
                                <m:num>
                                  <m:r>
                                    <a:rPr lang="en-US" altLang="zh-TW" b="0" i="1" smtClean="0">
                                      <a:latin typeface="Cambria Math" panose="02040503050406030204" pitchFamily="18" charset="0"/>
                                    </a:rPr>
                                    <m:t>𝑚𝑇</m:t>
                                  </m:r>
                                </m:num>
                                <m:den>
                                  <m:r>
                                    <a:rPr lang="en-US" altLang="zh-TW" b="0" i="1" smtClean="0">
                                      <a:latin typeface="Cambria Math" panose="02040503050406030204" pitchFamily="18" charset="0"/>
                                    </a:rPr>
                                    <m:t>𝐴</m:t>
                                  </m:r>
                                  <m:r>
                                    <a:rPr lang="en-US" altLang="zh-TW" b="0" i="1" smtClean="0">
                                      <a:latin typeface="Cambria Math" panose="02040503050406030204" pitchFamily="18" charset="0"/>
                                    </a:rPr>
                                    <m:t>)</m:t>
                                  </m:r>
                                </m:den>
                              </m:f>
                            </m:oMath>
                          </a14:m>
                          <a:endParaRPr lang="zh-TW" altLang="en-US" dirty="0"/>
                        </a:p>
                      </a:txBody>
                      <a:tcPr/>
                    </a:tc>
                    <a:tc>
                      <a:txBody>
                        <a:bodyPr/>
                        <a:lstStyle/>
                        <a:p>
                          <a:pPr algn="ctr"/>
                          <a:r>
                            <a:rPr lang="en-US" altLang="zh-TW" dirty="0"/>
                            <a:t>15.7</a:t>
                          </a:r>
                          <a:endParaRPr lang="zh-TW" altLang="en-US" dirty="0"/>
                        </a:p>
                      </a:txBody>
                      <a:tcPr/>
                    </a:tc>
                    <a:tc>
                      <a:txBody>
                        <a:bodyPr/>
                        <a:lstStyle/>
                        <a:p>
                          <a:pPr algn="ctr"/>
                          <a:r>
                            <a:rPr lang="en-US" altLang="zh-TW" dirty="0"/>
                            <a:t>14.396</a:t>
                          </a:r>
                          <a:endParaRPr lang="zh-TW" altLang="en-US" dirty="0"/>
                        </a:p>
                      </a:txBody>
                      <a:tcPr/>
                    </a:tc>
                    <a:tc>
                      <a:txBody>
                        <a:bodyPr/>
                        <a:lstStyle/>
                        <a:p>
                          <a:pPr algn="ctr"/>
                          <a:r>
                            <a:rPr lang="en-US" altLang="zh-TW" dirty="0"/>
                            <a:t>13.85</a:t>
                          </a:r>
                          <a:endParaRPr lang="zh-TW" altLang="en-US" dirty="0"/>
                        </a:p>
                      </a:txBody>
                      <a:tcPr/>
                    </a:tc>
                    <a:extLst>
                      <a:ext uri="{0D108BD9-81ED-4DB2-BD59-A6C34878D82A}">
                        <a16:rowId xmlns:a16="http://schemas.microsoft.com/office/drawing/2014/main" val="3046649366"/>
                      </a:ext>
                    </a:extLst>
                  </a:tr>
                </a:tbl>
              </a:graphicData>
            </a:graphic>
          </p:graphicFrame>
        </mc:Choice>
        <mc:Fallback xmlns="">
          <p:graphicFrame>
            <p:nvGraphicFramePr>
              <p:cNvPr id="10" name="表格 10">
                <a:extLst>
                  <a:ext uri="{FF2B5EF4-FFF2-40B4-BE49-F238E27FC236}">
                    <a16:creationId xmlns:a16="http://schemas.microsoft.com/office/drawing/2014/main" id="{8AD94496-9899-4763-AC19-DE9E4B62DF29}"/>
                  </a:ext>
                </a:extLst>
              </p:cNvPr>
              <p:cNvGraphicFramePr>
                <a:graphicFrameLocks noGrp="1"/>
              </p:cNvGraphicFramePr>
              <p:nvPr>
                <p:extLst>
                  <p:ext uri="{D42A27DB-BD31-4B8C-83A1-F6EECF244321}">
                    <p14:modId xmlns:p14="http://schemas.microsoft.com/office/powerpoint/2010/main" val="4105875477"/>
                  </p:ext>
                </p:extLst>
              </p:nvPr>
            </p:nvGraphicFramePr>
            <p:xfrm>
              <a:off x="316206" y="5100797"/>
              <a:ext cx="8128000" cy="741680"/>
            </p:xfrm>
            <a:graphic>
              <a:graphicData uri="http://schemas.openxmlformats.org/drawingml/2006/table">
                <a:tbl>
                  <a:tblPr firstRow="1" bandRow="1">
                    <a:tableStyleId>{5940675A-B579-460E-94D1-54222C63F5DA}</a:tableStyleId>
                  </a:tblPr>
                  <a:tblGrid>
                    <a:gridCol w="2032000">
                      <a:extLst>
                        <a:ext uri="{9D8B030D-6E8A-4147-A177-3AD203B41FA5}">
                          <a16:colId xmlns:a16="http://schemas.microsoft.com/office/drawing/2014/main" val="1576531335"/>
                        </a:ext>
                      </a:extLst>
                    </a:gridCol>
                    <a:gridCol w="2032000">
                      <a:extLst>
                        <a:ext uri="{9D8B030D-6E8A-4147-A177-3AD203B41FA5}">
                          <a16:colId xmlns:a16="http://schemas.microsoft.com/office/drawing/2014/main" val="3507019064"/>
                        </a:ext>
                      </a:extLst>
                    </a:gridCol>
                    <a:gridCol w="2032000">
                      <a:extLst>
                        <a:ext uri="{9D8B030D-6E8A-4147-A177-3AD203B41FA5}">
                          <a16:colId xmlns:a16="http://schemas.microsoft.com/office/drawing/2014/main" val="1921430209"/>
                        </a:ext>
                      </a:extLst>
                    </a:gridCol>
                    <a:gridCol w="2032000">
                      <a:extLst>
                        <a:ext uri="{9D8B030D-6E8A-4147-A177-3AD203B41FA5}">
                          <a16:colId xmlns:a16="http://schemas.microsoft.com/office/drawing/2014/main" val="2237932526"/>
                        </a:ext>
                      </a:extLst>
                    </a:gridCol>
                  </a:tblGrid>
                  <a:tr h="370840">
                    <a:tc>
                      <a:txBody>
                        <a:bodyPr/>
                        <a:lstStyle/>
                        <a:p>
                          <a:endParaRPr lang="zh-TW" altLang="en-US" dirty="0"/>
                        </a:p>
                      </a:txBody>
                      <a:tcPr>
                        <a:lnTlToBr w="12700" cap="flat" cmpd="sng" algn="ctr">
                          <a:solidFill>
                            <a:schemeClr val="tx1"/>
                          </a:solidFill>
                          <a:prstDash val="solid"/>
                          <a:round/>
                          <a:headEnd type="none" w="med" len="med"/>
                          <a:tailEnd type="none" w="med" len="med"/>
                        </a:lnTlToBr>
                      </a:tcPr>
                    </a:tc>
                    <a:tc>
                      <a:txBody>
                        <a:bodyPr/>
                        <a:lstStyle/>
                        <a:p>
                          <a:endParaRPr lang="zh-TW"/>
                        </a:p>
                      </a:txBody>
                      <a:tcPr>
                        <a:blipFill>
                          <a:blip r:embed="rId2"/>
                          <a:stretch>
                            <a:fillRect l="-100299" t="-14516" r="-200299" b="-270968"/>
                          </a:stretch>
                        </a:blipFill>
                      </a:tcPr>
                    </a:tc>
                    <a:tc>
                      <a:txBody>
                        <a:bodyPr/>
                        <a:lstStyle/>
                        <a:p>
                          <a:endParaRPr lang="zh-TW"/>
                        </a:p>
                      </a:txBody>
                      <a:tcPr>
                        <a:blipFill>
                          <a:blip r:embed="rId2"/>
                          <a:stretch>
                            <a:fillRect l="-200901" t="-14516" r="-100901" b="-270968"/>
                          </a:stretch>
                        </a:blipFill>
                      </a:tcPr>
                    </a:tc>
                    <a:tc>
                      <a:txBody>
                        <a:bodyPr/>
                        <a:lstStyle/>
                        <a:p>
                          <a:endParaRPr lang="zh-TW"/>
                        </a:p>
                      </a:txBody>
                      <a:tcPr>
                        <a:blipFill>
                          <a:blip r:embed="rId2"/>
                          <a:stretch>
                            <a:fillRect l="-300000" t="-14516" r="-599" b="-270968"/>
                          </a:stretch>
                        </a:blipFill>
                      </a:tcPr>
                    </a:tc>
                    <a:extLst>
                      <a:ext uri="{0D108BD9-81ED-4DB2-BD59-A6C34878D82A}">
                        <a16:rowId xmlns:a16="http://schemas.microsoft.com/office/drawing/2014/main" val="168208475"/>
                      </a:ext>
                    </a:extLst>
                  </a:tr>
                  <a:tr h="370840">
                    <a:tc>
                      <a:txBody>
                        <a:bodyPr/>
                        <a:lstStyle/>
                        <a:p>
                          <a:endParaRPr lang="zh-TW"/>
                        </a:p>
                      </a:txBody>
                      <a:tcPr>
                        <a:blipFill>
                          <a:blip r:embed="rId2"/>
                          <a:stretch>
                            <a:fillRect l="-299" t="-116393" r="-300299" b="-175410"/>
                          </a:stretch>
                        </a:blipFill>
                      </a:tcPr>
                    </a:tc>
                    <a:tc>
                      <a:txBody>
                        <a:bodyPr/>
                        <a:lstStyle/>
                        <a:p>
                          <a:pPr algn="ctr"/>
                          <a:r>
                            <a:rPr lang="en-US" altLang="zh-TW" dirty="0"/>
                            <a:t>15.7</a:t>
                          </a:r>
                          <a:endParaRPr lang="zh-TW" altLang="en-US" dirty="0"/>
                        </a:p>
                      </a:txBody>
                      <a:tcPr/>
                    </a:tc>
                    <a:tc>
                      <a:txBody>
                        <a:bodyPr/>
                        <a:lstStyle/>
                        <a:p>
                          <a:pPr algn="ctr"/>
                          <a:r>
                            <a:rPr lang="en-US" altLang="zh-TW" dirty="0"/>
                            <a:t>14.396</a:t>
                          </a:r>
                          <a:endParaRPr lang="zh-TW" altLang="en-US" dirty="0"/>
                        </a:p>
                      </a:txBody>
                      <a:tcPr/>
                    </a:tc>
                    <a:tc>
                      <a:txBody>
                        <a:bodyPr/>
                        <a:lstStyle/>
                        <a:p>
                          <a:pPr algn="ctr"/>
                          <a:r>
                            <a:rPr lang="en-US" altLang="zh-TW" dirty="0"/>
                            <a:t>13.85</a:t>
                          </a:r>
                          <a:endParaRPr lang="zh-TW" altLang="en-US" dirty="0"/>
                        </a:p>
                      </a:txBody>
                      <a:tcPr/>
                    </a:tc>
                    <a:extLst>
                      <a:ext uri="{0D108BD9-81ED-4DB2-BD59-A6C34878D82A}">
                        <a16:rowId xmlns:a16="http://schemas.microsoft.com/office/drawing/2014/main" val="3046649366"/>
                      </a:ext>
                    </a:extLst>
                  </a:tr>
                </a:tbl>
              </a:graphicData>
            </a:graphic>
          </p:graphicFrame>
        </mc:Fallback>
      </mc:AlternateContent>
      <p:grpSp>
        <p:nvGrpSpPr>
          <p:cNvPr id="6" name="群組 5">
            <a:extLst>
              <a:ext uri="{FF2B5EF4-FFF2-40B4-BE49-F238E27FC236}">
                <a16:creationId xmlns:a16="http://schemas.microsoft.com/office/drawing/2014/main" id="{D577C075-A95F-4CCF-8D75-65839574A314}"/>
              </a:ext>
            </a:extLst>
          </p:cNvPr>
          <p:cNvGrpSpPr/>
          <p:nvPr/>
        </p:nvGrpSpPr>
        <p:grpSpPr>
          <a:xfrm>
            <a:off x="7229536" y="1094983"/>
            <a:ext cx="4015292" cy="3098426"/>
            <a:chOff x="7471222" y="1375612"/>
            <a:chExt cx="4015292" cy="3098426"/>
          </a:xfrm>
        </p:grpSpPr>
        <p:pic>
          <p:nvPicPr>
            <p:cNvPr id="4" name="圖片 3">
              <a:extLst>
                <a:ext uri="{FF2B5EF4-FFF2-40B4-BE49-F238E27FC236}">
                  <a16:creationId xmlns:a16="http://schemas.microsoft.com/office/drawing/2014/main" id="{593E0BED-B07D-4318-A642-8E641FB6B26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16863" y="1375612"/>
              <a:ext cx="3869651" cy="3012131"/>
            </a:xfrm>
            <a:prstGeom prst="rect">
              <a:avLst/>
            </a:prstGeom>
          </p:spPr>
        </p:pic>
        <p:grpSp>
          <p:nvGrpSpPr>
            <p:cNvPr id="15" name="群組 14">
              <a:extLst>
                <a:ext uri="{FF2B5EF4-FFF2-40B4-BE49-F238E27FC236}">
                  <a16:creationId xmlns:a16="http://schemas.microsoft.com/office/drawing/2014/main" id="{B0A18187-7F13-41AC-A9F7-1436480D630C}"/>
                </a:ext>
              </a:extLst>
            </p:cNvPr>
            <p:cNvGrpSpPr/>
            <p:nvPr/>
          </p:nvGrpSpPr>
          <p:grpSpPr>
            <a:xfrm>
              <a:off x="7471222" y="1549006"/>
              <a:ext cx="2805564" cy="2925032"/>
              <a:chOff x="7471222" y="1549006"/>
              <a:chExt cx="2805564" cy="2925032"/>
            </a:xfrm>
          </p:grpSpPr>
          <p:grpSp>
            <p:nvGrpSpPr>
              <p:cNvPr id="14" name="群組 13">
                <a:extLst>
                  <a:ext uri="{FF2B5EF4-FFF2-40B4-BE49-F238E27FC236}">
                    <a16:creationId xmlns:a16="http://schemas.microsoft.com/office/drawing/2014/main" id="{C299C441-BCF8-4475-BFF9-35587BD5D694}"/>
                  </a:ext>
                </a:extLst>
              </p:cNvPr>
              <p:cNvGrpSpPr/>
              <p:nvPr/>
            </p:nvGrpSpPr>
            <p:grpSpPr>
              <a:xfrm>
                <a:off x="7569589" y="2027816"/>
                <a:ext cx="2644432" cy="2358472"/>
                <a:chOff x="7569589" y="2027816"/>
                <a:chExt cx="2644432" cy="2358472"/>
              </a:xfrm>
            </p:grpSpPr>
            <p:sp>
              <p:nvSpPr>
                <p:cNvPr id="11" name="矩形 10">
                  <a:extLst>
                    <a:ext uri="{FF2B5EF4-FFF2-40B4-BE49-F238E27FC236}">
                      <a16:creationId xmlns:a16="http://schemas.microsoft.com/office/drawing/2014/main" id="{F3FAB7FA-B1DA-4330-B83C-E622173A04E6}"/>
                    </a:ext>
                  </a:extLst>
                </p:cNvPr>
                <p:cNvSpPr/>
                <p:nvPr/>
              </p:nvSpPr>
              <p:spPr>
                <a:xfrm>
                  <a:off x="9223695" y="4165600"/>
                  <a:ext cx="990326" cy="22068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7" name="矩形 36">
                  <a:extLst>
                    <a:ext uri="{FF2B5EF4-FFF2-40B4-BE49-F238E27FC236}">
                      <a16:creationId xmlns:a16="http://schemas.microsoft.com/office/drawing/2014/main" id="{583C597C-6CE1-44DE-B1A0-2232A829391D}"/>
                    </a:ext>
                  </a:extLst>
                </p:cNvPr>
                <p:cNvSpPr/>
                <p:nvPr/>
              </p:nvSpPr>
              <p:spPr>
                <a:xfrm rot="16200000">
                  <a:off x="7019275" y="2578130"/>
                  <a:ext cx="1321315" cy="22068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29" name="文字方塊 28">
                    <a:extLst>
                      <a:ext uri="{FF2B5EF4-FFF2-40B4-BE49-F238E27FC236}">
                        <a16:creationId xmlns:a16="http://schemas.microsoft.com/office/drawing/2014/main" id="{4A527870-9240-4CAE-A7BD-03FC80337E83}"/>
                      </a:ext>
                    </a:extLst>
                  </p:cNvPr>
                  <p:cNvSpPr txBox="1"/>
                  <p:nvPr/>
                </p:nvSpPr>
                <p:spPr>
                  <a:xfrm>
                    <a:off x="8444206" y="4104706"/>
                    <a:ext cx="183258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altLang="zh-TW" i="0" smtClean="0">
                              <a:latin typeface="Cambria Math" panose="02040503050406030204" pitchFamily="18" charset="0"/>
                              <a:ea typeface="Cambria Math" panose="02040503050406030204" pitchFamily="18" charset="0"/>
                            </a:rPr>
                            <m:t>C</m:t>
                          </m:r>
                          <m:r>
                            <m:rPr>
                              <m:sty m:val="p"/>
                            </m:rPr>
                            <a:rPr lang="en-US" altLang="zh-TW" b="0" i="0" smtClean="0">
                              <a:latin typeface="Cambria Math" panose="02040503050406030204" pitchFamily="18" charset="0"/>
                              <a:ea typeface="Cambria Math" panose="02040503050406030204" pitchFamily="18" charset="0"/>
                            </a:rPr>
                            <m:t>apacity</m:t>
                          </m:r>
                          <m:r>
                            <a:rPr lang="en-US" altLang="zh-TW" b="0" i="0" smtClean="0">
                              <a:latin typeface="Cambria Math" panose="02040503050406030204" pitchFamily="18" charset="0"/>
                              <a:ea typeface="Cambria Math" panose="02040503050406030204" pitchFamily="18" charset="0"/>
                            </a:rPr>
                            <m:t> </m:t>
                          </m:r>
                          <m:r>
                            <m:rPr>
                              <m:sty m:val="p"/>
                            </m:rPr>
                            <a:rPr lang="en-US" altLang="zh-TW" b="0" i="0" smtClean="0">
                              <a:latin typeface="Cambria Math" panose="02040503050406030204" pitchFamily="18" charset="0"/>
                              <a:ea typeface="Cambria Math" panose="02040503050406030204" pitchFamily="18" charset="0"/>
                            </a:rPr>
                            <m:t>measure</m:t>
                          </m:r>
                          <m:r>
                            <a:rPr lang="en-US" altLang="zh-TW" b="0" i="0" smtClean="0">
                              <a:latin typeface="Cambria Math" panose="02040503050406030204" pitchFamily="18" charset="0"/>
                              <a:ea typeface="Cambria Math" panose="02040503050406030204" pitchFamily="18" charset="0"/>
                            </a:rPr>
                            <m:t> </m:t>
                          </m:r>
                          <m:r>
                            <a:rPr lang="en-US" altLang="zh-TW" b="0" i="1" smtClean="0">
                              <a:latin typeface="Cambria Math" panose="02040503050406030204" pitchFamily="18" charset="0"/>
                              <a:ea typeface="Cambria Math" panose="02040503050406030204" pitchFamily="18" charset="0"/>
                            </a:rPr>
                            <m:t>(</m:t>
                          </m:r>
                          <m:f>
                            <m:fPr>
                              <m:type m:val="lin"/>
                              <m:ctrlPr>
                                <a:rPr lang="en-US" altLang="zh-TW" b="0" i="1" smtClean="0">
                                  <a:latin typeface="Cambria Math" panose="02040503050406030204" pitchFamily="18" charset="0"/>
                                  <a:ea typeface="Cambria Math" panose="02040503050406030204" pitchFamily="18" charset="0"/>
                                </a:rPr>
                              </m:ctrlPr>
                            </m:fPr>
                            <m:num>
                              <m:r>
                                <a:rPr lang="en-US" altLang="zh-TW" b="0" i="1" smtClean="0">
                                  <a:latin typeface="Cambria Math" panose="02040503050406030204" pitchFamily="18" charset="0"/>
                                  <a:ea typeface="Cambria Math" panose="02040503050406030204" pitchFamily="18" charset="0"/>
                                </a:rPr>
                                <m:t>𝑚𝑇</m:t>
                              </m:r>
                            </m:num>
                            <m:den>
                              <m:r>
                                <a:rPr lang="en-US" altLang="zh-TW" b="0" i="1" smtClean="0">
                                  <a:latin typeface="Cambria Math" panose="02040503050406030204" pitchFamily="18" charset="0"/>
                                  <a:ea typeface="Cambria Math" panose="02040503050406030204" pitchFamily="18" charset="0"/>
                                </a:rPr>
                                <m:t>𝐴</m:t>
                              </m:r>
                            </m:den>
                          </m:f>
                          <m:r>
                            <a:rPr lang="en-US" altLang="zh-TW" b="0" i="1" smtClean="0">
                              <a:latin typeface="Cambria Math" panose="02040503050406030204" pitchFamily="18" charset="0"/>
                              <a:ea typeface="Cambria Math" panose="02040503050406030204" pitchFamily="18" charset="0"/>
                            </a:rPr>
                            <m:t>)</m:t>
                          </m:r>
                        </m:oMath>
                      </m:oMathPara>
                    </a14:m>
                    <a:endParaRPr lang="zh-TW" altLang="en-US" sz="2400" dirty="0"/>
                  </a:p>
                </p:txBody>
              </p:sp>
            </mc:Choice>
            <mc:Fallback xmlns="">
              <p:sp>
                <p:nvSpPr>
                  <p:cNvPr id="29" name="文字方塊 28">
                    <a:extLst>
                      <a:ext uri="{FF2B5EF4-FFF2-40B4-BE49-F238E27FC236}">
                        <a16:creationId xmlns:a16="http://schemas.microsoft.com/office/drawing/2014/main" id="{4A527870-9240-4CAE-A7BD-03FC80337E83}"/>
                      </a:ext>
                    </a:extLst>
                  </p:cNvPr>
                  <p:cNvSpPr txBox="1">
                    <a:spLocks noRot="1" noChangeAspect="1" noMove="1" noResize="1" noEditPoints="1" noAdjustHandles="1" noChangeArrowheads="1" noChangeShapeType="1" noTextEdit="1"/>
                  </p:cNvSpPr>
                  <p:nvPr/>
                </p:nvSpPr>
                <p:spPr>
                  <a:xfrm>
                    <a:off x="8444206" y="4104706"/>
                    <a:ext cx="1832580" cy="369332"/>
                  </a:xfrm>
                  <a:prstGeom prst="rect">
                    <a:avLst/>
                  </a:prstGeom>
                  <a:blipFill>
                    <a:blip r:embed="rId4"/>
                    <a:stretch>
                      <a:fillRect t="-116393" r="-73000" b="-17541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4F5B4198-2C45-4E9A-B669-499DD550D761}"/>
                      </a:ext>
                    </a:extLst>
                  </p:cNvPr>
                  <p:cNvSpPr txBox="1"/>
                  <p:nvPr/>
                </p:nvSpPr>
                <p:spPr>
                  <a:xfrm rot="16200000">
                    <a:off x="6513652" y="2506576"/>
                    <a:ext cx="2192139"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altLang="zh-TW" b="0" i="0" smtClean="0">
                              <a:latin typeface="Cambria Math" panose="02040503050406030204" pitchFamily="18" charset="0"/>
                            </a:rPr>
                            <m:t>Percentage</m:t>
                          </m:r>
                          <m:r>
                            <a:rPr lang="zh-TW" altLang="en-US" i="1">
                              <a:latin typeface="Cambria Math" panose="02040503050406030204" pitchFamily="18" charset="0"/>
                            </a:rPr>
                            <m:t> </m:t>
                          </m:r>
                          <m:r>
                            <m:rPr>
                              <m:sty m:val="p"/>
                            </m:rPr>
                            <a:rPr lang="en-US" altLang="zh-TW" b="0" i="0" smtClean="0">
                              <a:latin typeface="Cambria Math" panose="02040503050406030204" pitchFamily="18" charset="0"/>
                            </a:rPr>
                            <m:t>count</m:t>
                          </m:r>
                          <m:r>
                            <a:rPr lang="en-US" altLang="zh-TW" b="0" i="1" smtClean="0">
                              <a:latin typeface="Cambria Math" panose="02040503050406030204" pitchFamily="18" charset="0"/>
                            </a:rPr>
                            <m:t>(%)</m:t>
                          </m:r>
                        </m:oMath>
                      </m:oMathPara>
                    </a14:m>
                    <a:endParaRPr lang="zh-TW" altLang="en-US" sz="2400" dirty="0"/>
                  </a:p>
                </p:txBody>
              </p:sp>
            </mc:Choice>
            <mc:Fallback xmlns="">
              <p:sp>
                <p:nvSpPr>
                  <p:cNvPr id="77" name="文字方塊 76">
                    <a:extLst>
                      <a:ext uri="{FF2B5EF4-FFF2-40B4-BE49-F238E27FC236}">
                        <a16:creationId xmlns:a16="http://schemas.microsoft.com/office/drawing/2014/main" id="{4F5B4198-2C45-4E9A-B669-499DD550D761}"/>
                      </a:ext>
                    </a:extLst>
                  </p:cNvPr>
                  <p:cNvSpPr txBox="1">
                    <a:spLocks noRot="1" noChangeAspect="1" noMove="1" noResize="1" noEditPoints="1" noAdjustHandles="1" noChangeArrowheads="1" noChangeShapeType="1" noTextEdit="1"/>
                  </p:cNvSpPr>
                  <p:nvPr/>
                </p:nvSpPr>
                <p:spPr>
                  <a:xfrm rot="16200000">
                    <a:off x="6513652" y="2506576"/>
                    <a:ext cx="2192139" cy="276999"/>
                  </a:xfrm>
                  <a:prstGeom prst="rect">
                    <a:avLst/>
                  </a:prstGeom>
                  <a:blipFill>
                    <a:blip r:embed="rId5"/>
                    <a:stretch>
                      <a:fillRect l="-2222" t="-2778" r="-35556" b="-2222"/>
                    </a:stretch>
                  </a:blipFill>
                </p:spPr>
                <p:txBody>
                  <a:bodyPr/>
                  <a:lstStyle/>
                  <a:p>
                    <a:r>
                      <a:rPr lang="zh-TW" altLang="en-US">
                        <a:noFill/>
                      </a:rPr>
                      <a:t> </a:t>
                    </a:r>
                  </a:p>
                </p:txBody>
              </p:sp>
            </mc:Fallback>
          </mc:AlternateContent>
        </p:grpSp>
      </p:grpSp>
    </p:spTree>
    <p:extLst>
      <p:ext uri="{BB962C8B-B14F-4D97-AF65-F5344CB8AC3E}">
        <p14:creationId xmlns:p14="http://schemas.microsoft.com/office/powerpoint/2010/main" val="217401484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矩形 47">
            <a:extLst>
              <a:ext uri="{FF2B5EF4-FFF2-40B4-BE49-F238E27FC236}">
                <a16:creationId xmlns:a16="http://schemas.microsoft.com/office/drawing/2014/main" id="{D04B276D-81CC-4937-B2F5-C3C828784D45}"/>
              </a:ext>
            </a:extLst>
          </p:cNvPr>
          <p:cNvSpPr/>
          <p:nvPr/>
        </p:nvSpPr>
        <p:spPr>
          <a:xfrm>
            <a:off x="10917927" y="1323922"/>
            <a:ext cx="245534" cy="79815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204261"/>
            <a:ext cx="12192000" cy="837142"/>
          </a:xfrm>
        </p:spPr>
        <p:txBody>
          <a:bodyPr>
            <a:normAutofit fontScale="90000"/>
          </a:bodyPr>
          <a:lstStyle/>
          <a:p>
            <a:r>
              <a:rPr lang="en-US" altLang="zh-TW" sz="3600" b="1" kern="100" dirty="0">
                <a:solidFill>
                  <a:srgbClr val="000000"/>
                </a:solidFill>
                <a:latin typeface="Aptos"/>
                <a:ea typeface="新細明體" panose="02020500000000000000" pitchFamily="18" charset="-120"/>
                <a:cs typeface="Times New Roman" panose="02020603050405020304" pitchFamily="18" charset="0"/>
              </a:rPr>
              <a:t>Quantitative Assessment of Multi-Pole Actuators</a:t>
            </a:r>
            <a:br>
              <a:rPr lang="zh-TW" altLang="zh-TW" sz="1800" kern="100" dirty="0">
                <a:effectLst/>
                <a:latin typeface="Aptos"/>
                <a:ea typeface="新細明體" panose="02020500000000000000" pitchFamily="18" charset="-120"/>
                <a:cs typeface="Times New Roman" panose="02020603050405020304" pitchFamily="18" charset="0"/>
              </a:rPr>
            </a:b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16" name="文字方塊 15">
            <a:extLst>
              <a:ext uri="{FF2B5EF4-FFF2-40B4-BE49-F238E27FC236}">
                <a16:creationId xmlns:a16="http://schemas.microsoft.com/office/drawing/2014/main" id="{6BA9955A-92B3-406A-93D9-E13D8B8C100E}"/>
              </a:ext>
            </a:extLst>
          </p:cNvPr>
          <p:cNvSpPr txBox="1"/>
          <p:nvPr/>
        </p:nvSpPr>
        <p:spPr>
          <a:xfrm>
            <a:off x="118533" y="516467"/>
            <a:ext cx="3588625" cy="369332"/>
          </a:xfrm>
          <a:prstGeom prst="rect">
            <a:avLst/>
          </a:prstGeom>
          <a:noFill/>
        </p:spPr>
        <p:txBody>
          <a:bodyPr wrap="square" rtlCol="0">
            <a:spAutoFit/>
          </a:bodyPr>
          <a:lstStyle/>
          <a:p>
            <a:pPr marL="285750" indent="-285750">
              <a:buFont typeface="Arial" panose="020B0604020202020204" pitchFamily="34" charset="0"/>
              <a:buChar char="•"/>
            </a:pPr>
            <a:r>
              <a:rPr lang="en-US" altLang="zh-TW" dirty="0" err="1"/>
              <a:t>DesignB</a:t>
            </a:r>
            <a:endParaRPr lang="zh-TW" altLang="en-US" dirty="0"/>
          </a:p>
        </p:txBody>
      </p:sp>
      <p:sp>
        <p:nvSpPr>
          <p:cNvPr id="34" name="矩形 33">
            <a:extLst>
              <a:ext uri="{FF2B5EF4-FFF2-40B4-BE49-F238E27FC236}">
                <a16:creationId xmlns:a16="http://schemas.microsoft.com/office/drawing/2014/main" id="{79D2E760-7634-49B3-8738-C566096C37A8}"/>
              </a:ext>
            </a:extLst>
          </p:cNvPr>
          <p:cNvSpPr/>
          <p:nvPr/>
        </p:nvSpPr>
        <p:spPr>
          <a:xfrm>
            <a:off x="5460999" y="1928550"/>
            <a:ext cx="245534" cy="1693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2" name="矩形 41">
            <a:extLst>
              <a:ext uri="{FF2B5EF4-FFF2-40B4-BE49-F238E27FC236}">
                <a16:creationId xmlns:a16="http://schemas.microsoft.com/office/drawing/2014/main" id="{1190983A-5C39-4886-9619-EB987BA08A5A}"/>
              </a:ext>
            </a:extLst>
          </p:cNvPr>
          <p:cNvSpPr/>
          <p:nvPr/>
        </p:nvSpPr>
        <p:spPr>
          <a:xfrm>
            <a:off x="10797843" y="1658714"/>
            <a:ext cx="453262" cy="29472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43" name="矩形 42">
            <a:extLst>
              <a:ext uri="{FF2B5EF4-FFF2-40B4-BE49-F238E27FC236}">
                <a16:creationId xmlns:a16="http://schemas.microsoft.com/office/drawing/2014/main" id="{DAC22EB2-D2BB-462C-BC74-58FD2DE4BA6A}"/>
              </a:ext>
            </a:extLst>
          </p:cNvPr>
          <p:cNvSpPr/>
          <p:nvPr/>
        </p:nvSpPr>
        <p:spPr>
          <a:xfrm>
            <a:off x="6256928" y="770989"/>
            <a:ext cx="245534" cy="1693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6" name="矩形 45">
            <a:extLst>
              <a:ext uri="{FF2B5EF4-FFF2-40B4-BE49-F238E27FC236}">
                <a16:creationId xmlns:a16="http://schemas.microsoft.com/office/drawing/2014/main" id="{8CA65E4A-CFB2-4EA2-85BD-0D9730ADE9B3}"/>
              </a:ext>
            </a:extLst>
          </p:cNvPr>
          <p:cNvSpPr/>
          <p:nvPr/>
        </p:nvSpPr>
        <p:spPr>
          <a:xfrm>
            <a:off x="8173347" y="3538569"/>
            <a:ext cx="245534" cy="1693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47" name="矩形 46">
            <a:extLst>
              <a:ext uri="{FF2B5EF4-FFF2-40B4-BE49-F238E27FC236}">
                <a16:creationId xmlns:a16="http://schemas.microsoft.com/office/drawing/2014/main" id="{F8240F74-EA98-4ED3-B43E-B311F02C30DD}"/>
              </a:ext>
            </a:extLst>
          </p:cNvPr>
          <p:cNvSpPr/>
          <p:nvPr/>
        </p:nvSpPr>
        <p:spPr>
          <a:xfrm>
            <a:off x="8932275" y="770989"/>
            <a:ext cx="245534" cy="1693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0" name="矩形 49">
            <a:extLst>
              <a:ext uri="{FF2B5EF4-FFF2-40B4-BE49-F238E27FC236}">
                <a16:creationId xmlns:a16="http://schemas.microsoft.com/office/drawing/2014/main" id="{E3B77C83-699E-461F-B4BA-8C2FA871DCA2}"/>
              </a:ext>
            </a:extLst>
          </p:cNvPr>
          <p:cNvSpPr/>
          <p:nvPr/>
        </p:nvSpPr>
        <p:spPr>
          <a:xfrm>
            <a:off x="5351905" y="2059278"/>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1" name="矩形 50">
            <a:extLst>
              <a:ext uri="{FF2B5EF4-FFF2-40B4-BE49-F238E27FC236}">
                <a16:creationId xmlns:a16="http://schemas.microsoft.com/office/drawing/2014/main" id="{3D14EEA7-B1CC-4A28-BF80-872555CF32BF}"/>
              </a:ext>
            </a:extLst>
          </p:cNvPr>
          <p:cNvSpPr/>
          <p:nvPr/>
        </p:nvSpPr>
        <p:spPr>
          <a:xfrm>
            <a:off x="6535040" y="2906549"/>
            <a:ext cx="218554" cy="18287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6" name="矩形 55">
            <a:extLst>
              <a:ext uri="{FF2B5EF4-FFF2-40B4-BE49-F238E27FC236}">
                <a16:creationId xmlns:a16="http://schemas.microsoft.com/office/drawing/2014/main" id="{3FBA3E74-E0D9-4C92-89A1-FC1810D9C593}"/>
              </a:ext>
            </a:extLst>
          </p:cNvPr>
          <p:cNvSpPr/>
          <p:nvPr/>
        </p:nvSpPr>
        <p:spPr>
          <a:xfrm>
            <a:off x="10419603" y="2544525"/>
            <a:ext cx="61970" cy="4109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6" name="群組 65">
            <a:extLst>
              <a:ext uri="{FF2B5EF4-FFF2-40B4-BE49-F238E27FC236}">
                <a16:creationId xmlns:a16="http://schemas.microsoft.com/office/drawing/2014/main" id="{B8B44E8A-7C69-40AF-868C-858D8E255A75}"/>
              </a:ext>
            </a:extLst>
          </p:cNvPr>
          <p:cNvGrpSpPr/>
          <p:nvPr/>
        </p:nvGrpSpPr>
        <p:grpSpPr>
          <a:xfrm>
            <a:off x="7498212" y="3763636"/>
            <a:ext cx="2973497" cy="2082167"/>
            <a:chOff x="6051068" y="3773292"/>
            <a:chExt cx="3462496" cy="2286540"/>
          </a:xfrm>
        </p:grpSpPr>
        <p:sp>
          <p:nvSpPr>
            <p:cNvPr id="61" name="矩形 60">
              <a:extLst>
                <a:ext uri="{FF2B5EF4-FFF2-40B4-BE49-F238E27FC236}">
                  <a16:creationId xmlns:a16="http://schemas.microsoft.com/office/drawing/2014/main" id="{654CDC74-E55F-4DBC-B616-357EBC5F4474}"/>
                </a:ext>
              </a:extLst>
            </p:cNvPr>
            <p:cNvSpPr/>
            <p:nvPr/>
          </p:nvSpPr>
          <p:spPr>
            <a:xfrm>
              <a:off x="8324876" y="5644809"/>
              <a:ext cx="258270" cy="27092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2" name="矩形 61">
              <a:extLst>
                <a:ext uri="{FF2B5EF4-FFF2-40B4-BE49-F238E27FC236}">
                  <a16:creationId xmlns:a16="http://schemas.microsoft.com/office/drawing/2014/main" id="{CD1471C2-34F2-4760-BFF2-E80C9E428DEC}"/>
                </a:ext>
              </a:extLst>
            </p:cNvPr>
            <p:cNvSpPr/>
            <p:nvPr/>
          </p:nvSpPr>
          <p:spPr>
            <a:xfrm>
              <a:off x="6446961" y="3773292"/>
              <a:ext cx="323457" cy="23153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63" name="矩形 62">
              <a:extLst>
                <a:ext uri="{FF2B5EF4-FFF2-40B4-BE49-F238E27FC236}">
                  <a16:creationId xmlns:a16="http://schemas.microsoft.com/office/drawing/2014/main" id="{90FF13F8-3A65-4128-BC28-CAC513B4FB57}"/>
                </a:ext>
              </a:extLst>
            </p:cNvPr>
            <p:cNvSpPr/>
            <p:nvPr/>
          </p:nvSpPr>
          <p:spPr>
            <a:xfrm>
              <a:off x="6051068" y="5067090"/>
              <a:ext cx="323457" cy="23153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4" name="矩形 63">
              <a:extLst>
                <a:ext uri="{FF2B5EF4-FFF2-40B4-BE49-F238E27FC236}">
                  <a16:creationId xmlns:a16="http://schemas.microsoft.com/office/drawing/2014/main" id="{5BAF1E9B-9DCD-467B-B70A-E5CD30B363C2}"/>
                </a:ext>
              </a:extLst>
            </p:cNvPr>
            <p:cNvSpPr/>
            <p:nvPr/>
          </p:nvSpPr>
          <p:spPr>
            <a:xfrm>
              <a:off x="7250039" y="5828298"/>
              <a:ext cx="323457" cy="23153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65" name="矩形 64">
              <a:extLst>
                <a:ext uri="{FF2B5EF4-FFF2-40B4-BE49-F238E27FC236}">
                  <a16:creationId xmlns:a16="http://schemas.microsoft.com/office/drawing/2014/main" id="{9D7F0799-F13A-4899-9213-C4590823EDB0}"/>
                </a:ext>
              </a:extLst>
            </p:cNvPr>
            <p:cNvSpPr/>
            <p:nvPr/>
          </p:nvSpPr>
          <p:spPr>
            <a:xfrm>
              <a:off x="9295009" y="4197827"/>
              <a:ext cx="218555" cy="92286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grpSp>
      <p:sp>
        <p:nvSpPr>
          <p:cNvPr id="79" name="矩形 78">
            <a:extLst>
              <a:ext uri="{FF2B5EF4-FFF2-40B4-BE49-F238E27FC236}">
                <a16:creationId xmlns:a16="http://schemas.microsoft.com/office/drawing/2014/main" id="{6EE2C76E-7851-4AB6-9A3E-18664BA7EDA9}"/>
              </a:ext>
            </a:extLst>
          </p:cNvPr>
          <p:cNvSpPr/>
          <p:nvPr/>
        </p:nvSpPr>
        <p:spPr>
          <a:xfrm>
            <a:off x="5106371" y="3533630"/>
            <a:ext cx="245534" cy="26643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auto caption">
            <a:extLst>
              <a:ext uri="{FF2B5EF4-FFF2-40B4-BE49-F238E27FC236}">
                <a16:creationId xmlns:a16="http://schemas.microsoft.com/office/drawing/2014/main" id="{B939D688-74BF-48DD-B637-E4F31386B5C8}"/>
              </a:ext>
            </a:extLst>
          </p:cNvPr>
          <p:cNvSpPr txBox="1"/>
          <p:nvPr/>
        </p:nvSpPr>
        <p:spPr>
          <a:xfrm>
            <a:off x="153910" y="885799"/>
            <a:ext cx="6375566" cy="5862134"/>
          </a:xfrm>
          <a:prstGeom prst="rect">
            <a:avLst/>
          </a:prstGeom>
          <a:noFill/>
        </p:spPr>
        <p:txBody>
          <a:bodyPr wrap="square" rtlCol="0">
            <a:normAutofit/>
          </a:bodyPr>
          <a:lstStyle/>
          <a:p>
            <a:pPr marL="285750" indent="-285750">
              <a:buFont typeface="Arial" panose="020B0604020202020204" pitchFamily="34" charset="0"/>
              <a:buChar char="•"/>
            </a:pPr>
            <a:endParaRPr lang="en-US" altLang="zh-TW" sz="1600" dirty="0"/>
          </a:p>
        </p:txBody>
      </p:sp>
      <p:sp>
        <p:nvSpPr>
          <p:cNvPr id="24" name="文字方塊 23">
            <a:extLst>
              <a:ext uri="{FF2B5EF4-FFF2-40B4-BE49-F238E27FC236}">
                <a16:creationId xmlns:a16="http://schemas.microsoft.com/office/drawing/2014/main" id="{8FBFCE35-671F-43E8-AFE4-D4E5FC738992}"/>
              </a:ext>
            </a:extLst>
          </p:cNvPr>
          <p:cNvSpPr txBox="1"/>
          <p:nvPr/>
        </p:nvSpPr>
        <p:spPr>
          <a:xfrm>
            <a:off x="148346" y="1041403"/>
            <a:ext cx="6176432" cy="2031325"/>
          </a:xfrm>
          <a:prstGeom prst="rect">
            <a:avLst/>
          </a:prstGeom>
          <a:noFill/>
        </p:spPr>
        <p:txBody>
          <a:bodyPr wrap="square">
            <a:spAutoFit/>
          </a:bodyPr>
          <a:lstStyle/>
          <a:p>
            <a:pPr marL="285750" indent="-285750">
              <a:buFont typeface="Arial" panose="020B0604020202020204" pitchFamily="34" charset="0"/>
              <a:buChar char="•"/>
            </a:pPr>
            <a:r>
              <a:rPr lang="en-US" altLang="zh-TW" dirty="0" err="1"/>
              <a:t>Zhi</a:t>
            </a:r>
            <a:r>
              <a:rPr lang="en-US" altLang="zh-TW" dirty="0"/>
              <a:t>-Peng delivers 2.71× the actuation strength of Long Fei (39.58 vs 14.62 </a:t>
            </a:r>
            <a:r>
              <a:rPr lang="en-US" altLang="zh-TW" dirty="0" err="1"/>
              <a:t>mT</a:t>
            </a:r>
            <a:r>
              <a:rPr lang="en-US" altLang="zh-TW" dirty="0"/>
              <a:t>/A). Both share the same pattern: weakest at the </a:t>
            </a:r>
            <a:r>
              <a:rPr lang="en-US" altLang="zh-TW" dirty="0" err="1"/>
              <a:t>centre</a:t>
            </a:r>
            <a:r>
              <a:rPr lang="en-US" altLang="zh-TW" dirty="0"/>
              <a:t>, strengthening toward the pole tips, and almost constant with direction within the calibration radius</a:t>
            </a:r>
            <a:r>
              <a:rPr lang="zh-TW" altLang="en-US" dirty="0"/>
              <a:t>，</a:t>
            </a:r>
            <a:r>
              <a:rPr lang="en-US" altLang="zh-TW" dirty="0"/>
              <a:t>the planar hexapole wins outright on strength, and it is a pure gain improvement — the field shape is not degraded, and the advantage holds uniformly across the workspace.</a:t>
            </a:r>
            <a:endParaRPr lang="zh-TW" altLang="en-US" dirty="0"/>
          </a:p>
        </p:txBody>
      </p:sp>
      <p:sp>
        <p:nvSpPr>
          <p:cNvPr id="37" name="文字方塊 36">
            <a:extLst>
              <a:ext uri="{FF2B5EF4-FFF2-40B4-BE49-F238E27FC236}">
                <a16:creationId xmlns:a16="http://schemas.microsoft.com/office/drawing/2014/main" id="{F9278AA5-285E-4E53-8A98-184B8C758004}"/>
              </a:ext>
            </a:extLst>
          </p:cNvPr>
          <p:cNvSpPr txBox="1"/>
          <p:nvPr/>
        </p:nvSpPr>
        <p:spPr>
          <a:xfrm>
            <a:off x="8937798" y="1106713"/>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P1</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38" name="文字方塊 37">
            <a:extLst>
              <a:ext uri="{FF2B5EF4-FFF2-40B4-BE49-F238E27FC236}">
                <a16:creationId xmlns:a16="http://schemas.microsoft.com/office/drawing/2014/main" id="{5C4B8AE7-45E1-41DF-A3D0-7AB92B7BDAF9}"/>
              </a:ext>
            </a:extLst>
          </p:cNvPr>
          <p:cNvSpPr txBox="1"/>
          <p:nvPr/>
        </p:nvSpPr>
        <p:spPr>
          <a:xfrm>
            <a:off x="9130215" y="2260645"/>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P2</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49" name="文字方塊 48">
            <a:extLst>
              <a:ext uri="{FF2B5EF4-FFF2-40B4-BE49-F238E27FC236}">
                <a16:creationId xmlns:a16="http://schemas.microsoft.com/office/drawing/2014/main" id="{07F417AB-B111-45B6-A15F-A6BE88FEC739}"/>
              </a:ext>
            </a:extLst>
          </p:cNvPr>
          <p:cNvSpPr txBox="1"/>
          <p:nvPr/>
        </p:nvSpPr>
        <p:spPr>
          <a:xfrm>
            <a:off x="10878068" y="2752660"/>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P1</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3466B6D5-E082-4974-BC7C-83DA50FBD643}"/>
                  </a:ext>
                </a:extLst>
              </p:cNvPr>
              <p:cNvSpPr txBox="1"/>
              <p:nvPr/>
            </p:nvSpPr>
            <p:spPr>
              <a:xfrm>
                <a:off x="8270220" y="1943819"/>
                <a:ext cx="332369"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TW" sz="1400" b="1" i="1" smtClean="0">
                              <a:solidFill>
                                <a:schemeClr val="tx1"/>
                              </a:solidFill>
                              <a:latin typeface="Cambria Math" panose="02040503050406030204" pitchFamily="18" charset="0"/>
                              <a:cs typeface="Times New Roman" panose="02020603050405020304" pitchFamily="18" charset="0"/>
                            </a:rPr>
                          </m:ctrlPr>
                        </m:sSubPr>
                        <m:e>
                          <m:r>
                            <a:rPr lang="en-US" altLang="zh-TW" sz="1400" b="1" i="0" smtClean="0">
                              <a:solidFill>
                                <a:schemeClr val="tx1"/>
                              </a:solidFill>
                              <a:latin typeface="Cambria Math" panose="02040503050406030204" pitchFamily="18" charset="0"/>
                              <a:cs typeface="Times New Roman" panose="02020603050405020304" pitchFamily="18" charset="0"/>
                            </a:rPr>
                            <m:t>𝐱</m:t>
                          </m:r>
                        </m:e>
                        <m:sub>
                          <m:r>
                            <a:rPr lang="en-US" altLang="zh-TW" sz="1400" b="1" i="0" smtClean="0">
                              <a:solidFill>
                                <a:schemeClr val="tx1"/>
                              </a:solidFill>
                              <a:latin typeface="Cambria Math" panose="02040503050406030204" pitchFamily="18" charset="0"/>
                              <a:cs typeface="Times New Roman" panose="02020603050405020304" pitchFamily="18" charset="0"/>
                            </a:rPr>
                            <m:t>𝐚</m:t>
                          </m:r>
                        </m:sub>
                      </m:sSub>
                    </m:oMath>
                  </m:oMathPara>
                </a14:m>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Choice>
        <mc:Fallback xmlns="">
          <p:sp>
            <p:nvSpPr>
              <p:cNvPr id="52" name="文字方塊 51">
                <a:extLst>
                  <a:ext uri="{FF2B5EF4-FFF2-40B4-BE49-F238E27FC236}">
                    <a16:creationId xmlns:a16="http://schemas.microsoft.com/office/drawing/2014/main" id="{3466B6D5-E082-4974-BC7C-83DA50FBD643}"/>
                  </a:ext>
                </a:extLst>
              </p:cNvPr>
              <p:cNvSpPr txBox="1">
                <a:spLocks noRot="1" noChangeAspect="1" noMove="1" noResize="1" noEditPoints="1" noAdjustHandles="1" noChangeArrowheads="1" noChangeShapeType="1" noTextEdit="1"/>
              </p:cNvSpPr>
              <p:nvPr/>
            </p:nvSpPr>
            <p:spPr>
              <a:xfrm>
                <a:off x="8270220" y="1943819"/>
                <a:ext cx="332369" cy="307777"/>
              </a:xfrm>
              <a:prstGeom prst="rect">
                <a:avLst/>
              </a:prstGeom>
              <a:blipFill>
                <a:blip r:embed="rId2"/>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3" name="文字方塊 52">
                <a:extLst>
                  <a:ext uri="{FF2B5EF4-FFF2-40B4-BE49-F238E27FC236}">
                    <a16:creationId xmlns:a16="http://schemas.microsoft.com/office/drawing/2014/main" id="{4FA5E863-69D9-4E94-9E8E-CB25CF9BA993}"/>
                  </a:ext>
                </a:extLst>
              </p:cNvPr>
              <p:cNvSpPr txBox="1"/>
              <p:nvPr/>
            </p:nvSpPr>
            <p:spPr>
              <a:xfrm>
                <a:off x="7802949" y="1455993"/>
                <a:ext cx="332369"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TW" sz="1400" b="1" i="1" smtClean="0">
                              <a:solidFill>
                                <a:schemeClr val="tx1"/>
                              </a:solidFill>
                              <a:latin typeface="Cambria Math" panose="02040503050406030204" pitchFamily="18" charset="0"/>
                              <a:cs typeface="Times New Roman" panose="02020603050405020304" pitchFamily="18" charset="0"/>
                            </a:rPr>
                          </m:ctrlPr>
                        </m:sSubPr>
                        <m:e>
                          <m:r>
                            <a:rPr lang="en-US" altLang="zh-TW" sz="1400" b="1" i="0" smtClean="0">
                              <a:solidFill>
                                <a:schemeClr val="tx1"/>
                              </a:solidFill>
                              <a:latin typeface="Cambria Math" panose="02040503050406030204" pitchFamily="18" charset="0"/>
                              <a:cs typeface="Times New Roman" panose="02020603050405020304" pitchFamily="18" charset="0"/>
                            </a:rPr>
                            <m:t>𝐲</m:t>
                          </m:r>
                        </m:e>
                        <m:sub>
                          <m:r>
                            <a:rPr lang="en-US" altLang="zh-TW" sz="1400" b="1" i="0" smtClean="0">
                              <a:solidFill>
                                <a:schemeClr val="tx1"/>
                              </a:solidFill>
                              <a:latin typeface="Cambria Math" panose="02040503050406030204" pitchFamily="18" charset="0"/>
                              <a:cs typeface="Times New Roman" panose="02020603050405020304" pitchFamily="18" charset="0"/>
                            </a:rPr>
                            <m:t>𝐚</m:t>
                          </m:r>
                        </m:sub>
                      </m:sSub>
                    </m:oMath>
                  </m:oMathPara>
                </a14:m>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Choice>
        <mc:Fallback xmlns="">
          <p:sp>
            <p:nvSpPr>
              <p:cNvPr id="53" name="文字方塊 52">
                <a:extLst>
                  <a:ext uri="{FF2B5EF4-FFF2-40B4-BE49-F238E27FC236}">
                    <a16:creationId xmlns:a16="http://schemas.microsoft.com/office/drawing/2014/main" id="{4FA5E863-69D9-4E94-9E8E-CB25CF9BA993}"/>
                  </a:ext>
                </a:extLst>
              </p:cNvPr>
              <p:cNvSpPr txBox="1">
                <a:spLocks noRot="1" noChangeAspect="1" noMove="1" noResize="1" noEditPoints="1" noAdjustHandles="1" noChangeArrowheads="1" noChangeShapeType="1" noTextEdit="1"/>
              </p:cNvSpPr>
              <p:nvPr/>
            </p:nvSpPr>
            <p:spPr>
              <a:xfrm>
                <a:off x="7802949" y="1455993"/>
                <a:ext cx="332369" cy="307777"/>
              </a:xfrm>
              <a:prstGeom prst="rect">
                <a:avLst/>
              </a:prstGeom>
              <a:blipFill>
                <a:blip r:embed="rId3"/>
                <a:stretch>
                  <a:fillRect b="-400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4" name="文字方塊 53">
                <a:extLst>
                  <a:ext uri="{FF2B5EF4-FFF2-40B4-BE49-F238E27FC236}">
                    <a16:creationId xmlns:a16="http://schemas.microsoft.com/office/drawing/2014/main" id="{06575CDD-D32D-4C7A-A6D6-FC30A9C5669B}"/>
                  </a:ext>
                </a:extLst>
              </p:cNvPr>
              <p:cNvSpPr txBox="1"/>
              <p:nvPr/>
            </p:nvSpPr>
            <p:spPr>
              <a:xfrm>
                <a:off x="10286965" y="1933620"/>
                <a:ext cx="332369"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TW" sz="1400" b="1" i="1" smtClean="0">
                              <a:solidFill>
                                <a:schemeClr val="tx1"/>
                              </a:solidFill>
                              <a:latin typeface="Cambria Math" panose="02040503050406030204" pitchFamily="18" charset="0"/>
                              <a:cs typeface="Times New Roman" panose="02020603050405020304" pitchFamily="18" charset="0"/>
                            </a:rPr>
                          </m:ctrlPr>
                        </m:sSubPr>
                        <m:e>
                          <m:r>
                            <a:rPr lang="en-US" altLang="zh-TW" sz="1400" b="1" i="0" smtClean="0">
                              <a:solidFill>
                                <a:schemeClr val="tx1"/>
                              </a:solidFill>
                              <a:latin typeface="Cambria Math" panose="02040503050406030204" pitchFamily="18" charset="0"/>
                              <a:cs typeface="Times New Roman" panose="02020603050405020304" pitchFamily="18" charset="0"/>
                            </a:rPr>
                            <m:t>𝐱</m:t>
                          </m:r>
                        </m:e>
                        <m:sub>
                          <m:r>
                            <a:rPr lang="en-US" altLang="zh-TW" sz="1400" b="1" i="0" smtClean="0">
                              <a:solidFill>
                                <a:schemeClr val="tx1"/>
                              </a:solidFill>
                              <a:latin typeface="Cambria Math" panose="02040503050406030204" pitchFamily="18" charset="0"/>
                              <a:cs typeface="Times New Roman" panose="02020603050405020304" pitchFamily="18" charset="0"/>
                            </a:rPr>
                            <m:t>𝐚</m:t>
                          </m:r>
                        </m:sub>
                      </m:sSub>
                    </m:oMath>
                  </m:oMathPara>
                </a14:m>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Choice>
        <mc:Fallback xmlns="">
          <p:sp>
            <p:nvSpPr>
              <p:cNvPr id="54" name="文字方塊 53">
                <a:extLst>
                  <a:ext uri="{FF2B5EF4-FFF2-40B4-BE49-F238E27FC236}">
                    <a16:creationId xmlns:a16="http://schemas.microsoft.com/office/drawing/2014/main" id="{06575CDD-D32D-4C7A-A6D6-FC30A9C5669B}"/>
                  </a:ext>
                </a:extLst>
              </p:cNvPr>
              <p:cNvSpPr txBox="1">
                <a:spLocks noRot="1" noChangeAspect="1" noMove="1" noResize="1" noEditPoints="1" noAdjustHandles="1" noChangeArrowheads="1" noChangeShapeType="1" noTextEdit="1"/>
              </p:cNvSpPr>
              <p:nvPr/>
            </p:nvSpPr>
            <p:spPr>
              <a:xfrm>
                <a:off x="10286965" y="1933620"/>
                <a:ext cx="332369" cy="307777"/>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5" name="文字方塊 54">
                <a:extLst>
                  <a:ext uri="{FF2B5EF4-FFF2-40B4-BE49-F238E27FC236}">
                    <a16:creationId xmlns:a16="http://schemas.microsoft.com/office/drawing/2014/main" id="{2D95AAF3-657B-4E85-A93E-232AFF17D1B9}"/>
                  </a:ext>
                </a:extLst>
              </p:cNvPr>
              <p:cNvSpPr txBox="1"/>
              <p:nvPr/>
            </p:nvSpPr>
            <p:spPr>
              <a:xfrm>
                <a:off x="9757220" y="1455993"/>
                <a:ext cx="332369"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TW" sz="1400" b="1" i="1" smtClean="0">
                              <a:solidFill>
                                <a:schemeClr val="tx1"/>
                              </a:solidFill>
                              <a:latin typeface="Cambria Math" panose="02040503050406030204" pitchFamily="18" charset="0"/>
                              <a:cs typeface="Times New Roman" panose="02020603050405020304" pitchFamily="18" charset="0"/>
                            </a:rPr>
                          </m:ctrlPr>
                        </m:sSubPr>
                        <m:e>
                          <m:r>
                            <a:rPr lang="en-US" altLang="zh-TW" sz="1400" b="1" i="0" smtClean="0">
                              <a:solidFill>
                                <a:schemeClr val="tx1"/>
                              </a:solidFill>
                              <a:latin typeface="Cambria Math" panose="02040503050406030204" pitchFamily="18" charset="0"/>
                              <a:cs typeface="Times New Roman" panose="02020603050405020304" pitchFamily="18" charset="0"/>
                            </a:rPr>
                            <m:t>𝐳</m:t>
                          </m:r>
                        </m:e>
                        <m:sub>
                          <m:r>
                            <a:rPr lang="en-US" altLang="zh-TW" sz="1400" b="1" i="0" smtClean="0">
                              <a:solidFill>
                                <a:schemeClr val="tx1"/>
                              </a:solidFill>
                              <a:latin typeface="Cambria Math" panose="02040503050406030204" pitchFamily="18" charset="0"/>
                              <a:cs typeface="Times New Roman" panose="02020603050405020304" pitchFamily="18" charset="0"/>
                            </a:rPr>
                            <m:t>𝐚</m:t>
                          </m:r>
                        </m:sub>
                      </m:sSub>
                    </m:oMath>
                  </m:oMathPara>
                </a14:m>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Choice>
        <mc:Fallback xmlns="">
          <p:sp>
            <p:nvSpPr>
              <p:cNvPr id="55" name="文字方塊 54">
                <a:extLst>
                  <a:ext uri="{FF2B5EF4-FFF2-40B4-BE49-F238E27FC236}">
                    <a16:creationId xmlns:a16="http://schemas.microsoft.com/office/drawing/2014/main" id="{2D95AAF3-657B-4E85-A93E-232AFF17D1B9}"/>
                  </a:ext>
                </a:extLst>
              </p:cNvPr>
              <p:cNvSpPr txBox="1">
                <a:spLocks noRot="1" noChangeAspect="1" noMove="1" noResize="1" noEditPoints="1" noAdjustHandles="1" noChangeArrowheads="1" noChangeShapeType="1" noTextEdit="1"/>
              </p:cNvSpPr>
              <p:nvPr/>
            </p:nvSpPr>
            <p:spPr>
              <a:xfrm>
                <a:off x="9757220" y="1455993"/>
                <a:ext cx="332369" cy="307777"/>
              </a:xfrm>
              <a:prstGeom prst="rect">
                <a:avLst/>
              </a:prstGeom>
              <a:blipFill>
                <a:blip r:embed="rId5"/>
                <a:stretch>
                  <a:fillRect/>
                </a:stretch>
              </a:blipFill>
            </p:spPr>
            <p:txBody>
              <a:bodyPr/>
              <a:lstStyle/>
              <a:p>
                <a:r>
                  <a:rPr lang="zh-TW" altLang="en-US">
                    <a:noFill/>
                  </a:rPr>
                  <a:t> </a:t>
                </a:r>
              </a:p>
            </p:txBody>
          </p:sp>
        </mc:Fallback>
      </mc:AlternateContent>
      <p:grpSp>
        <p:nvGrpSpPr>
          <p:cNvPr id="13" name="群組 12">
            <a:extLst>
              <a:ext uri="{FF2B5EF4-FFF2-40B4-BE49-F238E27FC236}">
                <a16:creationId xmlns:a16="http://schemas.microsoft.com/office/drawing/2014/main" id="{23F78EBC-70AE-46C7-8747-578090779B11}"/>
              </a:ext>
            </a:extLst>
          </p:cNvPr>
          <p:cNvGrpSpPr/>
          <p:nvPr/>
        </p:nvGrpSpPr>
        <p:grpSpPr>
          <a:xfrm>
            <a:off x="6848773" y="765798"/>
            <a:ext cx="5016271" cy="2406942"/>
            <a:chOff x="6848773" y="765798"/>
            <a:chExt cx="5016271" cy="2406942"/>
          </a:xfrm>
        </p:grpSpPr>
        <p:grpSp>
          <p:nvGrpSpPr>
            <p:cNvPr id="12" name="群組 11">
              <a:extLst>
                <a:ext uri="{FF2B5EF4-FFF2-40B4-BE49-F238E27FC236}">
                  <a16:creationId xmlns:a16="http://schemas.microsoft.com/office/drawing/2014/main" id="{11A70DA8-E9B0-420E-B026-CEFC7B78C7F4}"/>
                </a:ext>
              </a:extLst>
            </p:cNvPr>
            <p:cNvGrpSpPr/>
            <p:nvPr/>
          </p:nvGrpSpPr>
          <p:grpSpPr>
            <a:xfrm>
              <a:off x="6848773" y="765798"/>
              <a:ext cx="5016271" cy="2406942"/>
              <a:chOff x="6848773" y="765798"/>
              <a:chExt cx="5016271" cy="2406942"/>
            </a:xfrm>
          </p:grpSpPr>
          <p:pic>
            <p:nvPicPr>
              <p:cNvPr id="6" name="圖片 5">
                <a:extLst>
                  <a:ext uri="{FF2B5EF4-FFF2-40B4-BE49-F238E27FC236}">
                    <a16:creationId xmlns:a16="http://schemas.microsoft.com/office/drawing/2014/main" id="{73E8E03E-A962-43D4-A3EB-DA91173EBE59}"/>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145866" y="978754"/>
                <a:ext cx="4548889" cy="2018161"/>
              </a:xfrm>
              <a:prstGeom prst="rect">
                <a:avLst/>
              </a:prstGeom>
            </p:spPr>
          </p:pic>
          <p:sp>
            <p:nvSpPr>
              <p:cNvPr id="3" name="矩形 2">
                <a:extLst>
                  <a:ext uri="{FF2B5EF4-FFF2-40B4-BE49-F238E27FC236}">
                    <a16:creationId xmlns:a16="http://schemas.microsoft.com/office/drawing/2014/main" id="{FB7DEFC0-C83A-40F7-A246-1F3C181E9589}"/>
                  </a:ext>
                </a:extLst>
              </p:cNvPr>
              <p:cNvSpPr/>
              <p:nvPr/>
            </p:nvSpPr>
            <p:spPr>
              <a:xfrm>
                <a:off x="8979362" y="1781231"/>
                <a:ext cx="453262" cy="34487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5" name="矩形 24">
                <a:extLst>
                  <a:ext uri="{FF2B5EF4-FFF2-40B4-BE49-F238E27FC236}">
                    <a16:creationId xmlns:a16="http://schemas.microsoft.com/office/drawing/2014/main" id="{563B98D0-02FC-439F-AE72-8BAD0770C69D}"/>
                  </a:ext>
                </a:extLst>
              </p:cNvPr>
              <p:cNvSpPr/>
              <p:nvPr/>
            </p:nvSpPr>
            <p:spPr>
              <a:xfrm>
                <a:off x="7944187" y="812253"/>
                <a:ext cx="453262" cy="34487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6" name="矩形 25">
                <a:extLst>
                  <a:ext uri="{FF2B5EF4-FFF2-40B4-BE49-F238E27FC236}">
                    <a16:creationId xmlns:a16="http://schemas.microsoft.com/office/drawing/2014/main" id="{C8494D76-B74B-4484-B710-DEA0CE05DEF5}"/>
                  </a:ext>
                </a:extLst>
              </p:cNvPr>
              <p:cNvSpPr/>
              <p:nvPr/>
            </p:nvSpPr>
            <p:spPr>
              <a:xfrm>
                <a:off x="6848773" y="1762948"/>
                <a:ext cx="453262" cy="34487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1A688309-ECAA-470D-BE33-2A7B523A5D69}"/>
                  </a:ext>
                </a:extLst>
              </p:cNvPr>
              <p:cNvSpPr/>
              <p:nvPr/>
            </p:nvSpPr>
            <p:spPr>
              <a:xfrm>
                <a:off x="7933529" y="2807146"/>
                <a:ext cx="453262" cy="34487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8" name="矩形 27">
                <a:extLst>
                  <a:ext uri="{FF2B5EF4-FFF2-40B4-BE49-F238E27FC236}">
                    <a16:creationId xmlns:a16="http://schemas.microsoft.com/office/drawing/2014/main" id="{D51C8839-26B5-4A4C-881B-A322C2415EDE}"/>
                  </a:ext>
                </a:extLst>
              </p:cNvPr>
              <p:cNvSpPr/>
              <p:nvPr/>
            </p:nvSpPr>
            <p:spPr>
              <a:xfrm>
                <a:off x="10057389" y="765798"/>
                <a:ext cx="453262" cy="34487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8F0B43A3-93E1-4BD2-B103-10B5D89BA837}"/>
                  </a:ext>
                </a:extLst>
              </p:cNvPr>
              <p:cNvSpPr/>
              <p:nvPr/>
            </p:nvSpPr>
            <p:spPr>
              <a:xfrm>
                <a:off x="11104629" y="1771413"/>
                <a:ext cx="178916" cy="34487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0" name="矩形 29">
                <a:extLst>
                  <a:ext uri="{FF2B5EF4-FFF2-40B4-BE49-F238E27FC236}">
                    <a16:creationId xmlns:a16="http://schemas.microsoft.com/office/drawing/2014/main" id="{8FA6A81E-4DAC-4EAA-8C02-C230117F7CEF}"/>
                  </a:ext>
                </a:extLst>
              </p:cNvPr>
              <p:cNvSpPr/>
              <p:nvPr/>
            </p:nvSpPr>
            <p:spPr>
              <a:xfrm>
                <a:off x="10059896" y="2827867"/>
                <a:ext cx="453262" cy="34487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 name="矩形 7">
                <a:extLst>
                  <a:ext uri="{FF2B5EF4-FFF2-40B4-BE49-F238E27FC236}">
                    <a16:creationId xmlns:a16="http://schemas.microsoft.com/office/drawing/2014/main" id="{1A4F4FD4-A05B-47E4-8245-43225E89C6AD}"/>
                  </a:ext>
                </a:extLst>
              </p:cNvPr>
              <p:cNvSpPr/>
              <p:nvPr/>
            </p:nvSpPr>
            <p:spPr>
              <a:xfrm>
                <a:off x="11582398" y="1701521"/>
                <a:ext cx="282646" cy="59003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57" name="文字方塊 56">
                  <a:extLst>
                    <a:ext uri="{FF2B5EF4-FFF2-40B4-BE49-F238E27FC236}">
                      <a16:creationId xmlns:a16="http://schemas.microsoft.com/office/drawing/2014/main" id="{EFBDAE91-6189-4E4D-883C-0FD776BDB2CB}"/>
                    </a:ext>
                  </a:extLst>
                </p:cNvPr>
                <p:cNvSpPr txBox="1"/>
                <p:nvPr/>
              </p:nvSpPr>
              <p:spPr>
                <a:xfrm rot="16200000">
                  <a:off x="10716581" y="1764676"/>
                  <a:ext cx="1869527" cy="27699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altLang="zh-TW" sz="120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apacity</m:t>
                        </m:r>
                        <m:r>
                          <a:rPr lang="en-US" altLang="zh-TW" sz="1200" b="0" i="0" smtClean="0">
                            <a:latin typeface="Cambria Math" panose="02040503050406030204" pitchFamily="18" charset="0"/>
                            <a:ea typeface="Cambria Math" panose="02040503050406030204" pitchFamily="18" charset="0"/>
                          </a:rPr>
                          <m:t> </m:t>
                        </m:r>
                        <m:r>
                          <m:rPr>
                            <m:sty m:val="p"/>
                          </m:rPr>
                          <a:rPr lang="en-US" altLang="zh-TW" sz="1200" b="0" i="0" smtClean="0">
                            <a:latin typeface="Cambria Math" panose="02040503050406030204" pitchFamily="18" charset="0"/>
                            <a:ea typeface="Cambria Math" panose="02040503050406030204" pitchFamily="18" charset="0"/>
                          </a:rPr>
                          <m:t>measure</m:t>
                        </m:r>
                        <m:r>
                          <a:rPr lang="en-US" altLang="zh-TW" sz="1200" b="0" i="0" smtClean="0">
                            <a:latin typeface="Cambria Math" panose="02040503050406030204" pitchFamily="18" charset="0"/>
                            <a:ea typeface="Cambria Math" panose="02040503050406030204" pitchFamily="18" charset="0"/>
                          </a:rPr>
                          <m:t> </m:t>
                        </m:r>
                        <m:r>
                          <a:rPr lang="en-US" altLang="zh-TW" sz="1200" b="0" i="1" smtClean="0">
                            <a:latin typeface="Cambria Math" panose="02040503050406030204" pitchFamily="18" charset="0"/>
                            <a:ea typeface="Cambria Math" panose="02040503050406030204" pitchFamily="18" charset="0"/>
                          </a:rPr>
                          <m:t>(</m:t>
                        </m:r>
                        <m:f>
                          <m:fPr>
                            <m:type m:val="lin"/>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𝑚𝑇</m:t>
                            </m:r>
                          </m:num>
                          <m:den>
                            <m:r>
                              <a:rPr lang="en-US" altLang="zh-TW" sz="1200" b="0" i="1" smtClean="0">
                                <a:latin typeface="Cambria Math" panose="02040503050406030204" pitchFamily="18" charset="0"/>
                                <a:ea typeface="Cambria Math" panose="02040503050406030204" pitchFamily="18" charset="0"/>
                              </a:rPr>
                              <m:t>𝐴</m:t>
                            </m:r>
                          </m:den>
                        </m:f>
                        <m:r>
                          <a:rPr lang="en-US" altLang="zh-TW" sz="1200" b="0" i="1" smtClean="0">
                            <a:latin typeface="Cambria Math" panose="02040503050406030204" pitchFamily="18" charset="0"/>
                            <a:ea typeface="Cambria Math" panose="02040503050406030204" pitchFamily="18" charset="0"/>
                          </a:rPr>
                          <m:t>)</m:t>
                        </m:r>
                      </m:oMath>
                    </m:oMathPara>
                  </a14:m>
                  <a:endParaRPr lang="zh-TW" altLang="en-US" sz="1600" dirty="0"/>
                </a:p>
              </p:txBody>
            </p:sp>
          </mc:Choice>
          <mc:Fallback xmlns="">
            <p:sp>
              <p:nvSpPr>
                <p:cNvPr id="57" name="文字方塊 56">
                  <a:extLst>
                    <a:ext uri="{FF2B5EF4-FFF2-40B4-BE49-F238E27FC236}">
                      <a16:creationId xmlns:a16="http://schemas.microsoft.com/office/drawing/2014/main" id="{EFBDAE91-6189-4E4D-883C-0FD776BDB2CB}"/>
                    </a:ext>
                  </a:extLst>
                </p:cNvPr>
                <p:cNvSpPr txBox="1">
                  <a:spLocks noRot="1" noChangeAspect="1" noMove="1" noResize="1" noEditPoints="1" noAdjustHandles="1" noChangeArrowheads="1" noChangeShapeType="1" noTextEdit="1"/>
                </p:cNvSpPr>
                <p:nvPr/>
              </p:nvSpPr>
              <p:spPr>
                <a:xfrm rot="16200000">
                  <a:off x="10716581" y="1764676"/>
                  <a:ext cx="1869527" cy="276999"/>
                </a:xfrm>
                <a:prstGeom prst="rect">
                  <a:avLst/>
                </a:prstGeom>
                <a:blipFill>
                  <a:blip r:embed="rId7"/>
                  <a:stretch>
                    <a:fillRect l="-95556" t="-13681" r="-148889"/>
                  </a:stretch>
                </a:blipFill>
              </p:spPr>
              <p:txBody>
                <a:bodyPr/>
                <a:lstStyle/>
                <a:p>
                  <a:r>
                    <a:rPr lang="zh-TW" altLang="en-US">
                      <a:noFill/>
                    </a:rPr>
                    <a:t> </a:t>
                  </a:r>
                </a:p>
              </p:txBody>
            </p:sp>
          </mc:Fallback>
        </mc:AlternateContent>
        <p:sp>
          <p:nvSpPr>
            <p:cNvPr id="39" name="文字方塊 38">
              <a:extLst>
                <a:ext uri="{FF2B5EF4-FFF2-40B4-BE49-F238E27FC236}">
                  <a16:creationId xmlns:a16="http://schemas.microsoft.com/office/drawing/2014/main" id="{6FEFB949-8C79-4170-A169-EF49AF40D4C6}"/>
                </a:ext>
              </a:extLst>
            </p:cNvPr>
            <p:cNvSpPr txBox="1"/>
            <p:nvPr/>
          </p:nvSpPr>
          <p:spPr>
            <a:xfrm>
              <a:off x="7938400" y="850897"/>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P3</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40" name="文字方塊 39">
              <a:extLst>
                <a:ext uri="{FF2B5EF4-FFF2-40B4-BE49-F238E27FC236}">
                  <a16:creationId xmlns:a16="http://schemas.microsoft.com/office/drawing/2014/main" id="{743B2967-29F8-465B-B884-7228C5279B20}"/>
                </a:ext>
              </a:extLst>
            </p:cNvPr>
            <p:cNvSpPr txBox="1"/>
            <p:nvPr/>
          </p:nvSpPr>
          <p:spPr>
            <a:xfrm>
              <a:off x="6952394" y="1749288"/>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P2</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41" name="文字方塊 40">
              <a:extLst>
                <a:ext uri="{FF2B5EF4-FFF2-40B4-BE49-F238E27FC236}">
                  <a16:creationId xmlns:a16="http://schemas.microsoft.com/office/drawing/2014/main" id="{04FD0DA2-53F6-40AD-A52B-DDA949A6354B}"/>
                </a:ext>
              </a:extLst>
            </p:cNvPr>
            <p:cNvSpPr txBox="1"/>
            <p:nvPr/>
          </p:nvSpPr>
          <p:spPr>
            <a:xfrm>
              <a:off x="7993939" y="2792485"/>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P4</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44" name="文字方塊 43">
              <a:extLst>
                <a:ext uri="{FF2B5EF4-FFF2-40B4-BE49-F238E27FC236}">
                  <a16:creationId xmlns:a16="http://schemas.microsoft.com/office/drawing/2014/main" id="{7D1CD685-DE49-4892-B90B-9A309ED5300B}"/>
                </a:ext>
              </a:extLst>
            </p:cNvPr>
            <p:cNvSpPr txBox="1"/>
            <p:nvPr/>
          </p:nvSpPr>
          <p:spPr>
            <a:xfrm>
              <a:off x="10089478" y="850897"/>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P5</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45" name="文字方塊 44">
              <a:extLst>
                <a:ext uri="{FF2B5EF4-FFF2-40B4-BE49-F238E27FC236}">
                  <a16:creationId xmlns:a16="http://schemas.microsoft.com/office/drawing/2014/main" id="{5F8EF116-F605-404F-A7E7-4CC8EFAD1CDA}"/>
                </a:ext>
              </a:extLst>
            </p:cNvPr>
            <p:cNvSpPr txBox="1"/>
            <p:nvPr/>
          </p:nvSpPr>
          <p:spPr>
            <a:xfrm>
              <a:off x="10054693" y="2822320"/>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P6</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58" name="文字方塊 57">
              <a:extLst>
                <a:ext uri="{FF2B5EF4-FFF2-40B4-BE49-F238E27FC236}">
                  <a16:creationId xmlns:a16="http://schemas.microsoft.com/office/drawing/2014/main" id="{ACA22AB4-DD5C-44F2-9B94-A855DA63B72F}"/>
                </a:ext>
              </a:extLst>
            </p:cNvPr>
            <p:cNvSpPr txBox="1"/>
            <p:nvPr/>
          </p:nvSpPr>
          <p:spPr>
            <a:xfrm>
              <a:off x="8907830" y="2003977"/>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P1</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59" name="文字方塊 58">
              <a:extLst>
                <a:ext uri="{FF2B5EF4-FFF2-40B4-BE49-F238E27FC236}">
                  <a16:creationId xmlns:a16="http://schemas.microsoft.com/office/drawing/2014/main" id="{06C8698D-9F77-4BB8-BE90-EEA0504474EC}"/>
                </a:ext>
              </a:extLst>
            </p:cNvPr>
            <p:cNvSpPr txBox="1"/>
            <p:nvPr/>
          </p:nvSpPr>
          <p:spPr>
            <a:xfrm>
              <a:off x="9122442" y="1692444"/>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P2</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60" name="文字方塊 59">
              <a:extLst>
                <a:ext uri="{FF2B5EF4-FFF2-40B4-BE49-F238E27FC236}">
                  <a16:creationId xmlns:a16="http://schemas.microsoft.com/office/drawing/2014/main" id="{663B200D-D195-4F6F-8D2E-3E58C9C0B9EF}"/>
                </a:ext>
              </a:extLst>
            </p:cNvPr>
            <p:cNvSpPr txBox="1"/>
            <p:nvPr/>
          </p:nvSpPr>
          <p:spPr>
            <a:xfrm>
              <a:off x="11039400" y="1993653"/>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P1</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81C7D68B-5FC7-452F-AAF6-E29BDBD1CAB7}"/>
                    </a:ext>
                  </a:extLst>
                </p:cNvPr>
                <p:cNvSpPr txBox="1"/>
                <p:nvPr/>
              </p:nvSpPr>
              <p:spPr>
                <a:xfrm>
                  <a:off x="8344461" y="1927570"/>
                  <a:ext cx="332369"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TW" sz="1400" b="1" i="1" smtClean="0">
                                <a:solidFill>
                                  <a:schemeClr val="tx1"/>
                                </a:solidFill>
                                <a:latin typeface="Cambria Math" panose="02040503050406030204" pitchFamily="18" charset="0"/>
                                <a:cs typeface="Times New Roman" panose="02020603050405020304" pitchFamily="18" charset="0"/>
                              </a:rPr>
                            </m:ctrlPr>
                          </m:sSubPr>
                          <m:e>
                            <m:r>
                              <a:rPr lang="en-US" altLang="zh-TW" sz="1400" b="1" i="0" smtClean="0">
                                <a:solidFill>
                                  <a:schemeClr val="tx1"/>
                                </a:solidFill>
                                <a:latin typeface="Cambria Math" panose="02040503050406030204" pitchFamily="18" charset="0"/>
                                <a:cs typeface="Times New Roman" panose="02020603050405020304" pitchFamily="18" charset="0"/>
                              </a:rPr>
                              <m:t>𝐱</m:t>
                            </m:r>
                          </m:e>
                          <m:sub>
                            <m:r>
                              <a:rPr lang="en-US" altLang="zh-TW" sz="1400" b="1" i="0" smtClean="0">
                                <a:solidFill>
                                  <a:schemeClr val="tx1"/>
                                </a:solidFill>
                                <a:latin typeface="Cambria Math" panose="02040503050406030204" pitchFamily="18" charset="0"/>
                                <a:cs typeface="Times New Roman" panose="02020603050405020304" pitchFamily="18" charset="0"/>
                              </a:rPr>
                              <m:t>𝐚</m:t>
                            </m:r>
                          </m:sub>
                        </m:sSub>
                      </m:oMath>
                    </m:oMathPara>
                  </a14:m>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Choice>
          <mc:Fallback xmlns="">
            <p:sp>
              <p:nvSpPr>
                <p:cNvPr id="68" name="文字方塊 67">
                  <a:extLst>
                    <a:ext uri="{FF2B5EF4-FFF2-40B4-BE49-F238E27FC236}">
                      <a16:creationId xmlns:a16="http://schemas.microsoft.com/office/drawing/2014/main" id="{81C7D68B-5FC7-452F-AAF6-E29BDBD1CAB7}"/>
                    </a:ext>
                  </a:extLst>
                </p:cNvPr>
                <p:cNvSpPr txBox="1">
                  <a:spLocks noRot="1" noChangeAspect="1" noMove="1" noResize="1" noEditPoints="1" noAdjustHandles="1" noChangeArrowheads="1" noChangeShapeType="1" noTextEdit="1"/>
                </p:cNvSpPr>
                <p:nvPr/>
              </p:nvSpPr>
              <p:spPr>
                <a:xfrm>
                  <a:off x="8344461" y="1927570"/>
                  <a:ext cx="332369" cy="307777"/>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BD883E8A-8183-4AE5-A25C-90D9525852AD}"/>
                    </a:ext>
                  </a:extLst>
                </p:cNvPr>
                <p:cNvSpPr txBox="1"/>
                <p:nvPr/>
              </p:nvSpPr>
              <p:spPr>
                <a:xfrm>
                  <a:off x="7862079" y="1388786"/>
                  <a:ext cx="332369"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TW" sz="1400" b="1" i="1" smtClean="0">
                                <a:solidFill>
                                  <a:schemeClr val="tx1"/>
                                </a:solidFill>
                                <a:latin typeface="Cambria Math" panose="02040503050406030204" pitchFamily="18" charset="0"/>
                                <a:cs typeface="Times New Roman" panose="02020603050405020304" pitchFamily="18" charset="0"/>
                              </a:rPr>
                            </m:ctrlPr>
                          </m:sSubPr>
                          <m:e>
                            <m:r>
                              <a:rPr lang="en-US" altLang="zh-TW" sz="1400" b="1" i="0" smtClean="0">
                                <a:solidFill>
                                  <a:schemeClr val="tx1"/>
                                </a:solidFill>
                                <a:latin typeface="Cambria Math" panose="02040503050406030204" pitchFamily="18" charset="0"/>
                                <a:cs typeface="Times New Roman" panose="02020603050405020304" pitchFamily="18" charset="0"/>
                              </a:rPr>
                              <m:t>𝐲</m:t>
                            </m:r>
                          </m:e>
                          <m:sub>
                            <m:r>
                              <a:rPr lang="en-US" altLang="zh-TW" sz="1400" b="1" i="0" smtClean="0">
                                <a:solidFill>
                                  <a:schemeClr val="tx1"/>
                                </a:solidFill>
                                <a:latin typeface="Cambria Math" panose="02040503050406030204" pitchFamily="18" charset="0"/>
                                <a:cs typeface="Times New Roman" panose="02020603050405020304" pitchFamily="18" charset="0"/>
                              </a:rPr>
                              <m:t>𝐚</m:t>
                            </m:r>
                          </m:sub>
                        </m:sSub>
                      </m:oMath>
                    </m:oMathPara>
                  </a14:m>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Choice>
          <mc:Fallback xmlns="">
            <p:sp>
              <p:nvSpPr>
                <p:cNvPr id="69" name="文字方塊 68">
                  <a:extLst>
                    <a:ext uri="{FF2B5EF4-FFF2-40B4-BE49-F238E27FC236}">
                      <a16:creationId xmlns:a16="http://schemas.microsoft.com/office/drawing/2014/main" id="{BD883E8A-8183-4AE5-A25C-90D9525852AD}"/>
                    </a:ext>
                  </a:extLst>
                </p:cNvPr>
                <p:cNvSpPr txBox="1">
                  <a:spLocks noRot="1" noChangeAspect="1" noMove="1" noResize="1" noEditPoints="1" noAdjustHandles="1" noChangeArrowheads="1" noChangeShapeType="1" noTextEdit="1"/>
                </p:cNvSpPr>
                <p:nvPr/>
              </p:nvSpPr>
              <p:spPr>
                <a:xfrm>
                  <a:off x="7862079" y="1388786"/>
                  <a:ext cx="332369" cy="307777"/>
                </a:xfrm>
                <a:prstGeom prst="rect">
                  <a:avLst/>
                </a:prstGeom>
                <a:blipFill>
                  <a:blip r:embed="rId9"/>
                  <a:stretch>
                    <a:fillRect b="-400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70" name="文字方塊 69">
                  <a:extLst>
                    <a:ext uri="{FF2B5EF4-FFF2-40B4-BE49-F238E27FC236}">
                      <a16:creationId xmlns:a16="http://schemas.microsoft.com/office/drawing/2014/main" id="{55520A6D-7C89-4532-B995-5569B9F7B70E}"/>
                    </a:ext>
                  </a:extLst>
                </p:cNvPr>
                <p:cNvSpPr txBox="1"/>
                <p:nvPr/>
              </p:nvSpPr>
              <p:spPr>
                <a:xfrm>
                  <a:off x="10361206" y="1917371"/>
                  <a:ext cx="332369"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TW" sz="1400" b="1" i="1" smtClean="0">
                                <a:solidFill>
                                  <a:schemeClr val="tx1"/>
                                </a:solidFill>
                                <a:latin typeface="Cambria Math" panose="02040503050406030204" pitchFamily="18" charset="0"/>
                                <a:cs typeface="Times New Roman" panose="02020603050405020304" pitchFamily="18" charset="0"/>
                              </a:rPr>
                            </m:ctrlPr>
                          </m:sSubPr>
                          <m:e>
                            <m:r>
                              <a:rPr lang="en-US" altLang="zh-TW" sz="1400" b="1" i="0" smtClean="0">
                                <a:solidFill>
                                  <a:schemeClr val="tx1"/>
                                </a:solidFill>
                                <a:latin typeface="Cambria Math" panose="02040503050406030204" pitchFamily="18" charset="0"/>
                                <a:cs typeface="Times New Roman" panose="02020603050405020304" pitchFamily="18" charset="0"/>
                              </a:rPr>
                              <m:t>𝐱</m:t>
                            </m:r>
                          </m:e>
                          <m:sub>
                            <m:r>
                              <a:rPr lang="en-US" altLang="zh-TW" sz="1400" b="1" i="0" smtClean="0">
                                <a:solidFill>
                                  <a:schemeClr val="tx1"/>
                                </a:solidFill>
                                <a:latin typeface="Cambria Math" panose="02040503050406030204" pitchFamily="18" charset="0"/>
                                <a:cs typeface="Times New Roman" panose="02020603050405020304" pitchFamily="18" charset="0"/>
                              </a:rPr>
                              <m:t>𝐚</m:t>
                            </m:r>
                          </m:sub>
                        </m:sSub>
                      </m:oMath>
                    </m:oMathPara>
                  </a14:m>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Choice>
          <mc:Fallback xmlns="">
            <p:sp>
              <p:nvSpPr>
                <p:cNvPr id="70" name="文字方塊 69">
                  <a:extLst>
                    <a:ext uri="{FF2B5EF4-FFF2-40B4-BE49-F238E27FC236}">
                      <a16:creationId xmlns:a16="http://schemas.microsoft.com/office/drawing/2014/main" id="{55520A6D-7C89-4532-B995-5569B9F7B70E}"/>
                    </a:ext>
                  </a:extLst>
                </p:cNvPr>
                <p:cNvSpPr txBox="1">
                  <a:spLocks noRot="1" noChangeAspect="1" noMove="1" noResize="1" noEditPoints="1" noAdjustHandles="1" noChangeArrowheads="1" noChangeShapeType="1" noTextEdit="1"/>
                </p:cNvSpPr>
                <p:nvPr/>
              </p:nvSpPr>
              <p:spPr>
                <a:xfrm>
                  <a:off x="10361206" y="1917371"/>
                  <a:ext cx="332369" cy="307777"/>
                </a:xfrm>
                <a:prstGeom prst="rect">
                  <a:avLst/>
                </a:prstGeom>
                <a:blipFill>
                  <a:blip r:embed="rId2"/>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71" name="文字方塊 70">
                  <a:extLst>
                    <a:ext uri="{FF2B5EF4-FFF2-40B4-BE49-F238E27FC236}">
                      <a16:creationId xmlns:a16="http://schemas.microsoft.com/office/drawing/2014/main" id="{B6FED279-D2A9-495B-BF5F-8B2CFB26DD46}"/>
                    </a:ext>
                  </a:extLst>
                </p:cNvPr>
                <p:cNvSpPr txBox="1"/>
                <p:nvPr/>
              </p:nvSpPr>
              <p:spPr>
                <a:xfrm>
                  <a:off x="9923404" y="1363639"/>
                  <a:ext cx="332369"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TW" sz="1400" b="1" i="1" smtClean="0">
                                <a:solidFill>
                                  <a:schemeClr val="tx1"/>
                                </a:solidFill>
                                <a:latin typeface="Cambria Math" panose="02040503050406030204" pitchFamily="18" charset="0"/>
                                <a:cs typeface="Times New Roman" panose="02020603050405020304" pitchFamily="18" charset="0"/>
                              </a:rPr>
                            </m:ctrlPr>
                          </m:sSubPr>
                          <m:e>
                            <m:r>
                              <a:rPr lang="en-US" altLang="zh-TW" sz="1400" b="1" i="0" smtClean="0">
                                <a:solidFill>
                                  <a:schemeClr val="tx1"/>
                                </a:solidFill>
                                <a:latin typeface="Cambria Math" panose="02040503050406030204" pitchFamily="18" charset="0"/>
                                <a:cs typeface="Times New Roman" panose="02020603050405020304" pitchFamily="18" charset="0"/>
                              </a:rPr>
                              <m:t>𝐳</m:t>
                            </m:r>
                          </m:e>
                          <m:sub>
                            <m:r>
                              <a:rPr lang="en-US" altLang="zh-TW" sz="1400" b="1" i="0" smtClean="0">
                                <a:solidFill>
                                  <a:schemeClr val="tx1"/>
                                </a:solidFill>
                                <a:latin typeface="Cambria Math" panose="02040503050406030204" pitchFamily="18" charset="0"/>
                                <a:cs typeface="Times New Roman" panose="02020603050405020304" pitchFamily="18" charset="0"/>
                              </a:rPr>
                              <m:t>𝐚</m:t>
                            </m:r>
                          </m:sub>
                        </m:sSub>
                      </m:oMath>
                    </m:oMathPara>
                  </a14:m>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Choice>
          <mc:Fallback xmlns="">
            <p:sp>
              <p:nvSpPr>
                <p:cNvPr id="71" name="文字方塊 70">
                  <a:extLst>
                    <a:ext uri="{FF2B5EF4-FFF2-40B4-BE49-F238E27FC236}">
                      <a16:creationId xmlns:a16="http://schemas.microsoft.com/office/drawing/2014/main" id="{B6FED279-D2A9-495B-BF5F-8B2CFB26DD46}"/>
                    </a:ext>
                  </a:extLst>
                </p:cNvPr>
                <p:cNvSpPr txBox="1">
                  <a:spLocks noRot="1" noChangeAspect="1" noMove="1" noResize="1" noEditPoints="1" noAdjustHandles="1" noChangeArrowheads="1" noChangeShapeType="1" noTextEdit="1"/>
                </p:cNvSpPr>
                <p:nvPr/>
              </p:nvSpPr>
              <p:spPr>
                <a:xfrm>
                  <a:off x="9923404" y="1363639"/>
                  <a:ext cx="332369" cy="307777"/>
                </a:xfrm>
                <a:prstGeom prst="rect">
                  <a:avLst/>
                </a:prstGeom>
                <a:blipFill>
                  <a:blip r:embed="rId5"/>
                  <a:stretch>
                    <a:fillRect/>
                  </a:stretch>
                </a:blipFill>
              </p:spPr>
              <p:txBody>
                <a:bodyPr/>
                <a:lstStyle/>
                <a:p>
                  <a:r>
                    <a:rPr lang="zh-TW" altLang="en-US">
                      <a:noFill/>
                    </a:rPr>
                    <a:t> </a:t>
                  </a:r>
                </a:p>
              </p:txBody>
            </p:sp>
          </mc:Fallback>
        </mc:AlternateContent>
      </p:grpSp>
      <p:grpSp>
        <p:nvGrpSpPr>
          <p:cNvPr id="18" name="群組 17">
            <a:extLst>
              <a:ext uri="{FF2B5EF4-FFF2-40B4-BE49-F238E27FC236}">
                <a16:creationId xmlns:a16="http://schemas.microsoft.com/office/drawing/2014/main" id="{22DEE182-220C-4694-B0E8-4F293D6F7DFF}"/>
              </a:ext>
            </a:extLst>
          </p:cNvPr>
          <p:cNvGrpSpPr/>
          <p:nvPr/>
        </p:nvGrpSpPr>
        <p:grpSpPr>
          <a:xfrm>
            <a:off x="8136801" y="3386251"/>
            <a:ext cx="2628189" cy="2112783"/>
            <a:chOff x="8106683" y="3561381"/>
            <a:chExt cx="2628189" cy="2112783"/>
          </a:xfrm>
        </p:grpSpPr>
        <p:grpSp>
          <p:nvGrpSpPr>
            <p:cNvPr id="17" name="群組 16">
              <a:extLst>
                <a:ext uri="{FF2B5EF4-FFF2-40B4-BE49-F238E27FC236}">
                  <a16:creationId xmlns:a16="http://schemas.microsoft.com/office/drawing/2014/main" id="{55BB4621-7BD9-4679-83DF-BFD7799DF865}"/>
                </a:ext>
              </a:extLst>
            </p:cNvPr>
            <p:cNvGrpSpPr/>
            <p:nvPr/>
          </p:nvGrpSpPr>
          <p:grpSpPr>
            <a:xfrm>
              <a:off x="8205436" y="3679452"/>
              <a:ext cx="2455714" cy="1909035"/>
              <a:chOff x="8205436" y="3679452"/>
              <a:chExt cx="2455714" cy="1909035"/>
            </a:xfrm>
          </p:grpSpPr>
          <p:pic>
            <p:nvPicPr>
              <p:cNvPr id="10" name="圖片 9">
                <a:extLst>
                  <a:ext uri="{FF2B5EF4-FFF2-40B4-BE49-F238E27FC236}">
                    <a16:creationId xmlns:a16="http://schemas.microsoft.com/office/drawing/2014/main" id="{F30FFA08-112E-4294-8B00-78F19F086870}"/>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8284596" y="3679452"/>
                <a:ext cx="2291585" cy="1866353"/>
              </a:xfrm>
              <a:prstGeom prst="rect">
                <a:avLst/>
              </a:prstGeom>
            </p:spPr>
          </p:pic>
          <p:sp>
            <p:nvSpPr>
              <p:cNvPr id="5" name="矩形 4">
                <a:extLst>
                  <a:ext uri="{FF2B5EF4-FFF2-40B4-BE49-F238E27FC236}">
                    <a16:creationId xmlns:a16="http://schemas.microsoft.com/office/drawing/2014/main" id="{814C6145-C47B-4D69-AAD2-1C7FDFF05D7C}"/>
                  </a:ext>
                </a:extLst>
              </p:cNvPr>
              <p:cNvSpPr/>
              <p:nvPr/>
            </p:nvSpPr>
            <p:spPr>
              <a:xfrm>
                <a:off x="8979362" y="3679452"/>
                <a:ext cx="471534" cy="1693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3" name="矩形 32">
                <a:extLst>
                  <a:ext uri="{FF2B5EF4-FFF2-40B4-BE49-F238E27FC236}">
                    <a16:creationId xmlns:a16="http://schemas.microsoft.com/office/drawing/2014/main" id="{0791F678-56AB-42BA-961F-31FF4CB4DF2D}"/>
                  </a:ext>
                </a:extLst>
              </p:cNvPr>
              <p:cNvSpPr/>
              <p:nvPr/>
            </p:nvSpPr>
            <p:spPr>
              <a:xfrm>
                <a:off x="8205436" y="4538000"/>
                <a:ext cx="244903" cy="1693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5" name="矩形 34">
                <a:extLst>
                  <a:ext uri="{FF2B5EF4-FFF2-40B4-BE49-F238E27FC236}">
                    <a16:creationId xmlns:a16="http://schemas.microsoft.com/office/drawing/2014/main" id="{9F216946-C27D-48B6-9FC9-3A7938C80A01}"/>
                  </a:ext>
                </a:extLst>
              </p:cNvPr>
              <p:cNvSpPr/>
              <p:nvPr/>
            </p:nvSpPr>
            <p:spPr>
              <a:xfrm>
                <a:off x="8979362" y="5407569"/>
                <a:ext cx="471534" cy="18091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D95603DB-8850-4931-9119-271118BBBC31}"/>
                  </a:ext>
                </a:extLst>
              </p:cNvPr>
              <p:cNvSpPr/>
              <p:nvPr/>
            </p:nvSpPr>
            <p:spPr>
              <a:xfrm>
                <a:off x="9983492" y="4444068"/>
                <a:ext cx="244903" cy="28334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4" name="矩形 13">
                <a:extLst>
                  <a:ext uri="{FF2B5EF4-FFF2-40B4-BE49-F238E27FC236}">
                    <a16:creationId xmlns:a16="http://schemas.microsoft.com/office/drawing/2014/main" id="{1329119F-C529-4B40-91BE-B411B4240C93}"/>
                  </a:ext>
                </a:extLst>
              </p:cNvPr>
              <p:cNvSpPr/>
              <p:nvPr/>
            </p:nvSpPr>
            <p:spPr>
              <a:xfrm>
                <a:off x="10471709" y="4356913"/>
                <a:ext cx="189441" cy="58488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80" name="文字方塊 79">
                  <a:extLst>
                    <a:ext uri="{FF2B5EF4-FFF2-40B4-BE49-F238E27FC236}">
                      <a16:creationId xmlns:a16="http://schemas.microsoft.com/office/drawing/2014/main" id="{27CD9186-2EE6-4F6E-A706-803E24D40A26}"/>
                    </a:ext>
                  </a:extLst>
                </p:cNvPr>
                <p:cNvSpPr txBox="1"/>
                <p:nvPr/>
              </p:nvSpPr>
              <p:spPr>
                <a:xfrm rot="16200000">
                  <a:off x="9680083" y="4550209"/>
                  <a:ext cx="1832580" cy="27699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altLang="zh-TW" sz="120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apacity</m:t>
                        </m:r>
                        <m:r>
                          <a:rPr lang="en-US" altLang="zh-TW" sz="1200" b="0" i="0" smtClean="0">
                            <a:latin typeface="Cambria Math" panose="02040503050406030204" pitchFamily="18" charset="0"/>
                            <a:ea typeface="Cambria Math" panose="02040503050406030204" pitchFamily="18" charset="0"/>
                          </a:rPr>
                          <m:t> </m:t>
                        </m:r>
                        <m:r>
                          <m:rPr>
                            <m:sty m:val="p"/>
                          </m:rPr>
                          <a:rPr lang="en-US" altLang="zh-TW" sz="1200" b="0" i="0" smtClean="0">
                            <a:latin typeface="Cambria Math" panose="02040503050406030204" pitchFamily="18" charset="0"/>
                            <a:ea typeface="Cambria Math" panose="02040503050406030204" pitchFamily="18" charset="0"/>
                          </a:rPr>
                          <m:t>measure</m:t>
                        </m:r>
                        <m:r>
                          <a:rPr lang="en-US" altLang="zh-TW" sz="1200" b="0" i="0" smtClean="0">
                            <a:latin typeface="Cambria Math" panose="02040503050406030204" pitchFamily="18" charset="0"/>
                            <a:ea typeface="Cambria Math" panose="02040503050406030204" pitchFamily="18" charset="0"/>
                          </a:rPr>
                          <m:t> </m:t>
                        </m:r>
                        <m:r>
                          <a:rPr lang="en-US" altLang="zh-TW" sz="1200" b="0" i="1" smtClean="0">
                            <a:latin typeface="Cambria Math" panose="02040503050406030204" pitchFamily="18" charset="0"/>
                            <a:ea typeface="Cambria Math" panose="02040503050406030204" pitchFamily="18" charset="0"/>
                          </a:rPr>
                          <m:t>(</m:t>
                        </m:r>
                        <m:f>
                          <m:fPr>
                            <m:type m:val="lin"/>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𝑚𝑇</m:t>
                            </m:r>
                          </m:num>
                          <m:den>
                            <m:r>
                              <a:rPr lang="en-US" altLang="zh-TW" sz="1200" b="0" i="1" smtClean="0">
                                <a:latin typeface="Cambria Math" panose="02040503050406030204" pitchFamily="18" charset="0"/>
                                <a:ea typeface="Cambria Math" panose="02040503050406030204" pitchFamily="18" charset="0"/>
                              </a:rPr>
                              <m:t>𝐴</m:t>
                            </m:r>
                          </m:den>
                        </m:f>
                        <m:r>
                          <a:rPr lang="en-US" altLang="zh-TW" sz="1200" b="0" i="1" smtClean="0">
                            <a:latin typeface="Cambria Math" panose="02040503050406030204" pitchFamily="18" charset="0"/>
                            <a:ea typeface="Cambria Math" panose="02040503050406030204" pitchFamily="18" charset="0"/>
                          </a:rPr>
                          <m:t>)</m:t>
                        </m:r>
                      </m:oMath>
                    </m:oMathPara>
                  </a14:m>
                  <a:endParaRPr lang="zh-TW" altLang="en-US" sz="1600" dirty="0"/>
                </a:p>
              </p:txBody>
            </p:sp>
          </mc:Choice>
          <mc:Fallback xmlns="">
            <p:sp>
              <p:nvSpPr>
                <p:cNvPr id="80" name="文字方塊 79">
                  <a:extLst>
                    <a:ext uri="{FF2B5EF4-FFF2-40B4-BE49-F238E27FC236}">
                      <a16:creationId xmlns:a16="http://schemas.microsoft.com/office/drawing/2014/main" id="{27CD9186-2EE6-4F6E-A706-803E24D40A26}"/>
                    </a:ext>
                  </a:extLst>
                </p:cNvPr>
                <p:cNvSpPr txBox="1">
                  <a:spLocks noRot="1" noChangeAspect="1" noMove="1" noResize="1" noEditPoints="1" noAdjustHandles="1" noChangeArrowheads="1" noChangeShapeType="1" noTextEdit="1"/>
                </p:cNvSpPr>
                <p:nvPr/>
              </p:nvSpPr>
              <p:spPr>
                <a:xfrm rot="16200000">
                  <a:off x="9680083" y="4550209"/>
                  <a:ext cx="1832580" cy="276999"/>
                </a:xfrm>
                <a:prstGeom prst="rect">
                  <a:avLst/>
                </a:prstGeom>
                <a:blipFill>
                  <a:blip r:embed="rId11"/>
                  <a:stretch>
                    <a:fillRect l="-93478" t="-15947" r="-143478"/>
                  </a:stretch>
                </a:blipFill>
              </p:spPr>
              <p:txBody>
                <a:bodyPr/>
                <a:lstStyle/>
                <a:p>
                  <a:r>
                    <a:rPr lang="zh-TW" altLang="en-US">
                      <a:noFill/>
                    </a:rPr>
                    <a:t> </a:t>
                  </a:r>
                </a:p>
              </p:txBody>
            </p:sp>
          </mc:Fallback>
        </mc:AlternateContent>
        <p:sp>
          <p:nvSpPr>
            <p:cNvPr id="81" name="文字方塊 80">
              <a:extLst>
                <a:ext uri="{FF2B5EF4-FFF2-40B4-BE49-F238E27FC236}">
                  <a16:creationId xmlns:a16="http://schemas.microsoft.com/office/drawing/2014/main" id="{52CF3FFF-4A3A-4DF8-9571-F600210FEEA8}"/>
                </a:ext>
              </a:extLst>
            </p:cNvPr>
            <p:cNvSpPr txBox="1"/>
            <p:nvPr/>
          </p:nvSpPr>
          <p:spPr>
            <a:xfrm>
              <a:off x="8106683" y="4308237"/>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P4</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82" name="文字方塊 81">
              <a:extLst>
                <a:ext uri="{FF2B5EF4-FFF2-40B4-BE49-F238E27FC236}">
                  <a16:creationId xmlns:a16="http://schemas.microsoft.com/office/drawing/2014/main" id="{853AC494-5F6E-45D3-8AB8-45F0C907BFD2}"/>
                </a:ext>
              </a:extLst>
            </p:cNvPr>
            <p:cNvSpPr txBox="1"/>
            <p:nvPr/>
          </p:nvSpPr>
          <p:spPr>
            <a:xfrm>
              <a:off x="9011451" y="3561381"/>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P5</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83" name="文字方塊 82">
              <a:extLst>
                <a:ext uri="{FF2B5EF4-FFF2-40B4-BE49-F238E27FC236}">
                  <a16:creationId xmlns:a16="http://schemas.microsoft.com/office/drawing/2014/main" id="{8C1B137E-27CA-4FA8-BD49-47C50D6F832A}"/>
                </a:ext>
              </a:extLst>
            </p:cNvPr>
            <p:cNvSpPr txBox="1"/>
            <p:nvPr/>
          </p:nvSpPr>
          <p:spPr>
            <a:xfrm>
              <a:off x="9041621" y="5366387"/>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P6</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84" name="文字方塊 83">
              <a:extLst>
                <a:ext uri="{FF2B5EF4-FFF2-40B4-BE49-F238E27FC236}">
                  <a16:creationId xmlns:a16="http://schemas.microsoft.com/office/drawing/2014/main" id="{7712404E-07B6-4F6E-AF69-1455B3E1A4BB}"/>
                </a:ext>
              </a:extLst>
            </p:cNvPr>
            <p:cNvSpPr txBox="1"/>
            <p:nvPr/>
          </p:nvSpPr>
          <p:spPr>
            <a:xfrm>
              <a:off x="9932228" y="4576652"/>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P3</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85" name="文字方塊 84">
                  <a:extLst>
                    <a:ext uri="{FF2B5EF4-FFF2-40B4-BE49-F238E27FC236}">
                      <a16:creationId xmlns:a16="http://schemas.microsoft.com/office/drawing/2014/main" id="{540B8155-584E-4A94-B7CA-1691DEFFD750}"/>
                    </a:ext>
                  </a:extLst>
                </p:cNvPr>
                <p:cNvSpPr txBox="1"/>
                <p:nvPr/>
              </p:nvSpPr>
              <p:spPr>
                <a:xfrm>
                  <a:off x="9312538" y="4582969"/>
                  <a:ext cx="332369"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TW" sz="1400" b="1" i="1" smtClean="0">
                                <a:solidFill>
                                  <a:schemeClr val="tx1"/>
                                </a:solidFill>
                                <a:latin typeface="Cambria Math" panose="02040503050406030204" pitchFamily="18" charset="0"/>
                                <a:cs typeface="Times New Roman" panose="02020603050405020304" pitchFamily="18" charset="0"/>
                              </a:rPr>
                            </m:ctrlPr>
                          </m:sSubPr>
                          <m:e>
                            <m:r>
                              <a:rPr lang="en-US" altLang="zh-TW" sz="1400" b="1" i="0" smtClean="0">
                                <a:solidFill>
                                  <a:schemeClr val="tx1"/>
                                </a:solidFill>
                                <a:latin typeface="Cambria Math" panose="02040503050406030204" pitchFamily="18" charset="0"/>
                                <a:cs typeface="Times New Roman" panose="02020603050405020304" pitchFamily="18" charset="0"/>
                              </a:rPr>
                              <m:t>𝐲</m:t>
                            </m:r>
                          </m:e>
                          <m:sub>
                            <m:r>
                              <a:rPr lang="en-US" altLang="zh-TW" sz="1400" b="1" i="0" smtClean="0">
                                <a:solidFill>
                                  <a:schemeClr val="tx1"/>
                                </a:solidFill>
                                <a:latin typeface="Cambria Math" panose="02040503050406030204" pitchFamily="18" charset="0"/>
                                <a:cs typeface="Times New Roman" panose="02020603050405020304" pitchFamily="18" charset="0"/>
                              </a:rPr>
                              <m:t>𝐚</m:t>
                            </m:r>
                          </m:sub>
                        </m:sSub>
                      </m:oMath>
                    </m:oMathPara>
                  </a14:m>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Choice>
          <mc:Fallback xmlns="">
            <p:sp>
              <p:nvSpPr>
                <p:cNvPr id="85" name="文字方塊 84">
                  <a:extLst>
                    <a:ext uri="{FF2B5EF4-FFF2-40B4-BE49-F238E27FC236}">
                      <a16:creationId xmlns:a16="http://schemas.microsoft.com/office/drawing/2014/main" id="{540B8155-584E-4A94-B7CA-1691DEFFD750}"/>
                    </a:ext>
                  </a:extLst>
                </p:cNvPr>
                <p:cNvSpPr txBox="1">
                  <a:spLocks noRot="1" noChangeAspect="1" noMove="1" noResize="1" noEditPoints="1" noAdjustHandles="1" noChangeArrowheads="1" noChangeShapeType="1" noTextEdit="1"/>
                </p:cNvSpPr>
                <p:nvPr/>
              </p:nvSpPr>
              <p:spPr>
                <a:xfrm>
                  <a:off x="9312538" y="4582969"/>
                  <a:ext cx="332369" cy="307777"/>
                </a:xfrm>
                <a:prstGeom prst="rect">
                  <a:avLst/>
                </a:prstGeom>
                <a:blipFill>
                  <a:blip r:embed="rId12"/>
                  <a:stretch>
                    <a:fillRect b="-196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6" name="文字方塊 85">
                  <a:extLst>
                    <a:ext uri="{FF2B5EF4-FFF2-40B4-BE49-F238E27FC236}">
                      <a16:creationId xmlns:a16="http://schemas.microsoft.com/office/drawing/2014/main" id="{867489ED-A813-4081-8B30-C7D8958005DE}"/>
                    </a:ext>
                  </a:extLst>
                </p:cNvPr>
                <p:cNvSpPr txBox="1"/>
                <p:nvPr/>
              </p:nvSpPr>
              <p:spPr>
                <a:xfrm>
                  <a:off x="8845267" y="4095143"/>
                  <a:ext cx="332369"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TW" sz="1400" b="1" i="1" smtClean="0">
                                <a:solidFill>
                                  <a:schemeClr val="tx1"/>
                                </a:solidFill>
                                <a:latin typeface="Cambria Math" panose="02040503050406030204" pitchFamily="18" charset="0"/>
                                <a:cs typeface="Times New Roman" panose="02020603050405020304" pitchFamily="18" charset="0"/>
                              </a:rPr>
                            </m:ctrlPr>
                          </m:sSubPr>
                          <m:e>
                            <m:r>
                              <a:rPr lang="en-US" altLang="zh-TW" sz="1400" b="1" i="0" smtClean="0">
                                <a:solidFill>
                                  <a:schemeClr val="tx1"/>
                                </a:solidFill>
                                <a:latin typeface="Cambria Math" panose="02040503050406030204" pitchFamily="18" charset="0"/>
                                <a:cs typeface="Times New Roman" panose="02020603050405020304" pitchFamily="18" charset="0"/>
                              </a:rPr>
                              <m:t>𝐳</m:t>
                            </m:r>
                          </m:e>
                          <m:sub>
                            <m:r>
                              <a:rPr lang="en-US" altLang="zh-TW" sz="1400" b="1" i="0" smtClean="0">
                                <a:solidFill>
                                  <a:schemeClr val="tx1"/>
                                </a:solidFill>
                                <a:latin typeface="Cambria Math" panose="02040503050406030204" pitchFamily="18" charset="0"/>
                                <a:cs typeface="Times New Roman" panose="02020603050405020304" pitchFamily="18" charset="0"/>
                              </a:rPr>
                              <m:t>𝐚</m:t>
                            </m:r>
                          </m:sub>
                        </m:sSub>
                      </m:oMath>
                    </m:oMathPara>
                  </a14:m>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Choice>
          <mc:Fallback xmlns="">
            <p:sp>
              <p:nvSpPr>
                <p:cNvPr id="86" name="文字方塊 85">
                  <a:extLst>
                    <a:ext uri="{FF2B5EF4-FFF2-40B4-BE49-F238E27FC236}">
                      <a16:creationId xmlns:a16="http://schemas.microsoft.com/office/drawing/2014/main" id="{867489ED-A813-4081-8B30-C7D8958005DE}"/>
                    </a:ext>
                  </a:extLst>
                </p:cNvPr>
                <p:cNvSpPr txBox="1">
                  <a:spLocks noRot="1" noChangeAspect="1" noMove="1" noResize="1" noEditPoints="1" noAdjustHandles="1" noChangeArrowheads="1" noChangeShapeType="1" noTextEdit="1"/>
                </p:cNvSpPr>
                <p:nvPr/>
              </p:nvSpPr>
              <p:spPr>
                <a:xfrm>
                  <a:off x="8845267" y="4095143"/>
                  <a:ext cx="332369" cy="307777"/>
                </a:xfrm>
                <a:prstGeom prst="rect">
                  <a:avLst/>
                </a:prstGeom>
                <a:blipFill>
                  <a:blip r:embed="rId13"/>
                  <a:stretch>
                    <a:fillRect/>
                  </a:stretch>
                </a:blipFill>
              </p:spPr>
              <p:txBody>
                <a:bodyPr/>
                <a:lstStyle/>
                <a:p>
                  <a:r>
                    <a:rPr lang="zh-TW" altLang="en-US">
                      <a:noFill/>
                    </a:rPr>
                    <a:t> </a:t>
                  </a:r>
                </a:p>
              </p:txBody>
            </p:sp>
          </mc:Fallback>
        </mc:AlternateContent>
      </p:grpSp>
    </p:spTree>
    <p:extLst>
      <p:ext uri="{BB962C8B-B14F-4D97-AF65-F5344CB8AC3E}">
        <p14:creationId xmlns:p14="http://schemas.microsoft.com/office/powerpoint/2010/main" val="175135313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488031"/>
            <a:ext cx="12192000" cy="193506"/>
          </a:xfrm>
        </p:spPr>
        <p:txBody>
          <a:bodyPr>
            <a:normAutofit fontScale="90000"/>
          </a:bodyPr>
          <a:lstStyle/>
          <a:p>
            <a:r>
              <a:rPr lang="en-US" altLang="zh-TW" sz="3600" b="1" kern="100" dirty="0">
                <a:solidFill>
                  <a:srgbClr val="000000"/>
                </a:solidFill>
                <a:latin typeface="Aptos"/>
                <a:ea typeface="新細明體" panose="02020500000000000000" pitchFamily="18" charset="-120"/>
                <a:cs typeface="Times New Roman" panose="02020603050405020304" pitchFamily="18" charset="0"/>
              </a:rPr>
              <a:t>Quantitative Assessment of Multi-Pole Actuators</a:t>
            </a:r>
            <a:br>
              <a:rPr lang="zh-TW" altLang="zh-TW" sz="1800" kern="100" dirty="0">
                <a:effectLst/>
                <a:latin typeface="Aptos"/>
                <a:ea typeface="新細明體" panose="02020500000000000000" pitchFamily="18" charset="-120"/>
                <a:cs typeface="Times New Roman" panose="02020603050405020304" pitchFamily="18" charset="0"/>
              </a:rPr>
            </a:b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16" name="文字方塊 15">
            <a:extLst>
              <a:ext uri="{FF2B5EF4-FFF2-40B4-BE49-F238E27FC236}">
                <a16:creationId xmlns:a16="http://schemas.microsoft.com/office/drawing/2014/main" id="{6BA9955A-92B3-406A-93D9-E13D8B8C100E}"/>
              </a:ext>
            </a:extLst>
          </p:cNvPr>
          <p:cNvSpPr txBox="1"/>
          <p:nvPr/>
        </p:nvSpPr>
        <p:spPr>
          <a:xfrm>
            <a:off x="118533" y="516467"/>
            <a:ext cx="3588625" cy="369332"/>
          </a:xfrm>
          <a:prstGeom prst="rect">
            <a:avLst/>
          </a:prstGeom>
          <a:noFill/>
        </p:spPr>
        <p:txBody>
          <a:bodyPr wrap="square" rtlCol="0">
            <a:spAutoFit/>
          </a:bodyPr>
          <a:lstStyle/>
          <a:p>
            <a:pPr marL="285750" indent="-285750">
              <a:buFont typeface="Arial" panose="020B0604020202020204" pitchFamily="34" charset="0"/>
              <a:buChar char="•"/>
            </a:pPr>
            <a:r>
              <a:rPr lang="en-US" altLang="zh-TW" dirty="0" err="1"/>
              <a:t>DesignB</a:t>
            </a:r>
            <a:endParaRPr lang="zh-TW" altLang="en-US" dirty="0"/>
          </a:p>
        </p:txBody>
      </p:sp>
      <p:sp>
        <p:nvSpPr>
          <p:cNvPr id="34" name="矩形 33">
            <a:extLst>
              <a:ext uri="{FF2B5EF4-FFF2-40B4-BE49-F238E27FC236}">
                <a16:creationId xmlns:a16="http://schemas.microsoft.com/office/drawing/2014/main" id="{666288C7-F5CB-48E4-8D76-163CDF4E1521}"/>
              </a:ext>
            </a:extLst>
          </p:cNvPr>
          <p:cNvSpPr/>
          <p:nvPr/>
        </p:nvSpPr>
        <p:spPr>
          <a:xfrm>
            <a:off x="11485470" y="5360209"/>
            <a:ext cx="188693" cy="24873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5" name="矩形 34">
            <a:extLst>
              <a:ext uri="{FF2B5EF4-FFF2-40B4-BE49-F238E27FC236}">
                <a16:creationId xmlns:a16="http://schemas.microsoft.com/office/drawing/2014/main" id="{22C1E112-AE50-46DC-8251-D6D5E0450AA8}"/>
              </a:ext>
            </a:extLst>
          </p:cNvPr>
          <p:cNvSpPr/>
          <p:nvPr/>
        </p:nvSpPr>
        <p:spPr>
          <a:xfrm>
            <a:off x="8927424" y="703212"/>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5" name="矩形 44">
            <a:extLst>
              <a:ext uri="{FF2B5EF4-FFF2-40B4-BE49-F238E27FC236}">
                <a16:creationId xmlns:a16="http://schemas.microsoft.com/office/drawing/2014/main" id="{A7AC5CB5-ED89-4E3E-AD62-78E3BA5A407F}"/>
              </a:ext>
            </a:extLst>
          </p:cNvPr>
          <p:cNvSpPr/>
          <p:nvPr/>
        </p:nvSpPr>
        <p:spPr>
          <a:xfrm>
            <a:off x="6279842" y="703212"/>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6" name="矩形 45">
            <a:extLst>
              <a:ext uri="{FF2B5EF4-FFF2-40B4-BE49-F238E27FC236}">
                <a16:creationId xmlns:a16="http://schemas.microsoft.com/office/drawing/2014/main" id="{ECFCDEC8-6D9E-4F90-9164-5AFC45503F9D}"/>
              </a:ext>
            </a:extLst>
          </p:cNvPr>
          <p:cNvSpPr/>
          <p:nvPr/>
        </p:nvSpPr>
        <p:spPr>
          <a:xfrm>
            <a:off x="5541053" y="1762316"/>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7" name="矩形 46">
            <a:extLst>
              <a:ext uri="{FF2B5EF4-FFF2-40B4-BE49-F238E27FC236}">
                <a16:creationId xmlns:a16="http://schemas.microsoft.com/office/drawing/2014/main" id="{42375863-2208-49BC-A294-DC35BC7C0E6F}"/>
              </a:ext>
            </a:extLst>
          </p:cNvPr>
          <p:cNvSpPr/>
          <p:nvPr/>
        </p:nvSpPr>
        <p:spPr>
          <a:xfrm>
            <a:off x="6592957" y="2469682"/>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3" name="文字方塊 12">
            <a:extLst>
              <a:ext uri="{FF2B5EF4-FFF2-40B4-BE49-F238E27FC236}">
                <a16:creationId xmlns:a16="http://schemas.microsoft.com/office/drawing/2014/main" id="{5CE909AB-7F0B-4394-A735-F542BEB3695B}"/>
              </a:ext>
            </a:extLst>
          </p:cNvPr>
          <p:cNvSpPr txBox="1"/>
          <p:nvPr/>
        </p:nvSpPr>
        <p:spPr>
          <a:xfrm>
            <a:off x="103410" y="975445"/>
            <a:ext cx="6096410" cy="2308324"/>
          </a:xfrm>
          <a:prstGeom prst="rect">
            <a:avLst/>
          </a:prstGeom>
          <a:noFill/>
        </p:spPr>
        <p:txBody>
          <a:bodyPr wrap="square">
            <a:spAutoFit/>
          </a:bodyPr>
          <a:lstStyle/>
          <a:p>
            <a:pPr marL="285750" indent="-285750">
              <a:buFont typeface="Arial" panose="020B0604020202020204" pitchFamily="34" charset="0"/>
              <a:buChar char="•"/>
            </a:pPr>
            <a:r>
              <a:rPr lang="zh-TW" altLang="en-US" dirty="0"/>
              <a:t>Zhi-Peng reaches only 0.62× the isotropy of Long Fei (0.544 vs 0.884). Long Fei's high-κ region is concentric about the origin, whereas Zhi-Peng's is offset, split into two diagonal lobes, and decays faster with radius.</a:t>
            </a:r>
            <a:r>
              <a:rPr lang="en-US" altLang="zh-TW" dirty="0"/>
              <a:t> the gain is bought at the cost of isotropy. More importantly, </a:t>
            </a:r>
            <a:r>
              <a:rPr lang="en-US" altLang="zh-TW" dirty="0" err="1"/>
              <a:t>Zhi</a:t>
            </a:r>
            <a:r>
              <a:rPr lang="en-US" altLang="zh-TW" dirty="0"/>
              <a:t>-Peng's best-isotropy point is not the origin — Long Fei gives the most balanced three-axis control simply by staying at the </a:t>
            </a:r>
            <a:r>
              <a:rPr lang="en-US" altLang="zh-TW" dirty="0" err="1"/>
              <a:t>centre</a:t>
            </a:r>
            <a:r>
              <a:rPr lang="en-US" altLang="zh-TW" dirty="0"/>
              <a:t>, whereas </a:t>
            </a:r>
            <a:r>
              <a:rPr lang="en-US" altLang="zh-TW" dirty="0" err="1"/>
              <a:t>Zhi</a:t>
            </a:r>
            <a:r>
              <a:rPr lang="en-US" altLang="zh-TW" dirty="0"/>
              <a:t>-Peng offers no such sweet spot.</a:t>
            </a:r>
            <a:endParaRPr lang="zh-TW" altLang="en-US" dirty="0"/>
          </a:p>
        </p:txBody>
      </p:sp>
      <p:grpSp>
        <p:nvGrpSpPr>
          <p:cNvPr id="9" name="群組 8">
            <a:extLst>
              <a:ext uri="{FF2B5EF4-FFF2-40B4-BE49-F238E27FC236}">
                <a16:creationId xmlns:a16="http://schemas.microsoft.com/office/drawing/2014/main" id="{E0A4D1A0-7FA6-495C-B437-6876730F0155}"/>
              </a:ext>
            </a:extLst>
          </p:cNvPr>
          <p:cNvGrpSpPr/>
          <p:nvPr/>
        </p:nvGrpSpPr>
        <p:grpSpPr>
          <a:xfrm>
            <a:off x="6608232" y="711678"/>
            <a:ext cx="5235209" cy="2427786"/>
            <a:chOff x="6608232" y="711678"/>
            <a:chExt cx="5235209" cy="2427786"/>
          </a:xfrm>
        </p:grpSpPr>
        <p:grpSp>
          <p:nvGrpSpPr>
            <p:cNvPr id="7" name="群組 6">
              <a:extLst>
                <a:ext uri="{FF2B5EF4-FFF2-40B4-BE49-F238E27FC236}">
                  <a16:creationId xmlns:a16="http://schemas.microsoft.com/office/drawing/2014/main" id="{69355053-8531-4B1F-BFAA-AB8A92D0B7EF}"/>
                </a:ext>
              </a:extLst>
            </p:cNvPr>
            <p:cNvGrpSpPr/>
            <p:nvPr/>
          </p:nvGrpSpPr>
          <p:grpSpPr>
            <a:xfrm>
              <a:off x="6706545" y="797676"/>
              <a:ext cx="5108379" cy="2252903"/>
              <a:chOff x="6706545" y="797676"/>
              <a:chExt cx="5108379" cy="2252903"/>
            </a:xfrm>
          </p:grpSpPr>
          <p:pic>
            <p:nvPicPr>
              <p:cNvPr id="5" name="圖片 4">
                <a:extLst>
                  <a:ext uri="{FF2B5EF4-FFF2-40B4-BE49-F238E27FC236}">
                    <a16:creationId xmlns:a16="http://schemas.microsoft.com/office/drawing/2014/main" id="{181F89EE-6F5C-409A-A82E-B9F7721EB6A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751680" y="819350"/>
                <a:ext cx="4965805" cy="2194831"/>
              </a:xfrm>
              <a:prstGeom prst="rect">
                <a:avLst/>
              </a:prstGeom>
            </p:spPr>
          </p:pic>
          <p:sp>
            <p:nvSpPr>
              <p:cNvPr id="3" name="矩形 2">
                <a:extLst>
                  <a:ext uri="{FF2B5EF4-FFF2-40B4-BE49-F238E27FC236}">
                    <a16:creationId xmlns:a16="http://schemas.microsoft.com/office/drawing/2014/main" id="{066663A0-2A15-4D43-A779-45D3A4D46AEC}"/>
                  </a:ext>
                </a:extLst>
              </p:cNvPr>
              <p:cNvSpPr/>
              <p:nvPr/>
            </p:nvSpPr>
            <p:spPr>
              <a:xfrm>
                <a:off x="7704667" y="797676"/>
                <a:ext cx="304800" cy="1777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4" name="矩形 13">
                <a:extLst>
                  <a:ext uri="{FF2B5EF4-FFF2-40B4-BE49-F238E27FC236}">
                    <a16:creationId xmlns:a16="http://schemas.microsoft.com/office/drawing/2014/main" id="{DA1EE470-B38E-431A-BBF5-EB11EA15FCDA}"/>
                  </a:ext>
                </a:extLst>
              </p:cNvPr>
              <p:cNvSpPr/>
              <p:nvPr/>
            </p:nvSpPr>
            <p:spPr>
              <a:xfrm>
                <a:off x="8775023" y="1814501"/>
                <a:ext cx="436709" cy="18009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矩形 14">
                <a:extLst>
                  <a:ext uri="{FF2B5EF4-FFF2-40B4-BE49-F238E27FC236}">
                    <a16:creationId xmlns:a16="http://schemas.microsoft.com/office/drawing/2014/main" id="{79BB90AF-E6FA-436F-A46A-20A62593B5EF}"/>
                  </a:ext>
                </a:extLst>
              </p:cNvPr>
              <p:cNvSpPr/>
              <p:nvPr/>
            </p:nvSpPr>
            <p:spPr>
              <a:xfrm>
                <a:off x="7638712" y="2860292"/>
                <a:ext cx="436709" cy="19028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7" name="矩形 16">
                <a:extLst>
                  <a:ext uri="{FF2B5EF4-FFF2-40B4-BE49-F238E27FC236}">
                    <a16:creationId xmlns:a16="http://schemas.microsoft.com/office/drawing/2014/main" id="{B807006A-EF85-4562-98C2-1789A732EE34}"/>
                  </a:ext>
                </a:extLst>
              </p:cNvPr>
              <p:cNvSpPr/>
              <p:nvPr/>
            </p:nvSpPr>
            <p:spPr>
              <a:xfrm>
                <a:off x="6706545" y="1814501"/>
                <a:ext cx="218554" cy="18009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矩形 17">
                <a:extLst>
                  <a:ext uri="{FF2B5EF4-FFF2-40B4-BE49-F238E27FC236}">
                    <a16:creationId xmlns:a16="http://schemas.microsoft.com/office/drawing/2014/main" id="{28576603-9475-47D3-AF98-C00BDEC45B96}"/>
                  </a:ext>
                </a:extLst>
              </p:cNvPr>
              <p:cNvSpPr/>
              <p:nvPr/>
            </p:nvSpPr>
            <p:spPr>
              <a:xfrm>
                <a:off x="9867199" y="803617"/>
                <a:ext cx="436709" cy="18009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9" name="矩形 18">
                <a:extLst>
                  <a:ext uri="{FF2B5EF4-FFF2-40B4-BE49-F238E27FC236}">
                    <a16:creationId xmlns:a16="http://schemas.microsoft.com/office/drawing/2014/main" id="{A54048D2-C0DE-4C4F-9F1E-0693E33DFFB9}"/>
                  </a:ext>
                </a:extLst>
              </p:cNvPr>
              <p:cNvSpPr/>
              <p:nvPr/>
            </p:nvSpPr>
            <p:spPr>
              <a:xfrm>
                <a:off x="9867199" y="2870487"/>
                <a:ext cx="436709" cy="18009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0" name="矩形 19">
                <a:extLst>
                  <a:ext uri="{FF2B5EF4-FFF2-40B4-BE49-F238E27FC236}">
                    <a16:creationId xmlns:a16="http://schemas.microsoft.com/office/drawing/2014/main" id="{FFB2CBE2-454E-49C7-9237-73C780844D5C}"/>
                  </a:ext>
                </a:extLst>
              </p:cNvPr>
              <p:cNvSpPr/>
              <p:nvPr/>
            </p:nvSpPr>
            <p:spPr>
              <a:xfrm>
                <a:off x="11061656" y="1762316"/>
                <a:ext cx="218555" cy="34156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1" name="矩形 20">
                <a:extLst>
                  <a:ext uri="{FF2B5EF4-FFF2-40B4-BE49-F238E27FC236}">
                    <a16:creationId xmlns:a16="http://schemas.microsoft.com/office/drawing/2014/main" id="{91DA95A0-9053-4284-BB4B-6C2D36EDF2D9}"/>
                  </a:ext>
                </a:extLst>
              </p:cNvPr>
              <p:cNvSpPr/>
              <p:nvPr/>
            </p:nvSpPr>
            <p:spPr>
              <a:xfrm>
                <a:off x="11596368" y="1708908"/>
                <a:ext cx="218556" cy="42069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33" name="文字方塊 32">
                  <a:extLst>
                    <a:ext uri="{FF2B5EF4-FFF2-40B4-BE49-F238E27FC236}">
                      <a16:creationId xmlns:a16="http://schemas.microsoft.com/office/drawing/2014/main" id="{F2B53346-329C-4222-BD3D-25F664BF71DB}"/>
                    </a:ext>
                  </a:extLst>
                </p:cNvPr>
                <p:cNvSpPr txBox="1"/>
                <p:nvPr/>
              </p:nvSpPr>
              <p:spPr>
                <a:xfrm rot="16200000">
                  <a:off x="11149435" y="1584037"/>
                  <a:ext cx="1049457"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altLang="zh-TW" sz="1600" b="0" i="0" smtClean="0">
                            <a:latin typeface="Cambria Math" panose="02040503050406030204" pitchFamily="18" charset="0"/>
                          </a:rPr>
                          <m:t>Isotropy</m:t>
                        </m:r>
                      </m:oMath>
                    </m:oMathPara>
                  </a14:m>
                  <a:endParaRPr lang="zh-TW" altLang="en-US" sz="1600" dirty="0"/>
                </a:p>
              </p:txBody>
            </p:sp>
          </mc:Choice>
          <mc:Fallback xmlns="">
            <p:sp>
              <p:nvSpPr>
                <p:cNvPr id="33" name="文字方塊 32">
                  <a:extLst>
                    <a:ext uri="{FF2B5EF4-FFF2-40B4-BE49-F238E27FC236}">
                      <a16:creationId xmlns:a16="http://schemas.microsoft.com/office/drawing/2014/main" id="{F2B53346-329C-4222-BD3D-25F664BF71DB}"/>
                    </a:ext>
                  </a:extLst>
                </p:cNvPr>
                <p:cNvSpPr txBox="1">
                  <a:spLocks noRot="1" noChangeAspect="1" noMove="1" noResize="1" noEditPoints="1" noAdjustHandles="1" noChangeArrowheads="1" noChangeShapeType="1" noTextEdit="1"/>
                </p:cNvSpPr>
                <p:nvPr/>
              </p:nvSpPr>
              <p:spPr>
                <a:xfrm rot="16200000">
                  <a:off x="11149435" y="1584037"/>
                  <a:ext cx="1049457" cy="338554"/>
                </a:xfrm>
                <a:prstGeom prst="rect">
                  <a:avLst/>
                </a:prstGeom>
                <a:blipFill>
                  <a:blip r:embed="rId3"/>
                  <a:stretch>
                    <a:fillRect r="-8929"/>
                  </a:stretch>
                </a:blipFill>
              </p:spPr>
              <p:txBody>
                <a:bodyPr/>
                <a:lstStyle/>
                <a:p>
                  <a:r>
                    <a:rPr lang="zh-TW" altLang="en-US">
                      <a:noFill/>
                    </a:rPr>
                    <a:t> </a:t>
                  </a:r>
                </a:p>
              </p:txBody>
            </p:sp>
          </mc:Fallback>
        </mc:AlternateContent>
        <p:sp>
          <p:nvSpPr>
            <p:cNvPr id="36" name="文字方塊 35">
              <a:extLst>
                <a:ext uri="{FF2B5EF4-FFF2-40B4-BE49-F238E27FC236}">
                  <a16:creationId xmlns:a16="http://schemas.microsoft.com/office/drawing/2014/main" id="{46D7EB7F-B437-4C1E-8C67-E972B568E642}"/>
                </a:ext>
              </a:extLst>
            </p:cNvPr>
            <p:cNvSpPr txBox="1"/>
            <p:nvPr/>
          </p:nvSpPr>
          <p:spPr>
            <a:xfrm>
              <a:off x="7646479" y="757363"/>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P3</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37" name="文字方塊 36">
              <a:extLst>
                <a:ext uri="{FF2B5EF4-FFF2-40B4-BE49-F238E27FC236}">
                  <a16:creationId xmlns:a16="http://schemas.microsoft.com/office/drawing/2014/main" id="{C6DD08B8-1F70-4D6A-B6EB-01194B3B2274}"/>
                </a:ext>
              </a:extLst>
            </p:cNvPr>
            <p:cNvSpPr txBox="1"/>
            <p:nvPr/>
          </p:nvSpPr>
          <p:spPr>
            <a:xfrm>
              <a:off x="6608232" y="1647413"/>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P2</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38" name="文字方塊 37">
              <a:extLst>
                <a:ext uri="{FF2B5EF4-FFF2-40B4-BE49-F238E27FC236}">
                  <a16:creationId xmlns:a16="http://schemas.microsoft.com/office/drawing/2014/main" id="{D60510BD-6D91-4688-AA6E-6524AE41DD60}"/>
                </a:ext>
              </a:extLst>
            </p:cNvPr>
            <p:cNvSpPr txBox="1"/>
            <p:nvPr/>
          </p:nvSpPr>
          <p:spPr>
            <a:xfrm>
              <a:off x="7660264" y="2822542"/>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P4</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39" name="文字方塊 38">
              <a:extLst>
                <a:ext uri="{FF2B5EF4-FFF2-40B4-BE49-F238E27FC236}">
                  <a16:creationId xmlns:a16="http://schemas.microsoft.com/office/drawing/2014/main" id="{47191FA6-66B4-4CB7-95ED-5A806F8C41FD}"/>
                </a:ext>
              </a:extLst>
            </p:cNvPr>
            <p:cNvSpPr txBox="1"/>
            <p:nvPr/>
          </p:nvSpPr>
          <p:spPr>
            <a:xfrm>
              <a:off x="9927870" y="711678"/>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P5</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40" name="文字方塊 39">
              <a:extLst>
                <a:ext uri="{FF2B5EF4-FFF2-40B4-BE49-F238E27FC236}">
                  <a16:creationId xmlns:a16="http://schemas.microsoft.com/office/drawing/2014/main" id="{23C388AF-48D0-4F28-9422-5BAB6D9C6650}"/>
                </a:ext>
              </a:extLst>
            </p:cNvPr>
            <p:cNvSpPr txBox="1"/>
            <p:nvPr/>
          </p:nvSpPr>
          <p:spPr>
            <a:xfrm>
              <a:off x="9957650" y="2831687"/>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P6</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41" name="文字方塊 40">
              <a:extLst>
                <a:ext uri="{FF2B5EF4-FFF2-40B4-BE49-F238E27FC236}">
                  <a16:creationId xmlns:a16="http://schemas.microsoft.com/office/drawing/2014/main" id="{32C205D9-3D4F-4577-BC5D-3EC2B2B28E7D}"/>
                </a:ext>
              </a:extLst>
            </p:cNvPr>
            <p:cNvSpPr txBox="1"/>
            <p:nvPr/>
          </p:nvSpPr>
          <p:spPr>
            <a:xfrm>
              <a:off x="8692310" y="1905399"/>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P1</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42" name="文字方塊 41">
              <a:extLst>
                <a:ext uri="{FF2B5EF4-FFF2-40B4-BE49-F238E27FC236}">
                  <a16:creationId xmlns:a16="http://schemas.microsoft.com/office/drawing/2014/main" id="{ACEAA104-E9B9-4896-AF25-12B7240B7E87}"/>
                </a:ext>
              </a:extLst>
            </p:cNvPr>
            <p:cNvSpPr txBox="1"/>
            <p:nvPr/>
          </p:nvSpPr>
          <p:spPr>
            <a:xfrm>
              <a:off x="8914471" y="1615750"/>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P2</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43" name="文字方塊 42">
              <a:extLst>
                <a:ext uri="{FF2B5EF4-FFF2-40B4-BE49-F238E27FC236}">
                  <a16:creationId xmlns:a16="http://schemas.microsoft.com/office/drawing/2014/main" id="{4463D846-11D2-4909-AC2A-DC12DE06EC64}"/>
                </a:ext>
              </a:extLst>
            </p:cNvPr>
            <p:cNvSpPr txBox="1"/>
            <p:nvPr/>
          </p:nvSpPr>
          <p:spPr>
            <a:xfrm>
              <a:off x="10966073" y="1915218"/>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P1</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44" name="文字方塊 43">
                  <a:extLst>
                    <a:ext uri="{FF2B5EF4-FFF2-40B4-BE49-F238E27FC236}">
                      <a16:creationId xmlns:a16="http://schemas.microsoft.com/office/drawing/2014/main" id="{4543C79D-C8D4-4070-B22B-57B5E22FB84D}"/>
                    </a:ext>
                  </a:extLst>
                </p:cNvPr>
                <p:cNvSpPr txBox="1"/>
                <p:nvPr/>
              </p:nvSpPr>
              <p:spPr>
                <a:xfrm>
                  <a:off x="8059884" y="1908632"/>
                  <a:ext cx="332369"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TW" sz="1400" b="1" i="1" smtClean="0">
                                <a:solidFill>
                                  <a:schemeClr val="tx1"/>
                                </a:solidFill>
                                <a:latin typeface="Cambria Math" panose="02040503050406030204" pitchFamily="18" charset="0"/>
                                <a:cs typeface="Times New Roman" panose="02020603050405020304" pitchFamily="18" charset="0"/>
                              </a:rPr>
                            </m:ctrlPr>
                          </m:sSubPr>
                          <m:e>
                            <m:r>
                              <a:rPr lang="en-US" altLang="zh-TW" sz="1400" b="1" i="0" smtClean="0">
                                <a:solidFill>
                                  <a:schemeClr val="tx1"/>
                                </a:solidFill>
                                <a:latin typeface="Cambria Math" panose="02040503050406030204" pitchFamily="18" charset="0"/>
                                <a:cs typeface="Times New Roman" panose="02020603050405020304" pitchFamily="18" charset="0"/>
                              </a:rPr>
                              <m:t>𝐱</m:t>
                            </m:r>
                          </m:e>
                          <m:sub>
                            <m:r>
                              <a:rPr lang="en-US" altLang="zh-TW" sz="1400" b="1" i="0" smtClean="0">
                                <a:solidFill>
                                  <a:schemeClr val="tx1"/>
                                </a:solidFill>
                                <a:latin typeface="Cambria Math" panose="02040503050406030204" pitchFamily="18" charset="0"/>
                                <a:cs typeface="Times New Roman" panose="02020603050405020304" pitchFamily="18" charset="0"/>
                              </a:rPr>
                              <m:t>𝐚</m:t>
                            </m:r>
                          </m:sub>
                        </m:sSub>
                      </m:oMath>
                    </m:oMathPara>
                  </a14:m>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Choice>
          <mc:Fallback xmlns="">
            <p:sp>
              <p:nvSpPr>
                <p:cNvPr id="44" name="文字方塊 43">
                  <a:extLst>
                    <a:ext uri="{FF2B5EF4-FFF2-40B4-BE49-F238E27FC236}">
                      <a16:creationId xmlns:a16="http://schemas.microsoft.com/office/drawing/2014/main" id="{4543C79D-C8D4-4070-B22B-57B5E22FB84D}"/>
                    </a:ext>
                  </a:extLst>
                </p:cNvPr>
                <p:cNvSpPr txBox="1">
                  <a:spLocks noRot="1" noChangeAspect="1" noMove="1" noResize="1" noEditPoints="1" noAdjustHandles="1" noChangeArrowheads="1" noChangeShapeType="1" noTextEdit="1"/>
                </p:cNvSpPr>
                <p:nvPr/>
              </p:nvSpPr>
              <p:spPr>
                <a:xfrm>
                  <a:off x="8059884" y="1908632"/>
                  <a:ext cx="332369" cy="307777"/>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9CD170C5-141E-4CBF-852E-6A45291E4F7A}"/>
                    </a:ext>
                  </a:extLst>
                </p:cNvPr>
                <p:cNvSpPr txBox="1"/>
                <p:nvPr/>
              </p:nvSpPr>
              <p:spPr>
                <a:xfrm>
                  <a:off x="7538482" y="1287935"/>
                  <a:ext cx="332369"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TW" sz="1400" b="1" i="1" smtClean="0">
                                <a:solidFill>
                                  <a:schemeClr val="tx1"/>
                                </a:solidFill>
                                <a:latin typeface="Cambria Math" panose="02040503050406030204" pitchFamily="18" charset="0"/>
                                <a:cs typeface="Times New Roman" panose="02020603050405020304" pitchFamily="18" charset="0"/>
                              </a:rPr>
                            </m:ctrlPr>
                          </m:sSubPr>
                          <m:e>
                            <m:r>
                              <a:rPr lang="en-US" altLang="zh-TW" sz="1400" b="1" i="0" smtClean="0">
                                <a:solidFill>
                                  <a:schemeClr val="tx1"/>
                                </a:solidFill>
                                <a:latin typeface="Cambria Math" panose="02040503050406030204" pitchFamily="18" charset="0"/>
                                <a:cs typeface="Times New Roman" panose="02020603050405020304" pitchFamily="18" charset="0"/>
                              </a:rPr>
                              <m:t>𝐲</m:t>
                            </m:r>
                          </m:e>
                          <m:sub>
                            <m:r>
                              <a:rPr lang="en-US" altLang="zh-TW" sz="1400" b="1" i="0" smtClean="0">
                                <a:solidFill>
                                  <a:schemeClr val="tx1"/>
                                </a:solidFill>
                                <a:latin typeface="Cambria Math" panose="02040503050406030204" pitchFamily="18" charset="0"/>
                                <a:cs typeface="Times New Roman" panose="02020603050405020304" pitchFamily="18" charset="0"/>
                              </a:rPr>
                              <m:t>𝐚</m:t>
                            </m:r>
                          </m:sub>
                        </m:sSub>
                      </m:oMath>
                    </m:oMathPara>
                  </a14:m>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Choice>
          <mc:Fallback xmlns="">
            <p:sp>
              <p:nvSpPr>
                <p:cNvPr id="48" name="文字方塊 47">
                  <a:extLst>
                    <a:ext uri="{FF2B5EF4-FFF2-40B4-BE49-F238E27FC236}">
                      <a16:creationId xmlns:a16="http://schemas.microsoft.com/office/drawing/2014/main" id="{9CD170C5-141E-4CBF-852E-6A45291E4F7A}"/>
                    </a:ext>
                  </a:extLst>
                </p:cNvPr>
                <p:cNvSpPr txBox="1">
                  <a:spLocks noRot="1" noChangeAspect="1" noMove="1" noResize="1" noEditPoints="1" noAdjustHandles="1" noChangeArrowheads="1" noChangeShapeType="1" noTextEdit="1"/>
                </p:cNvSpPr>
                <p:nvPr/>
              </p:nvSpPr>
              <p:spPr>
                <a:xfrm>
                  <a:off x="7538482" y="1287935"/>
                  <a:ext cx="332369" cy="307777"/>
                </a:xfrm>
                <a:prstGeom prst="rect">
                  <a:avLst/>
                </a:prstGeom>
                <a:blipFill>
                  <a:blip r:embed="rId5"/>
                  <a:stretch>
                    <a:fillRect b="-196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97526D06-CC63-4E20-BEDC-AE749A143D8A}"/>
                    </a:ext>
                  </a:extLst>
                </p:cNvPr>
                <p:cNvSpPr txBox="1"/>
                <p:nvPr/>
              </p:nvSpPr>
              <p:spPr>
                <a:xfrm>
                  <a:off x="10380420" y="1916765"/>
                  <a:ext cx="332369"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TW" sz="1400" b="1" i="1" smtClean="0">
                                <a:solidFill>
                                  <a:schemeClr val="tx1"/>
                                </a:solidFill>
                                <a:latin typeface="Cambria Math" panose="02040503050406030204" pitchFamily="18" charset="0"/>
                                <a:cs typeface="Times New Roman" panose="02020603050405020304" pitchFamily="18" charset="0"/>
                              </a:rPr>
                            </m:ctrlPr>
                          </m:sSubPr>
                          <m:e>
                            <m:r>
                              <a:rPr lang="en-US" altLang="zh-TW" sz="1400" b="1" i="0" smtClean="0">
                                <a:solidFill>
                                  <a:schemeClr val="tx1"/>
                                </a:solidFill>
                                <a:latin typeface="Cambria Math" panose="02040503050406030204" pitchFamily="18" charset="0"/>
                                <a:cs typeface="Times New Roman" panose="02020603050405020304" pitchFamily="18" charset="0"/>
                              </a:rPr>
                              <m:t>𝐱</m:t>
                            </m:r>
                          </m:e>
                          <m:sub>
                            <m:r>
                              <a:rPr lang="en-US" altLang="zh-TW" sz="1400" b="1" i="0" smtClean="0">
                                <a:solidFill>
                                  <a:schemeClr val="tx1"/>
                                </a:solidFill>
                                <a:latin typeface="Cambria Math" panose="02040503050406030204" pitchFamily="18" charset="0"/>
                                <a:cs typeface="Times New Roman" panose="02020603050405020304" pitchFamily="18" charset="0"/>
                              </a:rPr>
                              <m:t>𝐚</m:t>
                            </m:r>
                          </m:sub>
                        </m:sSub>
                      </m:oMath>
                    </m:oMathPara>
                  </a14:m>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Choice>
          <mc:Fallback xmlns="">
            <p:sp>
              <p:nvSpPr>
                <p:cNvPr id="49" name="文字方塊 48">
                  <a:extLst>
                    <a:ext uri="{FF2B5EF4-FFF2-40B4-BE49-F238E27FC236}">
                      <a16:creationId xmlns:a16="http://schemas.microsoft.com/office/drawing/2014/main" id="{97526D06-CC63-4E20-BEDC-AE749A143D8A}"/>
                    </a:ext>
                  </a:extLst>
                </p:cNvPr>
                <p:cNvSpPr txBox="1">
                  <a:spLocks noRot="1" noChangeAspect="1" noMove="1" noResize="1" noEditPoints="1" noAdjustHandles="1" noChangeArrowheads="1" noChangeShapeType="1" noTextEdit="1"/>
                </p:cNvSpPr>
                <p:nvPr/>
              </p:nvSpPr>
              <p:spPr>
                <a:xfrm>
                  <a:off x="10380420" y="1916765"/>
                  <a:ext cx="332369" cy="307777"/>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0" name="文字方塊 49">
                  <a:extLst>
                    <a:ext uri="{FF2B5EF4-FFF2-40B4-BE49-F238E27FC236}">
                      <a16:creationId xmlns:a16="http://schemas.microsoft.com/office/drawing/2014/main" id="{E586B4D8-B9B1-456E-9FA7-CFC535F32B8D}"/>
                    </a:ext>
                  </a:extLst>
                </p:cNvPr>
                <p:cNvSpPr txBox="1"/>
                <p:nvPr/>
              </p:nvSpPr>
              <p:spPr>
                <a:xfrm>
                  <a:off x="9791466" y="1254456"/>
                  <a:ext cx="332369"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TW" sz="1400" b="1" i="1" smtClean="0">
                                <a:solidFill>
                                  <a:schemeClr val="tx1"/>
                                </a:solidFill>
                                <a:latin typeface="Cambria Math" panose="02040503050406030204" pitchFamily="18" charset="0"/>
                                <a:cs typeface="Times New Roman" panose="02020603050405020304" pitchFamily="18" charset="0"/>
                              </a:rPr>
                            </m:ctrlPr>
                          </m:sSubPr>
                          <m:e>
                            <m:r>
                              <a:rPr lang="en-US" altLang="zh-TW" sz="1400" b="1" i="0" smtClean="0">
                                <a:solidFill>
                                  <a:schemeClr val="tx1"/>
                                </a:solidFill>
                                <a:latin typeface="Cambria Math" panose="02040503050406030204" pitchFamily="18" charset="0"/>
                                <a:cs typeface="Times New Roman" panose="02020603050405020304" pitchFamily="18" charset="0"/>
                              </a:rPr>
                              <m:t>𝐳</m:t>
                            </m:r>
                          </m:e>
                          <m:sub>
                            <m:r>
                              <a:rPr lang="en-US" altLang="zh-TW" sz="1400" b="1" i="0" smtClean="0">
                                <a:solidFill>
                                  <a:schemeClr val="tx1"/>
                                </a:solidFill>
                                <a:latin typeface="Cambria Math" panose="02040503050406030204" pitchFamily="18" charset="0"/>
                                <a:cs typeface="Times New Roman" panose="02020603050405020304" pitchFamily="18" charset="0"/>
                              </a:rPr>
                              <m:t>𝐚</m:t>
                            </m:r>
                          </m:sub>
                        </m:sSub>
                      </m:oMath>
                    </m:oMathPara>
                  </a14:m>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Choice>
          <mc:Fallback xmlns="">
            <p:sp>
              <p:nvSpPr>
                <p:cNvPr id="50" name="文字方塊 49">
                  <a:extLst>
                    <a:ext uri="{FF2B5EF4-FFF2-40B4-BE49-F238E27FC236}">
                      <a16:creationId xmlns:a16="http://schemas.microsoft.com/office/drawing/2014/main" id="{E586B4D8-B9B1-456E-9FA7-CFC535F32B8D}"/>
                    </a:ext>
                  </a:extLst>
                </p:cNvPr>
                <p:cNvSpPr txBox="1">
                  <a:spLocks noRot="1" noChangeAspect="1" noMove="1" noResize="1" noEditPoints="1" noAdjustHandles="1" noChangeArrowheads="1" noChangeShapeType="1" noTextEdit="1"/>
                </p:cNvSpPr>
                <p:nvPr/>
              </p:nvSpPr>
              <p:spPr>
                <a:xfrm>
                  <a:off x="9791466" y="1254456"/>
                  <a:ext cx="332369" cy="307777"/>
                </a:xfrm>
                <a:prstGeom prst="rect">
                  <a:avLst/>
                </a:prstGeom>
                <a:blipFill>
                  <a:blip r:embed="rId7"/>
                  <a:stretch>
                    <a:fillRect/>
                  </a:stretch>
                </a:blipFill>
              </p:spPr>
              <p:txBody>
                <a:bodyPr/>
                <a:lstStyle/>
                <a:p>
                  <a:r>
                    <a:rPr lang="zh-TW" altLang="en-US">
                      <a:noFill/>
                    </a:rPr>
                    <a:t> </a:t>
                  </a:r>
                </a:p>
              </p:txBody>
            </p:sp>
          </mc:Fallback>
        </mc:AlternateContent>
      </p:grpSp>
      <p:grpSp>
        <p:nvGrpSpPr>
          <p:cNvPr id="11" name="群組 10">
            <a:extLst>
              <a:ext uri="{FF2B5EF4-FFF2-40B4-BE49-F238E27FC236}">
                <a16:creationId xmlns:a16="http://schemas.microsoft.com/office/drawing/2014/main" id="{FC25E01C-03E8-4714-B671-9402B31C7C8D}"/>
              </a:ext>
            </a:extLst>
          </p:cNvPr>
          <p:cNvGrpSpPr/>
          <p:nvPr/>
        </p:nvGrpSpPr>
        <p:grpSpPr>
          <a:xfrm>
            <a:off x="7829755" y="3386665"/>
            <a:ext cx="2986428" cy="2289491"/>
            <a:chOff x="7829755" y="3386665"/>
            <a:chExt cx="2986428" cy="2289491"/>
          </a:xfrm>
        </p:grpSpPr>
        <p:grpSp>
          <p:nvGrpSpPr>
            <p:cNvPr id="10" name="群組 9">
              <a:extLst>
                <a:ext uri="{FF2B5EF4-FFF2-40B4-BE49-F238E27FC236}">
                  <a16:creationId xmlns:a16="http://schemas.microsoft.com/office/drawing/2014/main" id="{5882E288-83CB-4429-9376-16291456A531}"/>
                </a:ext>
              </a:extLst>
            </p:cNvPr>
            <p:cNvGrpSpPr/>
            <p:nvPr/>
          </p:nvGrpSpPr>
          <p:grpSpPr>
            <a:xfrm>
              <a:off x="7966144" y="3457780"/>
              <a:ext cx="2818281" cy="2161789"/>
              <a:chOff x="7966144" y="3457780"/>
              <a:chExt cx="2818281" cy="2161789"/>
            </a:xfrm>
          </p:grpSpPr>
          <p:pic>
            <p:nvPicPr>
              <p:cNvPr id="8" name="圖片 7">
                <a:extLst>
                  <a:ext uri="{FF2B5EF4-FFF2-40B4-BE49-F238E27FC236}">
                    <a16:creationId xmlns:a16="http://schemas.microsoft.com/office/drawing/2014/main" id="{3222DF9D-8711-4737-9BB4-AD9854E0B9B8}"/>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8009467" y="3487921"/>
                <a:ext cx="2622358" cy="2121025"/>
              </a:xfrm>
              <a:prstGeom prst="rect">
                <a:avLst/>
              </a:prstGeom>
            </p:spPr>
          </p:pic>
          <p:sp>
            <p:nvSpPr>
              <p:cNvPr id="22" name="矩形 21">
                <a:extLst>
                  <a:ext uri="{FF2B5EF4-FFF2-40B4-BE49-F238E27FC236}">
                    <a16:creationId xmlns:a16="http://schemas.microsoft.com/office/drawing/2014/main" id="{B0183DDC-6CF5-43DD-A985-8AACBD43AC2C}"/>
                  </a:ext>
                </a:extLst>
              </p:cNvPr>
              <p:cNvSpPr/>
              <p:nvPr/>
            </p:nvSpPr>
            <p:spPr>
              <a:xfrm>
                <a:off x="8993178" y="3457780"/>
                <a:ext cx="218554" cy="18009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3" name="矩形 22">
                <a:extLst>
                  <a:ext uri="{FF2B5EF4-FFF2-40B4-BE49-F238E27FC236}">
                    <a16:creationId xmlns:a16="http://schemas.microsoft.com/office/drawing/2014/main" id="{DCC76607-AC9C-44A9-927A-CBCCDEFF1E7E}"/>
                  </a:ext>
                </a:extLst>
              </p:cNvPr>
              <p:cNvSpPr/>
              <p:nvPr/>
            </p:nvSpPr>
            <p:spPr>
              <a:xfrm>
                <a:off x="7966144" y="4458387"/>
                <a:ext cx="218554" cy="18009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4" name="矩形 23">
                <a:extLst>
                  <a:ext uri="{FF2B5EF4-FFF2-40B4-BE49-F238E27FC236}">
                    <a16:creationId xmlns:a16="http://schemas.microsoft.com/office/drawing/2014/main" id="{FE682C27-A024-41A5-B374-05289C829835}"/>
                  </a:ext>
                </a:extLst>
              </p:cNvPr>
              <p:cNvSpPr/>
              <p:nvPr/>
            </p:nvSpPr>
            <p:spPr>
              <a:xfrm>
                <a:off x="8975862" y="5439477"/>
                <a:ext cx="218554" cy="18009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5" name="矩形 24">
                <a:extLst>
                  <a:ext uri="{FF2B5EF4-FFF2-40B4-BE49-F238E27FC236}">
                    <a16:creationId xmlns:a16="http://schemas.microsoft.com/office/drawing/2014/main" id="{D812B3E4-3553-410A-8F8F-BF0230CBA0B0}"/>
                  </a:ext>
                </a:extLst>
              </p:cNvPr>
              <p:cNvSpPr/>
              <p:nvPr/>
            </p:nvSpPr>
            <p:spPr>
              <a:xfrm>
                <a:off x="9976276" y="4455802"/>
                <a:ext cx="218554" cy="18009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6" name="矩形 25">
                <a:extLst>
                  <a:ext uri="{FF2B5EF4-FFF2-40B4-BE49-F238E27FC236}">
                    <a16:creationId xmlns:a16="http://schemas.microsoft.com/office/drawing/2014/main" id="{F98E43F1-8F14-47C9-A4BB-94768E7FEABE}"/>
                  </a:ext>
                </a:extLst>
              </p:cNvPr>
              <p:cNvSpPr/>
              <p:nvPr/>
            </p:nvSpPr>
            <p:spPr>
              <a:xfrm>
                <a:off x="10565871" y="4436284"/>
                <a:ext cx="218554" cy="18009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51" name="文字方塊 50">
              <a:extLst>
                <a:ext uri="{FF2B5EF4-FFF2-40B4-BE49-F238E27FC236}">
                  <a16:creationId xmlns:a16="http://schemas.microsoft.com/office/drawing/2014/main" id="{E8199158-1BBA-48A4-9C66-85A151EC58AE}"/>
                </a:ext>
              </a:extLst>
            </p:cNvPr>
            <p:cNvSpPr txBox="1"/>
            <p:nvPr/>
          </p:nvSpPr>
          <p:spPr>
            <a:xfrm>
              <a:off x="7829755" y="4253871"/>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P4</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52" name="文字方塊 51">
              <a:extLst>
                <a:ext uri="{FF2B5EF4-FFF2-40B4-BE49-F238E27FC236}">
                  <a16:creationId xmlns:a16="http://schemas.microsoft.com/office/drawing/2014/main" id="{A54BBE8C-0244-4691-BA06-BD15DBED9F7D}"/>
                </a:ext>
              </a:extLst>
            </p:cNvPr>
            <p:cNvSpPr txBox="1"/>
            <p:nvPr/>
          </p:nvSpPr>
          <p:spPr>
            <a:xfrm>
              <a:off x="8868812" y="3386665"/>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P5</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53" name="文字方塊 52">
              <a:extLst>
                <a:ext uri="{FF2B5EF4-FFF2-40B4-BE49-F238E27FC236}">
                  <a16:creationId xmlns:a16="http://schemas.microsoft.com/office/drawing/2014/main" id="{437E939A-A4E2-4DE4-A25F-FE73D7B4D09B}"/>
                </a:ext>
              </a:extLst>
            </p:cNvPr>
            <p:cNvSpPr txBox="1"/>
            <p:nvPr/>
          </p:nvSpPr>
          <p:spPr>
            <a:xfrm>
              <a:off x="8891505" y="5368379"/>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P6</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54" name="文字方塊 53">
              <a:extLst>
                <a:ext uri="{FF2B5EF4-FFF2-40B4-BE49-F238E27FC236}">
                  <a16:creationId xmlns:a16="http://schemas.microsoft.com/office/drawing/2014/main" id="{AB124178-F659-4087-B362-F501C53AC314}"/>
                </a:ext>
              </a:extLst>
            </p:cNvPr>
            <p:cNvSpPr txBox="1"/>
            <p:nvPr/>
          </p:nvSpPr>
          <p:spPr>
            <a:xfrm>
              <a:off x="9882735" y="4545848"/>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P3</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55" name="文字方塊 54">
                  <a:extLst>
                    <a:ext uri="{FF2B5EF4-FFF2-40B4-BE49-F238E27FC236}">
                      <a16:creationId xmlns:a16="http://schemas.microsoft.com/office/drawing/2014/main" id="{E0593648-6206-4AA7-8668-795C2DF122C3}"/>
                    </a:ext>
                  </a:extLst>
                </p:cNvPr>
                <p:cNvSpPr txBox="1"/>
                <p:nvPr/>
              </p:nvSpPr>
              <p:spPr>
                <a:xfrm>
                  <a:off x="9275192" y="4490514"/>
                  <a:ext cx="332369"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TW" sz="1400" b="1" i="1" smtClean="0">
                                <a:solidFill>
                                  <a:schemeClr val="tx1"/>
                                </a:solidFill>
                                <a:latin typeface="Cambria Math" panose="02040503050406030204" pitchFamily="18" charset="0"/>
                                <a:cs typeface="Times New Roman" panose="02020603050405020304" pitchFamily="18" charset="0"/>
                              </a:rPr>
                            </m:ctrlPr>
                          </m:sSubPr>
                          <m:e>
                            <m:r>
                              <a:rPr lang="en-US" altLang="zh-TW" sz="1400" b="1" i="0" smtClean="0">
                                <a:solidFill>
                                  <a:schemeClr val="tx1"/>
                                </a:solidFill>
                                <a:latin typeface="Cambria Math" panose="02040503050406030204" pitchFamily="18" charset="0"/>
                                <a:cs typeface="Times New Roman" panose="02020603050405020304" pitchFamily="18" charset="0"/>
                              </a:rPr>
                              <m:t>𝐲</m:t>
                            </m:r>
                          </m:e>
                          <m:sub>
                            <m:r>
                              <a:rPr lang="en-US" altLang="zh-TW" sz="1400" b="1" i="0" smtClean="0">
                                <a:solidFill>
                                  <a:schemeClr val="tx1"/>
                                </a:solidFill>
                                <a:latin typeface="Cambria Math" panose="02040503050406030204" pitchFamily="18" charset="0"/>
                                <a:cs typeface="Times New Roman" panose="02020603050405020304" pitchFamily="18" charset="0"/>
                              </a:rPr>
                              <m:t>𝐚</m:t>
                            </m:r>
                          </m:sub>
                        </m:sSub>
                      </m:oMath>
                    </m:oMathPara>
                  </a14:m>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Choice>
          <mc:Fallback xmlns="">
            <p:sp>
              <p:nvSpPr>
                <p:cNvPr id="55" name="文字方塊 54">
                  <a:extLst>
                    <a:ext uri="{FF2B5EF4-FFF2-40B4-BE49-F238E27FC236}">
                      <a16:creationId xmlns:a16="http://schemas.microsoft.com/office/drawing/2014/main" id="{E0593648-6206-4AA7-8668-795C2DF122C3}"/>
                    </a:ext>
                  </a:extLst>
                </p:cNvPr>
                <p:cNvSpPr txBox="1">
                  <a:spLocks noRot="1" noChangeAspect="1" noMove="1" noResize="1" noEditPoints="1" noAdjustHandles="1" noChangeArrowheads="1" noChangeShapeType="1" noTextEdit="1"/>
                </p:cNvSpPr>
                <p:nvPr/>
              </p:nvSpPr>
              <p:spPr>
                <a:xfrm>
                  <a:off x="9275192" y="4490514"/>
                  <a:ext cx="332369" cy="307777"/>
                </a:xfrm>
                <a:prstGeom prst="rect">
                  <a:avLst/>
                </a:prstGeom>
                <a:blipFill>
                  <a:blip r:embed="rId9"/>
                  <a:stretch>
                    <a:fillRect b="-400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6" name="文字方塊 55">
                  <a:extLst>
                    <a:ext uri="{FF2B5EF4-FFF2-40B4-BE49-F238E27FC236}">
                      <a16:creationId xmlns:a16="http://schemas.microsoft.com/office/drawing/2014/main" id="{2CBEC5B6-53B3-4B1C-8C10-12503C16B8D1}"/>
                    </a:ext>
                  </a:extLst>
                </p:cNvPr>
                <p:cNvSpPr txBox="1"/>
                <p:nvPr/>
              </p:nvSpPr>
              <p:spPr>
                <a:xfrm>
                  <a:off x="8769722" y="3913037"/>
                  <a:ext cx="332369"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TW" sz="1400" b="1" i="1" smtClean="0">
                                <a:solidFill>
                                  <a:schemeClr val="tx1"/>
                                </a:solidFill>
                                <a:latin typeface="Cambria Math" panose="02040503050406030204" pitchFamily="18" charset="0"/>
                                <a:cs typeface="Times New Roman" panose="02020603050405020304" pitchFamily="18" charset="0"/>
                              </a:rPr>
                            </m:ctrlPr>
                          </m:sSubPr>
                          <m:e>
                            <m:r>
                              <a:rPr lang="en-US" altLang="zh-TW" sz="1400" b="1" i="0" smtClean="0">
                                <a:solidFill>
                                  <a:schemeClr val="tx1"/>
                                </a:solidFill>
                                <a:latin typeface="Cambria Math" panose="02040503050406030204" pitchFamily="18" charset="0"/>
                                <a:cs typeface="Times New Roman" panose="02020603050405020304" pitchFamily="18" charset="0"/>
                              </a:rPr>
                              <m:t>𝐳</m:t>
                            </m:r>
                          </m:e>
                          <m:sub>
                            <m:r>
                              <a:rPr lang="en-US" altLang="zh-TW" sz="1400" b="1" i="0" smtClean="0">
                                <a:solidFill>
                                  <a:schemeClr val="tx1"/>
                                </a:solidFill>
                                <a:latin typeface="Cambria Math" panose="02040503050406030204" pitchFamily="18" charset="0"/>
                                <a:cs typeface="Times New Roman" panose="02020603050405020304" pitchFamily="18" charset="0"/>
                              </a:rPr>
                              <m:t>𝐚</m:t>
                            </m:r>
                          </m:sub>
                        </m:sSub>
                      </m:oMath>
                    </m:oMathPara>
                  </a14:m>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Choice>
          <mc:Fallback xmlns="">
            <p:sp>
              <p:nvSpPr>
                <p:cNvPr id="56" name="文字方塊 55">
                  <a:extLst>
                    <a:ext uri="{FF2B5EF4-FFF2-40B4-BE49-F238E27FC236}">
                      <a16:creationId xmlns:a16="http://schemas.microsoft.com/office/drawing/2014/main" id="{2CBEC5B6-53B3-4B1C-8C10-12503C16B8D1}"/>
                    </a:ext>
                  </a:extLst>
                </p:cNvPr>
                <p:cNvSpPr txBox="1">
                  <a:spLocks noRot="1" noChangeAspect="1" noMove="1" noResize="1" noEditPoints="1" noAdjustHandles="1" noChangeArrowheads="1" noChangeShapeType="1" noTextEdit="1"/>
                </p:cNvSpPr>
                <p:nvPr/>
              </p:nvSpPr>
              <p:spPr>
                <a:xfrm>
                  <a:off x="8769722" y="3913037"/>
                  <a:ext cx="332369" cy="307777"/>
                </a:xfrm>
                <a:prstGeom prst="rect">
                  <a:avLst/>
                </a:prstGeom>
                <a:blipFill>
                  <a:blip r:embed="rId10"/>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7" name="文字方塊 56">
                  <a:extLst>
                    <a:ext uri="{FF2B5EF4-FFF2-40B4-BE49-F238E27FC236}">
                      <a16:creationId xmlns:a16="http://schemas.microsoft.com/office/drawing/2014/main" id="{D17A7547-B19D-4CA8-815A-4C78A6BCDC7C}"/>
                    </a:ext>
                  </a:extLst>
                </p:cNvPr>
                <p:cNvSpPr txBox="1"/>
                <p:nvPr/>
              </p:nvSpPr>
              <p:spPr>
                <a:xfrm rot="16200000">
                  <a:off x="10122177" y="4273204"/>
                  <a:ext cx="1049457"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altLang="zh-TW" sz="1600" b="0" i="0" smtClean="0">
                            <a:latin typeface="Cambria Math" panose="02040503050406030204" pitchFamily="18" charset="0"/>
                          </a:rPr>
                          <m:t>Isotropy</m:t>
                        </m:r>
                      </m:oMath>
                    </m:oMathPara>
                  </a14:m>
                  <a:endParaRPr lang="zh-TW" altLang="en-US" sz="1600" dirty="0"/>
                </a:p>
              </p:txBody>
            </p:sp>
          </mc:Choice>
          <mc:Fallback xmlns="">
            <p:sp>
              <p:nvSpPr>
                <p:cNvPr id="57" name="文字方塊 56">
                  <a:extLst>
                    <a:ext uri="{FF2B5EF4-FFF2-40B4-BE49-F238E27FC236}">
                      <a16:creationId xmlns:a16="http://schemas.microsoft.com/office/drawing/2014/main" id="{D17A7547-B19D-4CA8-815A-4C78A6BCDC7C}"/>
                    </a:ext>
                  </a:extLst>
                </p:cNvPr>
                <p:cNvSpPr txBox="1">
                  <a:spLocks noRot="1" noChangeAspect="1" noMove="1" noResize="1" noEditPoints="1" noAdjustHandles="1" noChangeArrowheads="1" noChangeShapeType="1" noTextEdit="1"/>
                </p:cNvSpPr>
                <p:nvPr/>
              </p:nvSpPr>
              <p:spPr>
                <a:xfrm rot="16200000">
                  <a:off x="10122177" y="4273204"/>
                  <a:ext cx="1049457" cy="338554"/>
                </a:xfrm>
                <a:prstGeom prst="rect">
                  <a:avLst/>
                </a:prstGeom>
                <a:blipFill>
                  <a:blip r:embed="rId11"/>
                  <a:stretch>
                    <a:fillRect r="-9091"/>
                  </a:stretch>
                </a:blipFill>
              </p:spPr>
              <p:txBody>
                <a:bodyPr/>
                <a:lstStyle/>
                <a:p>
                  <a:r>
                    <a:rPr lang="zh-TW" altLang="en-US">
                      <a:noFill/>
                    </a:rPr>
                    <a:t> </a:t>
                  </a:r>
                </a:p>
              </p:txBody>
            </p:sp>
          </mc:Fallback>
        </mc:AlternateContent>
      </p:grpSp>
    </p:spTree>
    <p:extLst>
      <p:ext uri="{BB962C8B-B14F-4D97-AF65-F5344CB8AC3E}">
        <p14:creationId xmlns:p14="http://schemas.microsoft.com/office/powerpoint/2010/main" val="408814008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488031"/>
            <a:ext cx="12192000" cy="193506"/>
          </a:xfrm>
        </p:spPr>
        <p:txBody>
          <a:bodyPr>
            <a:normAutofit fontScale="90000"/>
          </a:bodyPr>
          <a:lstStyle/>
          <a:p>
            <a:r>
              <a:rPr lang="en-US" altLang="zh-TW" sz="3600" b="1" kern="100" dirty="0">
                <a:solidFill>
                  <a:srgbClr val="000000"/>
                </a:solidFill>
                <a:latin typeface="Aptos"/>
                <a:ea typeface="新細明體" panose="02020500000000000000" pitchFamily="18" charset="-120"/>
                <a:cs typeface="Times New Roman" panose="02020603050405020304" pitchFamily="18" charset="0"/>
              </a:rPr>
              <a:t>Quantitative Assessment of Multi-Pole Actuators</a:t>
            </a:r>
            <a:br>
              <a:rPr lang="zh-TW" altLang="zh-TW" sz="1800" kern="100" dirty="0">
                <a:effectLst/>
                <a:latin typeface="Aptos"/>
                <a:ea typeface="新細明體" panose="02020500000000000000" pitchFamily="18" charset="-120"/>
                <a:cs typeface="Times New Roman" panose="02020603050405020304" pitchFamily="18" charset="0"/>
              </a:rPr>
            </a:b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16" name="文字方塊 15">
            <a:extLst>
              <a:ext uri="{FF2B5EF4-FFF2-40B4-BE49-F238E27FC236}">
                <a16:creationId xmlns:a16="http://schemas.microsoft.com/office/drawing/2014/main" id="{6BA9955A-92B3-406A-93D9-E13D8B8C100E}"/>
              </a:ext>
            </a:extLst>
          </p:cNvPr>
          <p:cNvSpPr txBox="1"/>
          <p:nvPr/>
        </p:nvSpPr>
        <p:spPr>
          <a:xfrm>
            <a:off x="98886" y="383190"/>
            <a:ext cx="3588625" cy="369332"/>
          </a:xfrm>
          <a:prstGeom prst="rect">
            <a:avLst/>
          </a:prstGeom>
          <a:noFill/>
        </p:spPr>
        <p:txBody>
          <a:bodyPr wrap="square" rtlCol="0">
            <a:spAutoFit/>
          </a:bodyPr>
          <a:lstStyle/>
          <a:p>
            <a:pPr marL="285750" indent="-285750">
              <a:buFont typeface="Arial" panose="020B0604020202020204" pitchFamily="34" charset="0"/>
              <a:buChar char="•"/>
            </a:pPr>
            <a:r>
              <a:rPr lang="en-US" altLang="zh-TW" dirty="0" err="1"/>
              <a:t>DesignB</a:t>
            </a:r>
            <a:endParaRPr lang="zh-TW" altLang="en-US" dirty="0"/>
          </a:p>
        </p:txBody>
      </p:sp>
      <p:sp>
        <p:nvSpPr>
          <p:cNvPr id="24" name="矩形 23">
            <a:extLst>
              <a:ext uri="{FF2B5EF4-FFF2-40B4-BE49-F238E27FC236}">
                <a16:creationId xmlns:a16="http://schemas.microsoft.com/office/drawing/2014/main" id="{5ECAF6AD-8DD4-4627-A1FD-CEEA914062EB}"/>
              </a:ext>
            </a:extLst>
          </p:cNvPr>
          <p:cNvSpPr/>
          <p:nvPr/>
        </p:nvSpPr>
        <p:spPr>
          <a:xfrm>
            <a:off x="9428540" y="5341459"/>
            <a:ext cx="279400" cy="3979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3" name="矩形 32">
            <a:extLst>
              <a:ext uri="{FF2B5EF4-FFF2-40B4-BE49-F238E27FC236}">
                <a16:creationId xmlns:a16="http://schemas.microsoft.com/office/drawing/2014/main" id="{BB2FC3B6-34F2-47A5-A4AF-A882448CE798}"/>
              </a:ext>
            </a:extLst>
          </p:cNvPr>
          <p:cNvSpPr/>
          <p:nvPr/>
        </p:nvSpPr>
        <p:spPr>
          <a:xfrm>
            <a:off x="11647706" y="2231996"/>
            <a:ext cx="188693" cy="24873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4" name="矩形 33">
            <a:extLst>
              <a:ext uri="{FF2B5EF4-FFF2-40B4-BE49-F238E27FC236}">
                <a16:creationId xmlns:a16="http://schemas.microsoft.com/office/drawing/2014/main" id="{666288C7-F5CB-48E4-8D76-163CDF4E1521}"/>
              </a:ext>
            </a:extLst>
          </p:cNvPr>
          <p:cNvSpPr/>
          <p:nvPr/>
        </p:nvSpPr>
        <p:spPr>
          <a:xfrm>
            <a:off x="11485470" y="5360209"/>
            <a:ext cx="188693" cy="24873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5" name="矩形 34">
            <a:extLst>
              <a:ext uri="{FF2B5EF4-FFF2-40B4-BE49-F238E27FC236}">
                <a16:creationId xmlns:a16="http://schemas.microsoft.com/office/drawing/2014/main" id="{22C1E112-AE50-46DC-8251-D6D5E0450AA8}"/>
              </a:ext>
            </a:extLst>
          </p:cNvPr>
          <p:cNvSpPr/>
          <p:nvPr/>
        </p:nvSpPr>
        <p:spPr>
          <a:xfrm>
            <a:off x="8927424" y="703212"/>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5" name="矩形 44">
            <a:extLst>
              <a:ext uri="{FF2B5EF4-FFF2-40B4-BE49-F238E27FC236}">
                <a16:creationId xmlns:a16="http://schemas.microsoft.com/office/drawing/2014/main" id="{A7AC5CB5-ED89-4E3E-AD62-78E3BA5A407F}"/>
              </a:ext>
            </a:extLst>
          </p:cNvPr>
          <p:cNvSpPr/>
          <p:nvPr/>
        </p:nvSpPr>
        <p:spPr>
          <a:xfrm>
            <a:off x="6279842" y="703212"/>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6" name="矩形 45">
            <a:extLst>
              <a:ext uri="{FF2B5EF4-FFF2-40B4-BE49-F238E27FC236}">
                <a16:creationId xmlns:a16="http://schemas.microsoft.com/office/drawing/2014/main" id="{ECFCDEC8-6D9E-4F90-9164-5AFC45503F9D}"/>
              </a:ext>
            </a:extLst>
          </p:cNvPr>
          <p:cNvSpPr/>
          <p:nvPr/>
        </p:nvSpPr>
        <p:spPr>
          <a:xfrm>
            <a:off x="5541053" y="1762316"/>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7" name="矩形 46">
            <a:extLst>
              <a:ext uri="{FF2B5EF4-FFF2-40B4-BE49-F238E27FC236}">
                <a16:creationId xmlns:a16="http://schemas.microsoft.com/office/drawing/2014/main" id="{42375863-2208-49BC-A294-DC35BC7C0E6F}"/>
              </a:ext>
            </a:extLst>
          </p:cNvPr>
          <p:cNvSpPr/>
          <p:nvPr/>
        </p:nvSpPr>
        <p:spPr>
          <a:xfrm>
            <a:off x="6592957" y="2469682"/>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0" name="矩形 29">
            <a:extLst>
              <a:ext uri="{FF2B5EF4-FFF2-40B4-BE49-F238E27FC236}">
                <a16:creationId xmlns:a16="http://schemas.microsoft.com/office/drawing/2014/main" id="{4AEC54F1-2642-426E-80DB-775A61DDF044}"/>
              </a:ext>
            </a:extLst>
          </p:cNvPr>
          <p:cNvSpPr/>
          <p:nvPr/>
        </p:nvSpPr>
        <p:spPr>
          <a:xfrm>
            <a:off x="10930467" y="1596950"/>
            <a:ext cx="107305"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23" name="群組 22">
            <a:extLst>
              <a:ext uri="{FF2B5EF4-FFF2-40B4-BE49-F238E27FC236}">
                <a16:creationId xmlns:a16="http://schemas.microsoft.com/office/drawing/2014/main" id="{D872CA14-590B-4B25-8D56-51869107EFD2}"/>
              </a:ext>
            </a:extLst>
          </p:cNvPr>
          <p:cNvGrpSpPr/>
          <p:nvPr/>
        </p:nvGrpSpPr>
        <p:grpSpPr>
          <a:xfrm>
            <a:off x="6875133" y="3508868"/>
            <a:ext cx="3168560" cy="2172283"/>
            <a:chOff x="6867344" y="3740617"/>
            <a:chExt cx="3168560" cy="2172283"/>
          </a:xfrm>
        </p:grpSpPr>
        <p:sp>
          <p:nvSpPr>
            <p:cNvPr id="48" name="矩形 47">
              <a:extLst>
                <a:ext uri="{FF2B5EF4-FFF2-40B4-BE49-F238E27FC236}">
                  <a16:creationId xmlns:a16="http://schemas.microsoft.com/office/drawing/2014/main" id="{B096E37E-8AC9-44B3-8AC0-85DBA5186884}"/>
                </a:ext>
              </a:extLst>
            </p:cNvPr>
            <p:cNvSpPr/>
            <p:nvPr/>
          </p:nvSpPr>
          <p:spPr>
            <a:xfrm>
              <a:off x="8832312" y="4530195"/>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9" name="矩形 48">
              <a:extLst>
                <a:ext uri="{FF2B5EF4-FFF2-40B4-BE49-F238E27FC236}">
                  <a16:creationId xmlns:a16="http://schemas.microsoft.com/office/drawing/2014/main" id="{D78A5635-6392-4A3A-8FB5-9101D27D904D}"/>
                </a:ext>
              </a:extLst>
            </p:cNvPr>
            <p:cNvSpPr/>
            <p:nvPr/>
          </p:nvSpPr>
          <p:spPr>
            <a:xfrm>
              <a:off x="7680057" y="3740617"/>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0" name="矩形 49">
              <a:extLst>
                <a:ext uri="{FF2B5EF4-FFF2-40B4-BE49-F238E27FC236}">
                  <a16:creationId xmlns:a16="http://schemas.microsoft.com/office/drawing/2014/main" id="{9E623D93-181D-445B-A97C-8949FD369C96}"/>
                </a:ext>
              </a:extLst>
            </p:cNvPr>
            <p:cNvSpPr/>
            <p:nvPr/>
          </p:nvSpPr>
          <p:spPr>
            <a:xfrm>
              <a:off x="6867344" y="4901407"/>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1" name="矩形 50">
              <a:extLst>
                <a:ext uri="{FF2B5EF4-FFF2-40B4-BE49-F238E27FC236}">
                  <a16:creationId xmlns:a16="http://schemas.microsoft.com/office/drawing/2014/main" id="{291D2EE2-3DA4-43C1-834D-6A683319D87B}"/>
                </a:ext>
              </a:extLst>
            </p:cNvPr>
            <p:cNvSpPr/>
            <p:nvPr/>
          </p:nvSpPr>
          <p:spPr>
            <a:xfrm>
              <a:off x="8022867" y="5680623"/>
              <a:ext cx="279399"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62E44167-7C8B-4193-8CDE-E0AF63648A86}"/>
                </a:ext>
              </a:extLst>
            </p:cNvPr>
            <p:cNvSpPr/>
            <p:nvPr/>
          </p:nvSpPr>
          <p:spPr>
            <a:xfrm>
              <a:off x="9817350" y="4701989"/>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71" name="矩形 70">
            <a:extLst>
              <a:ext uri="{FF2B5EF4-FFF2-40B4-BE49-F238E27FC236}">
                <a16:creationId xmlns:a16="http://schemas.microsoft.com/office/drawing/2014/main" id="{339F7727-7052-4D90-B6A9-2AED4DBC48EF}"/>
              </a:ext>
            </a:extLst>
          </p:cNvPr>
          <p:cNvSpPr/>
          <p:nvPr/>
        </p:nvSpPr>
        <p:spPr>
          <a:xfrm>
            <a:off x="9556542" y="4654243"/>
            <a:ext cx="218554" cy="22185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8" name="群組 7">
            <a:extLst>
              <a:ext uri="{FF2B5EF4-FFF2-40B4-BE49-F238E27FC236}">
                <a16:creationId xmlns:a16="http://schemas.microsoft.com/office/drawing/2014/main" id="{54607F0B-9399-46DC-A751-46D610BD1351}"/>
              </a:ext>
            </a:extLst>
          </p:cNvPr>
          <p:cNvGrpSpPr/>
          <p:nvPr/>
        </p:nvGrpSpPr>
        <p:grpSpPr>
          <a:xfrm>
            <a:off x="7345935" y="1930440"/>
            <a:ext cx="3264315" cy="2877114"/>
            <a:chOff x="7276685" y="1998989"/>
            <a:chExt cx="3264315" cy="2877114"/>
          </a:xfrm>
        </p:grpSpPr>
        <p:sp>
          <p:nvSpPr>
            <p:cNvPr id="7" name="矩形 6">
              <a:extLst>
                <a:ext uri="{FF2B5EF4-FFF2-40B4-BE49-F238E27FC236}">
                  <a16:creationId xmlns:a16="http://schemas.microsoft.com/office/drawing/2014/main" id="{29F3120E-FFA5-49F9-B607-4539075AF0F8}"/>
                </a:ext>
              </a:extLst>
            </p:cNvPr>
            <p:cNvSpPr/>
            <p:nvPr/>
          </p:nvSpPr>
          <p:spPr>
            <a:xfrm>
              <a:off x="9145978" y="4605175"/>
              <a:ext cx="1395022" cy="27092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矩形 72">
              <a:extLst>
                <a:ext uri="{FF2B5EF4-FFF2-40B4-BE49-F238E27FC236}">
                  <a16:creationId xmlns:a16="http://schemas.microsoft.com/office/drawing/2014/main" id="{2F909DB8-68B5-4CC8-88B1-5CEC2797D52D}"/>
                </a:ext>
              </a:extLst>
            </p:cNvPr>
            <p:cNvSpPr/>
            <p:nvPr/>
          </p:nvSpPr>
          <p:spPr>
            <a:xfrm rot="16200000">
              <a:off x="6616710" y="2658964"/>
              <a:ext cx="1590877" cy="27092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graphicFrame>
            <p:nvGraphicFramePr>
              <p:cNvPr id="10" name="表格 10">
                <a:extLst>
                  <a:ext uri="{FF2B5EF4-FFF2-40B4-BE49-F238E27FC236}">
                    <a16:creationId xmlns:a16="http://schemas.microsoft.com/office/drawing/2014/main" id="{8AD94496-9899-4763-AC19-DE9E4B62DF29}"/>
                  </a:ext>
                </a:extLst>
              </p:cNvPr>
              <p:cNvGraphicFramePr>
                <a:graphicFrameLocks noGrp="1"/>
              </p:cNvGraphicFramePr>
              <p:nvPr>
                <p:extLst>
                  <p:ext uri="{D42A27DB-BD31-4B8C-83A1-F6EECF244321}">
                    <p14:modId xmlns:p14="http://schemas.microsoft.com/office/powerpoint/2010/main" val="1234164576"/>
                  </p:ext>
                </p:extLst>
              </p:nvPr>
            </p:nvGraphicFramePr>
            <p:xfrm>
              <a:off x="316206" y="5100797"/>
              <a:ext cx="8128000" cy="741680"/>
            </p:xfrm>
            <a:graphic>
              <a:graphicData uri="http://schemas.openxmlformats.org/drawingml/2006/table">
                <a:tbl>
                  <a:tblPr firstRow="1" bandRow="1">
                    <a:tableStyleId>{5940675A-B579-460E-94D1-54222C63F5DA}</a:tableStyleId>
                  </a:tblPr>
                  <a:tblGrid>
                    <a:gridCol w="2032000">
                      <a:extLst>
                        <a:ext uri="{9D8B030D-6E8A-4147-A177-3AD203B41FA5}">
                          <a16:colId xmlns:a16="http://schemas.microsoft.com/office/drawing/2014/main" val="1576531335"/>
                        </a:ext>
                      </a:extLst>
                    </a:gridCol>
                    <a:gridCol w="2032000">
                      <a:extLst>
                        <a:ext uri="{9D8B030D-6E8A-4147-A177-3AD203B41FA5}">
                          <a16:colId xmlns:a16="http://schemas.microsoft.com/office/drawing/2014/main" val="3507019064"/>
                        </a:ext>
                      </a:extLst>
                    </a:gridCol>
                    <a:gridCol w="2032000">
                      <a:extLst>
                        <a:ext uri="{9D8B030D-6E8A-4147-A177-3AD203B41FA5}">
                          <a16:colId xmlns:a16="http://schemas.microsoft.com/office/drawing/2014/main" val="1921430209"/>
                        </a:ext>
                      </a:extLst>
                    </a:gridCol>
                    <a:gridCol w="2032000">
                      <a:extLst>
                        <a:ext uri="{9D8B030D-6E8A-4147-A177-3AD203B41FA5}">
                          <a16:colId xmlns:a16="http://schemas.microsoft.com/office/drawing/2014/main" val="2237932526"/>
                        </a:ext>
                      </a:extLst>
                    </a:gridCol>
                  </a:tblGrid>
                  <a:tr h="370840">
                    <a:tc>
                      <a:txBody>
                        <a:bodyPr/>
                        <a:lstStyle/>
                        <a:p>
                          <a:endParaRPr lang="zh-TW" altLang="en-US" dirty="0"/>
                        </a:p>
                      </a:txBody>
                      <a:tcPr>
                        <a:lnTlToBr w="12700" cap="flat" cmpd="sng" algn="ctr">
                          <a:solidFill>
                            <a:schemeClr val="tx1"/>
                          </a:solidFill>
                          <a:prstDash val="solid"/>
                          <a:round/>
                          <a:headEnd type="none" w="med" len="med"/>
                          <a:tailEnd type="none" w="med" len="med"/>
                        </a:lnTlToBr>
                      </a:tcPr>
                    </a:tc>
                    <a:tc>
                      <a:txBody>
                        <a:bodyPr/>
                        <a:lstStyle/>
                        <a:p>
                          <a:pPr algn="ctr"/>
                          <a14:m>
                            <m:oMathPara xmlns:m="http://schemas.openxmlformats.org/officeDocument/2006/math">
                              <m:oMathParaPr>
                                <m:jc m:val="centerGroup"/>
                              </m:oMathParaPr>
                              <m:oMath xmlns:m="http://schemas.openxmlformats.org/officeDocument/2006/math">
                                <m:sSub>
                                  <m:sSubPr>
                                    <m:ctrlPr>
                                      <a:rPr lang="en-US" altLang="zh-TW" i="1" smtClean="0">
                                        <a:latin typeface="Cambria Math" panose="02040503050406030204" pitchFamily="18" charset="0"/>
                                      </a:rPr>
                                    </m:ctrlPr>
                                  </m:sSubPr>
                                  <m:e>
                                    <m:r>
                                      <a:rPr lang="zh-TW" altLang="en-US" i="1" smtClean="0">
                                        <a:latin typeface="Cambria Math" panose="02040503050406030204" pitchFamily="18" charset="0"/>
                                      </a:rPr>
                                      <m:t>𝜎</m:t>
                                    </m:r>
                                  </m:e>
                                  <m:sub>
                                    <m:r>
                                      <a:rPr lang="en-US" altLang="zh-TW" b="0" i="1" smtClean="0">
                                        <a:latin typeface="Cambria Math" panose="02040503050406030204" pitchFamily="18" charset="0"/>
                                      </a:rPr>
                                      <m:t>11</m:t>
                                    </m:r>
                                  </m:sub>
                                </m:sSub>
                              </m:oMath>
                            </m:oMathPara>
                          </a14:m>
                          <a:endParaRPr lang="zh-TW" alt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altLang="zh-TW" i="1" smtClean="0">
                                        <a:latin typeface="Cambria Math" panose="02040503050406030204" pitchFamily="18" charset="0"/>
                                      </a:rPr>
                                    </m:ctrlPr>
                                  </m:sSubPr>
                                  <m:e>
                                    <m:r>
                                      <a:rPr lang="zh-TW" altLang="en-US" i="1" smtClean="0">
                                        <a:latin typeface="Cambria Math" panose="02040503050406030204" pitchFamily="18" charset="0"/>
                                      </a:rPr>
                                      <m:t>𝜎</m:t>
                                    </m:r>
                                  </m:e>
                                  <m:sub>
                                    <m:r>
                                      <a:rPr lang="en-US" altLang="zh-TW" b="0" i="1" smtClean="0">
                                        <a:latin typeface="Cambria Math" panose="02040503050406030204" pitchFamily="18" charset="0"/>
                                      </a:rPr>
                                      <m:t>22</m:t>
                                    </m:r>
                                  </m:sub>
                                </m:sSub>
                              </m:oMath>
                            </m:oMathPara>
                          </a14:m>
                          <a:endParaRPr lang="zh-TW" alt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altLang="zh-TW" i="1" smtClean="0">
                                        <a:latin typeface="Cambria Math" panose="02040503050406030204" pitchFamily="18" charset="0"/>
                                      </a:rPr>
                                    </m:ctrlPr>
                                  </m:sSubPr>
                                  <m:e>
                                    <m:r>
                                      <a:rPr lang="zh-TW" altLang="en-US" i="1" smtClean="0">
                                        <a:latin typeface="Cambria Math" panose="02040503050406030204" pitchFamily="18" charset="0"/>
                                      </a:rPr>
                                      <m:t>𝜎</m:t>
                                    </m:r>
                                  </m:e>
                                  <m:sub>
                                    <m:r>
                                      <a:rPr lang="en-US" altLang="zh-TW" b="0" i="1" smtClean="0">
                                        <a:latin typeface="Cambria Math" panose="02040503050406030204" pitchFamily="18" charset="0"/>
                                      </a:rPr>
                                      <m:t>33</m:t>
                                    </m:r>
                                  </m:sub>
                                </m:sSub>
                              </m:oMath>
                            </m:oMathPara>
                          </a14:m>
                          <a:endParaRPr lang="zh-TW" altLang="en-US" dirty="0"/>
                        </a:p>
                      </a:txBody>
                      <a:tcPr/>
                    </a:tc>
                    <a:extLst>
                      <a:ext uri="{0D108BD9-81ED-4DB2-BD59-A6C34878D82A}">
                        <a16:rowId xmlns:a16="http://schemas.microsoft.com/office/drawing/2014/main" val="168208475"/>
                      </a:ext>
                    </a:extLst>
                  </a:tr>
                  <a:tr h="370840">
                    <a:tc>
                      <a:txBody>
                        <a:bodyPr/>
                        <a:lstStyle/>
                        <a:p>
                          <a:pPr algn="ctr"/>
                          <a:r>
                            <a:rPr lang="en-US" altLang="zh-TW" dirty="0"/>
                            <a:t>Mean</a:t>
                          </a:r>
                          <a14:m>
                            <m:oMath xmlns:m="http://schemas.openxmlformats.org/officeDocument/2006/math">
                              <m:r>
                                <a:rPr lang="en-US" altLang="zh-TW" b="0" i="1" smtClean="0">
                                  <a:latin typeface="Cambria Math" panose="02040503050406030204" pitchFamily="18" charset="0"/>
                                </a:rPr>
                                <m:t>(</m:t>
                              </m:r>
                              <m:f>
                                <m:fPr>
                                  <m:type m:val="lin"/>
                                  <m:ctrlPr>
                                    <a:rPr lang="en-US" altLang="zh-TW" b="0" i="1" smtClean="0">
                                      <a:latin typeface="Cambria Math" panose="02040503050406030204" pitchFamily="18" charset="0"/>
                                    </a:rPr>
                                  </m:ctrlPr>
                                </m:fPr>
                                <m:num>
                                  <m:r>
                                    <a:rPr lang="en-US" altLang="zh-TW" b="0" i="1" smtClean="0">
                                      <a:latin typeface="Cambria Math" panose="02040503050406030204" pitchFamily="18" charset="0"/>
                                    </a:rPr>
                                    <m:t>𝑚𝑇</m:t>
                                  </m:r>
                                </m:num>
                                <m:den>
                                  <m:r>
                                    <a:rPr lang="en-US" altLang="zh-TW" b="0" i="1" smtClean="0">
                                      <a:latin typeface="Cambria Math" panose="02040503050406030204" pitchFamily="18" charset="0"/>
                                    </a:rPr>
                                    <m:t>𝐴</m:t>
                                  </m:r>
                                  <m:r>
                                    <a:rPr lang="en-US" altLang="zh-TW" b="0" i="1" smtClean="0">
                                      <a:latin typeface="Cambria Math" panose="02040503050406030204" pitchFamily="18" charset="0"/>
                                    </a:rPr>
                                    <m:t>)</m:t>
                                  </m:r>
                                </m:den>
                              </m:f>
                            </m:oMath>
                          </a14:m>
                          <a:endParaRPr lang="zh-TW" altLang="en-US" dirty="0"/>
                        </a:p>
                      </a:txBody>
                      <a:tcPr/>
                    </a:tc>
                    <a:tc>
                      <a:txBody>
                        <a:bodyPr/>
                        <a:lstStyle/>
                        <a:p>
                          <a:pPr algn="ctr"/>
                          <a:r>
                            <a:rPr lang="en-US" altLang="zh-TW" dirty="0"/>
                            <a:t>50.253</a:t>
                          </a:r>
                          <a:endParaRPr lang="zh-TW" altLang="en-US" dirty="0"/>
                        </a:p>
                      </a:txBody>
                      <a:tcPr/>
                    </a:tc>
                    <a:tc>
                      <a:txBody>
                        <a:bodyPr/>
                        <a:lstStyle/>
                        <a:p>
                          <a:pPr algn="ctr"/>
                          <a:r>
                            <a:rPr lang="en-US" altLang="zh-TW" dirty="0"/>
                            <a:t>45.386</a:t>
                          </a:r>
                          <a:endParaRPr lang="zh-TW" altLang="en-US" dirty="0"/>
                        </a:p>
                      </a:txBody>
                      <a:tcPr/>
                    </a:tc>
                    <a:tc>
                      <a:txBody>
                        <a:bodyPr/>
                        <a:lstStyle/>
                        <a:p>
                          <a:pPr algn="ctr"/>
                          <a:r>
                            <a:rPr lang="en-US" altLang="zh-TW" dirty="0"/>
                            <a:t>27.257</a:t>
                          </a:r>
                          <a:endParaRPr lang="zh-TW" altLang="en-US" dirty="0"/>
                        </a:p>
                      </a:txBody>
                      <a:tcPr/>
                    </a:tc>
                    <a:extLst>
                      <a:ext uri="{0D108BD9-81ED-4DB2-BD59-A6C34878D82A}">
                        <a16:rowId xmlns:a16="http://schemas.microsoft.com/office/drawing/2014/main" val="3046649366"/>
                      </a:ext>
                    </a:extLst>
                  </a:tr>
                </a:tbl>
              </a:graphicData>
            </a:graphic>
          </p:graphicFrame>
        </mc:Choice>
        <mc:Fallback xmlns="">
          <p:graphicFrame>
            <p:nvGraphicFramePr>
              <p:cNvPr id="10" name="表格 10">
                <a:extLst>
                  <a:ext uri="{FF2B5EF4-FFF2-40B4-BE49-F238E27FC236}">
                    <a16:creationId xmlns:a16="http://schemas.microsoft.com/office/drawing/2014/main" id="{8AD94496-9899-4763-AC19-DE9E4B62DF29}"/>
                  </a:ext>
                </a:extLst>
              </p:cNvPr>
              <p:cNvGraphicFramePr>
                <a:graphicFrameLocks noGrp="1"/>
              </p:cNvGraphicFramePr>
              <p:nvPr>
                <p:extLst>
                  <p:ext uri="{D42A27DB-BD31-4B8C-83A1-F6EECF244321}">
                    <p14:modId xmlns:p14="http://schemas.microsoft.com/office/powerpoint/2010/main" val="1234164576"/>
                  </p:ext>
                </p:extLst>
              </p:nvPr>
            </p:nvGraphicFramePr>
            <p:xfrm>
              <a:off x="316206" y="5100797"/>
              <a:ext cx="8128000" cy="741680"/>
            </p:xfrm>
            <a:graphic>
              <a:graphicData uri="http://schemas.openxmlformats.org/drawingml/2006/table">
                <a:tbl>
                  <a:tblPr firstRow="1" bandRow="1">
                    <a:tableStyleId>{5940675A-B579-460E-94D1-54222C63F5DA}</a:tableStyleId>
                  </a:tblPr>
                  <a:tblGrid>
                    <a:gridCol w="2032000">
                      <a:extLst>
                        <a:ext uri="{9D8B030D-6E8A-4147-A177-3AD203B41FA5}">
                          <a16:colId xmlns:a16="http://schemas.microsoft.com/office/drawing/2014/main" val="1576531335"/>
                        </a:ext>
                      </a:extLst>
                    </a:gridCol>
                    <a:gridCol w="2032000">
                      <a:extLst>
                        <a:ext uri="{9D8B030D-6E8A-4147-A177-3AD203B41FA5}">
                          <a16:colId xmlns:a16="http://schemas.microsoft.com/office/drawing/2014/main" val="3507019064"/>
                        </a:ext>
                      </a:extLst>
                    </a:gridCol>
                    <a:gridCol w="2032000">
                      <a:extLst>
                        <a:ext uri="{9D8B030D-6E8A-4147-A177-3AD203B41FA5}">
                          <a16:colId xmlns:a16="http://schemas.microsoft.com/office/drawing/2014/main" val="1921430209"/>
                        </a:ext>
                      </a:extLst>
                    </a:gridCol>
                    <a:gridCol w="2032000">
                      <a:extLst>
                        <a:ext uri="{9D8B030D-6E8A-4147-A177-3AD203B41FA5}">
                          <a16:colId xmlns:a16="http://schemas.microsoft.com/office/drawing/2014/main" val="2237932526"/>
                        </a:ext>
                      </a:extLst>
                    </a:gridCol>
                  </a:tblGrid>
                  <a:tr h="370840">
                    <a:tc>
                      <a:txBody>
                        <a:bodyPr/>
                        <a:lstStyle/>
                        <a:p>
                          <a:endParaRPr lang="zh-TW" altLang="en-US" dirty="0"/>
                        </a:p>
                      </a:txBody>
                      <a:tcPr>
                        <a:lnTlToBr w="12700" cap="flat" cmpd="sng" algn="ctr">
                          <a:solidFill>
                            <a:schemeClr val="tx1"/>
                          </a:solidFill>
                          <a:prstDash val="solid"/>
                          <a:round/>
                          <a:headEnd type="none" w="med" len="med"/>
                          <a:tailEnd type="none" w="med" len="med"/>
                        </a:lnTlToBr>
                      </a:tcPr>
                    </a:tc>
                    <a:tc>
                      <a:txBody>
                        <a:bodyPr/>
                        <a:lstStyle/>
                        <a:p>
                          <a:endParaRPr lang="zh-TW"/>
                        </a:p>
                      </a:txBody>
                      <a:tcPr>
                        <a:blipFill>
                          <a:blip r:embed="rId2"/>
                          <a:stretch>
                            <a:fillRect l="-100299" t="-14516" r="-200299" b="-270968"/>
                          </a:stretch>
                        </a:blipFill>
                      </a:tcPr>
                    </a:tc>
                    <a:tc>
                      <a:txBody>
                        <a:bodyPr/>
                        <a:lstStyle/>
                        <a:p>
                          <a:endParaRPr lang="zh-TW"/>
                        </a:p>
                      </a:txBody>
                      <a:tcPr>
                        <a:blipFill>
                          <a:blip r:embed="rId2"/>
                          <a:stretch>
                            <a:fillRect l="-200901" t="-14516" r="-100901" b="-270968"/>
                          </a:stretch>
                        </a:blipFill>
                      </a:tcPr>
                    </a:tc>
                    <a:tc>
                      <a:txBody>
                        <a:bodyPr/>
                        <a:lstStyle/>
                        <a:p>
                          <a:endParaRPr lang="zh-TW"/>
                        </a:p>
                      </a:txBody>
                      <a:tcPr>
                        <a:blipFill>
                          <a:blip r:embed="rId2"/>
                          <a:stretch>
                            <a:fillRect l="-300000" t="-14516" r="-599" b="-270968"/>
                          </a:stretch>
                        </a:blipFill>
                      </a:tcPr>
                    </a:tc>
                    <a:extLst>
                      <a:ext uri="{0D108BD9-81ED-4DB2-BD59-A6C34878D82A}">
                        <a16:rowId xmlns:a16="http://schemas.microsoft.com/office/drawing/2014/main" val="168208475"/>
                      </a:ext>
                    </a:extLst>
                  </a:tr>
                  <a:tr h="370840">
                    <a:tc>
                      <a:txBody>
                        <a:bodyPr/>
                        <a:lstStyle/>
                        <a:p>
                          <a:endParaRPr lang="zh-TW"/>
                        </a:p>
                      </a:txBody>
                      <a:tcPr>
                        <a:blipFill>
                          <a:blip r:embed="rId2"/>
                          <a:stretch>
                            <a:fillRect l="-299" t="-116393" r="-300299" b="-175410"/>
                          </a:stretch>
                        </a:blipFill>
                      </a:tcPr>
                    </a:tc>
                    <a:tc>
                      <a:txBody>
                        <a:bodyPr/>
                        <a:lstStyle/>
                        <a:p>
                          <a:pPr algn="ctr"/>
                          <a:r>
                            <a:rPr lang="en-US" altLang="zh-TW" dirty="0"/>
                            <a:t>50.253</a:t>
                          </a:r>
                          <a:endParaRPr lang="zh-TW" altLang="en-US" dirty="0"/>
                        </a:p>
                      </a:txBody>
                      <a:tcPr/>
                    </a:tc>
                    <a:tc>
                      <a:txBody>
                        <a:bodyPr/>
                        <a:lstStyle/>
                        <a:p>
                          <a:pPr algn="ctr"/>
                          <a:r>
                            <a:rPr lang="en-US" altLang="zh-TW" dirty="0"/>
                            <a:t>45.386</a:t>
                          </a:r>
                          <a:endParaRPr lang="zh-TW" altLang="en-US" dirty="0"/>
                        </a:p>
                      </a:txBody>
                      <a:tcPr/>
                    </a:tc>
                    <a:tc>
                      <a:txBody>
                        <a:bodyPr/>
                        <a:lstStyle/>
                        <a:p>
                          <a:pPr algn="ctr"/>
                          <a:r>
                            <a:rPr lang="en-US" altLang="zh-TW" dirty="0"/>
                            <a:t>27.257</a:t>
                          </a:r>
                          <a:endParaRPr lang="zh-TW" altLang="en-US" dirty="0"/>
                        </a:p>
                      </a:txBody>
                      <a:tcPr/>
                    </a:tc>
                    <a:extLst>
                      <a:ext uri="{0D108BD9-81ED-4DB2-BD59-A6C34878D82A}">
                        <a16:rowId xmlns:a16="http://schemas.microsoft.com/office/drawing/2014/main" val="3046649366"/>
                      </a:ext>
                    </a:extLst>
                  </a:tr>
                </a:tbl>
              </a:graphicData>
            </a:graphic>
          </p:graphicFrame>
        </mc:Fallback>
      </mc:AlternateContent>
      <p:grpSp>
        <p:nvGrpSpPr>
          <p:cNvPr id="12" name="群組 11">
            <a:extLst>
              <a:ext uri="{FF2B5EF4-FFF2-40B4-BE49-F238E27FC236}">
                <a16:creationId xmlns:a16="http://schemas.microsoft.com/office/drawing/2014/main" id="{B35BCC46-0A07-4B67-AE3C-8936B77F94F5}"/>
              </a:ext>
            </a:extLst>
          </p:cNvPr>
          <p:cNvGrpSpPr/>
          <p:nvPr/>
        </p:nvGrpSpPr>
        <p:grpSpPr>
          <a:xfrm>
            <a:off x="7616863" y="1527662"/>
            <a:ext cx="3798910" cy="2882610"/>
            <a:chOff x="7667639" y="1452832"/>
            <a:chExt cx="3798910" cy="2882610"/>
          </a:xfrm>
        </p:grpSpPr>
        <p:pic>
          <p:nvPicPr>
            <p:cNvPr id="5" name="圖片 4">
              <a:extLst>
                <a:ext uri="{FF2B5EF4-FFF2-40B4-BE49-F238E27FC236}">
                  <a16:creationId xmlns:a16="http://schemas.microsoft.com/office/drawing/2014/main" id="{DF0B517E-F12C-4242-AD3B-E5B43C0D664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779716" y="1452832"/>
              <a:ext cx="3686833" cy="2785533"/>
            </a:xfrm>
            <a:prstGeom prst="rect">
              <a:avLst/>
            </a:prstGeom>
          </p:spPr>
        </p:pic>
        <p:grpSp>
          <p:nvGrpSpPr>
            <p:cNvPr id="14" name="群組 13">
              <a:extLst>
                <a:ext uri="{FF2B5EF4-FFF2-40B4-BE49-F238E27FC236}">
                  <a16:creationId xmlns:a16="http://schemas.microsoft.com/office/drawing/2014/main" id="{9228C93D-A0C7-4332-A130-971EC1FF61DC}"/>
                </a:ext>
              </a:extLst>
            </p:cNvPr>
            <p:cNvGrpSpPr/>
            <p:nvPr/>
          </p:nvGrpSpPr>
          <p:grpSpPr>
            <a:xfrm>
              <a:off x="7667639" y="1504501"/>
              <a:ext cx="2727967" cy="2830941"/>
              <a:chOff x="7667639" y="1504501"/>
              <a:chExt cx="2727967" cy="2830941"/>
            </a:xfrm>
          </p:grpSpPr>
          <p:grpSp>
            <p:nvGrpSpPr>
              <p:cNvPr id="13" name="群組 12">
                <a:extLst>
                  <a:ext uri="{FF2B5EF4-FFF2-40B4-BE49-F238E27FC236}">
                    <a16:creationId xmlns:a16="http://schemas.microsoft.com/office/drawing/2014/main" id="{754FF10A-2874-44FD-BACF-660085804C6B}"/>
                  </a:ext>
                </a:extLst>
              </p:cNvPr>
              <p:cNvGrpSpPr/>
              <p:nvPr/>
            </p:nvGrpSpPr>
            <p:grpSpPr>
              <a:xfrm>
                <a:off x="7778898" y="2057398"/>
                <a:ext cx="2491929" cy="2180502"/>
                <a:chOff x="7778898" y="2057398"/>
                <a:chExt cx="2491929" cy="2180502"/>
              </a:xfrm>
            </p:grpSpPr>
            <p:sp>
              <p:nvSpPr>
                <p:cNvPr id="11" name="矩形 10">
                  <a:extLst>
                    <a:ext uri="{FF2B5EF4-FFF2-40B4-BE49-F238E27FC236}">
                      <a16:creationId xmlns:a16="http://schemas.microsoft.com/office/drawing/2014/main" id="{869E58BC-ED95-4378-BC0D-F59778A5C307}"/>
                    </a:ext>
                  </a:extLst>
                </p:cNvPr>
                <p:cNvSpPr/>
                <p:nvPr/>
              </p:nvSpPr>
              <p:spPr>
                <a:xfrm>
                  <a:off x="9215228" y="4063653"/>
                  <a:ext cx="1055599" cy="17424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7" name="矩形 36">
                  <a:extLst>
                    <a:ext uri="{FF2B5EF4-FFF2-40B4-BE49-F238E27FC236}">
                      <a16:creationId xmlns:a16="http://schemas.microsoft.com/office/drawing/2014/main" id="{DED10F6C-0A24-4858-8A80-9E6F4DCE2834}"/>
                    </a:ext>
                  </a:extLst>
                </p:cNvPr>
                <p:cNvSpPr/>
                <p:nvPr/>
              </p:nvSpPr>
              <p:spPr>
                <a:xfrm rot="16200000">
                  <a:off x="7285244" y="2551052"/>
                  <a:ext cx="1153048" cy="16573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29" name="文字方塊 28">
                    <a:extLst>
                      <a:ext uri="{FF2B5EF4-FFF2-40B4-BE49-F238E27FC236}">
                        <a16:creationId xmlns:a16="http://schemas.microsoft.com/office/drawing/2014/main" id="{4A527870-9240-4CAE-A7BD-03FC80337E83}"/>
                      </a:ext>
                    </a:extLst>
                  </p:cNvPr>
                  <p:cNvSpPr txBox="1"/>
                  <p:nvPr/>
                </p:nvSpPr>
                <p:spPr>
                  <a:xfrm>
                    <a:off x="8563026" y="3966110"/>
                    <a:ext cx="183258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altLang="zh-TW" i="0" smtClean="0">
                              <a:latin typeface="Cambria Math" panose="02040503050406030204" pitchFamily="18" charset="0"/>
                              <a:ea typeface="Cambria Math" panose="02040503050406030204" pitchFamily="18" charset="0"/>
                            </a:rPr>
                            <m:t>C</m:t>
                          </m:r>
                          <m:r>
                            <m:rPr>
                              <m:sty m:val="p"/>
                            </m:rPr>
                            <a:rPr lang="en-US" altLang="zh-TW" b="0" i="0" smtClean="0">
                              <a:latin typeface="Cambria Math" panose="02040503050406030204" pitchFamily="18" charset="0"/>
                              <a:ea typeface="Cambria Math" panose="02040503050406030204" pitchFamily="18" charset="0"/>
                            </a:rPr>
                            <m:t>apacity</m:t>
                          </m:r>
                          <m:r>
                            <a:rPr lang="en-US" altLang="zh-TW" b="0" i="0" smtClean="0">
                              <a:latin typeface="Cambria Math" panose="02040503050406030204" pitchFamily="18" charset="0"/>
                              <a:ea typeface="Cambria Math" panose="02040503050406030204" pitchFamily="18" charset="0"/>
                            </a:rPr>
                            <m:t> </m:t>
                          </m:r>
                          <m:r>
                            <m:rPr>
                              <m:sty m:val="p"/>
                            </m:rPr>
                            <a:rPr lang="en-US" altLang="zh-TW" b="0" i="0" smtClean="0">
                              <a:latin typeface="Cambria Math" panose="02040503050406030204" pitchFamily="18" charset="0"/>
                              <a:ea typeface="Cambria Math" panose="02040503050406030204" pitchFamily="18" charset="0"/>
                            </a:rPr>
                            <m:t>measure</m:t>
                          </m:r>
                          <m:r>
                            <a:rPr lang="en-US" altLang="zh-TW" b="0" i="0" smtClean="0">
                              <a:latin typeface="Cambria Math" panose="02040503050406030204" pitchFamily="18" charset="0"/>
                              <a:ea typeface="Cambria Math" panose="02040503050406030204" pitchFamily="18" charset="0"/>
                            </a:rPr>
                            <m:t> </m:t>
                          </m:r>
                          <m:r>
                            <a:rPr lang="en-US" altLang="zh-TW" b="0" i="1" smtClean="0">
                              <a:latin typeface="Cambria Math" panose="02040503050406030204" pitchFamily="18" charset="0"/>
                              <a:ea typeface="Cambria Math" panose="02040503050406030204" pitchFamily="18" charset="0"/>
                            </a:rPr>
                            <m:t>(</m:t>
                          </m:r>
                          <m:f>
                            <m:fPr>
                              <m:type m:val="lin"/>
                              <m:ctrlPr>
                                <a:rPr lang="en-US" altLang="zh-TW" b="0" i="1" smtClean="0">
                                  <a:latin typeface="Cambria Math" panose="02040503050406030204" pitchFamily="18" charset="0"/>
                                  <a:ea typeface="Cambria Math" panose="02040503050406030204" pitchFamily="18" charset="0"/>
                                </a:rPr>
                              </m:ctrlPr>
                            </m:fPr>
                            <m:num>
                              <m:r>
                                <a:rPr lang="en-US" altLang="zh-TW" b="0" i="1" smtClean="0">
                                  <a:latin typeface="Cambria Math" panose="02040503050406030204" pitchFamily="18" charset="0"/>
                                  <a:ea typeface="Cambria Math" panose="02040503050406030204" pitchFamily="18" charset="0"/>
                                </a:rPr>
                                <m:t>𝑚𝑇</m:t>
                              </m:r>
                            </m:num>
                            <m:den>
                              <m:r>
                                <a:rPr lang="en-US" altLang="zh-TW" b="0" i="1" smtClean="0">
                                  <a:latin typeface="Cambria Math" panose="02040503050406030204" pitchFamily="18" charset="0"/>
                                  <a:ea typeface="Cambria Math" panose="02040503050406030204" pitchFamily="18" charset="0"/>
                                </a:rPr>
                                <m:t>𝐴</m:t>
                              </m:r>
                            </m:den>
                          </m:f>
                          <m:r>
                            <a:rPr lang="en-US" altLang="zh-TW" b="0" i="1" smtClean="0">
                              <a:latin typeface="Cambria Math" panose="02040503050406030204" pitchFamily="18" charset="0"/>
                              <a:ea typeface="Cambria Math" panose="02040503050406030204" pitchFamily="18" charset="0"/>
                            </a:rPr>
                            <m:t>)</m:t>
                          </m:r>
                        </m:oMath>
                      </m:oMathPara>
                    </a14:m>
                    <a:endParaRPr lang="zh-TW" altLang="en-US" sz="2400" dirty="0"/>
                  </a:p>
                </p:txBody>
              </p:sp>
            </mc:Choice>
            <mc:Fallback xmlns="">
              <p:sp>
                <p:nvSpPr>
                  <p:cNvPr id="29" name="文字方塊 28">
                    <a:extLst>
                      <a:ext uri="{FF2B5EF4-FFF2-40B4-BE49-F238E27FC236}">
                        <a16:creationId xmlns:a16="http://schemas.microsoft.com/office/drawing/2014/main" id="{4A527870-9240-4CAE-A7BD-03FC80337E83}"/>
                      </a:ext>
                    </a:extLst>
                  </p:cNvPr>
                  <p:cNvSpPr txBox="1">
                    <a:spLocks noRot="1" noChangeAspect="1" noMove="1" noResize="1" noEditPoints="1" noAdjustHandles="1" noChangeArrowheads="1" noChangeShapeType="1" noTextEdit="1"/>
                  </p:cNvSpPr>
                  <p:nvPr/>
                </p:nvSpPr>
                <p:spPr>
                  <a:xfrm>
                    <a:off x="8563026" y="3966110"/>
                    <a:ext cx="1832580" cy="369332"/>
                  </a:xfrm>
                  <a:prstGeom prst="rect">
                    <a:avLst/>
                  </a:prstGeom>
                  <a:blipFill>
                    <a:blip r:embed="rId4"/>
                    <a:stretch>
                      <a:fillRect t="-118333" r="-72757" b="-18000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4F5B4198-2C45-4E9A-B669-499DD550D761}"/>
                      </a:ext>
                    </a:extLst>
                  </p:cNvPr>
                  <p:cNvSpPr txBox="1"/>
                  <p:nvPr/>
                </p:nvSpPr>
                <p:spPr>
                  <a:xfrm rot="16200000">
                    <a:off x="6710069" y="2462071"/>
                    <a:ext cx="2192139"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altLang="zh-TW" b="0" i="0" smtClean="0">
                              <a:latin typeface="Cambria Math" panose="02040503050406030204" pitchFamily="18" charset="0"/>
                            </a:rPr>
                            <m:t>Percentage</m:t>
                          </m:r>
                          <m:r>
                            <a:rPr lang="zh-TW" altLang="en-US" i="1">
                              <a:latin typeface="Cambria Math" panose="02040503050406030204" pitchFamily="18" charset="0"/>
                            </a:rPr>
                            <m:t> </m:t>
                          </m:r>
                          <m:r>
                            <m:rPr>
                              <m:sty m:val="p"/>
                            </m:rPr>
                            <a:rPr lang="en-US" altLang="zh-TW" b="0" i="0" smtClean="0">
                              <a:latin typeface="Cambria Math" panose="02040503050406030204" pitchFamily="18" charset="0"/>
                            </a:rPr>
                            <m:t>count</m:t>
                          </m:r>
                          <m:r>
                            <a:rPr lang="en-US" altLang="zh-TW" b="0" i="1" smtClean="0">
                              <a:latin typeface="Cambria Math" panose="02040503050406030204" pitchFamily="18" charset="0"/>
                            </a:rPr>
                            <m:t>(%)</m:t>
                          </m:r>
                        </m:oMath>
                      </m:oMathPara>
                    </a14:m>
                    <a:endParaRPr lang="zh-TW" altLang="en-US" sz="2400" dirty="0"/>
                  </a:p>
                </p:txBody>
              </p:sp>
            </mc:Choice>
            <mc:Fallback xmlns="">
              <p:sp>
                <p:nvSpPr>
                  <p:cNvPr id="77" name="文字方塊 76">
                    <a:extLst>
                      <a:ext uri="{FF2B5EF4-FFF2-40B4-BE49-F238E27FC236}">
                        <a16:creationId xmlns:a16="http://schemas.microsoft.com/office/drawing/2014/main" id="{4F5B4198-2C45-4E9A-B669-499DD550D761}"/>
                      </a:ext>
                    </a:extLst>
                  </p:cNvPr>
                  <p:cNvSpPr txBox="1">
                    <a:spLocks noRot="1" noChangeAspect="1" noMove="1" noResize="1" noEditPoints="1" noAdjustHandles="1" noChangeArrowheads="1" noChangeShapeType="1" noTextEdit="1"/>
                  </p:cNvSpPr>
                  <p:nvPr/>
                </p:nvSpPr>
                <p:spPr>
                  <a:xfrm rot="16200000">
                    <a:off x="6710069" y="2462071"/>
                    <a:ext cx="2192139" cy="276999"/>
                  </a:xfrm>
                  <a:prstGeom prst="rect">
                    <a:avLst/>
                  </a:prstGeom>
                  <a:blipFill>
                    <a:blip r:embed="rId5"/>
                    <a:stretch>
                      <a:fillRect l="-2174" t="-2778" r="-32609" b="-2222"/>
                    </a:stretch>
                  </a:blipFill>
                </p:spPr>
                <p:txBody>
                  <a:bodyPr/>
                  <a:lstStyle/>
                  <a:p>
                    <a:r>
                      <a:rPr lang="zh-TW" altLang="en-US">
                        <a:noFill/>
                      </a:rPr>
                      <a:t> </a:t>
                    </a:r>
                  </a:p>
                </p:txBody>
              </p:sp>
            </mc:Fallback>
          </mc:AlternateContent>
        </p:grpSp>
      </p:grpSp>
      <p:sp>
        <p:nvSpPr>
          <p:cNvPr id="32" name="文字方塊 31">
            <a:extLst>
              <a:ext uri="{FF2B5EF4-FFF2-40B4-BE49-F238E27FC236}">
                <a16:creationId xmlns:a16="http://schemas.microsoft.com/office/drawing/2014/main" id="{BFC30FDF-C840-49F5-871F-B583D17F27FD}"/>
              </a:ext>
            </a:extLst>
          </p:cNvPr>
          <p:cNvSpPr txBox="1"/>
          <p:nvPr/>
        </p:nvSpPr>
        <p:spPr>
          <a:xfrm>
            <a:off x="321964" y="3855632"/>
            <a:ext cx="6176432" cy="369332"/>
          </a:xfrm>
          <a:prstGeom prst="rect">
            <a:avLst/>
          </a:prstGeom>
          <a:noFill/>
        </p:spPr>
        <p:txBody>
          <a:bodyPr wrap="square">
            <a:spAutoFit/>
          </a:bodyPr>
          <a:lstStyle/>
          <a:p>
            <a:pPr marL="285750" indent="-285750">
              <a:buFont typeface="Arial" panose="020B0604020202020204" pitchFamily="34" charset="0"/>
              <a:buChar char="•"/>
            </a:pPr>
            <a:r>
              <a:rPr lang="en-US" altLang="zh-TW" dirty="0"/>
              <a:t>Both histograms have the same resolution (184uT/A).</a:t>
            </a:r>
          </a:p>
        </p:txBody>
      </p:sp>
      <p:sp>
        <p:nvSpPr>
          <p:cNvPr id="36" name="文字方塊 35">
            <a:extLst>
              <a:ext uri="{FF2B5EF4-FFF2-40B4-BE49-F238E27FC236}">
                <a16:creationId xmlns:a16="http://schemas.microsoft.com/office/drawing/2014/main" id="{BCEA6580-59CB-491D-9A56-1E4B23E7DF7D}"/>
              </a:ext>
            </a:extLst>
          </p:cNvPr>
          <p:cNvSpPr txBox="1"/>
          <p:nvPr/>
        </p:nvSpPr>
        <p:spPr>
          <a:xfrm>
            <a:off x="212687" y="786378"/>
            <a:ext cx="6176432" cy="2031325"/>
          </a:xfrm>
          <a:prstGeom prst="rect">
            <a:avLst/>
          </a:prstGeom>
          <a:noFill/>
        </p:spPr>
        <p:txBody>
          <a:bodyPr wrap="square">
            <a:spAutoFit/>
          </a:bodyPr>
          <a:lstStyle/>
          <a:p>
            <a:pPr marL="285750" indent="-285750">
              <a:buFont typeface="Arial" panose="020B0604020202020204" pitchFamily="34" charset="0"/>
              <a:buChar char="•"/>
            </a:pPr>
            <a:r>
              <a:rPr lang="zh-TW" altLang="en-US" dirty="0"/>
              <a:t>The three singular values are σ₁ = 50.25, σ₂ = 45.39 and σ₃ = 27.26 mT/A. σ₁ and σ₂ differ by only 10.7 %, whereas σ₃ falls 40 % below σ₂ (σ₁/σ₃ = 1.84). All three distributions are tight，</a:t>
            </a:r>
            <a:r>
              <a:rPr lang="en-US" altLang="zh-TW" dirty="0"/>
              <a:t>the controllable set is an oblate ellipsoid — two strong axes and one weak — not a sphere. The weakest third axis is the bottleneck of the whole actuator, since it sets the force available in the worst direction.</a:t>
            </a:r>
            <a:endParaRPr lang="zh-TW" altLang="en-US" dirty="0"/>
          </a:p>
        </p:txBody>
      </p:sp>
    </p:spTree>
    <p:extLst>
      <p:ext uri="{BB962C8B-B14F-4D97-AF65-F5344CB8AC3E}">
        <p14:creationId xmlns:p14="http://schemas.microsoft.com/office/powerpoint/2010/main" val="170955498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488031"/>
            <a:ext cx="12192000" cy="193506"/>
          </a:xfrm>
        </p:spPr>
        <p:txBody>
          <a:bodyPr>
            <a:normAutofit fontScale="90000"/>
          </a:bodyPr>
          <a:lstStyle/>
          <a:p>
            <a:r>
              <a:rPr lang="en-US" altLang="zh-TW" sz="3600" b="1" kern="100" dirty="0">
                <a:solidFill>
                  <a:srgbClr val="000000"/>
                </a:solidFill>
                <a:latin typeface="Aptos"/>
                <a:ea typeface="新細明體" panose="02020500000000000000" pitchFamily="18" charset="-120"/>
                <a:cs typeface="Times New Roman" panose="02020603050405020304" pitchFamily="18" charset="0"/>
              </a:rPr>
              <a:t>Quantitative Assessment of Multi-Pole Actuators</a:t>
            </a:r>
            <a:br>
              <a:rPr lang="zh-TW" altLang="zh-TW" sz="1800" kern="100" dirty="0">
                <a:effectLst/>
                <a:latin typeface="Aptos"/>
                <a:ea typeface="新細明體" panose="02020500000000000000" pitchFamily="18" charset="-120"/>
                <a:cs typeface="Times New Roman" panose="02020603050405020304" pitchFamily="18" charset="0"/>
              </a:rPr>
            </a:b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16" name="文字方塊 15">
            <a:extLst>
              <a:ext uri="{FF2B5EF4-FFF2-40B4-BE49-F238E27FC236}">
                <a16:creationId xmlns:a16="http://schemas.microsoft.com/office/drawing/2014/main" id="{6BA9955A-92B3-406A-93D9-E13D8B8C100E}"/>
              </a:ext>
            </a:extLst>
          </p:cNvPr>
          <p:cNvSpPr txBox="1"/>
          <p:nvPr/>
        </p:nvSpPr>
        <p:spPr>
          <a:xfrm>
            <a:off x="65019" y="400118"/>
            <a:ext cx="3588625" cy="369332"/>
          </a:xfrm>
          <a:prstGeom prst="rect">
            <a:avLst/>
          </a:prstGeom>
          <a:noFill/>
        </p:spPr>
        <p:txBody>
          <a:bodyPr wrap="square" rtlCol="0">
            <a:spAutoFit/>
          </a:bodyPr>
          <a:lstStyle/>
          <a:p>
            <a:pPr marL="285750" indent="-285750">
              <a:buFont typeface="Wingdings" panose="05000000000000000000" pitchFamily="2" charset="2"/>
              <a:buChar char="Ø"/>
            </a:pPr>
            <a:r>
              <a:rPr lang="en-US" altLang="zh-TW" dirty="0"/>
              <a:t>Compare </a:t>
            </a:r>
            <a:r>
              <a:rPr lang="en-US" altLang="zh-TW" dirty="0" err="1"/>
              <a:t>DesignA&amp;B</a:t>
            </a:r>
            <a:endParaRPr lang="zh-TW" altLang="en-US" dirty="0"/>
          </a:p>
        </p:txBody>
      </p:sp>
      <p:sp>
        <p:nvSpPr>
          <p:cNvPr id="24" name="矩形 23">
            <a:extLst>
              <a:ext uri="{FF2B5EF4-FFF2-40B4-BE49-F238E27FC236}">
                <a16:creationId xmlns:a16="http://schemas.microsoft.com/office/drawing/2014/main" id="{5ECAF6AD-8DD4-4627-A1FD-CEEA914062EB}"/>
              </a:ext>
            </a:extLst>
          </p:cNvPr>
          <p:cNvSpPr/>
          <p:nvPr/>
        </p:nvSpPr>
        <p:spPr>
          <a:xfrm>
            <a:off x="9428540" y="5341459"/>
            <a:ext cx="279400" cy="3979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3" name="矩形 32">
            <a:extLst>
              <a:ext uri="{FF2B5EF4-FFF2-40B4-BE49-F238E27FC236}">
                <a16:creationId xmlns:a16="http://schemas.microsoft.com/office/drawing/2014/main" id="{BB2FC3B6-34F2-47A5-A4AF-A882448CE798}"/>
              </a:ext>
            </a:extLst>
          </p:cNvPr>
          <p:cNvSpPr/>
          <p:nvPr/>
        </p:nvSpPr>
        <p:spPr>
          <a:xfrm>
            <a:off x="11647706" y="2231996"/>
            <a:ext cx="188693" cy="24873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4" name="矩形 33">
            <a:extLst>
              <a:ext uri="{FF2B5EF4-FFF2-40B4-BE49-F238E27FC236}">
                <a16:creationId xmlns:a16="http://schemas.microsoft.com/office/drawing/2014/main" id="{666288C7-F5CB-48E4-8D76-163CDF4E1521}"/>
              </a:ext>
            </a:extLst>
          </p:cNvPr>
          <p:cNvSpPr/>
          <p:nvPr/>
        </p:nvSpPr>
        <p:spPr>
          <a:xfrm>
            <a:off x="11485470" y="5360209"/>
            <a:ext cx="188693" cy="24873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2" name="矩形 31">
            <a:extLst>
              <a:ext uri="{FF2B5EF4-FFF2-40B4-BE49-F238E27FC236}">
                <a16:creationId xmlns:a16="http://schemas.microsoft.com/office/drawing/2014/main" id="{735F99E3-440E-4460-B29E-1B9638171658}"/>
              </a:ext>
            </a:extLst>
          </p:cNvPr>
          <p:cNvSpPr/>
          <p:nvPr/>
        </p:nvSpPr>
        <p:spPr>
          <a:xfrm>
            <a:off x="9987000" y="1369037"/>
            <a:ext cx="218554" cy="27092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5" name="矩形 34">
            <a:extLst>
              <a:ext uri="{FF2B5EF4-FFF2-40B4-BE49-F238E27FC236}">
                <a16:creationId xmlns:a16="http://schemas.microsoft.com/office/drawing/2014/main" id="{22C1E112-AE50-46DC-8251-D6D5E0450AA8}"/>
              </a:ext>
            </a:extLst>
          </p:cNvPr>
          <p:cNvSpPr/>
          <p:nvPr/>
        </p:nvSpPr>
        <p:spPr>
          <a:xfrm>
            <a:off x="8927424" y="703212"/>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5" name="矩形 44">
            <a:extLst>
              <a:ext uri="{FF2B5EF4-FFF2-40B4-BE49-F238E27FC236}">
                <a16:creationId xmlns:a16="http://schemas.microsoft.com/office/drawing/2014/main" id="{A7AC5CB5-ED89-4E3E-AD62-78E3BA5A407F}"/>
              </a:ext>
            </a:extLst>
          </p:cNvPr>
          <p:cNvSpPr/>
          <p:nvPr/>
        </p:nvSpPr>
        <p:spPr>
          <a:xfrm>
            <a:off x="6279842" y="703212"/>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6" name="矩形 45">
            <a:extLst>
              <a:ext uri="{FF2B5EF4-FFF2-40B4-BE49-F238E27FC236}">
                <a16:creationId xmlns:a16="http://schemas.microsoft.com/office/drawing/2014/main" id="{ECFCDEC8-6D9E-4F90-9164-5AFC45503F9D}"/>
              </a:ext>
            </a:extLst>
          </p:cNvPr>
          <p:cNvSpPr/>
          <p:nvPr/>
        </p:nvSpPr>
        <p:spPr>
          <a:xfrm>
            <a:off x="5541053" y="1762316"/>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7" name="矩形 46">
            <a:extLst>
              <a:ext uri="{FF2B5EF4-FFF2-40B4-BE49-F238E27FC236}">
                <a16:creationId xmlns:a16="http://schemas.microsoft.com/office/drawing/2014/main" id="{42375863-2208-49BC-A294-DC35BC7C0E6F}"/>
              </a:ext>
            </a:extLst>
          </p:cNvPr>
          <p:cNvSpPr/>
          <p:nvPr/>
        </p:nvSpPr>
        <p:spPr>
          <a:xfrm>
            <a:off x="6592957" y="2469682"/>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0" name="矩形 29">
            <a:extLst>
              <a:ext uri="{FF2B5EF4-FFF2-40B4-BE49-F238E27FC236}">
                <a16:creationId xmlns:a16="http://schemas.microsoft.com/office/drawing/2014/main" id="{4AEC54F1-2642-426E-80DB-775A61DDF044}"/>
              </a:ext>
            </a:extLst>
          </p:cNvPr>
          <p:cNvSpPr/>
          <p:nvPr/>
        </p:nvSpPr>
        <p:spPr>
          <a:xfrm>
            <a:off x="10930467" y="1596950"/>
            <a:ext cx="107305"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 name="矩形 8">
            <a:extLst>
              <a:ext uri="{FF2B5EF4-FFF2-40B4-BE49-F238E27FC236}">
                <a16:creationId xmlns:a16="http://schemas.microsoft.com/office/drawing/2014/main" id="{7B2555E3-898A-435A-9CA9-B6575FB7B1AA}"/>
              </a:ext>
            </a:extLst>
          </p:cNvPr>
          <p:cNvSpPr/>
          <p:nvPr/>
        </p:nvSpPr>
        <p:spPr>
          <a:xfrm>
            <a:off x="9794725" y="4840409"/>
            <a:ext cx="467790" cy="3979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23" name="群組 22">
            <a:extLst>
              <a:ext uri="{FF2B5EF4-FFF2-40B4-BE49-F238E27FC236}">
                <a16:creationId xmlns:a16="http://schemas.microsoft.com/office/drawing/2014/main" id="{D872CA14-590B-4B25-8D56-51869107EFD2}"/>
              </a:ext>
            </a:extLst>
          </p:cNvPr>
          <p:cNvGrpSpPr/>
          <p:nvPr/>
        </p:nvGrpSpPr>
        <p:grpSpPr>
          <a:xfrm>
            <a:off x="6875133" y="3508868"/>
            <a:ext cx="3168560" cy="2172283"/>
            <a:chOff x="6867344" y="3740617"/>
            <a:chExt cx="3168560" cy="2172283"/>
          </a:xfrm>
        </p:grpSpPr>
        <p:sp>
          <p:nvSpPr>
            <p:cNvPr id="48" name="矩形 47">
              <a:extLst>
                <a:ext uri="{FF2B5EF4-FFF2-40B4-BE49-F238E27FC236}">
                  <a16:creationId xmlns:a16="http://schemas.microsoft.com/office/drawing/2014/main" id="{B096E37E-8AC9-44B3-8AC0-85DBA5186884}"/>
                </a:ext>
              </a:extLst>
            </p:cNvPr>
            <p:cNvSpPr/>
            <p:nvPr/>
          </p:nvSpPr>
          <p:spPr>
            <a:xfrm>
              <a:off x="8832312" y="4530195"/>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9" name="矩形 48">
              <a:extLst>
                <a:ext uri="{FF2B5EF4-FFF2-40B4-BE49-F238E27FC236}">
                  <a16:creationId xmlns:a16="http://schemas.microsoft.com/office/drawing/2014/main" id="{D78A5635-6392-4A3A-8FB5-9101D27D904D}"/>
                </a:ext>
              </a:extLst>
            </p:cNvPr>
            <p:cNvSpPr/>
            <p:nvPr/>
          </p:nvSpPr>
          <p:spPr>
            <a:xfrm>
              <a:off x="7680057" y="3740617"/>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0" name="矩形 49">
              <a:extLst>
                <a:ext uri="{FF2B5EF4-FFF2-40B4-BE49-F238E27FC236}">
                  <a16:creationId xmlns:a16="http://schemas.microsoft.com/office/drawing/2014/main" id="{9E623D93-181D-445B-A97C-8949FD369C96}"/>
                </a:ext>
              </a:extLst>
            </p:cNvPr>
            <p:cNvSpPr/>
            <p:nvPr/>
          </p:nvSpPr>
          <p:spPr>
            <a:xfrm>
              <a:off x="6867344" y="4901407"/>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1" name="矩形 50">
              <a:extLst>
                <a:ext uri="{FF2B5EF4-FFF2-40B4-BE49-F238E27FC236}">
                  <a16:creationId xmlns:a16="http://schemas.microsoft.com/office/drawing/2014/main" id="{291D2EE2-3DA4-43C1-834D-6A683319D87B}"/>
                </a:ext>
              </a:extLst>
            </p:cNvPr>
            <p:cNvSpPr/>
            <p:nvPr/>
          </p:nvSpPr>
          <p:spPr>
            <a:xfrm>
              <a:off x="8022867" y="5680623"/>
              <a:ext cx="279399"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62E44167-7C8B-4193-8CDE-E0AF63648A86}"/>
                </a:ext>
              </a:extLst>
            </p:cNvPr>
            <p:cNvSpPr/>
            <p:nvPr/>
          </p:nvSpPr>
          <p:spPr>
            <a:xfrm>
              <a:off x="9817350" y="4701989"/>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71" name="矩形 70">
            <a:extLst>
              <a:ext uri="{FF2B5EF4-FFF2-40B4-BE49-F238E27FC236}">
                <a16:creationId xmlns:a16="http://schemas.microsoft.com/office/drawing/2014/main" id="{339F7727-7052-4D90-B6A9-2AED4DBC48EF}"/>
              </a:ext>
            </a:extLst>
          </p:cNvPr>
          <p:cNvSpPr/>
          <p:nvPr/>
        </p:nvSpPr>
        <p:spPr>
          <a:xfrm>
            <a:off x="9556542" y="4654243"/>
            <a:ext cx="218554" cy="22185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BC8D4A16-5CCA-40C5-9964-FFF5383065ED}"/>
                  </a:ext>
                </a:extLst>
              </p:cNvPr>
              <p:cNvSpPr txBox="1"/>
              <p:nvPr/>
            </p:nvSpPr>
            <p:spPr>
              <a:xfrm>
                <a:off x="233277" y="2076294"/>
                <a:ext cx="11928881" cy="1754326"/>
              </a:xfrm>
              <a:prstGeom prst="rect">
                <a:avLst/>
              </a:prstGeom>
              <a:noFill/>
            </p:spPr>
            <p:txBody>
              <a:bodyPr wrap="square">
                <a:spAutoFit/>
              </a:bodyPr>
              <a:lstStyle/>
              <a:p>
                <a:pPr marL="285750" indent="-285750">
                  <a:buFont typeface="Arial" panose="020B0604020202020204" pitchFamily="34" charset="0"/>
                  <a:buChar char="•"/>
                </a:pPr>
                <a14:m>
                  <m:oMath xmlns:m="http://schemas.openxmlformats.org/officeDocument/2006/math">
                    <m:r>
                      <a:rPr lang="en-US" altLang="zh-TW" b="0" i="1" smtClean="0">
                        <a:latin typeface="Cambria Math" panose="02040503050406030204" pitchFamily="18" charset="0"/>
                      </a:rPr>
                      <m:t>𝑅</m:t>
                    </m:r>
                    <m:r>
                      <a:rPr lang="en-US" altLang="zh-TW" b="0" i="1" smtClean="0">
                        <a:latin typeface="Cambria Math" panose="02040503050406030204" pitchFamily="18" charset="0"/>
                        <a:ea typeface="Cambria Math" panose="02040503050406030204" pitchFamily="18" charset="0"/>
                      </a:rPr>
                      <m:t>≤150</m:t>
                    </m:r>
                    <m:r>
                      <a:rPr lang="en-US" altLang="zh-TW" b="0" i="1" smtClean="0">
                        <a:latin typeface="Cambria Math" panose="02040503050406030204" pitchFamily="18" charset="0"/>
                        <a:ea typeface="Cambria Math" panose="02040503050406030204" pitchFamily="18" charset="0"/>
                      </a:rPr>
                      <m:t>𝑢𝑚</m:t>
                    </m:r>
                  </m:oMath>
                </a14:m>
                <a:endParaRPr lang="en-US" altLang="zh-TW" dirty="0"/>
              </a:p>
              <a:p>
                <a:pPr marL="742950" lvl="1" indent="-285750">
                  <a:buFont typeface="Arial" panose="020B0604020202020204" pitchFamily="34" charset="0"/>
                  <a:buChar char="•"/>
                </a:pPr>
                <a:r>
                  <a:rPr lang="en-US" altLang="zh-TW" dirty="0"/>
                  <a:t>Capacity </a:t>
                </a:r>
                <a:r>
                  <a:rPr lang="en-US" altLang="zh-TW" dirty="0" err="1"/>
                  <a:t>mean:</a:t>
                </a:r>
                <a:r>
                  <a:rPr lang="en-US" altLang="zh-TW" dirty="0"/>
                  <a:t>A=</a:t>
                </a:r>
                <a14:m>
                  <m:oMath xmlns:m="http://schemas.openxmlformats.org/officeDocument/2006/math">
                    <m:r>
                      <a:rPr lang="en-US" altLang="zh-TW" b="0" i="1" smtClean="0">
                        <a:latin typeface="Cambria Math" panose="02040503050406030204" pitchFamily="18" charset="0"/>
                      </a:rPr>
                      <m:t>14.6246</m:t>
                    </m:r>
                    <m:f>
                      <m:fPr>
                        <m:type m:val="lin"/>
                        <m:ctrlPr>
                          <a:rPr lang="en-US" altLang="zh-TW" b="0" i="1" smtClean="0">
                            <a:latin typeface="Cambria Math" panose="02040503050406030204" pitchFamily="18" charset="0"/>
                          </a:rPr>
                        </m:ctrlPr>
                      </m:fPr>
                      <m:num>
                        <m:r>
                          <a:rPr lang="en-US" altLang="zh-TW" b="0" i="1" smtClean="0">
                            <a:latin typeface="Cambria Math" panose="02040503050406030204" pitchFamily="18" charset="0"/>
                          </a:rPr>
                          <m:t>𝑚𝑇</m:t>
                        </m:r>
                      </m:num>
                      <m:den>
                        <m:r>
                          <a:rPr lang="en-US" altLang="zh-TW" b="0" i="1" smtClean="0">
                            <a:latin typeface="Cambria Math" panose="02040503050406030204" pitchFamily="18" charset="0"/>
                          </a:rPr>
                          <m:t>𝐴</m:t>
                        </m:r>
                      </m:den>
                    </m:f>
                    <m:r>
                      <a:rPr lang="en-US" altLang="zh-TW" b="0" i="1" smtClean="0">
                        <a:latin typeface="Cambria Math" panose="02040503050406030204" pitchFamily="18" charset="0"/>
                      </a:rPr>
                      <m:t>,</m:t>
                    </m:r>
                    <m:r>
                      <a:rPr lang="en-US" altLang="zh-TW" b="0" i="1" smtClean="0">
                        <a:latin typeface="Cambria Math" panose="02040503050406030204" pitchFamily="18" charset="0"/>
                      </a:rPr>
                      <m:t>𝐵</m:t>
                    </m:r>
                    <m:r>
                      <a:rPr lang="en-US" altLang="zh-TW" b="0" i="1" smtClean="0">
                        <a:latin typeface="Cambria Math" panose="02040503050406030204" pitchFamily="18" charset="0"/>
                      </a:rPr>
                      <m:t>=39.5813</m:t>
                    </m:r>
                    <m:f>
                      <m:fPr>
                        <m:type m:val="lin"/>
                        <m:ctrlPr>
                          <a:rPr lang="en-US" altLang="zh-TW" b="0" i="1" smtClean="0">
                            <a:latin typeface="Cambria Math" panose="02040503050406030204" pitchFamily="18" charset="0"/>
                          </a:rPr>
                        </m:ctrlPr>
                      </m:fPr>
                      <m:num>
                        <m:r>
                          <a:rPr lang="en-US" altLang="zh-TW" b="0" i="1" smtClean="0">
                            <a:latin typeface="Cambria Math" panose="02040503050406030204" pitchFamily="18" charset="0"/>
                          </a:rPr>
                          <m:t>𝑚𝑇</m:t>
                        </m:r>
                      </m:num>
                      <m:den>
                        <m:r>
                          <a:rPr lang="en-US" altLang="zh-TW" b="0" i="1" smtClean="0">
                            <a:latin typeface="Cambria Math" panose="02040503050406030204" pitchFamily="18" charset="0"/>
                          </a:rPr>
                          <m:t>𝐴</m:t>
                        </m:r>
                      </m:den>
                    </m:f>
                  </m:oMath>
                </a14:m>
                <a:r>
                  <a:rPr lang="en-US" altLang="zh-TW" dirty="0"/>
                  <a:t> </a:t>
                </a:r>
              </a:p>
              <a:p>
                <a:pPr marL="742950" lvl="1" indent="-285750">
                  <a:buFont typeface="Arial" panose="020B0604020202020204" pitchFamily="34" charset="0"/>
                  <a:buChar char="•"/>
                </a:pPr>
                <a:r>
                  <a:rPr lang="en-US" altLang="zh-TW" dirty="0"/>
                  <a:t>Iso mean :A=</a:t>
                </a:r>
                <a14:m>
                  <m:oMath xmlns:m="http://schemas.openxmlformats.org/officeDocument/2006/math">
                    <m:r>
                      <a:rPr lang="en-US" altLang="zh-TW" b="0" i="1" smtClean="0">
                        <a:latin typeface="Cambria Math" panose="02040503050406030204" pitchFamily="18" charset="0"/>
                      </a:rPr>
                      <m:t>0.8836,</m:t>
                    </m:r>
                    <m:r>
                      <a:rPr lang="en-US" altLang="zh-TW" b="0" i="1" smtClean="0">
                        <a:latin typeface="Cambria Math" panose="02040503050406030204" pitchFamily="18" charset="0"/>
                      </a:rPr>
                      <m:t>𝐵</m:t>
                    </m:r>
                    <m:r>
                      <a:rPr lang="en-US" altLang="zh-TW" b="0" i="1" smtClean="0">
                        <a:latin typeface="Cambria Math" panose="02040503050406030204" pitchFamily="18" charset="0"/>
                      </a:rPr>
                      <m:t>=0.5439</m:t>
                    </m:r>
                  </m:oMath>
                </a14:m>
                <a:endParaRPr lang="en-US" altLang="zh-TW" dirty="0"/>
              </a:p>
              <a:p>
                <a:pPr marL="742950" lvl="1" indent="-285750">
                  <a:buFont typeface="Arial" panose="020B0604020202020204" pitchFamily="34" charset="0"/>
                  <a:buChar char="•"/>
                </a:pPr>
                <a:endParaRPr lang="en-US" altLang="zh-TW" dirty="0"/>
              </a:p>
              <a:p>
                <a:pPr marL="742950" lvl="1" indent="-285750">
                  <a:buFont typeface="Arial" panose="020B0604020202020204" pitchFamily="34" charset="0"/>
                  <a:buChar char="•"/>
                </a:pPr>
                <a:endParaRPr lang="en-US" altLang="zh-TW" dirty="0"/>
              </a:p>
              <a:p>
                <a:endParaRPr lang="zh-TW" altLang="en-US" dirty="0"/>
              </a:p>
            </p:txBody>
          </p:sp>
        </mc:Choice>
        <mc:Fallback xmlns="">
          <p:sp>
            <p:nvSpPr>
              <p:cNvPr id="36" name="文字方塊 35">
                <a:extLst>
                  <a:ext uri="{FF2B5EF4-FFF2-40B4-BE49-F238E27FC236}">
                    <a16:creationId xmlns:a16="http://schemas.microsoft.com/office/drawing/2014/main" id="{BC8D4A16-5CCA-40C5-9964-FFF5383065ED}"/>
                  </a:ext>
                </a:extLst>
              </p:cNvPr>
              <p:cNvSpPr txBox="1">
                <a:spLocks noRot="1" noChangeAspect="1" noMove="1" noResize="1" noEditPoints="1" noAdjustHandles="1" noChangeArrowheads="1" noChangeShapeType="1" noTextEdit="1"/>
              </p:cNvSpPr>
              <p:nvPr/>
            </p:nvSpPr>
            <p:spPr>
              <a:xfrm>
                <a:off x="233277" y="2076294"/>
                <a:ext cx="11928881" cy="1754326"/>
              </a:xfrm>
              <a:prstGeom prst="rect">
                <a:avLst/>
              </a:prstGeom>
              <a:blipFill>
                <a:blip r:embed="rId2"/>
                <a:stretch>
                  <a:fillRect l="-307" t="-9059"/>
                </a:stretch>
              </a:blipFill>
            </p:spPr>
            <p:txBody>
              <a:bodyPr/>
              <a:lstStyle/>
              <a:p>
                <a:r>
                  <a:rPr lang="zh-TW" altLang="en-US">
                    <a:noFill/>
                  </a:rPr>
                  <a:t> </a:t>
                </a:r>
              </a:p>
            </p:txBody>
          </p:sp>
        </mc:Fallback>
      </mc:AlternateContent>
      <p:grpSp>
        <p:nvGrpSpPr>
          <p:cNvPr id="14" name="群組 13">
            <a:extLst>
              <a:ext uri="{FF2B5EF4-FFF2-40B4-BE49-F238E27FC236}">
                <a16:creationId xmlns:a16="http://schemas.microsoft.com/office/drawing/2014/main" id="{1D558F2A-14D7-43F6-867F-2DFC236AF3D5}"/>
              </a:ext>
            </a:extLst>
          </p:cNvPr>
          <p:cNvGrpSpPr/>
          <p:nvPr/>
        </p:nvGrpSpPr>
        <p:grpSpPr>
          <a:xfrm>
            <a:off x="530396" y="3177110"/>
            <a:ext cx="4031324" cy="2985095"/>
            <a:chOff x="1332170" y="3219785"/>
            <a:chExt cx="4031324" cy="2985095"/>
          </a:xfrm>
        </p:grpSpPr>
        <p:grpSp>
          <p:nvGrpSpPr>
            <p:cNvPr id="10" name="群組 9">
              <a:extLst>
                <a:ext uri="{FF2B5EF4-FFF2-40B4-BE49-F238E27FC236}">
                  <a16:creationId xmlns:a16="http://schemas.microsoft.com/office/drawing/2014/main" id="{484B6FB1-1C36-4F0F-AB89-DA92DE8D9626}"/>
                </a:ext>
              </a:extLst>
            </p:cNvPr>
            <p:cNvGrpSpPr/>
            <p:nvPr/>
          </p:nvGrpSpPr>
          <p:grpSpPr>
            <a:xfrm>
              <a:off x="1332170" y="3219785"/>
              <a:ext cx="4031324" cy="2985095"/>
              <a:chOff x="1332170" y="3219785"/>
              <a:chExt cx="4031324" cy="2985095"/>
            </a:xfrm>
          </p:grpSpPr>
          <p:pic>
            <p:nvPicPr>
              <p:cNvPr id="4" name="圖片 3">
                <a:extLst>
                  <a:ext uri="{FF2B5EF4-FFF2-40B4-BE49-F238E27FC236}">
                    <a16:creationId xmlns:a16="http://schemas.microsoft.com/office/drawing/2014/main" id="{C9B2C0BC-8E37-4E43-91BC-B3AA4B68D35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39804" y="3219785"/>
                <a:ext cx="3923690" cy="2899745"/>
              </a:xfrm>
              <a:prstGeom prst="rect">
                <a:avLst/>
              </a:prstGeom>
            </p:spPr>
          </p:pic>
          <p:sp>
            <p:nvSpPr>
              <p:cNvPr id="8" name="矩形 7">
                <a:extLst>
                  <a:ext uri="{FF2B5EF4-FFF2-40B4-BE49-F238E27FC236}">
                    <a16:creationId xmlns:a16="http://schemas.microsoft.com/office/drawing/2014/main" id="{235ADB45-D627-407A-A687-F1BC575B846F}"/>
                  </a:ext>
                </a:extLst>
              </p:cNvPr>
              <p:cNvSpPr/>
              <p:nvPr/>
            </p:nvSpPr>
            <p:spPr>
              <a:xfrm>
                <a:off x="3107267" y="5892621"/>
                <a:ext cx="1016000" cy="31225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59532031-6E98-4741-9085-BA909E848C96}"/>
                  </a:ext>
                </a:extLst>
              </p:cNvPr>
              <p:cNvSpPr/>
              <p:nvPr/>
            </p:nvSpPr>
            <p:spPr>
              <a:xfrm rot="16200000">
                <a:off x="801366" y="4318803"/>
                <a:ext cx="1373867" cy="31225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38" name="文字方塊 37">
                  <a:extLst>
                    <a:ext uri="{FF2B5EF4-FFF2-40B4-BE49-F238E27FC236}">
                      <a16:creationId xmlns:a16="http://schemas.microsoft.com/office/drawing/2014/main" id="{5ED9784D-451D-4348-AEC2-B2DDAE348FA0}"/>
                    </a:ext>
                  </a:extLst>
                </p:cNvPr>
                <p:cNvSpPr txBox="1"/>
                <p:nvPr/>
              </p:nvSpPr>
              <p:spPr>
                <a:xfrm>
                  <a:off x="2290687" y="5824512"/>
                  <a:ext cx="183258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altLang="zh-TW" i="0" smtClean="0">
                            <a:latin typeface="Cambria Math" panose="02040503050406030204" pitchFamily="18" charset="0"/>
                            <a:ea typeface="Cambria Math" panose="02040503050406030204" pitchFamily="18" charset="0"/>
                          </a:rPr>
                          <m:t>C</m:t>
                        </m:r>
                        <m:r>
                          <m:rPr>
                            <m:sty m:val="p"/>
                          </m:rPr>
                          <a:rPr lang="en-US" altLang="zh-TW" b="0" i="0" smtClean="0">
                            <a:latin typeface="Cambria Math" panose="02040503050406030204" pitchFamily="18" charset="0"/>
                            <a:ea typeface="Cambria Math" panose="02040503050406030204" pitchFamily="18" charset="0"/>
                          </a:rPr>
                          <m:t>apacity</m:t>
                        </m:r>
                        <m:r>
                          <a:rPr lang="en-US" altLang="zh-TW" b="0" i="0" smtClean="0">
                            <a:latin typeface="Cambria Math" panose="02040503050406030204" pitchFamily="18" charset="0"/>
                            <a:ea typeface="Cambria Math" panose="02040503050406030204" pitchFamily="18" charset="0"/>
                          </a:rPr>
                          <m:t> </m:t>
                        </m:r>
                        <m:r>
                          <m:rPr>
                            <m:sty m:val="p"/>
                          </m:rPr>
                          <a:rPr lang="en-US" altLang="zh-TW" b="0" i="0" smtClean="0">
                            <a:latin typeface="Cambria Math" panose="02040503050406030204" pitchFamily="18" charset="0"/>
                            <a:ea typeface="Cambria Math" panose="02040503050406030204" pitchFamily="18" charset="0"/>
                          </a:rPr>
                          <m:t>measure</m:t>
                        </m:r>
                        <m:r>
                          <a:rPr lang="en-US" altLang="zh-TW" b="0" i="0" smtClean="0">
                            <a:latin typeface="Cambria Math" panose="02040503050406030204" pitchFamily="18" charset="0"/>
                            <a:ea typeface="Cambria Math" panose="02040503050406030204" pitchFamily="18" charset="0"/>
                          </a:rPr>
                          <m:t> </m:t>
                        </m:r>
                        <m:r>
                          <a:rPr lang="en-US" altLang="zh-TW" b="0" i="1" smtClean="0">
                            <a:latin typeface="Cambria Math" panose="02040503050406030204" pitchFamily="18" charset="0"/>
                            <a:ea typeface="Cambria Math" panose="02040503050406030204" pitchFamily="18" charset="0"/>
                          </a:rPr>
                          <m:t>(</m:t>
                        </m:r>
                        <m:f>
                          <m:fPr>
                            <m:type m:val="lin"/>
                            <m:ctrlPr>
                              <a:rPr lang="en-US" altLang="zh-TW" b="0" i="1" smtClean="0">
                                <a:latin typeface="Cambria Math" panose="02040503050406030204" pitchFamily="18" charset="0"/>
                                <a:ea typeface="Cambria Math" panose="02040503050406030204" pitchFamily="18" charset="0"/>
                              </a:rPr>
                            </m:ctrlPr>
                          </m:fPr>
                          <m:num>
                            <m:r>
                              <a:rPr lang="en-US" altLang="zh-TW" b="0" i="1" smtClean="0">
                                <a:latin typeface="Cambria Math" panose="02040503050406030204" pitchFamily="18" charset="0"/>
                                <a:ea typeface="Cambria Math" panose="02040503050406030204" pitchFamily="18" charset="0"/>
                              </a:rPr>
                              <m:t>𝑚𝑇</m:t>
                            </m:r>
                          </m:num>
                          <m:den>
                            <m:r>
                              <a:rPr lang="en-US" altLang="zh-TW" b="0" i="1" smtClean="0">
                                <a:latin typeface="Cambria Math" panose="02040503050406030204" pitchFamily="18" charset="0"/>
                                <a:ea typeface="Cambria Math" panose="02040503050406030204" pitchFamily="18" charset="0"/>
                              </a:rPr>
                              <m:t>𝐴</m:t>
                            </m:r>
                          </m:den>
                        </m:f>
                        <m:r>
                          <a:rPr lang="en-US" altLang="zh-TW" b="0" i="1" smtClean="0">
                            <a:latin typeface="Cambria Math" panose="02040503050406030204" pitchFamily="18" charset="0"/>
                            <a:ea typeface="Cambria Math" panose="02040503050406030204" pitchFamily="18" charset="0"/>
                          </a:rPr>
                          <m:t>)</m:t>
                        </m:r>
                      </m:oMath>
                    </m:oMathPara>
                  </a14:m>
                  <a:endParaRPr lang="zh-TW" altLang="en-US" sz="2400" dirty="0"/>
                </a:p>
              </p:txBody>
            </p:sp>
          </mc:Choice>
          <mc:Fallback xmlns="">
            <p:sp>
              <p:nvSpPr>
                <p:cNvPr id="38" name="文字方塊 37">
                  <a:extLst>
                    <a:ext uri="{FF2B5EF4-FFF2-40B4-BE49-F238E27FC236}">
                      <a16:creationId xmlns:a16="http://schemas.microsoft.com/office/drawing/2014/main" id="{5ED9784D-451D-4348-AEC2-B2DDAE348FA0}"/>
                    </a:ext>
                  </a:extLst>
                </p:cNvPr>
                <p:cNvSpPr txBox="1">
                  <a:spLocks noRot="1" noChangeAspect="1" noMove="1" noResize="1" noEditPoints="1" noAdjustHandles="1" noChangeArrowheads="1" noChangeShapeType="1" noTextEdit="1"/>
                </p:cNvSpPr>
                <p:nvPr/>
              </p:nvSpPr>
              <p:spPr>
                <a:xfrm>
                  <a:off x="2290687" y="5824512"/>
                  <a:ext cx="1832580" cy="369332"/>
                </a:xfrm>
                <a:prstGeom prst="rect">
                  <a:avLst/>
                </a:prstGeom>
                <a:blipFill>
                  <a:blip r:embed="rId4"/>
                  <a:stretch>
                    <a:fillRect t="-118333" r="-72757" b="-18000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9" name="文字方塊 38">
                  <a:extLst>
                    <a:ext uri="{FF2B5EF4-FFF2-40B4-BE49-F238E27FC236}">
                      <a16:creationId xmlns:a16="http://schemas.microsoft.com/office/drawing/2014/main" id="{832ECC67-316D-448E-8C37-98F7B0F4DC79}"/>
                    </a:ext>
                  </a:extLst>
                </p:cNvPr>
                <p:cNvSpPr txBox="1"/>
                <p:nvPr/>
              </p:nvSpPr>
              <p:spPr>
                <a:xfrm rot="16200000">
                  <a:off x="416731" y="4331740"/>
                  <a:ext cx="2192139"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altLang="zh-TW" b="0" i="0" smtClean="0">
                            <a:latin typeface="Cambria Math" panose="02040503050406030204" pitchFamily="18" charset="0"/>
                          </a:rPr>
                          <m:t>Percentage</m:t>
                        </m:r>
                        <m:r>
                          <a:rPr lang="zh-TW" altLang="en-US" i="1">
                            <a:latin typeface="Cambria Math" panose="02040503050406030204" pitchFamily="18" charset="0"/>
                          </a:rPr>
                          <m:t> </m:t>
                        </m:r>
                        <m:r>
                          <m:rPr>
                            <m:sty m:val="p"/>
                          </m:rPr>
                          <a:rPr lang="en-US" altLang="zh-TW" b="0" i="0" smtClean="0">
                            <a:latin typeface="Cambria Math" panose="02040503050406030204" pitchFamily="18" charset="0"/>
                          </a:rPr>
                          <m:t>count</m:t>
                        </m:r>
                        <m:r>
                          <a:rPr lang="en-US" altLang="zh-TW" b="0" i="1" smtClean="0">
                            <a:latin typeface="Cambria Math" panose="02040503050406030204" pitchFamily="18" charset="0"/>
                          </a:rPr>
                          <m:t>(%)</m:t>
                        </m:r>
                      </m:oMath>
                    </m:oMathPara>
                  </a14:m>
                  <a:endParaRPr lang="zh-TW" altLang="en-US" sz="2400" dirty="0"/>
                </a:p>
              </p:txBody>
            </p:sp>
          </mc:Choice>
          <mc:Fallback xmlns="">
            <p:sp>
              <p:nvSpPr>
                <p:cNvPr id="39" name="文字方塊 38">
                  <a:extLst>
                    <a:ext uri="{FF2B5EF4-FFF2-40B4-BE49-F238E27FC236}">
                      <a16:creationId xmlns:a16="http://schemas.microsoft.com/office/drawing/2014/main" id="{832ECC67-316D-448E-8C37-98F7B0F4DC79}"/>
                    </a:ext>
                  </a:extLst>
                </p:cNvPr>
                <p:cNvSpPr txBox="1">
                  <a:spLocks noRot="1" noChangeAspect="1" noMove="1" noResize="1" noEditPoints="1" noAdjustHandles="1" noChangeArrowheads="1" noChangeShapeType="1" noTextEdit="1"/>
                </p:cNvSpPr>
                <p:nvPr/>
              </p:nvSpPr>
              <p:spPr>
                <a:xfrm rot="16200000">
                  <a:off x="416731" y="4331740"/>
                  <a:ext cx="2192139" cy="276999"/>
                </a:xfrm>
                <a:prstGeom prst="rect">
                  <a:avLst/>
                </a:prstGeom>
                <a:blipFill>
                  <a:blip r:embed="rId5"/>
                  <a:stretch>
                    <a:fillRect l="-2222" t="-3064" r="-35556" b="-2507"/>
                  </a:stretch>
                </a:blipFill>
              </p:spPr>
              <p:txBody>
                <a:bodyPr/>
                <a:lstStyle/>
                <a:p>
                  <a:r>
                    <a:rPr lang="zh-TW" altLang="en-US">
                      <a:noFill/>
                    </a:rPr>
                    <a:t> </a:t>
                  </a:r>
                </a:p>
              </p:txBody>
            </p:sp>
          </mc:Fallback>
        </mc:AlternateContent>
      </p:grpSp>
      <p:grpSp>
        <p:nvGrpSpPr>
          <p:cNvPr id="11" name="群組 10">
            <a:extLst>
              <a:ext uri="{FF2B5EF4-FFF2-40B4-BE49-F238E27FC236}">
                <a16:creationId xmlns:a16="http://schemas.microsoft.com/office/drawing/2014/main" id="{5D72ED91-C0EB-43DC-8D91-0F641CE88F1C}"/>
              </a:ext>
            </a:extLst>
          </p:cNvPr>
          <p:cNvGrpSpPr/>
          <p:nvPr/>
        </p:nvGrpSpPr>
        <p:grpSpPr>
          <a:xfrm>
            <a:off x="6952571" y="3666826"/>
            <a:ext cx="2691752" cy="2290250"/>
            <a:chOff x="6672153" y="3864289"/>
            <a:chExt cx="2691752" cy="2290250"/>
          </a:xfrm>
        </p:grpSpPr>
        <p:sp>
          <p:nvSpPr>
            <p:cNvPr id="37" name="矩形 36">
              <a:extLst>
                <a:ext uri="{FF2B5EF4-FFF2-40B4-BE49-F238E27FC236}">
                  <a16:creationId xmlns:a16="http://schemas.microsoft.com/office/drawing/2014/main" id="{6DFEC5DC-57FA-452C-BC7B-B54575F5C83A}"/>
                </a:ext>
              </a:extLst>
            </p:cNvPr>
            <p:cNvSpPr/>
            <p:nvPr/>
          </p:nvSpPr>
          <p:spPr>
            <a:xfrm rot="16200000">
              <a:off x="6085426" y="4451016"/>
              <a:ext cx="1469372" cy="29591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1" name="矩形 30">
              <a:extLst>
                <a:ext uri="{FF2B5EF4-FFF2-40B4-BE49-F238E27FC236}">
                  <a16:creationId xmlns:a16="http://schemas.microsoft.com/office/drawing/2014/main" id="{9FE43A22-15EA-4BDB-8BBD-E6201C292CE3}"/>
                </a:ext>
              </a:extLst>
            </p:cNvPr>
            <p:cNvSpPr/>
            <p:nvPr/>
          </p:nvSpPr>
          <p:spPr>
            <a:xfrm>
              <a:off x="8347905" y="5842280"/>
              <a:ext cx="1016000" cy="31225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42" name="文字方塊 41">
            <a:extLst>
              <a:ext uri="{FF2B5EF4-FFF2-40B4-BE49-F238E27FC236}">
                <a16:creationId xmlns:a16="http://schemas.microsoft.com/office/drawing/2014/main" id="{B9B12945-3B26-47E4-A0C4-3863F0238015}"/>
              </a:ext>
            </a:extLst>
          </p:cNvPr>
          <p:cNvSpPr txBox="1"/>
          <p:nvPr/>
        </p:nvSpPr>
        <p:spPr>
          <a:xfrm>
            <a:off x="233277" y="6314135"/>
            <a:ext cx="4626590" cy="369332"/>
          </a:xfrm>
          <a:prstGeom prst="rect">
            <a:avLst/>
          </a:prstGeom>
          <a:noFill/>
        </p:spPr>
        <p:txBody>
          <a:bodyPr wrap="square">
            <a:spAutoFit/>
          </a:bodyPr>
          <a:lstStyle/>
          <a:p>
            <a:pPr marL="285750" indent="-285750">
              <a:buFont typeface="Arial" panose="020B0604020202020204" pitchFamily="34" charset="0"/>
              <a:buChar char="•"/>
            </a:pPr>
            <a:r>
              <a:rPr lang="en-US" altLang="zh-TW" dirty="0"/>
              <a:t>This figure resolution is 0.05mT/A </a:t>
            </a:r>
          </a:p>
        </p:txBody>
      </p:sp>
      <p:sp>
        <p:nvSpPr>
          <p:cNvPr id="43" name="文字方塊 42">
            <a:extLst>
              <a:ext uri="{FF2B5EF4-FFF2-40B4-BE49-F238E27FC236}">
                <a16:creationId xmlns:a16="http://schemas.microsoft.com/office/drawing/2014/main" id="{BF8620F4-E2B0-4F31-ACB6-4A4DE7CD4C07}"/>
              </a:ext>
            </a:extLst>
          </p:cNvPr>
          <p:cNvSpPr txBox="1"/>
          <p:nvPr/>
        </p:nvSpPr>
        <p:spPr>
          <a:xfrm>
            <a:off x="6894547" y="6250292"/>
            <a:ext cx="4626590" cy="369332"/>
          </a:xfrm>
          <a:prstGeom prst="rect">
            <a:avLst/>
          </a:prstGeom>
          <a:noFill/>
        </p:spPr>
        <p:txBody>
          <a:bodyPr wrap="square">
            <a:spAutoFit/>
          </a:bodyPr>
          <a:lstStyle/>
          <a:p>
            <a:pPr marL="285750" indent="-285750">
              <a:buFont typeface="Arial" panose="020B0604020202020204" pitchFamily="34" charset="0"/>
              <a:buChar char="•"/>
            </a:pPr>
            <a:r>
              <a:rPr lang="en-US" altLang="zh-TW" dirty="0"/>
              <a:t>This figure resolution is 0.01</a:t>
            </a:r>
          </a:p>
        </p:txBody>
      </p:sp>
      <p:grpSp>
        <p:nvGrpSpPr>
          <p:cNvPr id="15" name="群組 14">
            <a:extLst>
              <a:ext uri="{FF2B5EF4-FFF2-40B4-BE49-F238E27FC236}">
                <a16:creationId xmlns:a16="http://schemas.microsoft.com/office/drawing/2014/main" id="{BD61B173-4718-4D76-92A7-C6440603C625}"/>
              </a:ext>
            </a:extLst>
          </p:cNvPr>
          <p:cNvGrpSpPr/>
          <p:nvPr/>
        </p:nvGrpSpPr>
        <p:grpSpPr>
          <a:xfrm>
            <a:off x="7272870" y="3270668"/>
            <a:ext cx="3323835" cy="2548264"/>
            <a:chOff x="7272870" y="3270668"/>
            <a:chExt cx="3323835" cy="2548264"/>
          </a:xfrm>
        </p:grpSpPr>
        <p:pic>
          <p:nvPicPr>
            <p:cNvPr id="6" name="圖片 5">
              <a:extLst>
                <a:ext uri="{FF2B5EF4-FFF2-40B4-BE49-F238E27FC236}">
                  <a16:creationId xmlns:a16="http://schemas.microsoft.com/office/drawing/2014/main" id="{F519D580-FAD7-43A2-89F2-28E45C9042B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340909" y="3270668"/>
              <a:ext cx="3255796" cy="2489200"/>
            </a:xfrm>
            <a:prstGeom prst="rect">
              <a:avLst/>
            </a:prstGeom>
          </p:spPr>
        </p:pic>
        <p:sp>
          <p:nvSpPr>
            <p:cNvPr id="13" name="矩形 12">
              <a:extLst>
                <a:ext uri="{FF2B5EF4-FFF2-40B4-BE49-F238E27FC236}">
                  <a16:creationId xmlns:a16="http://schemas.microsoft.com/office/drawing/2014/main" id="{0A9AE2B9-4C41-4A3E-922B-83C28C90CB91}"/>
                </a:ext>
              </a:extLst>
            </p:cNvPr>
            <p:cNvSpPr/>
            <p:nvPr/>
          </p:nvSpPr>
          <p:spPr>
            <a:xfrm>
              <a:off x="8968807" y="5644817"/>
              <a:ext cx="396116" cy="17411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4" name="矩形 43">
              <a:extLst>
                <a:ext uri="{FF2B5EF4-FFF2-40B4-BE49-F238E27FC236}">
                  <a16:creationId xmlns:a16="http://schemas.microsoft.com/office/drawing/2014/main" id="{4E527427-3575-4CD7-BFB1-42BB333B4950}"/>
                </a:ext>
              </a:extLst>
            </p:cNvPr>
            <p:cNvSpPr/>
            <p:nvPr/>
          </p:nvSpPr>
          <p:spPr>
            <a:xfrm rot="16200000">
              <a:off x="6812141" y="4229538"/>
              <a:ext cx="1133126" cy="21166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7DCE6E4-3C26-4618-90E7-27B159EE30A3}"/>
                  </a:ext>
                </a:extLst>
              </p:cNvPr>
              <p:cNvSpPr txBox="1"/>
              <p:nvPr/>
            </p:nvSpPr>
            <p:spPr>
              <a:xfrm rot="16200000">
                <a:off x="6306602" y="4228238"/>
                <a:ext cx="2192139"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altLang="zh-TW" b="0" i="0" smtClean="0">
                          <a:latin typeface="Cambria Math" panose="02040503050406030204" pitchFamily="18" charset="0"/>
                        </a:rPr>
                        <m:t>Percentage</m:t>
                      </m:r>
                      <m:r>
                        <a:rPr lang="zh-TW" altLang="en-US" i="1">
                          <a:latin typeface="Cambria Math" panose="02040503050406030204" pitchFamily="18" charset="0"/>
                        </a:rPr>
                        <m:t> </m:t>
                      </m:r>
                      <m:r>
                        <m:rPr>
                          <m:sty m:val="p"/>
                        </m:rPr>
                        <a:rPr lang="en-US" altLang="zh-TW" b="0" i="0" smtClean="0">
                          <a:latin typeface="Cambria Math" panose="02040503050406030204" pitchFamily="18" charset="0"/>
                        </a:rPr>
                        <m:t>count</m:t>
                      </m:r>
                      <m:r>
                        <a:rPr lang="en-US" altLang="zh-TW" b="0" i="1" smtClean="0">
                          <a:latin typeface="Cambria Math" panose="02040503050406030204" pitchFamily="18" charset="0"/>
                        </a:rPr>
                        <m:t>(%)</m:t>
                      </m:r>
                    </m:oMath>
                  </m:oMathPara>
                </a14:m>
                <a:endParaRPr lang="zh-TW" altLang="en-US" sz="2400" dirty="0"/>
              </a:p>
            </p:txBody>
          </p:sp>
        </mc:Choice>
        <mc:Fallback xmlns="">
          <p:sp>
            <p:nvSpPr>
              <p:cNvPr id="41" name="文字方塊 40">
                <a:extLst>
                  <a:ext uri="{FF2B5EF4-FFF2-40B4-BE49-F238E27FC236}">
                    <a16:creationId xmlns:a16="http://schemas.microsoft.com/office/drawing/2014/main" id="{57DCE6E4-3C26-4618-90E7-27B159EE30A3}"/>
                  </a:ext>
                </a:extLst>
              </p:cNvPr>
              <p:cNvSpPr txBox="1">
                <a:spLocks noRot="1" noChangeAspect="1" noMove="1" noResize="1" noEditPoints="1" noAdjustHandles="1" noChangeArrowheads="1" noChangeShapeType="1" noTextEdit="1"/>
              </p:cNvSpPr>
              <p:nvPr/>
            </p:nvSpPr>
            <p:spPr>
              <a:xfrm rot="16200000">
                <a:off x="6306602" y="4228238"/>
                <a:ext cx="2192139" cy="276999"/>
              </a:xfrm>
              <a:prstGeom prst="rect">
                <a:avLst/>
              </a:prstGeom>
              <a:blipFill>
                <a:blip r:embed="rId7"/>
                <a:stretch>
                  <a:fillRect l="-4444" t="-3064" r="-35556" b="-250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4E9418D1-0ECC-4514-8FB2-4DD66B16CA12}"/>
                  </a:ext>
                </a:extLst>
              </p:cNvPr>
              <p:cNvSpPr txBox="1"/>
              <p:nvPr/>
            </p:nvSpPr>
            <p:spPr>
              <a:xfrm>
                <a:off x="8226749" y="5554726"/>
                <a:ext cx="183258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altLang="zh-TW" i="0" smtClean="0">
                          <a:latin typeface="Cambria Math" panose="02040503050406030204" pitchFamily="18" charset="0"/>
                          <a:ea typeface="Cambria Math" panose="02040503050406030204" pitchFamily="18" charset="0"/>
                        </a:rPr>
                        <m:t>I</m:t>
                      </m:r>
                      <m:r>
                        <m:rPr>
                          <m:sty m:val="p"/>
                        </m:rPr>
                        <a:rPr lang="en-US" altLang="zh-TW" b="0" i="0" smtClean="0">
                          <a:latin typeface="Cambria Math" panose="02040503050406030204" pitchFamily="18" charset="0"/>
                          <a:ea typeface="Cambria Math" panose="02040503050406030204" pitchFamily="18" charset="0"/>
                        </a:rPr>
                        <m:t>sotropy</m:t>
                      </m:r>
                    </m:oMath>
                  </m:oMathPara>
                </a14:m>
                <a:endParaRPr lang="zh-TW" altLang="en-US" sz="2400" dirty="0"/>
              </a:p>
            </p:txBody>
          </p:sp>
        </mc:Choice>
        <mc:Fallback xmlns="">
          <p:sp>
            <p:nvSpPr>
              <p:cNvPr id="40" name="文字方塊 39">
                <a:extLst>
                  <a:ext uri="{FF2B5EF4-FFF2-40B4-BE49-F238E27FC236}">
                    <a16:creationId xmlns:a16="http://schemas.microsoft.com/office/drawing/2014/main" id="{4E9418D1-0ECC-4514-8FB2-4DD66B16CA12}"/>
                  </a:ext>
                </a:extLst>
              </p:cNvPr>
              <p:cNvSpPr txBox="1">
                <a:spLocks noRot="1" noChangeAspect="1" noMove="1" noResize="1" noEditPoints="1" noAdjustHandles="1" noChangeArrowheads="1" noChangeShapeType="1" noTextEdit="1"/>
              </p:cNvSpPr>
              <p:nvPr/>
            </p:nvSpPr>
            <p:spPr>
              <a:xfrm>
                <a:off x="8226749" y="5554726"/>
                <a:ext cx="1832580" cy="369332"/>
              </a:xfrm>
              <a:prstGeom prst="rect">
                <a:avLst/>
              </a:prstGeom>
              <a:blipFill>
                <a:blip r:embed="rId8"/>
                <a:stretch>
                  <a:fillRect b="-9836"/>
                </a:stretch>
              </a:blipFill>
            </p:spPr>
            <p:txBody>
              <a:bodyPr/>
              <a:lstStyle/>
              <a:p>
                <a:r>
                  <a:rPr lang="zh-TW" altLang="en-US">
                    <a:noFill/>
                  </a:rPr>
                  <a:t> </a:t>
                </a:r>
              </a:p>
            </p:txBody>
          </p:sp>
        </mc:Fallback>
      </mc:AlternateContent>
      <p:sp>
        <p:nvSpPr>
          <p:cNvPr id="53" name="文字方塊 52">
            <a:extLst>
              <a:ext uri="{FF2B5EF4-FFF2-40B4-BE49-F238E27FC236}">
                <a16:creationId xmlns:a16="http://schemas.microsoft.com/office/drawing/2014/main" id="{0DD9E4FF-1601-4325-B042-9AA513DEEE52}"/>
              </a:ext>
            </a:extLst>
          </p:cNvPr>
          <p:cNvSpPr txBox="1"/>
          <p:nvPr/>
        </p:nvSpPr>
        <p:spPr>
          <a:xfrm>
            <a:off x="212687" y="686879"/>
            <a:ext cx="11843846" cy="1477328"/>
          </a:xfrm>
          <a:prstGeom prst="rect">
            <a:avLst/>
          </a:prstGeom>
          <a:noFill/>
        </p:spPr>
        <p:txBody>
          <a:bodyPr wrap="square">
            <a:spAutoFit/>
          </a:bodyPr>
          <a:lstStyle/>
          <a:p>
            <a:pPr marL="285750" indent="-285750">
              <a:buFont typeface="Arial" panose="020B0604020202020204" pitchFamily="34" charset="0"/>
              <a:buChar char="•"/>
            </a:pPr>
            <a:r>
              <a:rPr lang="zh-TW" altLang="en-US" dirty="0"/>
              <a:t>The two designs are completely disjoint in both metrics. In gain, Design B reaches 2.71× Design A (39.58 vs 14.62 mT/A); in isotropy, only 0.62× (</a:t>
            </a:r>
            <a:r>
              <a:rPr lang="en-US" altLang="zh-TW" dirty="0"/>
              <a:t>Isotropy</a:t>
            </a:r>
            <a:r>
              <a:rPr lang="zh-TW" altLang="en-US" dirty="0"/>
              <a:t> = 0.544 vs 0.884). Design A is also the tighter of the two (CV = 0.93 % vs 1.66 % for </a:t>
            </a:r>
            <a:r>
              <a:rPr lang="en-US" altLang="zh-TW" dirty="0"/>
              <a:t>Capacity</a:t>
            </a:r>
            <a:r>
              <a:rPr lang="zh-TW" altLang="en-US" dirty="0"/>
              <a:t>, 4.67 % vs 8.02 % for </a:t>
            </a:r>
            <a:r>
              <a:rPr lang="en-US" altLang="zh-TW" dirty="0"/>
              <a:t>isotropy</a:t>
            </a:r>
            <a:r>
              <a:rPr lang="zh-TW" altLang="en-US" dirty="0"/>
              <a:t>).</a:t>
            </a:r>
            <a:r>
              <a:rPr lang="en-US" altLang="zh-TW" dirty="0"/>
              <a:t> Each design sits at one end of a direct trade-off between strength and isotropy — neither is uniformly better. Design B suits applications demanding large force output, Design A those needing balanced three-axis control.</a:t>
            </a:r>
            <a:endParaRPr lang="zh-TW" altLang="en-US" dirty="0"/>
          </a:p>
        </p:txBody>
      </p:sp>
    </p:spTree>
    <p:extLst>
      <p:ext uri="{BB962C8B-B14F-4D97-AF65-F5344CB8AC3E}">
        <p14:creationId xmlns:p14="http://schemas.microsoft.com/office/powerpoint/2010/main" val="38895079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Reference</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18" name="矩形 17">
            <a:extLst>
              <a:ext uri="{FF2B5EF4-FFF2-40B4-BE49-F238E27FC236}">
                <a16:creationId xmlns:a16="http://schemas.microsoft.com/office/drawing/2014/main" id="{D626DE7A-F9C6-47BF-9503-E4D79EF03BB4}"/>
              </a:ext>
            </a:extLst>
          </p:cNvPr>
          <p:cNvSpPr/>
          <p:nvPr/>
        </p:nvSpPr>
        <p:spPr>
          <a:xfrm rot="21166399">
            <a:off x="8390467" y="5858933"/>
            <a:ext cx="1877540" cy="330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1" name="文字方塊 20">
                <a:extLst>
                  <a:ext uri="{FF2B5EF4-FFF2-40B4-BE49-F238E27FC236}">
                    <a16:creationId xmlns:a16="http://schemas.microsoft.com/office/drawing/2014/main" id="{527AD032-2BCD-42FA-94F3-08857DF7AF3A}"/>
                  </a:ext>
                </a:extLst>
              </p:cNvPr>
              <p:cNvSpPr txBox="1"/>
              <p:nvPr/>
            </p:nvSpPr>
            <p:spPr>
              <a:xfrm>
                <a:off x="110067" y="552085"/>
                <a:ext cx="11763465" cy="383567"/>
              </a:xfrm>
              <a:prstGeom prst="rect">
                <a:avLst/>
              </a:prstGeom>
              <a:noFill/>
            </p:spPr>
            <p:txBody>
              <a:bodyPr wrap="square">
                <a:spAutoFit/>
              </a:bodyPr>
              <a:lstStyle/>
              <a:p>
                <a:pPr marL="285750" indent="-285750">
                  <a:buFont typeface="Arial" panose="020B0604020202020204" pitchFamily="34" charset="0"/>
                  <a:buChar char="•"/>
                </a:pPr>
                <a14:m>
                  <m:oMath xmlns:m="http://schemas.openxmlformats.org/officeDocument/2006/math">
                    <m:r>
                      <a:rPr lang="en-US" altLang="zh-TW" b="0" i="1" smtClean="0">
                        <a:latin typeface="Cambria Math" panose="02040503050406030204" pitchFamily="18" charset="0"/>
                      </a:rPr>
                      <m:t>𝑊𝑜𝑟𝑘𝑠𝑝𝑎𝑐𝑒</m:t>
                    </m:r>
                    <m:r>
                      <a:rPr lang="en-US" altLang="zh-TW" b="0" i="1" smtClean="0">
                        <a:latin typeface="Cambria Math" panose="02040503050406030204" pitchFamily="18" charset="0"/>
                      </a:rPr>
                      <m:t> </m:t>
                    </m:r>
                    <m:r>
                      <a:rPr lang="en-US" altLang="zh-TW" b="0" i="1" smtClean="0">
                        <a:latin typeface="Cambria Math" panose="02040503050406030204" pitchFamily="18" charset="0"/>
                      </a:rPr>
                      <m:t>𝑟𝑎𝑑𝑖𝑢𝑠</m:t>
                    </m:r>
                    <m:r>
                      <a:rPr lang="en-US" altLang="zh-TW" b="0" i="1" smtClean="0">
                        <a:latin typeface="Cambria Math" panose="02040503050406030204" pitchFamily="18" charset="0"/>
                      </a:rPr>
                      <m:t>=</m:t>
                    </m:r>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ea typeface="Cambria Math" panose="02040503050406030204" pitchFamily="18" charset="0"/>
                          </a:rPr>
                          <m:t>ℓ</m:t>
                        </m:r>
                      </m:e>
                    </m:acc>
                  </m:oMath>
                </a14:m>
                <a:endParaRPr lang="zh-TW" altLang="en-US" dirty="0"/>
              </a:p>
            </p:txBody>
          </p:sp>
        </mc:Choice>
        <mc:Fallback xmlns="">
          <p:sp>
            <p:nvSpPr>
              <p:cNvPr id="21" name="文字方塊 20">
                <a:extLst>
                  <a:ext uri="{FF2B5EF4-FFF2-40B4-BE49-F238E27FC236}">
                    <a16:creationId xmlns:a16="http://schemas.microsoft.com/office/drawing/2014/main" id="{527AD032-2BCD-42FA-94F3-08857DF7AF3A}"/>
                  </a:ext>
                </a:extLst>
              </p:cNvPr>
              <p:cNvSpPr txBox="1">
                <a:spLocks noRot="1" noChangeAspect="1" noMove="1" noResize="1" noEditPoints="1" noAdjustHandles="1" noChangeArrowheads="1" noChangeShapeType="1" noTextEdit="1"/>
              </p:cNvSpPr>
              <p:nvPr/>
            </p:nvSpPr>
            <p:spPr>
              <a:xfrm>
                <a:off x="110067" y="552085"/>
                <a:ext cx="11763465" cy="383567"/>
              </a:xfrm>
              <a:prstGeom prst="rect">
                <a:avLst/>
              </a:prstGeom>
              <a:blipFill>
                <a:blip r:embed="rId2"/>
                <a:stretch>
                  <a:fillRect l="-311" t="-1613" b="-2096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4" name="文字方塊 13">
                <a:extLst>
                  <a:ext uri="{FF2B5EF4-FFF2-40B4-BE49-F238E27FC236}">
                    <a16:creationId xmlns:a16="http://schemas.microsoft.com/office/drawing/2014/main" id="{2DEABB3D-9062-4DA4-A120-2766352A3F4C}"/>
                  </a:ext>
                </a:extLst>
              </p:cNvPr>
              <p:cNvSpPr txBox="1"/>
              <p:nvPr/>
            </p:nvSpPr>
            <p:spPr>
              <a:xfrm>
                <a:off x="110067" y="1103976"/>
                <a:ext cx="4258733" cy="369332"/>
              </a:xfrm>
              <a:prstGeom prst="rect">
                <a:avLst/>
              </a:prstGeom>
              <a:noFill/>
            </p:spPr>
            <p:txBody>
              <a:bodyPr wrap="square">
                <a:spAutoFit/>
              </a:bodyPr>
              <a:lstStyle/>
              <a:p>
                <a:pPr marL="285750" indent="-285750">
                  <a:buFont typeface="Arial" panose="020B0604020202020204" pitchFamily="34" charset="0"/>
                  <a:buChar char="•"/>
                </a:pPr>
                <a14:m>
                  <m:oMath xmlns:m="http://schemas.openxmlformats.org/officeDocument/2006/math">
                    <m:r>
                      <a:rPr lang="en-US" altLang="zh-TW" b="0" i="1" smtClean="0">
                        <a:latin typeface="Cambria Math" panose="02040503050406030204" pitchFamily="18" charset="0"/>
                        <a:ea typeface="Cambria Math" panose="02040503050406030204" pitchFamily="18" charset="0"/>
                      </a:rPr>
                      <m:t>𝐹𝑙𝑢𝑥</m:t>
                    </m:r>
                    <m:r>
                      <a:rPr lang="en-US" altLang="zh-TW" b="0" i="1" smtClean="0">
                        <a:latin typeface="Cambria Math" panose="02040503050406030204" pitchFamily="18" charset="0"/>
                        <a:ea typeface="Cambria Math" panose="02040503050406030204" pitchFamily="18" charset="0"/>
                      </a:rPr>
                      <m:t> </m:t>
                    </m:r>
                    <m:r>
                      <a:rPr lang="en-US" altLang="zh-TW" b="0" i="1" smtClean="0">
                        <a:latin typeface="Cambria Math" panose="02040503050406030204" pitchFamily="18" charset="0"/>
                        <a:ea typeface="Cambria Math" panose="02040503050406030204" pitchFamily="18" charset="0"/>
                      </a:rPr>
                      <m:t>𝑑𝑖𝑠𝑡𝑟𝑖𝑏𝑢𝑡𝑖𝑜𝑛</m:t>
                    </m:r>
                    <m:r>
                      <a:rPr lang="en-US" altLang="zh-TW" b="0" i="1" smtClean="0">
                        <a:latin typeface="Cambria Math" panose="02040503050406030204" pitchFamily="18" charset="0"/>
                        <a:ea typeface="Cambria Math" panose="02040503050406030204" pitchFamily="18" charset="0"/>
                      </a:rPr>
                      <m:t> </m:t>
                    </m:r>
                    <m:r>
                      <a:rPr lang="en-US" altLang="zh-TW" b="0" i="1" smtClean="0">
                        <a:latin typeface="Cambria Math" panose="02040503050406030204" pitchFamily="18" charset="0"/>
                        <a:ea typeface="Cambria Math" panose="02040503050406030204" pitchFamily="18" charset="0"/>
                      </a:rPr>
                      <m:t>𝑚𝑎𝑡𝑟𝑖𝑥</m:t>
                    </m:r>
                    <m:r>
                      <a:rPr lang="en-US" altLang="zh-TW" b="0" i="1" smtClean="0">
                        <a:latin typeface="Cambria Math" panose="02040503050406030204" pitchFamily="18" charset="0"/>
                        <a:ea typeface="Cambria Math" panose="02040503050406030204" pitchFamily="18" charset="0"/>
                      </a:rPr>
                      <m:t>=</m:t>
                    </m:r>
                    <m:sSub>
                      <m:sSubPr>
                        <m:ctrlPr>
                          <a:rPr lang="en-US" altLang="zh-TW" i="1" smtClean="0">
                            <a:latin typeface="Cambria Math" panose="02040503050406030204" pitchFamily="18" charset="0"/>
                          </a:rPr>
                        </m:ctrlPr>
                      </m:sSubPr>
                      <m:e>
                        <m:acc>
                          <m:accPr>
                            <m:chr m:val="̅"/>
                            <m:ctrlPr>
                              <a:rPr lang="en-US" altLang="zh-TW" i="1" smtClean="0">
                                <a:latin typeface="Cambria Math" panose="02040503050406030204" pitchFamily="18" charset="0"/>
                              </a:rPr>
                            </m:ctrlPr>
                          </m:accPr>
                          <m:e>
                            <m:r>
                              <a:rPr lang="en-US" altLang="zh-TW" b="0" i="1" smtClean="0">
                                <a:latin typeface="Cambria Math" panose="02040503050406030204" pitchFamily="18" charset="0"/>
                              </a:rPr>
                              <m:t>𝐾</m:t>
                            </m:r>
                          </m:e>
                        </m:acc>
                      </m:e>
                      <m:sub>
                        <m:r>
                          <a:rPr lang="en-US" altLang="zh-TW" b="0" i="1" smtClean="0">
                            <a:latin typeface="Cambria Math" panose="02040503050406030204" pitchFamily="18" charset="0"/>
                          </a:rPr>
                          <m:t>𝐼</m:t>
                        </m:r>
                      </m:sub>
                    </m:sSub>
                  </m:oMath>
                </a14:m>
                <a:endParaRPr lang="zh-TW" altLang="en-US" dirty="0"/>
              </a:p>
            </p:txBody>
          </p:sp>
        </mc:Choice>
        <mc:Fallback xmlns="">
          <p:sp>
            <p:nvSpPr>
              <p:cNvPr id="14" name="文字方塊 13">
                <a:extLst>
                  <a:ext uri="{FF2B5EF4-FFF2-40B4-BE49-F238E27FC236}">
                    <a16:creationId xmlns:a16="http://schemas.microsoft.com/office/drawing/2014/main" id="{2DEABB3D-9062-4DA4-A120-2766352A3F4C}"/>
                  </a:ext>
                </a:extLst>
              </p:cNvPr>
              <p:cNvSpPr txBox="1">
                <a:spLocks noRot="1" noChangeAspect="1" noMove="1" noResize="1" noEditPoints="1" noAdjustHandles="1" noChangeArrowheads="1" noChangeShapeType="1" noTextEdit="1"/>
              </p:cNvSpPr>
              <p:nvPr/>
            </p:nvSpPr>
            <p:spPr>
              <a:xfrm>
                <a:off x="110067" y="1103976"/>
                <a:ext cx="4258733" cy="369332"/>
              </a:xfrm>
              <a:prstGeom prst="rect">
                <a:avLst/>
              </a:prstGeom>
              <a:blipFill>
                <a:blip r:embed="rId3"/>
                <a:stretch>
                  <a:fillRect l="-858" t="-3279" b="-18033"/>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 name="文字方塊 14">
                <a:extLst>
                  <a:ext uri="{FF2B5EF4-FFF2-40B4-BE49-F238E27FC236}">
                    <a16:creationId xmlns:a16="http://schemas.microsoft.com/office/drawing/2014/main" id="{7423A256-C166-4717-91CD-2EEEBEC6306E}"/>
                  </a:ext>
                </a:extLst>
              </p:cNvPr>
              <p:cNvSpPr txBox="1"/>
              <p:nvPr/>
            </p:nvSpPr>
            <p:spPr>
              <a:xfrm>
                <a:off x="110067" y="1641632"/>
                <a:ext cx="4258733" cy="397673"/>
              </a:xfrm>
              <a:prstGeom prst="rect">
                <a:avLst/>
              </a:prstGeom>
              <a:noFill/>
            </p:spPr>
            <p:txBody>
              <a:bodyPr wrap="square">
                <a:spAutoFit/>
              </a:bodyPr>
              <a:lstStyle/>
              <a:p>
                <a:pPr marL="285750" indent="-285750">
                  <a:buFont typeface="Arial" panose="020B0604020202020204" pitchFamily="34" charset="0"/>
                  <a:buChar char="•"/>
                </a:pPr>
                <a14:m>
                  <m:oMath xmlns:m="http://schemas.openxmlformats.org/officeDocument/2006/math">
                    <m:r>
                      <a:rPr lang="en-US" altLang="zh-TW" b="0" i="1" smtClean="0">
                        <a:latin typeface="Cambria Math" panose="02040503050406030204" pitchFamily="18" charset="0"/>
                      </a:rPr>
                      <m:t>𝐶𝑢𝑟𝑟𝑒𝑛𝑡</m:t>
                    </m:r>
                    <m:r>
                      <a:rPr lang="en-US" altLang="zh-TW" b="0" i="1" smtClean="0">
                        <a:latin typeface="Cambria Math" panose="02040503050406030204" pitchFamily="18" charset="0"/>
                      </a:rPr>
                      <m:t> </m:t>
                    </m:r>
                    <m:r>
                      <a:rPr lang="en-US" altLang="zh-TW" b="0" i="1" smtClean="0">
                        <a:latin typeface="Cambria Math" panose="02040503050406030204" pitchFamily="18" charset="0"/>
                      </a:rPr>
                      <m:t>𝑡𝑜</m:t>
                    </m:r>
                    <m:r>
                      <a:rPr lang="en-US" altLang="zh-TW" b="0" i="1" smtClean="0">
                        <a:latin typeface="Cambria Math" panose="02040503050406030204" pitchFamily="18" charset="0"/>
                      </a:rPr>
                      <m:t> </m:t>
                    </m:r>
                    <m:r>
                      <a:rPr lang="en-US" altLang="zh-TW" b="0" i="1" smtClean="0">
                        <a:latin typeface="Cambria Math" panose="02040503050406030204" pitchFamily="18" charset="0"/>
                      </a:rPr>
                      <m:t>𝑓𝑖𝑒𝑙𝑑</m:t>
                    </m:r>
                    <m:r>
                      <a:rPr lang="en-US" altLang="zh-TW" b="0" i="1" smtClean="0">
                        <a:latin typeface="Cambria Math" panose="02040503050406030204" pitchFamily="18" charset="0"/>
                      </a:rPr>
                      <m:t> </m:t>
                    </m:r>
                    <m:r>
                      <a:rPr lang="en-US" altLang="zh-TW" b="0" i="1" smtClean="0">
                        <a:latin typeface="Cambria Math" panose="02040503050406030204" pitchFamily="18" charset="0"/>
                      </a:rPr>
                      <m:t>𝑔𝑎𝑖𝑛</m:t>
                    </m:r>
                    <m:r>
                      <a:rPr lang="en-US" altLang="zh-TW" b="0" i="1" smtClean="0">
                        <a:latin typeface="Cambria Math" panose="02040503050406030204" pitchFamily="18" charset="0"/>
                        <a:ea typeface="Cambria Math" panose="02040503050406030204" pitchFamily="18" charset="0"/>
                      </a:rPr>
                      <m:t>=</m:t>
                    </m:r>
                    <m:sPre>
                      <m:sPrePr>
                        <m:ctrlPr>
                          <a:rPr lang="en-US" altLang="zh-TW" b="0" i="1" smtClean="0">
                            <a:latin typeface="Cambria Math" panose="02040503050406030204" pitchFamily="18" charset="0"/>
                            <a:ea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𝐼</m:t>
                            </m:r>
                          </m:sub>
                        </m:sSub>
                      </m:e>
                    </m:sPre>
                  </m:oMath>
                </a14:m>
                <a:endParaRPr lang="zh-TW" altLang="en-US" dirty="0"/>
              </a:p>
            </p:txBody>
          </p:sp>
        </mc:Choice>
        <mc:Fallback xmlns="">
          <p:sp>
            <p:nvSpPr>
              <p:cNvPr id="15" name="文字方塊 14">
                <a:extLst>
                  <a:ext uri="{FF2B5EF4-FFF2-40B4-BE49-F238E27FC236}">
                    <a16:creationId xmlns:a16="http://schemas.microsoft.com/office/drawing/2014/main" id="{7423A256-C166-4717-91CD-2EEEBEC6306E}"/>
                  </a:ext>
                </a:extLst>
              </p:cNvPr>
              <p:cNvSpPr txBox="1">
                <a:spLocks noRot="1" noChangeAspect="1" noMove="1" noResize="1" noEditPoints="1" noAdjustHandles="1" noChangeArrowheads="1" noChangeShapeType="1" noTextEdit="1"/>
              </p:cNvSpPr>
              <p:nvPr/>
            </p:nvSpPr>
            <p:spPr>
              <a:xfrm>
                <a:off x="110067" y="1641632"/>
                <a:ext cx="4258733" cy="397673"/>
              </a:xfrm>
              <a:prstGeom prst="rect">
                <a:avLst/>
              </a:prstGeom>
              <a:blipFill>
                <a:blip r:embed="rId4"/>
                <a:stretch>
                  <a:fillRect l="-858" b="-15152"/>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0" name="文字方塊 19">
                <a:extLst>
                  <a:ext uri="{FF2B5EF4-FFF2-40B4-BE49-F238E27FC236}">
                    <a16:creationId xmlns:a16="http://schemas.microsoft.com/office/drawing/2014/main" id="{594BBAD5-0B9C-40E7-A139-CD14DD1A069D}"/>
                  </a:ext>
                </a:extLst>
              </p:cNvPr>
              <p:cNvSpPr txBox="1"/>
              <p:nvPr/>
            </p:nvSpPr>
            <p:spPr>
              <a:xfrm>
                <a:off x="110065" y="2855412"/>
                <a:ext cx="4258733" cy="656013"/>
              </a:xfrm>
              <a:prstGeom prst="rect">
                <a:avLst/>
              </a:prstGeom>
              <a:noFill/>
            </p:spPr>
            <p:txBody>
              <a:bodyPr wrap="square">
                <a:spAutoFit/>
              </a:bodyPr>
              <a:lstStyle/>
              <a:p>
                <a:pPr marL="285750" indent="-285750">
                  <a:buFont typeface="Arial" panose="020B0604020202020204" pitchFamily="34" charset="0"/>
                  <a:buChar char="•"/>
                </a:pPr>
                <a14:m>
                  <m:oMath xmlns:m="http://schemas.openxmlformats.org/officeDocument/2006/math">
                    <m:r>
                      <a:rPr lang="en-US" altLang="zh-TW" b="0" i="1" smtClean="0">
                        <a:latin typeface="Cambria Math" panose="02040503050406030204" pitchFamily="18" charset="0"/>
                        <a:ea typeface="Cambria Math" panose="02040503050406030204" pitchFamily="18" charset="0"/>
                      </a:rPr>
                      <m:t>𝑅𝑒𝑠𝑖𝑑𝑢𝑎𝑙</m:t>
                    </m:r>
                    <m:r>
                      <a:rPr lang="en-US" altLang="zh-TW" b="0" i="1" smtClean="0">
                        <a:latin typeface="Cambria Math" panose="02040503050406030204" pitchFamily="18" charset="0"/>
                        <a:ea typeface="Cambria Math" panose="02040503050406030204" pitchFamily="18" charset="0"/>
                      </a:rPr>
                      <m:t> </m:t>
                    </m:r>
                    <m:r>
                      <a:rPr lang="en-US" altLang="zh-TW" b="0" i="1" smtClean="0">
                        <a:latin typeface="Cambria Math" panose="02040503050406030204" pitchFamily="18" charset="0"/>
                        <a:ea typeface="Cambria Math" panose="02040503050406030204" pitchFamily="18" charset="0"/>
                      </a:rPr>
                      <m:t>𝑒𝑟𝑟𝑜𝑟</m:t>
                    </m:r>
                    <m:r>
                      <a:rPr lang="en-US" altLang="zh-TW" b="0" i="1" smtClean="0">
                        <a:latin typeface="Cambria Math" panose="02040503050406030204" pitchFamily="18" charset="0"/>
                        <a:ea typeface="Cambria Math" panose="02040503050406030204" pitchFamily="18" charset="0"/>
                      </a:rPr>
                      <m:t>=</m:t>
                    </m:r>
                    <m:rad>
                      <m:radPr>
                        <m:degHide m:val="on"/>
                        <m:ctrlPr>
                          <a:rPr lang="en-US" altLang="zh-TW" b="0" i="1" smtClean="0">
                            <a:latin typeface="Cambria Math" panose="02040503050406030204" pitchFamily="18" charset="0"/>
                            <a:ea typeface="Cambria Math" panose="02040503050406030204" pitchFamily="18" charset="0"/>
                          </a:rPr>
                        </m:ctrlPr>
                      </m:radPr>
                      <m:deg/>
                      <m:e>
                        <m:f>
                          <m:fPr>
                            <m:ctrlPr>
                              <a:rPr lang="en-US" altLang="zh-TW" b="0" i="1" smtClean="0">
                                <a:latin typeface="Cambria Math" panose="02040503050406030204" pitchFamily="18" charset="0"/>
                                <a:ea typeface="Cambria Math" panose="02040503050406030204" pitchFamily="18" charset="0"/>
                              </a:rPr>
                            </m:ctrlPr>
                          </m:fPr>
                          <m:num>
                            <m:r>
                              <a:rPr lang="en-US" altLang="zh-TW" b="0" i="1" smtClean="0">
                                <a:latin typeface="Cambria Math" panose="02040503050406030204" pitchFamily="18" charset="0"/>
                                <a:ea typeface="Cambria Math" panose="02040503050406030204" pitchFamily="18" charset="0"/>
                              </a:rPr>
                              <m:t>𝑚𝑖𝑛𝐽</m:t>
                            </m:r>
                          </m:num>
                          <m:den>
                            <m:r>
                              <a:rPr lang="en-US" altLang="zh-TW" b="0" i="1" smtClean="0">
                                <a:latin typeface="Cambria Math" panose="02040503050406030204" pitchFamily="18" charset="0"/>
                                <a:ea typeface="Cambria Math" panose="02040503050406030204" pitchFamily="18" charset="0"/>
                              </a:rPr>
                              <m:t>𝑁</m:t>
                            </m:r>
                          </m:den>
                        </m:f>
                      </m:e>
                    </m:rad>
                  </m:oMath>
                </a14:m>
                <a:endParaRPr lang="zh-TW" altLang="en-US" dirty="0"/>
              </a:p>
            </p:txBody>
          </p:sp>
        </mc:Choice>
        <mc:Fallback xmlns="">
          <p:sp>
            <p:nvSpPr>
              <p:cNvPr id="20" name="文字方塊 19">
                <a:extLst>
                  <a:ext uri="{FF2B5EF4-FFF2-40B4-BE49-F238E27FC236}">
                    <a16:creationId xmlns:a16="http://schemas.microsoft.com/office/drawing/2014/main" id="{594BBAD5-0B9C-40E7-A139-CD14DD1A069D}"/>
                  </a:ext>
                </a:extLst>
              </p:cNvPr>
              <p:cNvSpPr txBox="1">
                <a:spLocks noRot="1" noChangeAspect="1" noMove="1" noResize="1" noEditPoints="1" noAdjustHandles="1" noChangeArrowheads="1" noChangeShapeType="1" noTextEdit="1"/>
              </p:cNvSpPr>
              <p:nvPr/>
            </p:nvSpPr>
            <p:spPr>
              <a:xfrm>
                <a:off x="110065" y="2855412"/>
                <a:ext cx="4258733" cy="656013"/>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6" name="文字方塊 15">
                <a:extLst>
                  <a:ext uri="{FF2B5EF4-FFF2-40B4-BE49-F238E27FC236}">
                    <a16:creationId xmlns:a16="http://schemas.microsoft.com/office/drawing/2014/main" id="{32777E16-0C9E-41F4-89C8-D87B57A3B331}"/>
                  </a:ext>
                </a:extLst>
              </p:cNvPr>
              <p:cNvSpPr txBox="1"/>
              <p:nvPr/>
            </p:nvSpPr>
            <p:spPr>
              <a:xfrm>
                <a:off x="110066" y="2289415"/>
                <a:ext cx="4258733" cy="397673"/>
              </a:xfrm>
              <a:prstGeom prst="rect">
                <a:avLst/>
              </a:prstGeom>
              <a:noFill/>
            </p:spPr>
            <p:txBody>
              <a:bodyPr wrap="square">
                <a:spAutoFit/>
              </a:bodyPr>
              <a:lstStyle/>
              <a:p>
                <a:pPr marL="285750" indent="-285750">
                  <a:buFont typeface="Arial" panose="020B0604020202020204" pitchFamily="34" charset="0"/>
                  <a:buChar char="•"/>
                </a:pPr>
                <a14:m>
                  <m:oMath xmlns:m="http://schemas.openxmlformats.org/officeDocument/2006/math">
                    <m:r>
                      <a:rPr lang="en-US" altLang="zh-TW" b="0" i="1" smtClean="0">
                        <a:latin typeface="Cambria Math" panose="02040503050406030204" pitchFamily="18" charset="0"/>
                      </a:rPr>
                      <m:t>𝑉𝑜𝑙𝑡𝑎𝑔𝑒</m:t>
                    </m:r>
                    <m:r>
                      <a:rPr lang="en-US" altLang="zh-TW" b="0" i="1" smtClean="0">
                        <a:latin typeface="Cambria Math" panose="02040503050406030204" pitchFamily="18" charset="0"/>
                      </a:rPr>
                      <m:t> </m:t>
                    </m:r>
                    <m:r>
                      <a:rPr lang="en-US" altLang="zh-TW" b="0" i="1" smtClean="0">
                        <a:latin typeface="Cambria Math" panose="02040503050406030204" pitchFamily="18" charset="0"/>
                      </a:rPr>
                      <m:t>𝑡𝑜</m:t>
                    </m:r>
                    <m:r>
                      <a:rPr lang="en-US" altLang="zh-TW" b="0" i="1" smtClean="0">
                        <a:latin typeface="Cambria Math" panose="02040503050406030204" pitchFamily="18" charset="0"/>
                      </a:rPr>
                      <m:t> </m:t>
                    </m:r>
                    <m:r>
                      <a:rPr lang="en-US" altLang="zh-TW" b="0" i="1" smtClean="0">
                        <a:latin typeface="Cambria Math" panose="02040503050406030204" pitchFamily="18" charset="0"/>
                      </a:rPr>
                      <m:t>𝑓𝑖𝑒𝑙𝑑</m:t>
                    </m:r>
                    <m:r>
                      <a:rPr lang="en-US" altLang="zh-TW" b="0" i="1" smtClean="0">
                        <a:latin typeface="Cambria Math" panose="02040503050406030204" pitchFamily="18" charset="0"/>
                      </a:rPr>
                      <m:t> </m:t>
                    </m:r>
                    <m:r>
                      <a:rPr lang="en-US" altLang="zh-TW" b="0" i="1" smtClean="0">
                        <a:latin typeface="Cambria Math" panose="02040503050406030204" pitchFamily="18" charset="0"/>
                      </a:rPr>
                      <m:t>𝑔𝑎𝑖𝑛</m:t>
                    </m:r>
                    <m:r>
                      <a:rPr lang="en-US" altLang="zh-TW" b="0" i="1" smtClean="0">
                        <a:latin typeface="Cambria Math" panose="02040503050406030204" pitchFamily="18" charset="0"/>
                        <a:ea typeface="Cambria Math" panose="02040503050406030204" pitchFamily="18" charset="0"/>
                      </a:rPr>
                      <m:t>=</m:t>
                    </m:r>
                    <m:sPre>
                      <m:sPrePr>
                        <m:ctrlPr>
                          <a:rPr lang="en-US" altLang="zh-TW" b="0" i="1" smtClean="0">
                            <a:latin typeface="Cambria Math" panose="02040503050406030204" pitchFamily="18" charset="0"/>
                            <a:ea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𝑉</m:t>
                            </m:r>
                          </m:sub>
                        </m:sSub>
                      </m:e>
                    </m:sPre>
                  </m:oMath>
                </a14:m>
                <a:endParaRPr lang="zh-TW" altLang="en-US" dirty="0"/>
              </a:p>
            </p:txBody>
          </p:sp>
        </mc:Choice>
        <mc:Fallback xmlns="">
          <p:sp>
            <p:nvSpPr>
              <p:cNvPr id="16" name="文字方塊 15">
                <a:extLst>
                  <a:ext uri="{FF2B5EF4-FFF2-40B4-BE49-F238E27FC236}">
                    <a16:creationId xmlns:a16="http://schemas.microsoft.com/office/drawing/2014/main" id="{32777E16-0C9E-41F4-89C8-D87B57A3B331}"/>
                  </a:ext>
                </a:extLst>
              </p:cNvPr>
              <p:cNvSpPr txBox="1">
                <a:spLocks noRot="1" noChangeAspect="1" noMove="1" noResize="1" noEditPoints="1" noAdjustHandles="1" noChangeArrowheads="1" noChangeShapeType="1" noTextEdit="1"/>
              </p:cNvSpPr>
              <p:nvPr/>
            </p:nvSpPr>
            <p:spPr>
              <a:xfrm>
                <a:off x="110066" y="2289415"/>
                <a:ext cx="4258733" cy="397673"/>
              </a:xfrm>
              <a:prstGeom prst="rect">
                <a:avLst/>
              </a:prstGeom>
              <a:blipFill>
                <a:blip r:embed="rId7"/>
                <a:stretch>
                  <a:fillRect l="-858" b="-16923"/>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7A83D49E-FBA0-44F1-BA58-A7ED9A0C3CBA}"/>
                  </a:ext>
                </a:extLst>
              </p:cNvPr>
              <p:cNvSpPr txBox="1"/>
              <p:nvPr/>
            </p:nvSpPr>
            <p:spPr>
              <a:xfrm>
                <a:off x="110062" y="4250299"/>
                <a:ext cx="4258733" cy="369332"/>
              </a:xfrm>
              <a:prstGeom prst="rect">
                <a:avLst/>
              </a:prstGeom>
              <a:noFill/>
            </p:spPr>
            <p:txBody>
              <a:bodyPr wrap="square">
                <a:spAutoFit/>
              </a:bodyPr>
              <a:lstStyle/>
              <a:p>
                <a:pPr marL="285750" indent="-285750">
                  <a:buFont typeface="Arial" panose="020B0604020202020204" pitchFamily="34" charset="0"/>
                  <a:buChar char="•"/>
                </a:pPr>
                <a14:m>
                  <m:oMath xmlns:m="http://schemas.openxmlformats.org/officeDocument/2006/math">
                    <m:r>
                      <a:rPr lang="en-US" altLang="zh-TW" b="0" i="1" smtClean="0">
                        <a:latin typeface="Cambria Math" panose="02040503050406030204" pitchFamily="18" charset="0"/>
                        <a:ea typeface="Cambria Math" panose="02040503050406030204" pitchFamily="18" charset="0"/>
                      </a:rPr>
                      <m:t>𝐼𝑠𝑜𝑡𝑟𝑜𝑝𝑦</m:t>
                    </m:r>
                    <m:r>
                      <a:rPr lang="en-US" altLang="zh-TW" b="0" i="1" smtClean="0">
                        <a:latin typeface="Cambria Math" panose="02040503050406030204" pitchFamily="18" charset="0"/>
                        <a:ea typeface="Cambria Math" panose="02040503050406030204" pitchFamily="18" charset="0"/>
                      </a:rPr>
                      <m:t>=</m:t>
                    </m:r>
                    <m:r>
                      <a:rPr lang="zh-TW" altLang="en-US" b="0" i="1" smtClean="0">
                        <a:latin typeface="Cambria Math" panose="02040503050406030204" pitchFamily="18" charset="0"/>
                        <a:ea typeface="Cambria Math" panose="02040503050406030204" pitchFamily="18" charset="0"/>
                      </a:rPr>
                      <m:t>𝜅</m:t>
                    </m:r>
                  </m:oMath>
                </a14:m>
                <a:endParaRPr lang="zh-TW" altLang="en-US" dirty="0"/>
              </a:p>
            </p:txBody>
          </p:sp>
        </mc:Choice>
        <mc:Fallback xmlns="">
          <p:sp>
            <p:nvSpPr>
              <p:cNvPr id="10" name="文字方塊 9">
                <a:extLst>
                  <a:ext uri="{FF2B5EF4-FFF2-40B4-BE49-F238E27FC236}">
                    <a16:creationId xmlns:a16="http://schemas.microsoft.com/office/drawing/2014/main" id="{7A83D49E-FBA0-44F1-BA58-A7ED9A0C3CBA}"/>
                  </a:ext>
                </a:extLst>
              </p:cNvPr>
              <p:cNvSpPr txBox="1">
                <a:spLocks noRot="1" noChangeAspect="1" noMove="1" noResize="1" noEditPoints="1" noAdjustHandles="1" noChangeArrowheads="1" noChangeShapeType="1" noTextEdit="1"/>
              </p:cNvSpPr>
              <p:nvPr/>
            </p:nvSpPr>
            <p:spPr>
              <a:xfrm>
                <a:off x="110062" y="4250299"/>
                <a:ext cx="4258733" cy="369332"/>
              </a:xfrm>
              <a:prstGeom prst="rect">
                <a:avLst/>
              </a:prstGeom>
              <a:blipFill>
                <a:blip r:embed="rId8"/>
                <a:stretch>
                  <a:fillRect l="-858" t="-3279" b="-18033"/>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CC97BA21-92F0-4A4F-926E-5D3A151931D0}"/>
                  </a:ext>
                </a:extLst>
              </p:cNvPr>
              <p:cNvSpPr txBox="1"/>
              <p:nvPr/>
            </p:nvSpPr>
            <p:spPr>
              <a:xfrm>
                <a:off x="110062" y="3598807"/>
                <a:ext cx="4258733" cy="369332"/>
              </a:xfrm>
              <a:prstGeom prst="rect">
                <a:avLst/>
              </a:prstGeom>
              <a:noFill/>
            </p:spPr>
            <p:txBody>
              <a:bodyPr wrap="square">
                <a:spAutoFit/>
              </a:bodyPr>
              <a:lstStyle/>
              <a:p>
                <a:pPr marL="285750" indent="-285750">
                  <a:buFont typeface="Arial" panose="020B0604020202020204" pitchFamily="34" charset="0"/>
                  <a:buChar char="•"/>
                </a:pPr>
                <a14:m>
                  <m:oMath xmlns:m="http://schemas.openxmlformats.org/officeDocument/2006/math">
                    <m:r>
                      <a:rPr lang="en-US" altLang="zh-TW" i="1" smtClean="0">
                        <a:latin typeface="Cambria Math" panose="02040503050406030204" pitchFamily="18" charset="0"/>
                        <a:ea typeface="Cambria Math" panose="02040503050406030204" pitchFamily="18" charset="0"/>
                      </a:rPr>
                      <m:t>𝐶</m:t>
                    </m:r>
                    <m:r>
                      <a:rPr lang="en-US" altLang="zh-TW" b="0" i="1" smtClean="0">
                        <a:latin typeface="Cambria Math" panose="02040503050406030204" pitchFamily="18" charset="0"/>
                        <a:ea typeface="Cambria Math" panose="02040503050406030204" pitchFamily="18" charset="0"/>
                      </a:rPr>
                      <m:t>𝑎𝑝𝑎𝑐𝑖𝑡𝑦</m:t>
                    </m:r>
                    <m:r>
                      <a:rPr lang="en-US" altLang="zh-TW" b="0" i="1" smtClean="0">
                        <a:latin typeface="Cambria Math" panose="02040503050406030204" pitchFamily="18" charset="0"/>
                        <a:ea typeface="Cambria Math" panose="02040503050406030204" pitchFamily="18" charset="0"/>
                      </a:rPr>
                      <m:t> </m:t>
                    </m:r>
                    <m:r>
                      <a:rPr lang="en-US" altLang="zh-TW" b="0" i="1" smtClean="0">
                        <a:latin typeface="Cambria Math" panose="02040503050406030204" pitchFamily="18" charset="0"/>
                        <a:ea typeface="Cambria Math" panose="02040503050406030204" pitchFamily="18" charset="0"/>
                      </a:rPr>
                      <m:t>𝑚𝑒𝑎𝑠𝑢𝑟𝑒</m:t>
                    </m:r>
                    <m:r>
                      <a:rPr lang="en-US" altLang="zh-TW" b="0" i="1" smtClean="0">
                        <a:latin typeface="Cambria Math" panose="02040503050406030204" pitchFamily="18" charset="0"/>
                        <a:ea typeface="Cambria Math" panose="02040503050406030204" pitchFamily="18" charset="0"/>
                      </a:rPr>
                      <m:t>=</m:t>
                    </m:r>
                    <m:r>
                      <a:rPr lang="zh-TW" altLang="en-US" b="0" i="1" smtClean="0">
                        <a:latin typeface="Cambria Math" panose="02040503050406030204" pitchFamily="18" charset="0"/>
                        <a:ea typeface="Cambria Math" panose="02040503050406030204" pitchFamily="18" charset="0"/>
                      </a:rPr>
                      <m:t>𝒞</m:t>
                    </m:r>
                    <m:r>
                      <a:rPr lang="en-US" altLang="zh-TW" b="0" i="1" smtClean="0">
                        <a:latin typeface="Cambria Math" panose="02040503050406030204" pitchFamily="18" charset="0"/>
                        <a:ea typeface="Cambria Math" panose="02040503050406030204" pitchFamily="18" charset="0"/>
                      </a:rPr>
                      <m:t> (</m:t>
                    </m:r>
                    <m:f>
                      <m:fPr>
                        <m:type m:val="lin"/>
                        <m:ctrlPr>
                          <a:rPr lang="en-US" altLang="zh-TW" b="0" i="1" smtClean="0">
                            <a:latin typeface="Cambria Math" panose="02040503050406030204" pitchFamily="18" charset="0"/>
                            <a:ea typeface="Cambria Math" panose="02040503050406030204" pitchFamily="18" charset="0"/>
                          </a:rPr>
                        </m:ctrlPr>
                      </m:fPr>
                      <m:num>
                        <m:r>
                          <a:rPr lang="en-US" altLang="zh-TW" b="0" i="1" smtClean="0">
                            <a:latin typeface="Cambria Math" panose="02040503050406030204" pitchFamily="18" charset="0"/>
                            <a:ea typeface="Cambria Math" panose="02040503050406030204" pitchFamily="18" charset="0"/>
                          </a:rPr>
                          <m:t>𝑚𝑇</m:t>
                        </m:r>
                      </m:num>
                      <m:den>
                        <m:r>
                          <a:rPr lang="en-US" altLang="zh-TW" b="0" i="1" smtClean="0">
                            <a:latin typeface="Cambria Math" panose="02040503050406030204" pitchFamily="18" charset="0"/>
                            <a:ea typeface="Cambria Math" panose="02040503050406030204" pitchFamily="18" charset="0"/>
                          </a:rPr>
                          <m:t>𝐴</m:t>
                        </m:r>
                      </m:den>
                    </m:f>
                    <m:r>
                      <a:rPr lang="en-US" altLang="zh-TW" b="0" i="1" smtClean="0">
                        <a:latin typeface="Cambria Math" panose="02040503050406030204" pitchFamily="18" charset="0"/>
                        <a:ea typeface="Cambria Math" panose="02040503050406030204" pitchFamily="18" charset="0"/>
                      </a:rPr>
                      <m:t>)</m:t>
                    </m:r>
                  </m:oMath>
                </a14:m>
                <a:endParaRPr lang="zh-TW" altLang="en-US" dirty="0"/>
              </a:p>
            </p:txBody>
          </p:sp>
        </mc:Choice>
        <mc:Fallback xmlns="">
          <p:sp>
            <p:nvSpPr>
              <p:cNvPr id="11" name="文字方塊 10">
                <a:extLst>
                  <a:ext uri="{FF2B5EF4-FFF2-40B4-BE49-F238E27FC236}">
                    <a16:creationId xmlns:a16="http://schemas.microsoft.com/office/drawing/2014/main" id="{CC97BA21-92F0-4A4F-926E-5D3A151931D0}"/>
                  </a:ext>
                </a:extLst>
              </p:cNvPr>
              <p:cNvSpPr txBox="1">
                <a:spLocks noRot="1" noChangeAspect="1" noMove="1" noResize="1" noEditPoints="1" noAdjustHandles="1" noChangeArrowheads="1" noChangeShapeType="1" noTextEdit="1"/>
              </p:cNvSpPr>
              <p:nvPr/>
            </p:nvSpPr>
            <p:spPr>
              <a:xfrm>
                <a:off x="110062" y="3598807"/>
                <a:ext cx="4258733" cy="369332"/>
              </a:xfrm>
              <a:prstGeom prst="rect">
                <a:avLst/>
              </a:prstGeom>
              <a:blipFill>
                <a:blip r:embed="rId9"/>
                <a:stretch>
                  <a:fillRect l="-858" t="-116393" b="-17541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 name="文字方塊 11">
                <a:extLst>
                  <a:ext uri="{FF2B5EF4-FFF2-40B4-BE49-F238E27FC236}">
                    <a16:creationId xmlns:a16="http://schemas.microsoft.com/office/drawing/2014/main" id="{AF6FC7C5-863F-44FE-B7F6-035F92FE2774}"/>
                  </a:ext>
                </a:extLst>
              </p:cNvPr>
              <p:cNvSpPr txBox="1"/>
              <p:nvPr/>
            </p:nvSpPr>
            <p:spPr>
              <a:xfrm>
                <a:off x="110061" y="4812587"/>
                <a:ext cx="4258733" cy="621709"/>
              </a:xfrm>
              <a:prstGeom prst="rect">
                <a:avLst/>
              </a:prstGeom>
              <a:noFill/>
            </p:spPr>
            <p:txBody>
              <a:bodyPr wrap="square">
                <a:spAutoFit/>
              </a:bodyPr>
              <a:lstStyle/>
              <a:p>
                <a:pPr marL="285750" indent="-285750">
                  <a:buFont typeface="Arial" panose="020B0604020202020204" pitchFamily="34" charset="0"/>
                  <a:buChar char="•"/>
                </a:pPr>
                <a14:m>
                  <m:oMath xmlns:m="http://schemas.openxmlformats.org/officeDocument/2006/math">
                    <m:r>
                      <a:rPr lang="en-US" altLang="zh-TW" b="0" i="1" smtClean="0">
                        <a:latin typeface="Cambria Math" panose="02040503050406030204" pitchFamily="18" charset="0"/>
                        <a:ea typeface="Cambria Math" panose="02040503050406030204" pitchFamily="18" charset="0"/>
                      </a:rPr>
                      <m:t>𝐴𝑣𝑒𝑟𝑎𝑔𝑒</m:t>
                    </m:r>
                    <m:r>
                      <a:rPr lang="en-US" altLang="zh-TW" b="0" i="1" smtClean="0">
                        <a:latin typeface="Cambria Math" panose="02040503050406030204" pitchFamily="18" charset="0"/>
                        <a:ea typeface="Cambria Math" panose="02040503050406030204" pitchFamily="18" charset="0"/>
                      </a:rPr>
                      <m:t> </m:t>
                    </m:r>
                    <m:r>
                      <a:rPr lang="en-US" altLang="zh-TW" b="0" i="1" smtClean="0">
                        <a:latin typeface="Cambria Math" panose="02040503050406030204" pitchFamily="18" charset="0"/>
                        <a:ea typeface="Cambria Math" panose="02040503050406030204" pitchFamily="18" charset="0"/>
                      </a:rPr>
                      <m:t>𝑓𝑖𝑒𝑙𝑑</m:t>
                    </m:r>
                    <m:r>
                      <a:rPr lang="en-US" altLang="zh-TW" b="0" i="1" smtClean="0">
                        <a:latin typeface="Cambria Math" panose="02040503050406030204" pitchFamily="18" charset="0"/>
                        <a:ea typeface="Cambria Math" panose="02040503050406030204" pitchFamily="18" charset="0"/>
                      </a:rPr>
                      <m:t>=</m:t>
                    </m:r>
                    <m:f>
                      <m:fPr>
                        <m:ctrlPr>
                          <a:rPr lang="en-US" altLang="zh-TW" b="0" i="1" smtClean="0">
                            <a:latin typeface="Cambria Math" panose="02040503050406030204" pitchFamily="18" charset="0"/>
                            <a:ea typeface="Cambria Math" panose="02040503050406030204" pitchFamily="18" charset="0"/>
                          </a:rPr>
                        </m:ctrlPr>
                      </m:fPr>
                      <m:num>
                        <m:nary>
                          <m:naryPr>
                            <m:chr m:val="∑"/>
                            <m:supHide m:val="on"/>
                            <m:ctrlPr>
                              <a:rPr lang="en-US" altLang="zh-TW" b="0" i="1" smtClean="0">
                                <a:latin typeface="Cambria Math" panose="02040503050406030204" pitchFamily="18" charset="0"/>
                                <a:ea typeface="Cambria Math" panose="02040503050406030204" pitchFamily="18" charset="0"/>
                              </a:rPr>
                            </m:ctrlPr>
                          </m:naryPr>
                          <m:sub>
                            <m:r>
                              <m:rPr>
                                <m:brk m:alnAt="7"/>
                              </m:rPr>
                              <a:rPr lang="en-US" altLang="zh-TW" b="0" i="1" smtClean="0">
                                <a:latin typeface="Cambria Math" panose="02040503050406030204" pitchFamily="18" charset="0"/>
                                <a:ea typeface="Cambria Math" panose="02040503050406030204" pitchFamily="18" charset="0"/>
                              </a:rPr>
                              <m:t>𝑗</m:t>
                            </m:r>
                          </m:sub>
                          <m:sup/>
                          <m:e>
                            <m:nary>
                              <m:naryPr>
                                <m:chr m:val="∑"/>
                                <m:supHide m:val="on"/>
                                <m:ctrlPr>
                                  <a:rPr lang="en-US" altLang="zh-TW" b="0" i="1" smtClean="0">
                                    <a:latin typeface="Cambria Math" panose="02040503050406030204" pitchFamily="18" charset="0"/>
                                    <a:ea typeface="Cambria Math" panose="02040503050406030204" pitchFamily="18" charset="0"/>
                                  </a:rPr>
                                </m:ctrlPr>
                              </m:naryPr>
                              <m:sub>
                                <m:r>
                                  <m:rPr>
                                    <m:brk m:alnAt="7"/>
                                  </m:rPr>
                                  <a:rPr lang="en-US" altLang="zh-TW" b="0" i="1" smtClean="0">
                                    <a:latin typeface="Cambria Math" panose="02040503050406030204" pitchFamily="18" charset="0"/>
                                    <a:ea typeface="Cambria Math" panose="02040503050406030204" pitchFamily="18" charset="0"/>
                                  </a:rPr>
                                  <m:t>𝑖</m:t>
                                </m:r>
                              </m:sub>
                              <m:sup/>
                              <m:e>
                                <m:d>
                                  <m:dPr>
                                    <m:begChr m:val="‖"/>
                                    <m:endChr m:val="‖"/>
                                    <m:ctrlPr>
                                      <a:rPr lang="en-US" altLang="zh-TW" b="0" i="1" smtClean="0">
                                        <a:latin typeface="Cambria Math" panose="02040503050406030204" pitchFamily="18" charset="0"/>
                                        <a:ea typeface="Cambria Math" panose="02040503050406030204" pitchFamily="18" charset="0"/>
                                      </a:rPr>
                                    </m:ctrlPr>
                                  </m:dPr>
                                  <m:e>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𝑏</m:t>
                                        </m:r>
                                      </m:e>
                                      <m:sub>
                                        <m:r>
                                          <a:rPr lang="en-US" altLang="zh-TW" b="0" i="1" smtClean="0">
                                            <a:latin typeface="Cambria Math" panose="02040503050406030204" pitchFamily="18" charset="0"/>
                                            <a:ea typeface="Cambria Math" panose="02040503050406030204" pitchFamily="18" charset="0"/>
                                          </a:rPr>
                                          <m:t>𝑖𝑗</m:t>
                                        </m:r>
                                      </m:sub>
                                    </m:sSub>
                                  </m:e>
                                </m:d>
                              </m:e>
                            </m:nary>
                          </m:e>
                        </m:nary>
                      </m:num>
                      <m:den>
                        <m:r>
                          <a:rPr lang="en-US" altLang="zh-TW" b="0" i="1" smtClean="0">
                            <a:latin typeface="Cambria Math" panose="02040503050406030204" pitchFamily="18" charset="0"/>
                            <a:ea typeface="Cambria Math" panose="02040503050406030204" pitchFamily="18" charset="0"/>
                          </a:rPr>
                          <m:t>6×</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𝑁</m:t>
                            </m:r>
                          </m:e>
                          <m:sub>
                            <m:r>
                              <a:rPr lang="en-US" altLang="zh-TW" b="0" i="1" smtClean="0">
                                <a:latin typeface="Cambria Math" panose="02040503050406030204" pitchFamily="18" charset="0"/>
                                <a:ea typeface="Cambria Math" panose="02040503050406030204" pitchFamily="18" charset="0"/>
                              </a:rPr>
                              <m:t>𝑝</m:t>
                            </m:r>
                          </m:sub>
                        </m:sSub>
                      </m:den>
                    </m:f>
                  </m:oMath>
                </a14:m>
                <a:endParaRPr lang="zh-TW" altLang="en-US" dirty="0"/>
              </a:p>
            </p:txBody>
          </p:sp>
        </mc:Choice>
        <mc:Fallback xmlns="">
          <p:sp>
            <p:nvSpPr>
              <p:cNvPr id="12" name="文字方塊 11">
                <a:extLst>
                  <a:ext uri="{FF2B5EF4-FFF2-40B4-BE49-F238E27FC236}">
                    <a16:creationId xmlns:a16="http://schemas.microsoft.com/office/drawing/2014/main" id="{AF6FC7C5-863F-44FE-B7F6-035F92FE2774}"/>
                  </a:ext>
                </a:extLst>
              </p:cNvPr>
              <p:cNvSpPr txBox="1">
                <a:spLocks noRot="1" noChangeAspect="1" noMove="1" noResize="1" noEditPoints="1" noAdjustHandles="1" noChangeArrowheads="1" noChangeShapeType="1" noTextEdit="1"/>
              </p:cNvSpPr>
              <p:nvPr/>
            </p:nvSpPr>
            <p:spPr>
              <a:xfrm>
                <a:off x="110061" y="4812587"/>
                <a:ext cx="4258733" cy="621709"/>
              </a:xfrm>
              <a:prstGeom prst="rect">
                <a:avLst/>
              </a:prstGeom>
              <a:blipFill>
                <a:blip r:embed="rId10"/>
                <a:stretch>
                  <a:fillRect/>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111940342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Reference</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18" name="矩形 17">
            <a:extLst>
              <a:ext uri="{FF2B5EF4-FFF2-40B4-BE49-F238E27FC236}">
                <a16:creationId xmlns:a16="http://schemas.microsoft.com/office/drawing/2014/main" id="{D626DE7A-F9C6-47BF-9503-E4D79EF03BB4}"/>
              </a:ext>
            </a:extLst>
          </p:cNvPr>
          <p:cNvSpPr/>
          <p:nvPr/>
        </p:nvSpPr>
        <p:spPr>
          <a:xfrm rot="21166399">
            <a:off x="8390467" y="5858933"/>
            <a:ext cx="1877540" cy="330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1" name="文字方塊 20">
                <a:extLst>
                  <a:ext uri="{FF2B5EF4-FFF2-40B4-BE49-F238E27FC236}">
                    <a16:creationId xmlns:a16="http://schemas.microsoft.com/office/drawing/2014/main" id="{527AD032-2BCD-42FA-94F3-08857DF7AF3A}"/>
                  </a:ext>
                </a:extLst>
              </p:cNvPr>
              <p:cNvSpPr txBox="1"/>
              <p:nvPr/>
            </p:nvSpPr>
            <p:spPr>
              <a:xfrm>
                <a:off x="110067" y="552085"/>
                <a:ext cx="11763465" cy="383567"/>
              </a:xfrm>
              <a:prstGeom prst="rect">
                <a:avLst/>
              </a:prstGeom>
              <a:noFill/>
            </p:spPr>
            <p:txBody>
              <a:bodyPr wrap="square">
                <a:spAutoFit/>
              </a:bodyPr>
              <a:lstStyle/>
              <a:p>
                <a:pPr marL="285750" indent="-285750">
                  <a:buFont typeface="Wingdings" panose="05000000000000000000" pitchFamily="2" charset="2"/>
                  <a:buChar char="Ø"/>
                </a:pPr>
                <a14:m>
                  <m:oMath xmlns:m="http://schemas.openxmlformats.org/officeDocument/2006/math">
                    <m:r>
                      <m:rPr>
                        <m:sty m:val="p"/>
                      </m:rPr>
                      <a:rPr lang="en-US" altLang="zh-TW" b="0" i="0" smtClean="0">
                        <a:latin typeface="Cambria Math" panose="02040503050406030204" pitchFamily="18" charset="0"/>
                      </a:rPr>
                      <m:t>Zhi</m:t>
                    </m:r>
                    <m:r>
                      <a:rPr lang="en-US" altLang="zh-TW" b="0" i="0" smtClean="0">
                        <a:latin typeface="Cambria Math" panose="02040503050406030204" pitchFamily="18" charset="0"/>
                      </a:rPr>
                      <m:t> </m:t>
                    </m:r>
                    <m:r>
                      <m:rPr>
                        <m:sty m:val="p"/>
                      </m:rPr>
                      <a:rPr lang="en-US" altLang="zh-TW" b="0" i="0" smtClean="0">
                        <a:latin typeface="Cambria Math" panose="02040503050406030204" pitchFamily="18" charset="0"/>
                      </a:rPr>
                      <m:t>peng</m:t>
                    </m:r>
                    <m:r>
                      <a:rPr lang="en-US" altLang="zh-TW" b="0" i="0" smtClean="0">
                        <a:latin typeface="Cambria Math" panose="02040503050406030204" pitchFamily="18" charset="0"/>
                      </a:rPr>
                      <m:t> </m:t>
                    </m:r>
                    <m:r>
                      <m:rPr>
                        <m:sty m:val="p"/>
                      </m:rPr>
                      <a:rPr lang="en-US" altLang="zh-TW" b="0" i="0" smtClean="0">
                        <a:latin typeface="Cambria Math" panose="02040503050406030204" pitchFamily="18" charset="0"/>
                      </a:rPr>
                      <m:t>calibrate</m:t>
                    </m:r>
                    <m:r>
                      <a:rPr lang="en-US" altLang="zh-TW" b="0" i="0" smtClean="0">
                        <a:latin typeface="Cambria Math" panose="02040503050406030204" pitchFamily="18" charset="0"/>
                      </a:rPr>
                      <m:t> </m:t>
                    </m:r>
                    <m:r>
                      <m:rPr>
                        <m:sty m:val="p"/>
                      </m:rPr>
                      <a:rPr lang="en-US" altLang="zh-TW" b="0" i="0" smtClean="0">
                        <a:latin typeface="Cambria Math" panose="02040503050406030204" pitchFamily="18" charset="0"/>
                      </a:rPr>
                      <m:t>result</m:t>
                    </m:r>
                    <m:r>
                      <a:rPr lang="en-US" altLang="zh-TW" b="0" i="1" smtClean="0">
                        <a:latin typeface="Cambria Math" panose="02040503050406030204" pitchFamily="18" charset="0"/>
                      </a:rPr>
                      <m:t>(</m:t>
                    </m:r>
                    <m:r>
                      <a:rPr lang="en-US" altLang="zh-TW" b="0" i="1" smtClean="0">
                        <a:latin typeface="Cambria Math" panose="02040503050406030204" pitchFamily="18" charset="0"/>
                      </a:rPr>
                      <m:t>𝑛𝑜</m:t>
                    </m:r>
                    <m:r>
                      <a:rPr lang="en-US" altLang="zh-TW" b="0" i="1" smtClean="0">
                        <a:latin typeface="Cambria Math" panose="02040503050406030204" pitchFamily="18" charset="0"/>
                      </a:rPr>
                      <m:t> </m:t>
                    </m:r>
                    <m:r>
                      <a:rPr lang="en-US" altLang="zh-TW" b="0" i="1" smtClean="0">
                        <a:latin typeface="Cambria Math" panose="02040503050406030204" pitchFamily="18" charset="0"/>
                      </a:rPr>
                      <m:t>𝑔𝑎𝑝</m:t>
                    </m:r>
                    <m:r>
                      <a:rPr lang="en-US" altLang="zh-TW" b="0" i="1" smtClean="0">
                        <a:latin typeface="Cambria Math" panose="02040503050406030204" pitchFamily="18" charset="0"/>
                      </a:rPr>
                      <m:t>)</m:t>
                    </m:r>
                  </m:oMath>
                </a14:m>
                <a:endParaRPr lang="zh-TW" altLang="en-US" dirty="0"/>
              </a:p>
            </p:txBody>
          </p:sp>
        </mc:Choice>
        <mc:Fallback xmlns="">
          <p:sp>
            <p:nvSpPr>
              <p:cNvPr id="21" name="文字方塊 20">
                <a:extLst>
                  <a:ext uri="{FF2B5EF4-FFF2-40B4-BE49-F238E27FC236}">
                    <a16:creationId xmlns:a16="http://schemas.microsoft.com/office/drawing/2014/main" id="{527AD032-2BCD-42FA-94F3-08857DF7AF3A}"/>
                  </a:ext>
                </a:extLst>
              </p:cNvPr>
              <p:cNvSpPr txBox="1">
                <a:spLocks noRot="1" noChangeAspect="1" noMove="1" noResize="1" noEditPoints="1" noAdjustHandles="1" noChangeArrowheads="1" noChangeShapeType="1" noTextEdit="1"/>
              </p:cNvSpPr>
              <p:nvPr/>
            </p:nvSpPr>
            <p:spPr>
              <a:xfrm>
                <a:off x="110067" y="552085"/>
                <a:ext cx="11763465" cy="383567"/>
              </a:xfrm>
              <a:prstGeom prst="rect">
                <a:avLst/>
              </a:prstGeom>
              <a:blipFill>
                <a:blip r:embed="rId2"/>
                <a:stretch>
                  <a:fillRect l="-311" t="-4839" b="-1612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4" name="文字方塊 13">
                <a:extLst>
                  <a:ext uri="{FF2B5EF4-FFF2-40B4-BE49-F238E27FC236}">
                    <a16:creationId xmlns:a16="http://schemas.microsoft.com/office/drawing/2014/main" id="{2DEABB3D-9062-4DA4-A120-2766352A3F4C}"/>
                  </a:ext>
                </a:extLst>
              </p:cNvPr>
              <p:cNvSpPr txBox="1"/>
              <p:nvPr/>
            </p:nvSpPr>
            <p:spPr>
              <a:xfrm>
                <a:off x="110067" y="1103976"/>
                <a:ext cx="4258733" cy="369332"/>
              </a:xfrm>
              <a:prstGeom prst="rect">
                <a:avLst/>
              </a:prstGeom>
              <a:noFill/>
            </p:spPr>
            <p:txBody>
              <a:bodyPr wrap="square">
                <a:spAutoFit/>
              </a:bodyPr>
              <a:lstStyle/>
              <a:p>
                <a:pPr marL="285750" indent="-285750">
                  <a:buFont typeface="Arial" panose="020B0604020202020204" pitchFamily="34" charset="0"/>
                  <a:buChar char="•"/>
                </a:pPr>
                <a14:m>
                  <m:oMath xmlns:m="http://schemas.openxmlformats.org/officeDocument/2006/math">
                    <m:r>
                      <m:rPr>
                        <m:sty m:val="p"/>
                      </m:rPr>
                      <a:rPr lang="en-US" altLang="zh-TW" b="0" i="0" smtClean="0">
                        <a:latin typeface="Cambria Math" panose="02040503050406030204" pitchFamily="18" charset="0"/>
                        <a:ea typeface="Cambria Math" panose="02040503050406030204" pitchFamily="18" charset="0"/>
                      </a:rPr>
                      <m:t>Single</m:t>
                    </m:r>
                    <m:r>
                      <a:rPr lang="en-US" altLang="zh-TW" b="0" i="0" smtClean="0">
                        <a:latin typeface="Cambria Math" panose="02040503050406030204" pitchFamily="18" charset="0"/>
                        <a:ea typeface="Cambria Math" panose="02040503050406030204" pitchFamily="18" charset="0"/>
                      </a:rPr>
                      <m:t>(24 </m:t>
                    </m:r>
                    <m:r>
                      <m:rPr>
                        <m:sty m:val="p"/>
                      </m:rPr>
                      <a:rPr lang="en-US" altLang="zh-TW" b="0" i="0" smtClean="0">
                        <a:latin typeface="Cambria Math" panose="02040503050406030204" pitchFamily="18" charset="0"/>
                        <a:ea typeface="Cambria Math" panose="02040503050406030204" pitchFamily="18" charset="0"/>
                      </a:rPr>
                      <m:t>points</m:t>
                    </m:r>
                    <m:r>
                      <a:rPr lang="en-US" altLang="zh-TW" b="0" i="0" smtClean="0">
                        <a:latin typeface="Cambria Math" panose="02040503050406030204" pitchFamily="18" charset="0"/>
                        <a:ea typeface="Cambria Math" panose="02040503050406030204" pitchFamily="18" charset="0"/>
                      </a:rPr>
                      <m:t>)</m:t>
                    </m:r>
                  </m:oMath>
                </a14:m>
                <a:endParaRPr lang="zh-TW" altLang="en-US" dirty="0"/>
              </a:p>
            </p:txBody>
          </p:sp>
        </mc:Choice>
        <mc:Fallback xmlns="">
          <p:sp>
            <p:nvSpPr>
              <p:cNvPr id="14" name="文字方塊 13">
                <a:extLst>
                  <a:ext uri="{FF2B5EF4-FFF2-40B4-BE49-F238E27FC236}">
                    <a16:creationId xmlns:a16="http://schemas.microsoft.com/office/drawing/2014/main" id="{2DEABB3D-9062-4DA4-A120-2766352A3F4C}"/>
                  </a:ext>
                </a:extLst>
              </p:cNvPr>
              <p:cNvSpPr txBox="1">
                <a:spLocks noRot="1" noChangeAspect="1" noMove="1" noResize="1" noEditPoints="1" noAdjustHandles="1" noChangeArrowheads="1" noChangeShapeType="1" noTextEdit="1"/>
              </p:cNvSpPr>
              <p:nvPr/>
            </p:nvSpPr>
            <p:spPr>
              <a:xfrm>
                <a:off x="110067" y="1103976"/>
                <a:ext cx="4258733" cy="369332"/>
              </a:xfrm>
              <a:prstGeom prst="rect">
                <a:avLst/>
              </a:prstGeom>
              <a:blipFill>
                <a:blip r:embed="rId3"/>
                <a:stretch>
                  <a:fillRect l="-858" t="-3279" b="-18033"/>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6" name="文字方塊 15">
                <a:extLst>
                  <a:ext uri="{FF2B5EF4-FFF2-40B4-BE49-F238E27FC236}">
                    <a16:creationId xmlns:a16="http://schemas.microsoft.com/office/drawing/2014/main" id="{32777E16-0C9E-41F4-89C8-D87B57A3B331}"/>
                  </a:ext>
                </a:extLst>
              </p:cNvPr>
              <p:cNvSpPr txBox="1"/>
              <p:nvPr/>
            </p:nvSpPr>
            <p:spPr>
              <a:xfrm>
                <a:off x="5537199" y="1004337"/>
                <a:ext cx="4258733" cy="369332"/>
              </a:xfrm>
              <a:prstGeom prst="rect">
                <a:avLst/>
              </a:prstGeom>
              <a:noFill/>
            </p:spPr>
            <p:txBody>
              <a:bodyPr wrap="square">
                <a:spAutoFit/>
              </a:bodyPr>
              <a:lstStyle/>
              <a:p>
                <a:pPr marL="285750" indent="-285750">
                  <a:buFont typeface="Arial" panose="020B0604020202020204" pitchFamily="34" charset="0"/>
                  <a:buChar char="•"/>
                </a:pPr>
                <a14:m>
                  <m:oMath xmlns:m="http://schemas.openxmlformats.org/officeDocument/2006/math">
                    <m:r>
                      <m:rPr>
                        <m:sty m:val="p"/>
                      </m:rPr>
                      <a:rPr lang="en-US" altLang="zh-TW" b="0" i="0" smtClean="0">
                        <a:latin typeface="Cambria Math" panose="02040503050406030204" pitchFamily="18" charset="0"/>
                      </a:rPr>
                      <m:t>Eighteen</m:t>
                    </m:r>
                  </m:oMath>
                </a14:m>
                <a:r>
                  <a:rPr lang="en-US" altLang="zh-TW" dirty="0"/>
                  <a:t>(10 points)</a:t>
                </a:r>
                <a:endParaRPr lang="zh-TW" altLang="en-US" dirty="0"/>
              </a:p>
            </p:txBody>
          </p:sp>
        </mc:Choice>
        <mc:Fallback xmlns="">
          <p:sp>
            <p:nvSpPr>
              <p:cNvPr id="16" name="文字方塊 15">
                <a:extLst>
                  <a:ext uri="{FF2B5EF4-FFF2-40B4-BE49-F238E27FC236}">
                    <a16:creationId xmlns:a16="http://schemas.microsoft.com/office/drawing/2014/main" id="{32777E16-0C9E-41F4-89C8-D87B57A3B331}"/>
                  </a:ext>
                </a:extLst>
              </p:cNvPr>
              <p:cNvSpPr txBox="1">
                <a:spLocks noRot="1" noChangeAspect="1" noMove="1" noResize="1" noEditPoints="1" noAdjustHandles="1" noChangeArrowheads="1" noChangeShapeType="1" noTextEdit="1"/>
              </p:cNvSpPr>
              <p:nvPr/>
            </p:nvSpPr>
            <p:spPr>
              <a:xfrm>
                <a:off x="5537199" y="1004337"/>
                <a:ext cx="4258733" cy="369332"/>
              </a:xfrm>
              <a:prstGeom prst="rect">
                <a:avLst/>
              </a:prstGeom>
              <a:blipFill>
                <a:blip r:embed="rId4"/>
                <a:stretch>
                  <a:fillRect l="-858" t="-10000" b="-2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ZP_s_mat"/>
              <p:cNvSpPr txBox="1"/>
              <p:nvPr/>
            </p:nvSpPr>
            <p:spPr>
              <a:xfrm>
                <a:off x="460000" y="1650000"/>
                <a:ext cx="4389119" cy="1115568"/>
              </a:xfrm>
              <a:prstGeom prst="rect">
                <a:avLst/>
              </a:prstGeom>
              <a:noFill/>
            </p:spPr>
            <p:txBody>
              <a:bodyPr wrap="none" lIns="0" tIns="0" rIns="0" bIns="0" rtlCol="0" anchor="t"/>
              <a:lstStyle/>
              <a:p>
                <a:pPr algn="ctr"/>
                <a14:m>
                  <m:oMathPara xmlns:m="http://schemas.openxmlformats.org/officeDocument/2006/math">
                    <m:oMathParaPr>
                      <m:jc m:val="centerGroup"/>
                    </m:oMathParaPr>
                    <m:oMath xmlns:m="http://schemas.openxmlformats.org/officeDocument/2006/math">
                      <m:sSub>
                        <m:sSubPr>
                          <m:ctrlPr>
                            <a:rPr lang="en-US" sz="1200" b="0" i="1">
                              <a:latin typeface="Cambria Math" panose="02040503050406030204" pitchFamily="18" charset="0"/>
                            </a:rPr>
                          </m:ctrlPr>
                        </m:sSubPr>
                        <m:e>
                          <m:acc>
                            <m:accPr>
                              <m:chr m:val="̄"/>
                              <m:ctrlPr>
                                <a:rPr lang="en-US" sz="1200" b="0" i="1">
                                  <a:latin typeface="Cambria Math" panose="02040503050406030204" pitchFamily="18" charset="0"/>
                                </a:rPr>
                              </m:ctrlPr>
                            </m:accPr>
                            <m:e>
                              <m:r>
                                <a:rPr lang="en-US" sz="1200" b="0" i="1">
                                  <a:latin typeface="Cambria Math" panose="02040503050406030204" pitchFamily="18" charset="0"/>
                                </a:rPr>
                                <m:t>𝐾</m:t>
                              </m:r>
                            </m:e>
                          </m:acc>
                        </m:e>
                        <m:sub>
                          <m:r>
                            <a:rPr lang="en-US" sz="1200" b="0" i="1">
                              <a:latin typeface="Cambria Math" panose="02040503050406030204" pitchFamily="18" charset="0"/>
                            </a:rPr>
                            <m:t>𝐼</m:t>
                          </m:r>
                        </m:sub>
                      </m:sSub>
                      <m:r>
                        <a:rPr lang="en-US" sz="1200" b="0" i="0">
                          <a:latin typeface="Cambria Math" panose="02040503050406030204" pitchFamily="18" charset="0"/>
                        </a:rPr>
                        <m:t> = </m:t>
                      </m:r>
                      <m:d>
                        <m:dPr>
                          <m:begChr m:val="["/>
                          <m:endChr m:val="]"/>
                          <m:ctrlPr>
                            <a:rPr lang="en-US" sz="1200" b="0" i="1">
                              <a:latin typeface="Cambria Math" panose="02040503050406030204" pitchFamily="18" charset="0"/>
                            </a:rPr>
                          </m:ctrlPr>
                        </m:dPr>
                        <m:e>
                          <m:m>
                            <m:mPr>
                              <m:mcs>
                                <m:mc>
                                  <m:mcPr>
                                    <m:count m:val="6"/>
                                    <m:mcJc m:val="center"/>
                                  </m:mcPr>
                                </m:mc>
                              </m:mcs>
                              <m:ctrlPr>
                                <a:rPr lang="en-US" sz="1200" b="0" i="1">
                                  <a:latin typeface="Cambria Math" panose="02040503050406030204" pitchFamily="18" charset="0"/>
                                </a:rPr>
                              </m:ctrlPr>
                            </m:mPr>
                            <m:mr>
                              <m:e>
                                <m:r>
                                  <a:rPr lang="en-US" sz="1200" b="0" i="0">
                                    <a:latin typeface="Cambria Math" panose="02040503050406030204" pitchFamily="18" charset="0"/>
                                  </a:rPr>
                                  <m:t>0.8333</m:t>
                                </m:r>
                              </m:e>
                              <m:e>
                                <m:r>
                                  <a:rPr lang="en-US" sz="1200" b="0" i="0">
                                    <a:latin typeface="Cambria Math" panose="02040503050406030204" pitchFamily="18" charset="0"/>
                                  </a:rPr>
                                  <m:t>−0.0795</m:t>
                                </m:r>
                              </m:e>
                              <m:e>
                                <m:r>
                                  <a:rPr lang="en-US" sz="1200" b="0" i="0">
                                    <a:latin typeface="Cambria Math" panose="02040503050406030204" pitchFamily="18" charset="0"/>
                                  </a:rPr>
                                  <m:t>−0.2410</m:t>
                                </m:r>
                              </m:e>
                              <m:e>
                                <m:r>
                                  <a:rPr lang="en-US" sz="1200" b="0" i="0">
                                    <a:latin typeface="Cambria Math" panose="02040503050406030204" pitchFamily="18" charset="0"/>
                                  </a:rPr>
                                  <m:t>−0.1255</m:t>
                                </m:r>
                              </m:e>
                              <m:e>
                                <m:r>
                                  <a:rPr lang="en-US" sz="1200" b="0" i="0">
                                    <a:latin typeface="Cambria Math" panose="02040503050406030204" pitchFamily="18" charset="0"/>
                                  </a:rPr>
                                  <m:t>−0.1259</m:t>
                                </m:r>
                              </m:e>
                              <m:e>
                                <m:r>
                                  <a:rPr lang="en-US" sz="1200" b="0" i="0">
                                    <a:latin typeface="Cambria Math" panose="02040503050406030204" pitchFamily="18" charset="0"/>
                                  </a:rPr>
                                  <m:t>−0.2382</m:t>
                                </m:r>
                              </m:e>
                            </m:mr>
                            <m:mr>
                              <m:e>
                                <m:r>
                                  <a:rPr lang="en-US" sz="1200" b="0" i="0">
                                    <a:latin typeface="Cambria Math" panose="02040503050406030204" pitchFamily="18" charset="0"/>
                                  </a:rPr>
                                  <m:t>−0.0824</m:t>
                                </m:r>
                              </m:e>
                              <m:e>
                                <m:r>
                                  <a:rPr lang="en-US" sz="1200" b="0" i="0">
                                    <a:latin typeface="Cambria Math" panose="02040503050406030204" pitchFamily="18" charset="0"/>
                                  </a:rPr>
                                  <m:t>0.8293</m:t>
                                </m:r>
                              </m:e>
                              <m:e>
                                <m:r>
                                  <a:rPr lang="en-US" sz="1200" b="0" i="0">
                                    <a:latin typeface="Cambria Math" panose="02040503050406030204" pitchFamily="18" charset="0"/>
                                  </a:rPr>
                                  <m:t>−0.1307</m:t>
                                </m:r>
                              </m:e>
                              <m:e>
                                <m:r>
                                  <a:rPr lang="en-US" sz="1200" b="0" i="0">
                                    <a:latin typeface="Cambria Math" panose="02040503050406030204" pitchFamily="18" charset="0"/>
                                  </a:rPr>
                                  <m:t>−0.2399</m:t>
                                </m:r>
                              </m:e>
                              <m:e>
                                <m:r>
                                  <a:rPr lang="en-US" sz="1200" b="0" i="0">
                                    <a:latin typeface="Cambria Math" panose="02040503050406030204" pitchFamily="18" charset="0"/>
                                  </a:rPr>
                                  <m:t>−0.2404</m:t>
                                </m:r>
                              </m:e>
                              <m:e>
                                <m:r>
                                  <a:rPr lang="en-US" sz="1200" b="0" i="0">
                                    <a:latin typeface="Cambria Math" panose="02040503050406030204" pitchFamily="18" charset="0"/>
                                  </a:rPr>
                                  <m:t>−0.1280</m:t>
                                </m:r>
                              </m:e>
                            </m:mr>
                            <m:mr>
                              <m:e>
                                <m:r>
                                  <a:rPr lang="en-US" sz="1200" b="0" i="0">
                                    <a:latin typeface="Cambria Math" panose="02040503050406030204" pitchFamily="18" charset="0"/>
                                  </a:rPr>
                                  <m:t>−0.2795</m:t>
                                </m:r>
                              </m:e>
                              <m:e>
                                <m:r>
                                  <a:rPr lang="en-US" sz="1200" b="0" i="0">
                                    <a:latin typeface="Cambria Math" panose="02040503050406030204" pitchFamily="18" charset="0"/>
                                  </a:rPr>
                                  <m:t>−0.1247</m:t>
                                </m:r>
                              </m:e>
                              <m:e>
                                <m:r>
                                  <a:rPr lang="en-US" sz="1200" b="0" i="0">
                                    <a:latin typeface="Cambria Math" panose="02040503050406030204" pitchFamily="18" charset="0"/>
                                  </a:rPr>
                                  <m:t>0.7473</m:t>
                                </m:r>
                              </m:e>
                              <m:e>
                                <m:r>
                                  <a:rPr lang="en-US" sz="1200" b="0" i="0">
                                    <a:latin typeface="Cambria Math" panose="02040503050406030204" pitchFamily="18" charset="0"/>
                                  </a:rPr>
                                  <m:t>−0.0646</m:t>
                                </m:r>
                              </m:e>
                              <m:e>
                                <m:r>
                                  <a:rPr lang="en-US" sz="1200" b="0" i="0">
                                    <a:latin typeface="Cambria Math" panose="02040503050406030204" pitchFamily="18" charset="0"/>
                                  </a:rPr>
                                  <m:t>−0.0888</m:t>
                                </m:r>
                              </m:e>
                              <m:e>
                                <m:r>
                                  <a:rPr lang="en-US" sz="1200" b="0" i="0">
                                    <a:latin typeface="Cambria Math" panose="02040503050406030204" pitchFamily="18" charset="0"/>
                                  </a:rPr>
                                  <m:t>−0.2562</m:t>
                                </m:r>
                              </m:e>
                            </m:mr>
                            <m:mr>
                              <m:e>
                                <m:r>
                                  <a:rPr lang="en-US" sz="1200" b="0" i="0">
                                    <a:latin typeface="Cambria Math" panose="02040503050406030204" pitchFamily="18" charset="0"/>
                                  </a:rPr>
                                  <m:t>−0.1283</m:t>
                                </m:r>
                              </m:e>
                              <m:e>
                                <m:r>
                                  <a:rPr lang="en-US" sz="1200" b="0" i="0">
                                    <a:latin typeface="Cambria Math" panose="02040503050406030204" pitchFamily="18" charset="0"/>
                                  </a:rPr>
                                  <m:t>−0.2802</m:t>
                                </m:r>
                              </m:e>
                              <m:e>
                                <m:r>
                                  <a:rPr lang="en-US" sz="1200" b="0" i="0">
                                    <a:latin typeface="Cambria Math" panose="02040503050406030204" pitchFamily="18" charset="0"/>
                                  </a:rPr>
                                  <m:t>−0.0699</m:t>
                                </m:r>
                              </m:e>
                              <m:e>
                                <m:r>
                                  <a:rPr lang="en-US" sz="1200" b="0" i="0">
                                    <a:latin typeface="Cambria Math" panose="02040503050406030204" pitchFamily="18" charset="0"/>
                                  </a:rPr>
                                  <m:t>0.7452</m:t>
                                </m:r>
                              </m:e>
                              <m:e>
                                <m:r>
                                  <a:rPr lang="en-US" sz="1200" b="0" i="0">
                                    <a:latin typeface="Cambria Math" panose="02040503050406030204" pitchFamily="18" charset="0"/>
                                  </a:rPr>
                                  <m:t>−0.2586</m:t>
                                </m:r>
                              </m:e>
                              <m:e>
                                <m:r>
                                  <a:rPr lang="en-US" sz="1200" b="0" i="0">
                                    <a:latin typeface="Cambria Math" panose="02040503050406030204" pitchFamily="18" charset="0"/>
                                  </a:rPr>
                                  <m:t>−0.0914</m:t>
                                </m:r>
                              </m:e>
                            </m:mr>
                            <m:mr>
                              <m:e>
                                <m:r>
                                  <a:rPr lang="en-US" sz="1200" b="0" i="0">
                                    <a:latin typeface="Cambria Math" panose="02040503050406030204" pitchFamily="18" charset="0"/>
                                  </a:rPr>
                                  <m:t>−0.1281</m:t>
                                </m:r>
                              </m:e>
                              <m:e>
                                <m:r>
                                  <a:rPr lang="en-US" sz="1200" b="0" i="0">
                                    <a:latin typeface="Cambria Math" panose="02040503050406030204" pitchFamily="18" charset="0"/>
                                  </a:rPr>
                                  <m:t>−0.2802</m:t>
                                </m:r>
                              </m:e>
                              <m:e>
                                <m:r>
                                  <a:rPr lang="en-US" sz="1200" b="0" i="0">
                                    <a:latin typeface="Cambria Math" panose="02040503050406030204" pitchFamily="18" charset="0"/>
                                  </a:rPr>
                                  <m:t>−0.0941</m:t>
                                </m:r>
                              </m:e>
                              <m:e>
                                <m:r>
                                  <a:rPr lang="en-US" sz="1200" b="0" i="0">
                                    <a:latin typeface="Cambria Math" panose="02040503050406030204" pitchFamily="18" charset="0"/>
                                  </a:rPr>
                                  <m:t>−0.2580</m:t>
                                </m:r>
                              </m:e>
                              <m:e>
                                <m:r>
                                  <a:rPr lang="en-US" sz="1200" b="0" i="0">
                                    <a:latin typeface="Cambria Math" panose="02040503050406030204" pitchFamily="18" charset="0"/>
                                  </a:rPr>
                                  <m:t>0.7437</m:t>
                                </m:r>
                              </m:e>
                              <m:e>
                                <m:r>
                                  <a:rPr lang="en-US" sz="1200" b="0" i="0">
                                    <a:latin typeface="Cambria Math" panose="02040503050406030204" pitchFamily="18" charset="0"/>
                                  </a:rPr>
                                  <m:t>−0.0668</m:t>
                                </m:r>
                              </m:e>
                            </m:mr>
                            <m:mr>
                              <m:e>
                                <m:r>
                                  <a:rPr lang="en-US" sz="1200" b="0" i="0">
                                    <a:latin typeface="Cambria Math" panose="02040503050406030204" pitchFamily="18" charset="0"/>
                                  </a:rPr>
                                  <m:t>−0.2794</m:t>
                                </m:r>
                              </m:e>
                              <m:e>
                                <m:r>
                                  <a:rPr lang="en-US" sz="1200" b="0" i="0">
                                    <a:latin typeface="Cambria Math" panose="02040503050406030204" pitchFamily="18" charset="0"/>
                                  </a:rPr>
                                  <m:t>−0.1248</m:t>
                                </m:r>
                              </m:e>
                              <m:e>
                                <m:r>
                                  <a:rPr lang="en-US" sz="1200" b="0" i="0">
                                    <a:latin typeface="Cambria Math" panose="02040503050406030204" pitchFamily="18" charset="0"/>
                                  </a:rPr>
                                  <m:t>−0.2591</m:t>
                                </m:r>
                              </m:e>
                              <m:e>
                                <m:r>
                                  <a:rPr lang="en-US" sz="1200" b="0" i="0">
                                    <a:latin typeface="Cambria Math" panose="02040503050406030204" pitchFamily="18" charset="0"/>
                                  </a:rPr>
                                  <m:t>−0.0883</m:t>
                                </m:r>
                              </m:e>
                              <m:e>
                                <m:r>
                                  <a:rPr lang="en-US" sz="1200" b="0" i="0">
                                    <a:latin typeface="Cambria Math" panose="02040503050406030204" pitchFamily="18" charset="0"/>
                                  </a:rPr>
                                  <m:t>−0.0654</m:t>
                                </m:r>
                              </m:e>
                              <m:e>
                                <m:r>
                                  <a:rPr lang="en-US" sz="1200" b="0" i="0">
                                    <a:latin typeface="Cambria Math" panose="02040503050406030204" pitchFamily="18" charset="0"/>
                                  </a:rPr>
                                  <m:t>0.7507</m:t>
                                </m:r>
                              </m:e>
                            </m:mr>
                          </m:m>
                        </m:e>
                      </m:d>
                      <m:r>
                        <a:rPr lang="en-US" sz="1200" b="0" i="0">
                          <a:latin typeface="Cambria Math" panose="02040503050406030204" pitchFamily="18" charset="0"/>
                        </a:rPr>
                        <m:t> </m:t>
                      </m:r>
                    </m:oMath>
                  </m:oMathPara>
                </a14:m>
                <a:endParaRPr lang="en-US" sz="1100" dirty="0"/>
              </a:p>
            </p:txBody>
          </p:sp>
        </mc:Choice>
        <mc:Fallback xmlns="">
          <p:sp>
            <p:nvSpPr>
              <p:cNvPr id="40" name="ZP_s_mat"/>
              <p:cNvSpPr txBox="1">
                <a:spLocks noRot="1" noChangeAspect="1" noMove="1" noResize="1" noEditPoints="1" noAdjustHandles="1" noChangeArrowheads="1" noChangeShapeType="1" noTextEdit="1"/>
              </p:cNvSpPr>
              <p:nvPr/>
            </p:nvSpPr>
            <p:spPr>
              <a:xfrm>
                <a:off x="460000" y="1650000"/>
                <a:ext cx="4389119" cy="1115568"/>
              </a:xfrm>
              <a:prstGeom prst="rect">
                <a:avLst/>
              </a:prstGeom>
              <a:blipFill>
                <a:blip r:embed="rId5"/>
                <a:stretch>
                  <a:fillRect l="-5417" r="-125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ZP_s_sc"/>
              <p:cNvSpPr txBox="1"/>
              <p:nvPr/>
            </p:nvSpPr>
            <p:spPr>
              <a:xfrm>
                <a:off x="150000" y="2953600"/>
                <a:ext cx="3457787" cy="310896"/>
              </a:xfrm>
              <a:prstGeom prst="rect">
                <a:avLst/>
              </a:prstGeom>
              <a:noFill/>
            </p:spPr>
            <p:txBody>
              <a:bodyPr wrap="none" lIns="0" tIns="0" rIns="0" bIns="0" rtlCol="0" anchor="t"/>
              <a:lstStyle/>
              <a:p>
                <a:pPr algn="ctr"/>
                <a14:m>
                  <m:oMathPara xmlns:m="http://schemas.openxmlformats.org/officeDocument/2006/math">
                    <m:oMathParaPr>
                      <m:jc m:val="centerGroup"/>
                    </m:oMathParaPr>
                    <m:oMath xmlns:m="http://schemas.openxmlformats.org/officeDocument/2006/math">
                      <m:acc>
                        <m:accPr>
                          <m:chr m:val="̂"/>
                          <m:ctrlPr>
                            <a:rPr lang="en-US" sz="1400" b="0" i="1">
                              <a:latin typeface="Cambria Math" panose="02040503050406030204" pitchFamily="18" charset="0"/>
                            </a:rPr>
                          </m:ctrlPr>
                        </m:accPr>
                        <m:e>
                          <m:r>
                            <a:rPr lang="en-US" sz="1400" b="0" i="1">
                              <a:latin typeface="Cambria Math" panose="02040503050406030204" pitchFamily="18" charset="0"/>
                            </a:rPr>
                            <m:t>ℓ</m:t>
                          </m:r>
                        </m:e>
                      </m:acc>
                      <m:r>
                        <a:rPr lang="en-US" sz="1400" b="0" i="0">
                          <a:latin typeface="Cambria Math" panose="02040503050406030204" pitchFamily="18" charset="0"/>
                        </a:rPr>
                        <m:t> = 751.8 </m:t>
                      </m:r>
                      <m:r>
                        <a:rPr lang="en-US" sz="1400" b="0" i="1">
                          <a:latin typeface="Cambria Math" panose="02040503050406030204" pitchFamily="18" charset="0"/>
                        </a:rPr>
                        <m:t>𝜇</m:t>
                      </m:r>
                      <m:r>
                        <a:rPr lang="en-US" sz="1400" b="0" i="1">
                          <a:latin typeface="Cambria Math" panose="02040503050406030204" pitchFamily="18" charset="0"/>
                        </a:rPr>
                        <m:t>𝑚</m:t>
                      </m:r>
                      <m:r>
                        <a:rPr lang="en-US" sz="1400" b="0" i="0">
                          <a:latin typeface="Cambria Math" panose="02040503050406030204" pitchFamily="18" charset="0"/>
                        </a:rPr>
                        <m:t>  </m:t>
                      </m:r>
                      <m:sPre>
                        <m:sPrePr>
                          <m:ctrlPr>
                            <a:rPr lang="en-US" sz="1400" b="0" i="1">
                              <a:latin typeface="Cambria Math" panose="02040503050406030204" pitchFamily="18" charset="0"/>
                            </a:rPr>
                          </m:ctrlPr>
                        </m:sPrePr>
                        <m:sub/>
                        <m:sup>
                          <m:r>
                            <a:rPr lang="en-US" sz="1400" b="0" i="1">
                              <a:latin typeface="Cambria Math" panose="02040503050406030204" pitchFamily="18" charset="0"/>
                            </a:rPr>
                            <m:t>𝐵</m:t>
                          </m:r>
                        </m:sup>
                        <m:e>
                          <m:sSub>
                            <m:sSubPr>
                              <m:ctrlPr>
                                <a:rPr lang="en-US" sz="1400" b="0" i="1">
                                  <a:latin typeface="Cambria Math" panose="02040503050406030204" pitchFamily="18" charset="0"/>
                                </a:rPr>
                              </m:ctrlPr>
                            </m:sSubPr>
                            <m:e>
                              <m:acc>
                                <m:accPr>
                                  <m:chr m:val="̂"/>
                                  <m:ctrlPr>
                                    <a:rPr lang="en-US" sz="1400" b="0" i="1">
                                      <a:latin typeface="Cambria Math" panose="02040503050406030204" pitchFamily="18" charset="0"/>
                                    </a:rPr>
                                  </m:ctrlPr>
                                </m:accPr>
                                <m:e>
                                  <m:r>
                                    <a:rPr lang="en-US" sz="1400" b="0" i="1">
                                      <a:latin typeface="Cambria Math" panose="02040503050406030204" pitchFamily="18" charset="0"/>
                                    </a:rPr>
                                    <m:t>𝑔</m:t>
                                  </m:r>
                                </m:e>
                              </m:acc>
                            </m:e>
                            <m:sub>
                              <m:r>
                                <a:rPr lang="en-US" sz="1400" b="0" i="1">
                                  <a:latin typeface="Cambria Math" panose="02040503050406030204" pitchFamily="18" charset="0"/>
                                </a:rPr>
                                <m:t>𝐼</m:t>
                              </m:r>
                            </m:sub>
                          </m:sSub>
                        </m:e>
                      </m:sPre>
                      <m:r>
                        <a:rPr lang="en-US" sz="1400" b="0" i="0">
                          <a:latin typeface="Cambria Math" panose="02040503050406030204" pitchFamily="18" charset="0"/>
                        </a:rPr>
                        <m:t> = 32.9574 </m:t>
                      </m:r>
                      <m:r>
                        <a:rPr lang="en-US" sz="1400" b="0" i="1">
                          <a:latin typeface="Cambria Math" panose="02040503050406030204" pitchFamily="18" charset="0"/>
                        </a:rPr>
                        <m:t>𝑚𝑇</m:t>
                      </m:r>
                      <m:r>
                        <a:rPr lang="en-US" sz="1400" b="0" i="1">
                          <a:latin typeface="Cambria Math" panose="02040503050406030204" pitchFamily="18" charset="0"/>
                        </a:rPr>
                        <m:t>/</m:t>
                      </m:r>
                      <m:r>
                        <a:rPr lang="en-US" sz="1400" b="0" i="1">
                          <a:latin typeface="Cambria Math" panose="02040503050406030204" pitchFamily="18" charset="0"/>
                        </a:rPr>
                        <m:t>𝐴</m:t>
                      </m:r>
                    </m:oMath>
                  </m:oMathPara>
                </a14:m>
                <a:endParaRPr lang="en-US" sz="1400" i="1" dirty="0"/>
              </a:p>
            </p:txBody>
          </p:sp>
        </mc:Choice>
        <mc:Fallback xmlns="">
          <p:sp>
            <p:nvSpPr>
              <p:cNvPr id="41" name="ZP_s_sc"/>
              <p:cNvSpPr txBox="1">
                <a:spLocks noRot="1" noChangeAspect="1" noMove="1" noResize="1" noEditPoints="1" noAdjustHandles="1" noChangeArrowheads="1" noChangeShapeType="1" noTextEdit="1"/>
              </p:cNvSpPr>
              <p:nvPr/>
            </p:nvSpPr>
            <p:spPr>
              <a:xfrm>
                <a:off x="150000" y="2953600"/>
                <a:ext cx="3457787" cy="310896"/>
              </a:xfrm>
              <a:prstGeom prst="rect">
                <a:avLst/>
              </a:prstGeom>
              <a:blipFill>
                <a:blip r:embed="rId6"/>
                <a:stretch>
                  <a:fillRect t="-11765" b="-1176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2" name="ZP_s_nmae"/>
              <p:cNvSpPr txBox="1"/>
              <p:nvPr/>
            </p:nvSpPr>
            <p:spPr>
              <a:xfrm>
                <a:off x="150000" y="3400000"/>
                <a:ext cx="4191000" cy="54950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altLang="zh-TW" sz="1400" smtClean="0">
                          <a:latin typeface="Cambria Math" panose="02040503050406030204" pitchFamily="18" charset="0"/>
                        </a:rPr>
                        <m:t>NMAE</m:t>
                      </m:r>
                      <m:r>
                        <a:rPr lang="en-US" altLang="zh-TW" sz="1400" i="1" smtClean="0">
                          <a:latin typeface="Cambria Math" panose="02040503050406030204" pitchFamily="18" charset="0"/>
                        </a:rPr>
                        <m:t>=</m:t>
                      </m:r>
                      <m:f>
                        <m:fPr>
                          <m:ctrlPr>
                            <a:rPr lang="en-US" altLang="zh-TW" sz="1400" i="1">
                              <a:latin typeface="Cambria Math" panose="02040503050406030204" pitchFamily="18" charset="0"/>
                            </a:rPr>
                          </m:ctrlPr>
                        </m:fPr>
                        <m:num>
                          <m:nary>
                            <m:naryPr>
                              <m:chr m:val="∑"/>
                              <m:supHide m:val="on"/>
                              <m:ctrlPr>
                                <a:rPr lang="en-US" altLang="zh-TW" sz="1400" i="1">
                                  <a:latin typeface="Cambria Math" panose="02040503050406030204" pitchFamily="18" charset="0"/>
                                </a:rPr>
                              </m:ctrlPr>
                            </m:naryPr>
                            <m:sub>
                              <m:r>
                                <m:rPr>
                                  <m:brk m:alnAt="7"/>
                                </m:rPr>
                                <a:rPr lang="en-US" altLang="zh-TW" sz="1400" i="1">
                                  <a:latin typeface="Cambria Math" panose="02040503050406030204" pitchFamily="18" charset="0"/>
                                </a:rPr>
                                <m:t>𝑗</m:t>
                              </m:r>
                            </m:sub>
                            <m:sup/>
                            <m:e>
                              <m:nary>
                                <m:naryPr>
                                  <m:chr m:val="∑"/>
                                  <m:supHide m:val="on"/>
                                  <m:ctrlPr>
                                    <a:rPr lang="en-US" altLang="zh-TW" sz="1400" i="1">
                                      <a:latin typeface="Cambria Math" panose="02040503050406030204" pitchFamily="18" charset="0"/>
                                    </a:rPr>
                                  </m:ctrlPr>
                                </m:naryPr>
                                <m:sub>
                                  <m:r>
                                    <m:rPr>
                                      <m:brk m:alnAt="7"/>
                                    </m:rPr>
                                    <a:rPr lang="en-US" altLang="zh-TW" sz="1400" i="1">
                                      <a:latin typeface="Cambria Math" panose="02040503050406030204" pitchFamily="18" charset="0"/>
                                    </a:rPr>
                                    <m:t>𝑖</m:t>
                                  </m:r>
                                </m:sub>
                                <m:sup/>
                                <m:e>
                                  <m:d>
                                    <m:dPr>
                                      <m:begChr m:val="‖"/>
                                      <m:endChr m:val="‖"/>
                                      <m:ctrlPr>
                                        <a:rPr lang="en-US" altLang="zh-TW" sz="1400" i="1">
                                          <a:latin typeface="Cambria Math" panose="02040503050406030204" pitchFamily="18" charset="0"/>
                                        </a:rPr>
                                      </m:ctrlPr>
                                    </m:dPr>
                                    <m:e>
                                      <m:sSub>
                                        <m:sSubPr>
                                          <m:ctrlPr>
                                            <a:rPr lang="en-US" altLang="zh-TW" sz="1400" i="1">
                                              <a:latin typeface="Cambria Math" panose="02040503050406030204" pitchFamily="18" charset="0"/>
                                            </a:rPr>
                                          </m:ctrlPr>
                                        </m:sSubPr>
                                        <m:e>
                                          <m:r>
                                            <a:rPr lang="en-US" altLang="zh-TW" sz="1400" i="1">
                                              <a:latin typeface="Cambria Math" panose="02040503050406030204" pitchFamily="18" charset="0"/>
                                            </a:rPr>
                                            <m:t>𝑏</m:t>
                                          </m:r>
                                        </m:e>
                                        <m:sub>
                                          <m:r>
                                            <a:rPr lang="en-US" altLang="zh-TW" sz="1400" i="1">
                                              <a:latin typeface="Cambria Math" panose="02040503050406030204" pitchFamily="18" charset="0"/>
                                            </a:rPr>
                                            <m:t>𝑖𝑗</m:t>
                                          </m:r>
                                        </m:sub>
                                      </m:sSub>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a:rPr lang="en-US" altLang="zh-TW" sz="1400" i="1">
                                              <a:latin typeface="Cambria Math" panose="02040503050406030204" pitchFamily="18" charset="0"/>
                                              <a:ea typeface="Cambria Math" panose="02040503050406030204" pitchFamily="18" charset="0"/>
                                            </a:rPr>
                                            <m:t>𝑆</m:t>
                                          </m:r>
                                        </m:e>
                                        <m:sub>
                                          <m:r>
                                            <a:rPr lang="en-US" altLang="zh-TW" sz="1400" i="1">
                                              <a:latin typeface="Cambria Math" panose="02040503050406030204" pitchFamily="18" charset="0"/>
                                              <a:ea typeface="Cambria Math" panose="02040503050406030204" pitchFamily="18" charset="0"/>
                                            </a:rPr>
                                            <m:t>𝑖</m:t>
                                          </m:r>
                                        </m:sub>
                                      </m:sSub>
                                      <m:sPre>
                                        <m:sPrePr>
                                          <m:ctrlPr>
                                            <a:rPr lang="en-US" altLang="zh-TW" sz="1400" i="1">
                                              <a:latin typeface="Cambria Math" panose="02040503050406030204" pitchFamily="18" charset="0"/>
                                              <a:ea typeface="Cambria Math" panose="02040503050406030204" pitchFamily="18" charset="0"/>
                                            </a:rPr>
                                          </m:ctrlPr>
                                        </m:sPrePr>
                                        <m:sub/>
                                        <m:sup>
                                          <m:r>
                                            <a:rPr lang="en-US" altLang="zh-TW" sz="1400" i="1">
                                              <a:latin typeface="Cambria Math" panose="02040503050406030204" pitchFamily="18" charset="0"/>
                                            </a:rPr>
                                            <m:t>𝐵</m:t>
                                          </m:r>
                                        </m:sup>
                                        <m:e>
                                          <m:sSub>
                                            <m:sSubPr>
                                              <m:ctrlPr>
                                                <a:rPr lang="en-US" altLang="zh-TW" sz="1400" i="1">
                                                  <a:latin typeface="Cambria Math" panose="02040503050406030204" pitchFamily="18" charset="0"/>
                                                </a:rPr>
                                              </m:ctrlPr>
                                            </m:sSubPr>
                                            <m:e>
                                              <m:acc>
                                                <m:accPr>
                                                  <m:chr m:val="̂"/>
                                                  <m:ctrlPr>
                                                    <a:rPr lang="en-US" altLang="zh-TW" sz="1400" i="1">
                                                      <a:latin typeface="Cambria Math" panose="02040503050406030204" pitchFamily="18" charset="0"/>
                                                    </a:rPr>
                                                  </m:ctrlPr>
                                                </m:accPr>
                                                <m:e>
                                                  <m:r>
                                                    <a:rPr lang="en-US" altLang="zh-TW" sz="1400" i="1">
                                                      <a:latin typeface="Cambria Math" panose="02040503050406030204" pitchFamily="18" charset="0"/>
                                                    </a:rPr>
                                                    <m:t>𝑔</m:t>
                                                  </m:r>
                                                </m:e>
                                              </m:acc>
                                            </m:e>
                                            <m:sub>
                                              <m:r>
                                                <a:rPr lang="en-US" altLang="zh-TW" sz="1400" i="1">
                                                  <a:latin typeface="Cambria Math" panose="02040503050406030204" pitchFamily="18" charset="0"/>
                                                </a:rPr>
                                                <m:t>𝐼</m:t>
                                              </m:r>
                                            </m:sub>
                                          </m:sSub>
                                        </m:e>
                                      </m:sPre>
                                      <m:sSub>
                                        <m:sSubPr>
                                          <m:ctrlPr>
                                            <a:rPr lang="en-US" altLang="zh-TW" sz="1400" i="1">
                                              <a:latin typeface="Cambria Math" panose="02040503050406030204" pitchFamily="18" charset="0"/>
                                            </a:rPr>
                                          </m:ctrlPr>
                                        </m:sSubPr>
                                        <m:e>
                                          <m:acc>
                                            <m:accPr>
                                              <m:chr m:val="̅"/>
                                              <m:ctrlPr>
                                                <a:rPr lang="en-US" altLang="zh-TW" sz="1400" i="1">
                                                  <a:latin typeface="Cambria Math" panose="02040503050406030204" pitchFamily="18" charset="0"/>
                                                </a:rPr>
                                              </m:ctrlPr>
                                            </m:accPr>
                                            <m:e>
                                              <m:r>
                                                <a:rPr lang="en-US" altLang="zh-TW" sz="1400" i="1">
                                                  <a:latin typeface="Cambria Math" panose="02040503050406030204" pitchFamily="18" charset="0"/>
                                                </a:rPr>
                                                <m:t>𝐾</m:t>
                                              </m:r>
                                            </m:e>
                                          </m:acc>
                                        </m:e>
                                        <m:sub>
                                          <m:r>
                                            <a:rPr lang="en-US" altLang="zh-TW" sz="1400" i="1">
                                              <a:latin typeface="Cambria Math" panose="02040503050406030204" pitchFamily="18" charset="0"/>
                                            </a:rPr>
                                            <m:t>𝐼</m:t>
                                          </m:r>
                                        </m:sub>
                                      </m:sSub>
                                      <m:sSub>
                                        <m:sSubPr>
                                          <m:ctrlPr>
                                            <a:rPr lang="en-US" altLang="zh-TW" sz="1400" i="1">
                                              <a:latin typeface="Cambria Math" panose="02040503050406030204" pitchFamily="18" charset="0"/>
                                            </a:rPr>
                                          </m:ctrlPr>
                                        </m:sSubPr>
                                        <m:e>
                                          <m:r>
                                            <a:rPr lang="en-US" altLang="zh-TW" sz="1400" i="1">
                                              <a:latin typeface="Cambria Math" panose="02040503050406030204" pitchFamily="18" charset="0"/>
                                            </a:rPr>
                                            <m:t>𝐼</m:t>
                                          </m:r>
                                        </m:e>
                                        <m:sub>
                                          <m:r>
                                            <a:rPr lang="en-US" altLang="zh-TW" sz="1400" i="1">
                                              <a:latin typeface="Cambria Math" panose="02040503050406030204" pitchFamily="18" charset="0"/>
                                            </a:rPr>
                                            <m:t>𝑗</m:t>
                                          </m:r>
                                        </m:sub>
                                      </m:sSub>
                                    </m:e>
                                  </m:d>
                                </m:e>
                              </m:nary>
                            </m:e>
                          </m:nary>
                        </m:num>
                        <m:den>
                          <m:nary>
                            <m:naryPr>
                              <m:chr m:val="∑"/>
                              <m:supHide m:val="on"/>
                              <m:ctrlPr>
                                <a:rPr lang="en-US" altLang="zh-TW" sz="1400" i="1">
                                  <a:latin typeface="Cambria Math" panose="02040503050406030204" pitchFamily="18" charset="0"/>
                                </a:rPr>
                              </m:ctrlPr>
                            </m:naryPr>
                            <m:sub>
                              <m:r>
                                <m:rPr>
                                  <m:brk m:alnAt="7"/>
                                </m:rPr>
                                <a:rPr lang="en-US" altLang="zh-TW" sz="1400" i="1">
                                  <a:latin typeface="Cambria Math" panose="02040503050406030204" pitchFamily="18" charset="0"/>
                                </a:rPr>
                                <m:t>𝑗</m:t>
                              </m:r>
                            </m:sub>
                            <m:sup/>
                            <m:e>
                              <m:nary>
                                <m:naryPr>
                                  <m:chr m:val="∑"/>
                                  <m:supHide m:val="on"/>
                                  <m:ctrlPr>
                                    <a:rPr lang="en-US" altLang="zh-TW" sz="1400" i="1">
                                      <a:latin typeface="Cambria Math" panose="02040503050406030204" pitchFamily="18" charset="0"/>
                                    </a:rPr>
                                  </m:ctrlPr>
                                </m:naryPr>
                                <m:sub>
                                  <m:r>
                                    <m:rPr>
                                      <m:brk m:alnAt="7"/>
                                    </m:rPr>
                                    <a:rPr lang="en-US" altLang="zh-TW" sz="1400" i="1">
                                      <a:latin typeface="Cambria Math" panose="02040503050406030204" pitchFamily="18" charset="0"/>
                                    </a:rPr>
                                    <m:t>𝑖</m:t>
                                  </m:r>
                                </m:sub>
                                <m:sup/>
                                <m:e>
                                  <m:d>
                                    <m:dPr>
                                      <m:begChr m:val="‖"/>
                                      <m:endChr m:val="‖"/>
                                      <m:ctrlPr>
                                        <a:rPr lang="en-US" altLang="zh-TW" sz="1400" i="1">
                                          <a:latin typeface="Cambria Math" panose="02040503050406030204" pitchFamily="18" charset="0"/>
                                        </a:rPr>
                                      </m:ctrlPr>
                                    </m:dPr>
                                    <m:e>
                                      <m:sSub>
                                        <m:sSubPr>
                                          <m:ctrlPr>
                                            <a:rPr lang="en-US" altLang="zh-TW" sz="1400" i="1">
                                              <a:latin typeface="Cambria Math" panose="02040503050406030204" pitchFamily="18" charset="0"/>
                                            </a:rPr>
                                          </m:ctrlPr>
                                        </m:sSubPr>
                                        <m:e>
                                          <m:r>
                                            <a:rPr lang="en-US" altLang="zh-TW" sz="1400" i="1">
                                              <a:latin typeface="Cambria Math" panose="02040503050406030204" pitchFamily="18" charset="0"/>
                                            </a:rPr>
                                            <m:t>𝑏</m:t>
                                          </m:r>
                                        </m:e>
                                        <m:sub>
                                          <m:r>
                                            <a:rPr lang="en-US" altLang="zh-TW" sz="1400" i="1">
                                              <a:latin typeface="Cambria Math" panose="02040503050406030204" pitchFamily="18" charset="0"/>
                                            </a:rPr>
                                            <m:t>𝑖𝑗</m:t>
                                          </m:r>
                                        </m:sub>
                                      </m:sSub>
                                    </m:e>
                                  </m:d>
                                </m:e>
                              </m:nary>
                            </m:e>
                          </m:nary>
                        </m:den>
                      </m:f>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rPr>
                        <m:t>100</m:t>
                      </m:r>
                      <m:r>
                        <a:rPr lang="en-US" altLang="zh-TW" sz="1400" b="0" i="1" smtClean="0">
                          <a:latin typeface="Cambria Math" panose="02040503050406030204" pitchFamily="18" charset="0"/>
                        </a:rPr>
                        <m:t>%=11.02%</m:t>
                      </m:r>
                    </m:oMath>
                  </m:oMathPara>
                </a14:m>
                <a:endParaRPr lang="zh-TW" altLang="en-US" sz="1400" dirty="0"/>
              </a:p>
            </p:txBody>
          </p:sp>
        </mc:Choice>
        <mc:Fallback xmlns="">
          <p:sp>
            <p:nvSpPr>
              <p:cNvPr id="42" name="ZP_s_nmae"/>
              <p:cNvSpPr txBox="1">
                <a:spLocks noRot="1" noChangeAspect="1" noMove="1" noResize="1" noEditPoints="1" noAdjustHandles="1" noChangeArrowheads="1" noChangeShapeType="1" noTextEdit="1"/>
              </p:cNvSpPr>
              <p:nvPr/>
            </p:nvSpPr>
            <p:spPr>
              <a:xfrm>
                <a:off x="150000" y="3400000"/>
                <a:ext cx="4191000" cy="549509"/>
              </a:xfrm>
              <a:prstGeom prst="rect">
                <a:avLst/>
              </a:prstGeom>
              <a:blipFill>
                <a:blip r:embed="rId7"/>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3" name="ZP_e_mat"/>
              <p:cNvSpPr txBox="1"/>
              <p:nvPr/>
            </p:nvSpPr>
            <p:spPr>
              <a:xfrm>
                <a:off x="5991799" y="1575920"/>
                <a:ext cx="4524587" cy="1115568"/>
              </a:xfrm>
              <a:prstGeom prst="rect">
                <a:avLst/>
              </a:prstGeom>
              <a:noFill/>
            </p:spPr>
            <p:txBody>
              <a:bodyPr wrap="none" lIns="0" tIns="0" rIns="0" bIns="0" rtlCol="0" anchor="t"/>
              <a:lstStyle/>
              <a:p>
                <a:pPr algn="ctr"/>
                <a14:m>
                  <m:oMathPara xmlns:m="http://schemas.openxmlformats.org/officeDocument/2006/math">
                    <m:oMathParaPr>
                      <m:jc m:val="centerGroup"/>
                    </m:oMathParaPr>
                    <m:oMath xmlns:m="http://schemas.openxmlformats.org/officeDocument/2006/math">
                      <m:sSub>
                        <m:sSubPr>
                          <m:ctrlPr>
                            <a:rPr lang="en-US" sz="1200" b="0" i="1">
                              <a:latin typeface="Cambria Math" panose="02040503050406030204" pitchFamily="18" charset="0"/>
                            </a:rPr>
                          </m:ctrlPr>
                        </m:sSubPr>
                        <m:e>
                          <m:acc>
                            <m:accPr>
                              <m:chr m:val="̄"/>
                              <m:ctrlPr>
                                <a:rPr lang="en-US" sz="1200" b="0" i="1">
                                  <a:latin typeface="Cambria Math" panose="02040503050406030204" pitchFamily="18" charset="0"/>
                                </a:rPr>
                              </m:ctrlPr>
                            </m:accPr>
                            <m:e>
                              <m:r>
                                <a:rPr lang="en-US" sz="1200" b="0" i="1">
                                  <a:latin typeface="Cambria Math" panose="02040503050406030204" pitchFamily="18" charset="0"/>
                                </a:rPr>
                                <m:t>𝐾</m:t>
                              </m:r>
                            </m:e>
                          </m:acc>
                        </m:e>
                        <m:sub>
                          <m:r>
                            <a:rPr lang="en-US" sz="1200" b="0" i="1">
                              <a:latin typeface="Cambria Math" panose="02040503050406030204" pitchFamily="18" charset="0"/>
                            </a:rPr>
                            <m:t>𝐼</m:t>
                          </m:r>
                        </m:sub>
                      </m:sSub>
                      <m:r>
                        <a:rPr lang="en-US" sz="1200" b="0" i="0">
                          <a:latin typeface="Cambria Math" panose="02040503050406030204" pitchFamily="18" charset="0"/>
                        </a:rPr>
                        <m:t> = </m:t>
                      </m:r>
                      <m:d>
                        <m:dPr>
                          <m:begChr m:val="["/>
                          <m:endChr m:val="]"/>
                          <m:ctrlPr>
                            <a:rPr lang="en-US" sz="1200" b="0" i="1">
                              <a:latin typeface="Cambria Math" panose="02040503050406030204" pitchFamily="18" charset="0"/>
                            </a:rPr>
                          </m:ctrlPr>
                        </m:dPr>
                        <m:e>
                          <m:m>
                            <m:mPr>
                              <m:mcs>
                                <m:mc>
                                  <m:mcPr>
                                    <m:count m:val="6"/>
                                    <m:mcJc m:val="center"/>
                                  </m:mcPr>
                                </m:mc>
                              </m:mcs>
                              <m:ctrlPr>
                                <a:rPr lang="en-US" sz="1200" b="0" i="1">
                                  <a:latin typeface="Cambria Math" panose="02040503050406030204" pitchFamily="18" charset="0"/>
                                </a:rPr>
                              </m:ctrlPr>
                            </m:mPr>
                            <m:mr>
                              <m:e>
                                <m:r>
                                  <a:rPr lang="en-US" sz="1200" b="0" i="0">
                                    <a:latin typeface="Cambria Math" panose="02040503050406030204" pitchFamily="18" charset="0"/>
                                  </a:rPr>
                                  <m:t>0.8333</m:t>
                                </m:r>
                              </m:e>
                              <m:e>
                                <m:r>
                                  <a:rPr lang="en-US" sz="1200" b="0" i="0">
                                    <a:latin typeface="Cambria Math" panose="02040503050406030204" pitchFamily="18" charset="0"/>
                                  </a:rPr>
                                  <m:t>−0.1061</m:t>
                                </m:r>
                              </m:e>
                              <m:e>
                                <m:r>
                                  <a:rPr lang="en-US" sz="1200" b="0" i="0">
                                    <a:latin typeface="Cambria Math" panose="02040503050406030204" pitchFamily="18" charset="0"/>
                                  </a:rPr>
                                  <m:t>−0.1152</m:t>
                                </m:r>
                              </m:e>
                              <m:e>
                                <m:r>
                                  <a:rPr lang="en-US" sz="1200" b="0" i="0">
                                    <a:latin typeface="Cambria Math" panose="02040503050406030204" pitchFamily="18" charset="0"/>
                                  </a:rPr>
                                  <m:t>−0.1882</m:t>
                                </m:r>
                              </m:e>
                              <m:e>
                                <m:r>
                                  <a:rPr lang="en-US" sz="1200" b="0" i="0">
                                    <a:latin typeface="Cambria Math" panose="02040503050406030204" pitchFamily="18" charset="0"/>
                                  </a:rPr>
                                  <m:t>−0.1888</m:t>
                                </m:r>
                              </m:e>
                              <m:e>
                                <m:r>
                                  <a:rPr lang="en-US" sz="1200" b="0" i="0">
                                    <a:latin typeface="Cambria Math" panose="02040503050406030204" pitchFamily="18" charset="0"/>
                                  </a:rPr>
                                  <m:t>−0.1149</m:t>
                                </m:r>
                              </m:e>
                            </m:mr>
                            <m:mr>
                              <m:e>
                                <m:r>
                                  <a:rPr lang="en-US" sz="1200" b="0" i="0">
                                    <a:latin typeface="Cambria Math" panose="02040503050406030204" pitchFamily="18" charset="0"/>
                                  </a:rPr>
                                  <m:t>−0.1119</m:t>
                                </m:r>
                              </m:e>
                              <m:e>
                                <m:r>
                                  <a:rPr lang="en-US" sz="1200" b="0" i="0">
                                    <a:latin typeface="Cambria Math" panose="02040503050406030204" pitchFamily="18" charset="0"/>
                                  </a:rPr>
                                  <m:t>0.8320</m:t>
                                </m:r>
                              </m:e>
                              <m:e>
                                <m:r>
                                  <a:rPr lang="en-US" sz="1200" b="0" i="0">
                                    <a:latin typeface="Cambria Math" panose="02040503050406030204" pitchFamily="18" charset="0"/>
                                  </a:rPr>
                                  <m:t>−0.1939</m:t>
                                </m:r>
                              </m:e>
                              <m:e>
                                <m:r>
                                  <a:rPr lang="en-US" sz="1200" b="0" i="0">
                                    <a:latin typeface="Cambria Math" panose="02040503050406030204" pitchFamily="18" charset="0"/>
                                  </a:rPr>
                                  <m:t>−0.1194</m:t>
                                </m:r>
                              </m:e>
                              <m:e>
                                <m:r>
                                  <a:rPr lang="en-US" sz="1200" b="0" i="0">
                                    <a:latin typeface="Cambria Math" panose="02040503050406030204" pitchFamily="18" charset="0"/>
                                  </a:rPr>
                                  <m:t>−0.1191</m:t>
                                </m:r>
                              </m:e>
                              <m:e>
                                <m:r>
                                  <a:rPr lang="en-US" sz="1200" b="0" i="0">
                                    <a:latin typeface="Cambria Math" panose="02040503050406030204" pitchFamily="18" charset="0"/>
                                  </a:rPr>
                                  <m:t>−0.1942</m:t>
                                </m:r>
                              </m:e>
                            </m:mr>
                            <m:mr>
                              <m:e>
                                <m:r>
                                  <a:rPr lang="en-US" sz="1200" b="0" i="0">
                                    <a:latin typeface="Cambria Math" panose="02040503050406030204" pitchFamily="18" charset="0"/>
                                  </a:rPr>
                                  <m:t>−0.1342</m:t>
                                </m:r>
                              </m:e>
                              <m:e>
                                <m:r>
                                  <a:rPr lang="en-US" sz="1200" b="0" i="0">
                                    <a:latin typeface="Cambria Math" panose="02040503050406030204" pitchFamily="18" charset="0"/>
                                  </a:rPr>
                                  <m:t>−0.1959</m:t>
                                </m:r>
                              </m:e>
                              <m:e>
                                <m:r>
                                  <a:rPr lang="en-US" sz="1200" b="0" i="0">
                                    <a:latin typeface="Cambria Math" panose="02040503050406030204" pitchFamily="18" charset="0"/>
                                  </a:rPr>
                                  <m:t>0.7514</m:t>
                                </m:r>
                              </m:e>
                              <m:e>
                                <m:r>
                                  <a:rPr lang="en-US" sz="1200" b="0" i="0">
                                    <a:latin typeface="Cambria Math" panose="02040503050406030204" pitchFamily="18" charset="0"/>
                                  </a:rPr>
                                  <m:t>−0.0932</m:t>
                                </m:r>
                              </m:e>
                              <m:e>
                                <m:r>
                                  <a:rPr lang="en-US" sz="1200" b="0" i="0">
                                    <a:latin typeface="Cambria Math" panose="02040503050406030204" pitchFamily="18" charset="0"/>
                                  </a:rPr>
                                  <m:t>−0.1592</m:t>
                                </m:r>
                              </m:e>
                              <m:e>
                                <m:r>
                                  <a:rPr lang="en-US" sz="1200" b="0" i="0">
                                    <a:latin typeface="Cambria Math" panose="02040503050406030204" pitchFamily="18" charset="0"/>
                                  </a:rPr>
                                  <m:t>−0.1302</m:t>
                                </m:r>
                              </m:e>
                            </m:mr>
                            <m:mr>
                              <m:e>
                                <m:r>
                                  <a:rPr lang="en-US" sz="1200" b="0" i="0">
                                    <a:latin typeface="Cambria Math" panose="02040503050406030204" pitchFamily="18" charset="0"/>
                                  </a:rPr>
                                  <m:t>−0.2011</m:t>
                                </m:r>
                              </m:e>
                              <m:e>
                                <m:r>
                                  <a:rPr lang="en-US" sz="1200" b="0" i="0">
                                    <a:latin typeface="Cambria Math" panose="02040503050406030204" pitchFamily="18" charset="0"/>
                                  </a:rPr>
                                  <m:t>−0.1369</m:t>
                                </m:r>
                              </m:e>
                              <m:e>
                                <m:r>
                                  <a:rPr lang="en-US" sz="1200" b="0" i="0">
                                    <a:latin typeface="Cambria Math" panose="02040503050406030204" pitchFamily="18" charset="0"/>
                                  </a:rPr>
                                  <m:t>−0.0963</m:t>
                                </m:r>
                              </m:e>
                              <m:e>
                                <m:r>
                                  <a:rPr lang="en-US" sz="1200" b="0" i="0">
                                    <a:latin typeface="Cambria Math" panose="02040503050406030204" pitchFamily="18" charset="0"/>
                                  </a:rPr>
                                  <m:t>0.7409</m:t>
                                </m:r>
                              </m:e>
                              <m:e>
                                <m:r>
                                  <a:rPr lang="en-US" sz="1200" b="0" i="0">
                                    <a:latin typeface="Cambria Math" panose="02040503050406030204" pitchFamily="18" charset="0"/>
                                  </a:rPr>
                                  <m:t>−0.1334</m:t>
                                </m:r>
                              </m:e>
                              <m:e>
                                <m:r>
                                  <a:rPr lang="en-US" sz="1200" b="0" i="0">
                                    <a:latin typeface="Cambria Math" panose="02040503050406030204" pitchFamily="18" charset="0"/>
                                  </a:rPr>
                                  <m:t>−0.1630</m:t>
                                </m:r>
                              </m:e>
                            </m:mr>
                            <m:mr>
                              <m:e>
                                <m:r>
                                  <a:rPr lang="en-US" sz="1200" b="0" i="0">
                                    <a:latin typeface="Cambria Math" panose="02040503050406030204" pitchFamily="18" charset="0"/>
                                  </a:rPr>
                                  <m:t>−0.2013</m:t>
                                </m:r>
                              </m:e>
                              <m:e>
                                <m:r>
                                  <a:rPr lang="en-US" sz="1200" b="0" i="0">
                                    <a:latin typeface="Cambria Math" panose="02040503050406030204" pitchFamily="18" charset="0"/>
                                  </a:rPr>
                                  <m:t>−0.1372</m:t>
                                </m:r>
                              </m:e>
                              <m:e>
                                <m:r>
                                  <a:rPr lang="en-US" sz="1200" b="0" i="0">
                                    <a:latin typeface="Cambria Math" panose="02040503050406030204" pitchFamily="18" charset="0"/>
                                  </a:rPr>
                                  <m:t>−0.1625</m:t>
                                </m:r>
                              </m:e>
                              <m:e>
                                <m:r>
                                  <a:rPr lang="en-US" sz="1200" b="0" i="0">
                                    <a:latin typeface="Cambria Math" panose="02040503050406030204" pitchFamily="18" charset="0"/>
                                  </a:rPr>
                                  <m:t>−0.1341</m:t>
                                </m:r>
                              </m:e>
                              <m:e>
                                <m:r>
                                  <a:rPr lang="en-US" sz="1200" b="0" i="0">
                                    <a:latin typeface="Cambria Math" panose="02040503050406030204" pitchFamily="18" charset="0"/>
                                  </a:rPr>
                                  <m:t>0.7421</m:t>
                                </m:r>
                              </m:e>
                              <m:e>
                                <m:r>
                                  <a:rPr lang="en-US" sz="1200" b="0" i="0">
                                    <a:latin typeface="Cambria Math" panose="02040503050406030204" pitchFamily="18" charset="0"/>
                                  </a:rPr>
                                  <m:t>−0.0969</m:t>
                                </m:r>
                              </m:e>
                            </m:mr>
                            <m:mr>
                              <m:e>
                                <m:r>
                                  <a:rPr lang="en-US" sz="1200" b="0" i="0">
                                    <a:latin typeface="Cambria Math" panose="02040503050406030204" pitchFamily="18" charset="0"/>
                                  </a:rPr>
                                  <m:t>−0.1337</m:t>
                                </m:r>
                              </m:e>
                              <m:e>
                                <m:r>
                                  <a:rPr lang="en-US" sz="1200" b="0" i="0">
                                    <a:latin typeface="Cambria Math" panose="02040503050406030204" pitchFamily="18" charset="0"/>
                                  </a:rPr>
                                  <m:t>−0.1958</m:t>
                                </m:r>
                              </m:e>
                              <m:e>
                                <m:r>
                                  <a:rPr lang="en-US" sz="1200" b="0" i="0">
                                    <a:latin typeface="Cambria Math" panose="02040503050406030204" pitchFamily="18" charset="0"/>
                                  </a:rPr>
                                  <m:t>−0.1296</m:t>
                                </m:r>
                              </m:e>
                              <m:e>
                                <m:r>
                                  <a:rPr lang="en-US" sz="1200" b="0" i="0">
                                    <a:latin typeface="Cambria Math" panose="02040503050406030204" pitchFamily="18" charset="0"/>
                                  </a:rPr>
                                  <m:t>−0.1589</m:t>
                                </m:r>
                              </m:e>
                              <m:e>
                                <m:r>
                                  <a:rPr lang="en-US" sz="1200" b="0" i="0">
                                    <a:latin typeface="Cambria Math" panose="02040503050406030204" pitchFamily="18" charset="0"/>
                                  </a:rPr>
                                  <m:t>−0.0928</m:t>
                                </m:r>
                              </m:e>
                              <m:e>
                                <m:r>
                                  <a:rPr lang="en-US" sz="1200" b="0" i="0">
                                    <a:latin typeface="Cambria Math" panose="02040503050406030204" pitchFamily="18" charset="0"/>
                                  </a:rPr>
                                  <m:t>0.7493</m:t>
                                </m:r>
                              </m:e>
                            </m:mr>
                          </m:m>
                        </m:e>
                      </m:d>
                      <m:r>
                        <a:rPr lang="en-US" sz="1200" b="0" i="0">
                          <a:latin typeface="Cambria Math" panose="02040503050406030204" pitchFamily="18" charset="0"/>
                        </a:rPr>
                        <m:t> </m:t>
                      </m:r>
                    </m:oMath>
                  </m:oMathPara>
                </a14:m>
                <a:endParaRPr lang="en-US" sz="1100" dirty="0"/>
              </a:p>
            </p:txBody>
          </p:sp>
        </mc:Choice>
        <mc:Fallback xmlns="">
          <p:sp>
            <p:nvSpPr>
              <p:cNvPr id="43" name="ZP_e_mat"/>
              <p:cNvSpPr txBox="1">
                <a:spLocks noRot="1" noChangeAspect="1" noMove="1" noResize="1" noEditPoints="1" noAdjustHandles="1" noChangeArrowheads="1" noChangeShapeType="1" noTextEdit="1"/>
              </p:cNvSpPr>
              <p:nvPr/>
            </p:nvSpPr>
            <p:spPr>
              <a:xfrm>
                <a:off x="5991799" y="1575920"/>
                <a:ext cx="4524587" cy="1115568"/>
              </a:xfrm>
              <a:prstGeom prst="rect">
                <a:avLst/>
              </a:prstGeom>
              <a:blipFill>
                <a:blip r:embed="rId8"/>
                <a:stretch>
                  <a:fillRect l="-377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4" name="ZP_e_sc"/>
              <p:cNvSpPr txBox="1"/>
              <p:nvPr/>
            </p:nvSpPr>
            <p:spPr>
              <a:xfrm>
                <a:off x="5693133" y="2977286"/>
                <a:ext cx="3457787" cy="310896"/>
              </a:xfrm>
              <a:prstGeom prst="rect">
                <a:avLst/>
              </a:prstGeom>
              <a:noFill/>
            </p:spPr>
            <p:txBody>
              <a:bodyPr wrap="none" lIns="0" tIns="0" rIns="0" bIns="0" rtlCol="0" anchor="t"/>
              <a:lstStyle/>
              <a:p>
                <a:pPr algn="ctr"/>
                <a14:m>
                  <m:oMathPara xmlns:m="http://schemas.openxmlformats.org/officeDocument/2006/math">
                    <m:oMathParaPr>
                      <m:jc m:val="centerGroup"/>
                    </m:oMathParaPr>
                    <m:oMath xmlns:m="http://schemas.openxmlformats.org/officeDocument/2006/math">
                      <m:acc>
                        <m:accPr>
                          <m:chr m:val="̂"/>
                          <m:ctrlPr>
                            <a:rPr lang="en-US" sz="1400" b="0" i="1">
                              <a:latin typeface="Cambria Math" panose="02040503050406030204" pitchFamily="18" charset="0"/>
                            </a:rPr>
                          </m:ctrlPr>
                        </m:accPr>
                        <m:e>
                          <m:r>
                            <a:rPr lang="en-US" sz="1400" b="0" i="1">
                              <a:latin typeface="Cambria Math" panose="02040503050406030204" pitchFamily="18" charset="0"/>
                            </a:rPr>
                            <m:t>ℓ</m:t>
                          </m:r>
                        </m:e>
                      </m:acc>
                      <m:r>
                        <a:rPr lang="en-US" sz="1400" b="0" i="0">
                          <a:latin typeface="Cambria Math" panose="02040503050406030204" pitchFamily="18" charset="0"/>
                        </a:rPr>
                        <m:t> = 603.8 </m:t>
                      </m:r>
                      <m:r>
                        <a:rPr lang="en-US" sz="1400" b="0" i="1">
                          <a:latin typeface="Cambria Math" panose="02040503050406030204" pitchFamily="18" charset="0"/>
                        </a:rPr>
                        <m:t>𝜇</m:t>
                      </m:r>
                      <m:r>
                        <a:rPr lang="en-US" sz="1400" b="0" i="1">
                          <a:latin typeface="Cambria Math" panose="02040503050406030204" pitchFamily="18" charset="0"/>
                        </a:rPr>
                        <m:t>𝑚</m:t>
                      </m:r>
                      <m:r>
                        <a:rPr lang="en-US" sz="1400" b="0" i="0">
                          <a:latin typeface="Cambria Math" panose="02040503050406030204" pitchFamily="18" charset="0"/>
                        </a:rPr>
                        <m:t>  </m:t>
                      </m:r>
                      <m:sPre>
                        <m:sPrePr>
                          <m:ctrlPr>
                            <a:rPr lang="en-US" sz="1400" b="0" i="1">
                              <a:latin typeface="Cambria Math" panose="02040503050406030204" pitchFamily="18" charset="0"/>
                            </a:rPr>
                          </m:ctrlPr>
                        </m:sPrePr>
                        <m:sub/>
                        <m:sup>
                          <m:r>
                            <a:rPr lang="en-US" sz="1400" b="0" i="1">
                              <a:latin typeface="Cambria Math" panose="02040503050406030204" pitchFamily="18" charset="0"/>
                            </a:rPr>
                            <m:t>𝐵</m:t>
                          </m:r>
                        </m:sup>
                        <m:e>
                          <m:sSub>
                            <m:sSubPr>
                              <m:ctrlPr>
                                <a:rPr lang="en-US" sz="1400" b="0" i="1">
                                  <a:latin typeface="Cambria Math" panose="02040503050406030204" pitchFamily="18" charset="0"/>
                                </a:rPr>
                              </m:ctrlPr>
                            </m:sSubPr>
                            <m:e>
                              <m:acc>
                                <m:accPr>
                                  <m:chr m:val="̂"/>
                                  <m:ctrlPr>
                                    <a:rPr lang="en-US" sz="1400" b="0" i="1">
                                      <a:latin typeface="Cambria Math" panose="02040503050406030204" pitchFamily="18" charset="0"/>
                                    </a:rPr>
                                  </m:ctrlPr>
                                </m:accPr>
                                <m:e>
                                  <m:r>
                                    <a:rPr lang="en-US" sz="1400" b="0" i="1">
                                      <a:latin typeface="Cambria Math" panose="02040503050406030204" pitchFamily="18" charset="0"/>
                                    </a:rPr>
                                    <m:t>𝑔</m:t>
                                  </m:r>
                                </m:e>
                              </m:acc>
                            </m:e>
                            <m:sub>
                              <m:r>
                                <a:rPr lang="en-US" sz="1400" b="0" i="1">
                                  <a:latin typeface="Cambria Math" panose="02040503050406030204" pitchFamily="18" charset="0"/>
                                </a:rPr>
                                <m:t>𝐼</m:t>
                              </m:r>
                            </m:sub>
                          </m:sSub>
                        </m:e>
                      </m:sPre>
                      <m:r>
                        <a:rPr lang="en-US" sz="1400" b="0" i="0">
                          <a:latin typeface="Cambria Math" panose="02040503050406030204" pitchFamily="18" charset="0"/>
                        </a:rPr>
                        <m:t> = 37.3823 </m:t>
                      </m:r>
                      <m:r>
                        <a:rPr lang="en-US" sz="1400" b="0" i="1">
                          <a:latin typeface="Cambria Math" panose="02040503050406030204" pitchFamily="18" charset="0"/>
                        </a:rPr>
                        <m:t>𝑚𝑇</m:t>
                      </m:r>
                      <m:r>
                        <a:rPr lang="en-US" sz="1400" b="0" i="1">
                          <a:latin typeface="Cambria Math" panose="02040503050406030204" pitchFamily="18" charset="0"/>
                        </a:rPr>
                        <m:t>/</m:t>
                      </m:r>
                      <m:r>
                        <a:rPr lang="en-US" sz="1400" b="0" i="1">
                          <a:latin typeface="Cambria Math" panose="02040503050406030204" pitchFamily="18" charset="0"/>
                        </a:rPr>
                        <m:t>𝐴</m:t>
                      </m:r>
                    </m:oMath>
                  </m:oMathPara>
                </a14:m>
                <a:endParaRPr lang="en-US" sz="1400" i="1" dirty="0"/>
              </a:p>
            </p:txBody>
          </p:sp>
        </mc:Choice>
        <mc:Fallback xmlns="">
          <p:sp>
            <p:nvSpPr>
              <p:cNvPr id="44" name="ZP_e_sc"/>
              <p:cNvSpPr txBox="1">
                <a:spLocks noRot="1" noChangeAspect="1" noMove="1" noResize="1" noEditPoints="1" noAdjustHandles="1" noChangeArrowheads="1" noChangeShapeType="1" noTextEdit="1"/>
              </p:cNvSpPr>
              <p:nvPr/>
            </p:nvSpPr>
            <p:spPr>
              <a:xfrm>
                <a:off x="5693133" y="2977286"/>
                <a:ext cx="3457787" cy="310896"/>
              </a:xfrm>
              <a:prstGeom prst="rect">
                <a:avLst/>
              </a:prstGeom>
              <a:blipFill>
                <a:blip r:embed="rId9"/>
                <a:stretch>
                  <a:fillRect t="-9804" b="-1176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ZP_e_nmae"/>
              <p:cNvSpPr txBox="1"/>
              <p:nvPr/>
            </p:nvSpPr>
            <p:spPr>
              <a:xfrm>
                <a:off x="5517025" y="3433867"/>
                <a:ext cx="4191000" cy="54950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altLang="zh-TW" sz="1400" smtClean="0">
                          <a:latin typeface="Cambria Math" panose="02040503050406030204" pitchFamily="18" charset="0"/>
                        </a:rPr>
                        <m:t>NMAE</m:t>
                      </m:r>
                      <m:r>
                        <a:rPr lang="en-US" altLang="zh-TW" sz="1400" i="1" smtClean="0">
                          <a:latin typeface="Cambria Math" panose="02040503050406030204" pitchFamily="18" charset="0"/>
                        </a:rPr>
                        <m:t>=</m:t>
                      </m:r>
                      <m:f>
                        <m:fPr>
                          <m:ctrlPr>
                            <a:rPr lang="en-US" altLang="zh-TW" sz="1400" i="1">
                              <a:latin typeface="Cambria Math" panose="02040503050406030204" pitchFamily="18" charset="0"/>
                            </a:rPr>
                          </m:ctrlPr>
                        </m:fPr>
                        <m:num>
                          <m:nary>
                            <m:naryPr>
                              <m:chr m:val="∑"/>
                              <m:supHide m:val="on"/>
                              <m:ctrlPr>
                                <a:rPr lang="en-US" altLang="zh-TW" sz="1400" i="1">
                                  <a:latin typeface="Cambria Math" panose="02040503050406030204" pitchFamily="18" charset="0"/>
                                </a:rPr>
                              </m:ctrlPr>
                            </m:naryPr>
                            <m:sub>
                              <m:r>
                                <m:rPr>
                                  <m:brk m:alnAt="7"/>
                                </m:rPr>
                                <a:rPr lang="en-US" altLang="zh-TW" sz="1400" i="1">
                                  <a:latin typeface="Cambria Math" panose="02040503050406030204" pitchFamily="18" charset="0"/>
                                </a:rPr>
                                <m:t>𝑗</m:t>
                              </m:r>
                            </m:sub>
                            <m:sup/>
                            <m:e>
                              <m:nary>
                                <m:naryPr>
                                  <m:chr m:val="∑"/>
                                  <m:supHide m:val="on"/>
                                  <m:ctrlPr>
                                    <a:rPr lang="en-US" altLang="zh-TW" sz="1400" i="1">
                                      <a:latin typeface="Cambria Math" panose="02040503050406030204" pitchFamily="18" charset="0"/>
                                    </a:rPr>
                                  </m:ctrlPr>
                                </m:naryPr>
                                <m:sub>
                                  <m:r>
                                    <m:rPr>
                                      <m:brk m:alnAt="7"/>
                                    </m:rPr>
                                    <a:rPr lang="en-US" altLang="zh-TW" sz="1400" i="1">
                                      <a:latin typeface="Cambria Math" panose="02040503050406030204" pitchFamily="18" charset="0"/>
                                    </a:rPr>
                                    <m:t>𝑖</m:t>
                                  </m:r>
                                </m:sub>
                                <m:sup/>
                                <m:e>
                                  <m:d>
                                    <m:dPr>
                                      <m:begChr m:val="‖"/>
                                      <m:endChr m:val="‖"/>
                                      <m:ctrlPr>
                                        <a:rPr lang="en-US" altLang="zh-TW" sz="1400" i="1">
                                          <a:latin typeface="Cambria Math" panose="02040503050406030204" pitchFamily="18" charset="0"/>
                                        </a:rPr>
                                      </m:ctrlPr>
                                    </m:dPr>
                                    <m:e>
                                      <m:sSub>
                                        <m:sSubPr>
                                          <m:ctrlPr>
                                            <a:rPr lang="en-US" altLang="zh-TW" sz="1400" i="1">
                                              <a:latin typeface="Cambria Math" panose="02040503050406030204" pitchFamily="18" charset="0"/>
                                            </a:rPr>
                                          </m:ctrlPr>
                                        </m:sSubPr>
                                        <m:e>
                                          <m:r>
                                            <a:rPr lang="en-US" altLang="zh-TW" sz="1400" i="1">
                                              <a:latin typeface="Cambria Math" panose="02040503050406030204" pitchFamily="18" charset="0"/>
                                            </a:rPr>
                                            <m:t>𝑏</m:t>
                                          </m:r>
                                        </m:e>
                                        <m:sub>
                                          <m:r>
                                            <a:rPr lang="en-US" altLang="zh-TW" sz="1400" i="1">
                                              <a:latin typeface="Cambria Math" panose="02040503050406030204" pitchFamily="18" charset="0"/>
                                            </a:rPr>
                                            <m:t>𝑖𝑗</m:t>
                                          </m:r>
                                        </m:sub>
                                      </m:sSub>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a:rPr lang="en-US" altLang="zh-TW" sz="1400" i="1">
                                              <a:latin typeface="Cambria Math" panose="02040503050406030204" pitchFamily="18" charset="0"/>
                                              <a:ea typeface="Cambria Math" panose="02040503050406030204" pitchFamily="18" charset="0"/>
                                            </a:rPr>
                                            <m:t>𝑆</m:t>
                                          </m:r>
                                        </m:e>
                                        <m:sub>
                                          <m:r>
                                            <a:rPr lang="en-US" altLang="zh-TW" sz="1400" i="1">
                                              <a:latin typeface="Cambria Math" panose="02040503050406030204" pitchFamily="18" charset="0"/>
                                              <a:ea typeface="Cambria Math" panose="02040503050406030204" pitchFamily="18" charset="0"/>
                                            </a:rPr>
                                            <m:t>𝑖</m:t>
                                          </m:r>
                                        </m:sub>
                                      </m:sSub>
                                      <m:sPre>
                                        <m:sPrePr>
                                          <m:ctrlPr>
                                            <a:rPr lang="en-US" altLang="zh-TW" sz="1400" i="1">
                                              <a:latin typeface="Cambria Math" panose="02040503050406030204" pitchFamily="18" charset="0"/>
                                              <a:ea typeface="Cambria Math" panose="02040503050406030204" pitchFamily="18" charset="0"/>
                                            </a:rPr>
                                          </m:ctrlPr>
                                        </m:sPrePr>
                                        <m:sub/>
                                        <m:sup>
                                          <m:r>
                                            <a:rPr lang="en-US" altLang="zh-TW" sz="1400" i="1">
                                              <a:latin typeface="Cambria Math" panose="02040503050406030204" pitchFamily="18" charset="0"/>
                                            </a:rPr>
                                            <m:t>𝐵</m:t>
                                          </m:r>
                                        </m:sup>
                                        <m:e>
                                          <m:sSub>
                                            <m:sSubPr>
                                              <m:ctrlPr>
                                                <a:rPr lang="en-US" altLang="zh-TW" sz="1400" i="1">
                                                  <a:latin typeface="Cambria Math" panose="02040503050406030204" pitchFamily="18" charset="0"/>
                                                </a:rPr>
                                              </m:ctrlPr>
                                            </m:sSubPr>
                                            <m:e>
                                              <m:acc>
                                                <m:accPr>
                                                  <m:chr m:val="̂"/>
                                                  <m:ctrlPr>
                                                    <a:rPr lang="en-US" altLang="zh-TW" sz="1400" i="1">
                                                      <a:latin typeface="Cambria Math" panose="02040503050406030204" pitchFamily="18" charset="0"/>
                                                    </a:rPr>
                                                  </m:ctrlPr>
                                                </m:accPr>
                                                <m:e>
                                                  <m:r>
                                                    <a:rPr lang="en-US" altLang="zh-TW" sz="1400" i="1">
                                                      <a:latin typeface="Cambria Math" panose="02040503050406030204" pitchFamily="18" charset="0"/>
                                                    </a:rPr>
                                                    <m:t>𝑔</m:t>
                                                  </m:r>
                                                </m:e>
                                              </m:acc>
                                            </m:e>
                                            <m:sub>
                                              <m:r>
                                                <a:rPr lang="en-US" altLang="zh-TW" sz="1400" i="1">
                                                  <a:latin typeface="Cambria Math" panose="02040503050406030204" pitchFamily="18" charset="0"/>
                                                </a:rPr>
                                                <m:t>𝐼</m:t>
                                              </m:r>
                                            </m:sub>
                                          </m:sSub>
                                        </m:e>
                                      </m:sPre>
                                      <m:sSub>
                                        <m:sSubPr>
                                          <m:ctrlPr>
                                            <a:rPr lang="en-US" altLang="zh-TW" sz="1400" i="1">
                                              <a:latin typeface="Cambria Math" panose="02040503050406030204" pitchFamily="18" charset="0"/>
                                            </a:rPr>
                                          </m:ctrlPr>
                                        </m:sSubPr>
                                        <m:e>
                                          <m:acc>
                                            <m:accPr>
                                              <m:chr m:val="̅"/>
                                              <m:ctrlPr>
                                                <a:rPr lang="en-US" altLang="zh-TW" sz="1400" i="1">
                                                  <a:latin typeface="Cambria Math" panose="02040503050406030204" pitchFamily="18" charset="0"/>
                                                </a:rPr>
                                              </m:ctrlPr>
                                            </m:accPr>
                                            <m:e>
                                              <m:r>
                                                <a:rPr lang="en-US" altLang="zh-TW" sz="1400" i="1">
                                                  <a:latin typeface="Cambria Math" panose="02040503050406030204" pitchFamily="18" charset="0"/>
                                                </a:rPr>
                                                <m:t>𝐾</m:t>
                                              </m:r>
                                            </m:e>
                                          </m:acc>
                                        </m:e>
                                        <m:sub>
                                          <m:r>
                                            <a:rPr lang="en-US" altLang="zh-TW" sz="1400" i="1">
                                              <a:latin typeface="Cambria Math" panose="02040503050406030204" pitchFamily="18" charset="0"/>
                                            </a:rPr>
                                            <m:t>𝐼</m:t>
                                          </m:r>
                                        </m:sub>
                                      </m:sSub>
                                      <m:sSub>
                                        <m:sSubPr>
                                          <m:ctrlPr>
                                            <a:rPr lang="en-US" altLang="zh-TW" sz="1400" i="1">
                                              <a:latin typeface="Cambria Math" panose="02040503050406030204" pitchFamily="18" charset="0"/>
                                            </a:rPr>
                                          </m:ctrlPr>
                                        </m:sSubPr>
                                        <m:e>
                                          <m:r>
                                            <a:rPr lang="en-US" altLang="zh-TW" sz="1400" i="1">
                                              <a:latin typeface="Cambria Math" panose="02040503050406030204" pitchFamily="18" charset="0"/>
                                            </a:rPr>
                                            <m:t>𝐼</m:t>
                                          </m:r>
                                        </m:e>
                                        <m:sub>
                                          <m:r>
                                            <a:rPr lang="en-US" altLang="zh-TW" sz="1400" i="1">
                                              <a:latin typeface="Cambria Math" panose="02040503050406030204" pitchFamily="18" charset="0"/>
                                            </a:rPr>
                                            <m:t>𝑗</m:t>
                                          </m:r>
                                        </m:sub>
                                      </m:sSub>
                                    </m:e>
                                  </m:d>
                                </m:e>
                              </m:nary>
                            </m:e>
                          </m:nary>
                        </m:num>
                        <m:den>
                          <m:nary>
                            <m:naryPr>
                              <m:chr m:val="∑"/>
                              <m:supHide m:val="on"/>
                              <m:ctrlPr>
                                <a:rPr lang="en-US" altLang="zh-TW" sz="1400" i="1">
                                  <a:latin typeface="Cambria Math" panose="02040503050406030204" pitchFamily="18" charset="0"/>
                                </a:rPr>
                              </m:ctrlPr>
                            </m:naryPr>
                            <m:sub>
                              <m:r>
                                <m:rPr>
                                  <m:brk m:alnAt="7"/>
                                </m:rPr>
                                <a:rPr lang="en-US" altLang="zh-TW" sz="1400" i="1">
                                  <a:latin typeface="Cambria Math" panose="02040503050406030204" pitchFamily="18" charset="0"/>
                                </a:rPr>
                                <m:t>𝑗</m:t>
                              </m:r>
                            </m:sub>
                            <m:sup/>
                            <m:e>
                              <m:nary>
                                <m:naryPr>
                                  <m:chr m:val="∑"/>
                                  <m:supHide m:val="on"/>
                                  <m:ctrlPr>
                                    <a:rPr lang="en-US" altLang="zh-TW" sz="1400" i="1">
                                      <a:latin typeface="Cambria Math" panose="02040503050406030204" pitchFamily="18" charset="0"/>
                                    </a:rPr>
                                  </m:ctrlPr>
                                </m:naryPr>
                                <m:sub>
                                  <m:r>
                                    <m:rPr>
                                      <m:brk m:alnAt="7"/>
                                    </m:rPr>
                                    <a:rPr lang="en-US" altLang="zh-TW" sz="1400" i="1">
                                      <a:latin typeface="Cambria Math" panose="02040503050406030204" pitchFamily="18" charset="0"/>
                                    </a:rPr>
                                    <m:t>𝑖</m:t>
                                  </m:r>
                                </m:sub>
                                <m:sup/>
                                <m:e>
                                  <m:d>
                                    <m:dPr>
                                      <m:begChr m:val="‖"/>
                                      <m:endChr m:val="‖"/>
                                      <m:ctrlPr>
                                        <a:rPr lang="en-US" altLang="zh-TW" sz="1400" i="1">
                                          <a:latin typeface="Cambria Math" panose="02040503050406030204" pitchFamily="18" charset="0"/>
                                        </a:rPr>
                                      </m:ctrlPr>
                                    </m:dPr>
                                    <m:e>
                                      <m:sSub>
                                        <m:sSubPr>
                                          <m:ctrlPr>
                                            <a:rPr lang="en-US" altLang="zh-TW" sz="1400" i="1">
                                              <a:latin typeface="Cambria Math" panose="02040503050406030204" pitchFamily="18" charset="0"/>
                                            </a:rPr>
                                          </m:ctrlPr>
                                        </m:sSubPr>
                                        <m:e>
                                          <m:r>
                                            <a:rPr lang="en-US" altLang="zh-TW" sz="1400" i="1">
                                              <a:latin typeface="Cambria Math" panose="02040503050406030204" pitchFamily="18" charset="0"/>
                                            </a:rPr>
                                            <m:t>𝑏</m:t>
                                          </m:r>
                                        </m:e>
                                        <m:sub>
                                          <m:r>
                                            <a:rPr lang="en-US" altLang="zh-TW" sz="1400" i="1">
                                              <a:latin typeface="Cambria Math" panose="02040503050406030204" pitchFamily="18" charset="0"/>
                                            </a:rPr>
                                            <m:t>𝑖𝑗</m:t>
                                          </m:r>
                                        </m:sub>
                                      </m:sSub>
                                    </m:e>
                                  </m:d>
                                </m:e>
                              </m:nary>
                            </m:e>
                          </m:nary>
                        </m:den>
                      </m:f>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rPr>
                        <m:t>100</m:t>
                      </m:r>
                      <m:r>
                        <a:rPr lang="en-US" altLang="zh-TW" sz="1400" b="0" i="1" smtClean="0">
                          <a:latin typeface="Cambria Math" panose="02040503050406030204" pitchFamily="18" charset="0"/>
                        </a:rPr>
                        <m:t>%=0.65%</m:t>
                      </m:r>
                    </m:oMath>
                  </m:oMathPara>
                </a14:m>
                <a:endParaRPr lang="zh-TW" altLang="en-US" sz="1400" dirty="0"/>
              </a:p>
            </p:txBody>
          </p:sp>
        </mc:Choice>
        <mc:Fallback xmlns="">
          <p:sp>
            <p:nvSpPr>
              <p:cNvPr id="45" name="ZP_e_nmae"/>
              <p:cNvSpPr txBox="1">
                <a:spLocks noRot="1" noChangeAspect="1" noMove="1" noResize="1" noEditPoints="1" noAdjustHandles="1" noChangeArrowheads="1" noChangeShapeType="1" noTextEdit="1"/>
              </p:cNvSpPr>
              <p:nvPr/>
            </p:nvSpPr>
            <p:spPr>
              <a:xfrm>
                <a:off x="5517025" y="3433867"/>
                <a:ext cx="4191000" cy="549509"/>
              </a:xfrm>
              <a:prstGeom prst="rect">
                <a:avLst/>
              </a:prstGeom>
              <a:blipFill>
                <a:blip r:embed="rId10"/>
                <a:stretch>
                  <a:fillRect b="-111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ZP_e_bias"/>
              <p:cNvSpPr txBox="1"/>
              <p:nvPr/>
            </p:nvSpPr>
            <p:spPr>
              <a:xfrm>
                <a:off x="5371400" y="4274746"/>
                <a:ext cx="5235787" cy="566928"/>
              </a:xfrm>
              <a:prstGeom prst="rect">
                <a:avLst/>
              </a:prstGeom>
              <a:noFill/>
            </p:spPr>
            <p:txBody>
              <a:bodyPr wrap="none" lIns="0" tIns="0" rIns="0" bIns="0" rtlCol="0" anchor="t"/>
              <a:lstStyle/>
              <a:p>
                <a:pPr algn="ctr"/>
                <a14:m>
                  <m:oMathPara xmlns:m="http://schemas.openxmlformats.org/officeDocument/2006/math">
                    <m:oMathParaPr>
                      <m:jc m:val="centerGroup"/>
                    </m:oMathParaPr>
                    <m:oMath xmlns:m="http://schemas.openxmlformats.org/officeDocument/2006/math">
                      <m:acc>
                        <m:accPr>
                          <m:chr m:val="̂"/>
                          <m:ctrlPr>
                            <a:rPr lang="en-US" altLang="zh-TW" sz="1200" b="0" i="1" smtClean="0">
                              <a:latin typeface="Cambria Math" panose="02040503050406030204" pitchFamily="18" charset="0"/>
                            </a:rPr>
                          </m:ctrlPr>
                        </m:accPr>
                        <m:e>
                          <m:r>
                            <a:rPr lang="en-US" altLang="zh-TW" sz="1200" b="0" i="1" smtClean="0">
                              <a:latin typeface="Cambria Math" panose="02040503050406030204" pitchFamily="18" charset="0"/>
                            </a:rPr>
                            <m:t>𝑒</m:t>
                          </m:r>
                        </m:e>
                      </m:acc>
                      <m:r>
                        <a:rPr lang="en-US" sz="1200" b="0" i="0">
                          <a:latin typeface="Cambria Math" panose="02040503050406030204" pitchFamily="18" charset="0"/>
                        </a:rPr>
                        <m:t>= </m:t>
                      </m:r>
                      <m:d>
                        <m:dPr>
                          <m:begChr m:val="["/>
                          <m:endChr m:val="]"/>
                          <m:ctrlPr>
                            <a:rPr lang="en-US" sz="1200" b="0" i="1">
                              <a:latin typeface="Cambria Math" panose="02040503050406030204" pitchFamily="18" charset="0"/>
                            </a:rPr>
                          </m:ctrlPr>
                        </m:dPr>
                        <m:e>
                          <m:m>
                            <m:mPr>
                              <m:mcs>
                                <m:mc>
                                  <m:mcPr>
                                    <m:count m:val="6"/>
                                    <m:mcJc m:val="center"/>
                                  </m:mcPr>
                                </m:mc>
                              </m:mcs>
                              <m:ctrlPr>
                                <a:rPr lang="en-US" sz="1200" b="0" i="1">
                                  <a:latin typeface="Cambria Math" panose="02040503050406030204" pitchFamily="18" charset="0"/>
                                </a:rPr>
                              </m:ctrlPr>
                            </m:mPr>
                            <m:mr>
                              <m:e>
                                <m:r>
                                  <a:rPr lang="en-US" sz="1200" b="0" i="0">
                                    <a:latin typeface="Cambria Math" panose="02040503050406030204" pitchFamily="18" charset="0"/>
                                  </a:rPr>
                                  <m:t>−0.0025</m:t>
                                </m:r>
                              </m:e>
                              <m:e>
                                <m:r>
                                  <a:rPr lang="en-US" sz="1200" b="0" i="0">
                                    <a:latin typeface="Cambria Math" panose="02040503050406030204" pitchFamily="18" charset="0"/>
                                  </a:rPr>
                                  <m:t>0.0001</m:t>
                                </m:r>
                              </m:e>
                              <m:e>
                                <m:r>
                                  <a:rPr lang="en-US" sz="1200" b="0" i="0">
                                    <a:latin typeface="Cambria Math" panose="02040503050406030204" pitchFamily="18" charset="0"/>
                                  </a:rPr>
                                  <m:t>−0.2172</m:t>
                                </m:r>
                              </m:e>
                              <m:e>
                                <m:r>
                                  <a:rPr lang="en-US" sz="1200" b="0" i="0">
                                    <a:latin typeface="Cambria Math" panose="02040503050406030204" pitchFamily="18" charset="0"/>
                                  </a:rPr>
                                  <m:t>0.2154</m:t>
                                </m:r>
                              </m:e>
                              <m:e>
                                <m:r>
                                  <a:rPr lang="en-US" sz="1200" b="0" i="0">
                                    <a:latin typeface="Cambria Math" panose="02040503050406030204" pitchFamily="18" charset="0"/>
                                  </a:rPr>
                                  <m:t>0.2168</m:t>
                                </m:r>
                              </m:e>
                              <m:e>
                                <m:r>
                                  <a:rPr lang="en-US" sz="1200" b="0" i="0">
                                    <a:latin typeface="Cambria Math" panose="02040503050406030204" pitchFamily="18" charset="0"/>
                                  </a:rPr>
                                  <m:t>−0.2171</m:t>
                                </m:r>
                              </m:e>
                            </m:mr>
                            <m:mr>
                              <m:e>
                                <m:r>
                                  <a:rPr lang="en-US" sz="1200" b="0" i="0">
                                    <a:latin typeface="Cambria Math" panose="02040503050406030204" pitchFamily="18" charset="0"/>
                                  </a:rPr>
                                  <m:t>−0.2164</m:t>
                                </m:r>
                              </m:e>
                              <m:e>
                                <m:r>
                                  <a:rPr lang="en-US" sz="1200" b="0" i="0">
                                    <a:latin typeface="Cambria Math" panose="02040503050406030204" pitchFamily="18" charset="0"/>
                                  </a:rPr>
                                  <m:t>0.2161</m:t>
                                </m:r>
                              </m:e>
                              <m:e>
                                <m:r>
                                  <a:rPr lang="en-US" sz="1200" b="0" i="0">
                                    <a:latin typeface="Cambria Math" panose="02040503050406030204" pitchFamily="18" charset="0"/>
                                  </a:rPr>
                                  <m:t>0.0020</m:t>
                                </m:r>
                              </m:e>
                              <m:e>
                                <m:r>
                                  <a:rPr lang="en-US" sz="1200" b="0" i="0">
                                    <a:latin typeface="Cambria Math" panose="02040503050406030204" pitchFamily="18" charset="0"/>
                                  </a:rPr>
                                  <m:t>0.0002</m:t>
                                </m:r>
                              </m:e>
                              <m:e>
                                <m:r>
                                  <a:rPr lang="en-US" sz="1200" b="0" i="0">
                                    <a:latin typeface="Cambria Math" panose="02040503050406030204" pitchFamily="18" charset="0"/>
                                  </a:rPr>
                                  <m:t>0.2178</m:t>
                                </m:r>
                              </m:e>
                              <m:e>
                                <m:r>
                                  <a:rPr lang="en-US" sz="1200" b="0" i="0">
                                    <a:latin typeface="Cambria Math" panose="02040503050406030204" pitchFamily="18" charset="0"/>
                                  </a:rPr>
                                  <m:t>−0.2163</m:t>
                                </m:r>
                              </m:e>
                            </m:mr>
                            <m:mr>
                              <m:e>
                                <m:r>
                                  <a:rPr lang="en-US" sz="1200" b="0" i="0">
                                    <a:latin typeface="Cambria Math" panose="02040503050406030204" pitchFamily="18" charset="0"/>
                                  </a:rPr>
                                  <m:t>0.2167</m:t>
                                </m:r>
                              </m:e>
                              <m:e>
                                <m:r>
                                  <a:rPr lang="en-US" sz="1200" b="0" i="0">
                                    <a:latin typeface="Cambria Math" panose="02040503050406030204" pitchFamily="18" charset="0"/>
                                  </a:rPr>
                                  <m:t>−0.2166</m:t>
                                </m:r>
                              </m:e>
                              <m:e>
                                <m:r>
                                  <a:rPr lang="en-US" sz="1200" b="0" i="0">
                                    <a:latin typeface="Cambria Math" panose="02040503050406030204" pitchFamily="18" charset="0"/>
                                  </a:rPr>
                                  <m:t>0.2164</m:t>
                                </m:r>
                              </m:e>
                              <m:e>
                                <m:r>
                                  <a:rPr lang="en-US" sz="1200" b="0" i="0">
                                    <a:latin typeface="Cambria Math" panose="02040503050406030204" pitchFamily="18" charset="0"/>
                                  </a:rPr>
                                  <m:t>−0.2176</m:t>
                                </m:r>
                              </m:e>
                              <m:e>
                                <m:r>
                                  <a:rPr lang="en-US" sz="1200" b="0" i="0">
                                    <a:latin typeface="Cambria Math" panose="02040503050406030204" pitchFamily="18" charset="0"/>
                                  </a:rPr>
                                  <m:t>0.0005</m:t>
                                </m:r>
                              </m:e>
                              <m:e>
                                <m:r>
                                  <a:rPr lang="en-US" sz="1200" b="0" i="0">
                                    <a:latin typeface="Cambria Math" panose="02040503050406030204" pitchFamily="18" charset="0"/>
                                  </a:rPr>
                                  <m:t>−0.0002</m:t>
                                </m:r>
                              </m:e>
                            </m:mr>
                          </m:m>
                        </m:e>
                      </m:d>
                    </m:oMath>
                  </m:oMathPara>
                </a14:m>
                <a:endParaRPr lang="en-US" sz="1100" dirty="0"/>
              </a:p>
            </p:txBody>
          </p:sp>
        </mc:Choice>
        <mc:Fallback xmlns="">
          <p:sp>
            <p:nvSpPr>
              <p:cNvPr id="46" name="ZP_e_bias"/>
              <p:cNvSpPr txBox="1">
                <a:spLocks noRot="1" noChangeAspect="1" noMove="1" noResize="1" noEditPoints="1" noAdjustHandles="1" noChangeArrowheads="1" noChangeShapeType="1" noTextEdit="1"/>
              </p:cNvSpPr>
              <p:nvPr/>
            </p:nvSpPr>
            <p:spPr>
              <a:xfrm>
                <a:off x="5371400" y="4274746"/>
                <a:ext cx="5235787" cy="566928"/>
              </a:xfrm>
              <a:prstGeom prst="rect">
                <a:avLst/>
              </a:prstGeom>
              <a:blipFill>
                <a:blip r:embed="rId11"/>
                <a:stretch>
                  <a:fillRect t="-2151"/>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2885332418"/>
      </p:ext>
    </p:extLst>
  </p:cSld>
  <p:clrMapOvr>
    <a:masterClrMapping/>
  </p:clrMapOvr>
</p:sld>
</file>

<file path=ppt/theme/theme1.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24857</TotalTime>
  <Words>3913</Words>
  <Application>Microsoft Office PowerPoint</Application>
  <PresentationFormat>寬螢幕</PresentationFormat>
  <Paragraphs>392</Paragraphs>
  <Slides>25</Slides>
  <Notes>0</Notes>
  <HiddenSlides>0</HiddenSlides>
  <MMClips>0</MMClips>
  <ScaleCrop>false</ScaleCrop>
  <HeadingPairs>
    <vt:vector size="6" baseType="variant">
      <vt:variant>
        <vt:lpstr>使用字型</vt:lpstr>
      </vt:variant>
      <vt:variant>
        <vt:i4>7</vt:i4>
      </vt:variant>
      <vt:variant>
        <vt:lpstr>佈景主題</vt:lpstr>
      </vt:variant>
      <vt:variant>
        <vt:i4>1</vt:i4>
      </vt:variant>
      <vt:variant>
        <vt:lpstr>投影片標題</vt:lpstr>
      </vt:variant>
      <vt:variant>
        <vt:i4>25</vt:i4>
      </vt:variant>
    </vt:vector>
  </HeadingPairs>
  <TitlesOfParts>
    <vt:vector size="33" baseType="lpstr">
      <vt:lpstr>Aptos</vt:lpstr>
      <vt:lpstr>Arial</vt:lpstr>
      <vt:lpstr>Calibri</vt:lpstr>
      <vt:lpstr>Calibri Light</vt:lpstr>
      <vt:lpstr>Cambria Math</vt:lpstr>
      <vt:lpstr>Times New Roman</vt:lpstr>
      <vt:lpstr>Wingdings</vt:lpstr>
      <vt:lpstr>Office 佈景主題</vt:lpstr>
      <vt:lpstr>A Lumped-Parameter Modeling, Calibration, and Capacity-Measure Framework for Flux Generation in Symmetric Multipole Electromagnetic Actuators </vt:lpstr>
      <vt:lpstr>Current-based lumped-parameter modeling and calibration </vt:lpstr>
      <vt:lpstr>Current-based lumped-parameter modeling and calibration </vt:lpstr>
      <vt:lpstr>Current-based lumped-parameter modeling and calibration </vt:lpstr>
      <vt:lpstr>Current-based lumped-parameter modeling and calibration </vt:lpstr>
      <vt:lpstr>Current-based lumped-parameter modeling and calibration </vt:lpstr>
      <vt:lpstr>Current-based lumped-parameter modeling and calibration </vt:lpstr>
      <vt:lpstr>Current-based lumped-parameter modeling and calibration </vt:lpstr>
      <vt:lpstr>Current-based lumped-parameter modeling and calibration </vt:lpstr>
      <vt:lpstr>Current-based lumped-parameter modeling and calibration </vt:lpstr>
      <vt:lpstr>Hall-sensor-voltage-based lumped-parameter modeling and calibration </vt:lpstr>
      <vt:lpstr>Hall-sensor-voltage-based lumped-parameter modeling and calibration </vt:lpstr>
      <vt:lpstr>Hall-sensor-voltage-based lumped-parameter modeling and calibration </vt:lpstr>
      <vt:lpstr>Hall-sensor-voltage-based lumped-parameter modeling and calibration </vt:lpstr>
      <vt:lpstr>Hall-sensor-voltage-based lumped-parameter modeling and calibration </vt:lpstr>
      <vt:lpstr>Quantitative Assessment of Multi-Pole Actuators  </vt:lpstr>
      <vt:lpstr>Quantitative Assessment of Multi-Pole Actuators  </vt:lpstr>
      <vt:lpstr>Quantitative Assessment of Multi-Pole Actuators  </vt:lpstr>
      <vt:lpstr>Quantitative Assessment of Multi-Pole Actuators  </vt:lpstr>
      <vt:lpstr>Quantitative Assessment of Multi-Pole Actuators  </vt:lpstr>
      <vt:lpstr>Quantitative Assessment of Multi-Pole Actuators  </vt:lpstr>
      <vt:lpstr>Quantitative Assessment of Multi-Pole Actuators  </vt:lpstr>
      <vt:lpstr>Quantitative Assessment of Multi-Pole Actuators  </vt:lpstr>
      <vt:lpstr>Reference </vt:lpstr>
      <vt:lpstr>Reference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Lumped-Parameter Modeling, Calibration, and Capacity-Measure Framework for Flux Generation in Symmetric Multipole Electromagnetic Actuators</dc:title>
  <dc:creator>郭建棋</dc:creator>
  <cp:lastModifiedBy>郭建棋</cp:lastModifiedBy>
  <cp:revision>359</cp:revision>
  <dcterms:created xsi:type="dcterms:W3CDTF">2026-07-23T11:39:15Z</dcterms:created>
  <dcterms:modified xsi:type="dcterms:W3CDTF">2026-08-25T02:43:46Z</dcterms:modified>
</cp:coreProperties>
</file>