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69" r:id="rId4"/>
    <p:sldId id="278" r:id="rId5"/>
    <p:sldId id="272" r:id="rId6"/>
    <p:sldId id="275" r:id="rId7"/>
    <p:sldId id="273" r:id="rId8"/>
    <p:sldId id="274" r:id="rId9"/>
    <p:sldId id="276" r:id="rId10"/>
    <p:sldId id="277" r:id="rId11"/>
  </p:sldIdLst>
  <p:sldSz cx="12192000" cy="6858000"/>
  <p:notesSz cx="6858000" cy="914400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23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標題投影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AA313B5C-4451-4F85-8E22-4F6D30112120}"/>
              </a:ext>
            </a:extLst>
          </p:cNvPr>
          <p:cNvSpPr>
            <a:spLocks noGrp="1"/>
          </p:cNvSpPr>
          <p:nvPr>
            <p:ph type="ctrTitle"/>
          </p:nvPr>
        </p:nvSpPr>
        <p:spPr>
          <a:xfrm>
            <a:off x="1524000" y="1122363"/>
            <a:ext cx="9144000" cy="2387600"/>
          </a:xfrm>
        </p:spPr>
        <p:txBody>
          <a:bodyPr anchor="b"/>
          <a:lstStyle>
            <a:lvl1pPr algn="ctr">
              <a:defRPr sz="6000"/>
            </a:lvl1pPr>
          </a:lstStyle>
          <a:p>
            <a:r>
              <a:rPr lang="zh-TW" altLang="en-US"/>
              <a:t>按一下以編輯母片標題樣式</a:t>
            </a:r>
          </a:p>
        </p:txBody>
      </p:sp>
      <p:sp>
        <p:nvSpPr>
          <p:cNvPr id="3" name="副標題 2">
            <a:extLst>
              <a:ext uri="{FF2B5EF4-FFF2-40B4-BE49-F238E27FC236}">
                <a16:creationId xmlns:a16="http://schemas.microsoft.com/office/drawing/2014/main" id="{438C9657-D53F-4E4F-9171-BAB7C00D96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p>
        </p:txBody>
      </p:sp>
      <p:sp>
        <p:nvSpPr>
          <p:cNvPr id="4" name="日期版面配置區 3">
            <a:extLst>
              <a:ext uri="{FF2B5EF4-FFF2-40B4-BE49-F238E27FC236}">
                <a16:creationId xmlns:a16="http://schemas.microsoft.com/office/drawing/2014/main" id="{ECB1CB1F-3023-4059-8D9C-CF5C75B6AF97}"/>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88FDADB6-4903-41BB-BC87-020BA3FBD9C3}"/>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7EFCEFEA-DE84-42FC-BE56-10A71321A99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04708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98524EB-4587-44AF-A65F-8CBAAF65D917}"/>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5A2C5D94-2521-44B1-AF19-188FFBBD19CB}"/>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65882776-4508-4BB4-B95B-94CABBBA1DAA}"/>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180C8587-132A-4FA1-AC7D-93EABEB0372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08ABA0DE-C7B2-4848-95AC-5A3E7CA5644D}"/>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099172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章節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C2A3930A-494A-46F3-88CB-96081BB0DBF6}"/>
              </a:ext>
            </a:extLst>
          </p:cNvPr>
          <p:cNvSpPr>
            <a:spLocks noGrp="1"/>
          </p:cNvSpPr>
          <p:nvPr>
            <p:ph type="title"/>
          </p:nvPr>
        </p:nvSpPr>
        <p:spPr>
          <a:xfrm>
            <a:off x="831850" y="1709738"/>
            <a:ext cx="10515600" cy="2852737"/>
          </a:xfrm>
        </p:spPr>
        <p:txBody>
          <a:bodyPr anchor="b"/>
          <a:lstStyle>
            <a:lvl1pPr>
              <a:defRPr sz="6000"/>
            </a:lvl1pPr>
          </a:lstStyle>
          <a:p>
            <a:r>
              <a:rPr lang="zh-TW" altLang="en-US"/>
              <a:t>按一下以編輯母片標題樣式</a:t>
            </a:r>
          </a:p>
        </p:txBody>
      </p:sp>
      <p:sp>
        <p:nvSpPr>
          <p:cNvPr id="3" name="文字版面配置區 2">
            <a:extLst>
              <a:ext uri="{FF2B5EF4-FFF2-40B4-BE49-F238E27FC236}">
                <a16:creationId xmlns:a16="http://schemas.microsoft.com/office/drawing/2014/main" id="{0478FD7A-7A96-43E2-8961-E0DB15C178D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TW" altLang="en-US"/>
              <a:t>按一下以編輯母片文字樣式</a:t>
            </a:r>
          </a:p>
        </p:txBody>
      </p:sp>
      <p:sp>
        <p:nvSpPr>
          <p:cNvPr id="4" name="日期版面配置區 3">
            <a:extLst>
              <a:ext uri="{FF2B5EF4-FFF2-40B4-BE49-F238E27FC236}">
                <a16:creationId xmlns:a16="http://schemas.microsoft.com/office/drawing/2014/main" id="{7006FC20-C1D3-46B0-BF1E-03D546043D36}"/>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C4F6D392-6F8A-4414-AA11-638326A9F37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7B8EB7-22A4-447A-A525-998FA4AEC1F4}"/>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815723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兩個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D732D765-AEAD-45D9-9508-FB7BE0E0289D}"/>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B12A380E-4D39-4CB1-A9B1-CAAAABD809C1}"/>
              </a:ext>
            </a:extLst>
          </p:cNvPr>
          <p:cNvSpPr>
            <a:spLocks noGrp="1"/>
          </p:cNvSpPr>
          <p:nvPr>
            <p:ph sz="half" idx="1"/>
          </p:nvPr>
        </p:nvSpPr>
        <p:spPr>
          <a:xfrm>
            <a:off x="838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內容版面配置區 3">
            <a:extLst>
              <a:ext uri="{FF2B5EF4-FFF2-40B4-BE49-F238E27FC236}">
                <a16:creationId xmlns:a16="http://schemas.microsoft.com/office/drawing/2014/main" id="{E4303AA3-878B-45F8-A4E8-92FA10CD26BC}"/>
              </a:ext>
            </a:extLst>
          </p:cNvPr>
          <p:cNvSpPr>
            <a:spLocks noGrp="1"/>
          </p:cNvSpPr>
          <p:nvPr>
            <p:ph sz="half" idx="2"/>
          </p:nvPr>
        </p:nvSpPr>
        <p:spPr>
          <a:xfrm>
            <a:off x="6172200" y="1825625"/>
            <a:ext cx="5181600" cy="435133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日期版面配置區 4">
            <a:extLst>
              <a:ext uri="{FF2B5EF4-FFF2-40B4-BE49-F238E27FC236}">
                <a16:creationId xmlns:a16="http://schemas.microsoft.com/office/drawing/2014/main" id="{E9C1F139-09FB-4A94-AA83-54F2B93E6A60}"/>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6" name="頁尾版面配置區 5">
            <a:extLst>
              <a:ext uri="{FF2B5EF4-FFF2-40B4-BE49-F238E27FC236}">
                <a16:creationId xmlns:a16="http://schemas.microsoft.com/office/drawing/2014/main" id="{D42CB685-F91E-4E52-9043-88820ECAF738}"/>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5047ED7B-0BBB-48C6-8CBE-10F473361AD8}"/>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8634796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328D6F7-2A01-404A-8E60-308B5B2DF66A}"/>
              </a:ext>
            </a:extLst>
          </p:cNvPr>
          <p:cNvSpPr>
            <a:spLocks noGrp="1"/>
          </p:cNvSpPr>
          <p:nvPr>
            <p:ph type="title"/>
          </p:nvPr>
        </p:nvSpPr>
        <p:spPr>
          <a:xfrm>
            <a:off x="839788" y="365125"/>
            <a:ext cx="10515600" cy="1325563"/>
          </a:xfrm>
        </p:spPr>
        <p:txBody>
          <a:bodyPr/>
          <a:lstStyle/>
          <a:p>
            <a:r>
              <a:rPr lang="zh-TW" altLang="en-US"/>
              <a:t>按一下以編輯母片標題樣式</a:t>
            </a:r>
          </a:p>
        </p:txBody>
      </p:sp>
      <p:sp>
        <p:nvSpPr>
          <p:cNvPr id="3" name="文字版面配置區 2">
            <a:extLst>
              <a:ext uri="{FF2B5EF4-FFF2-40B4-BE49-F238E27FC236}">
                <a16:creationId xmlns:a16="http://schemas.microsoft.com/office/drawing/2014/main" id="{F34BC229-0964-4EB2-A32F-3BE569B115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4" name="內容版面配置區 3">
            <a:extLst>
              <a:ext uri="{FF2B5EF4-FFF2-40B4-BE49-F238E27FC236}">
                <a16:creationId xmlns:a16="http://schemas.microsoft.com/office/drawing/2014/main" id="{FBDD00DB-A2AC-4093-9580-16DB7A5856B6}"/>
              </a:ext>
            </a:extLst>
          </p:cNvPr>
          <p:cNvSpPr>
            <a:spLocks noGrp="1"/>
          </p:cNvSpPr>
          <p:nvPr>
            <p:ph sz="half" idx="2"/>
          </p:nvPr>
        </p:nvSpPr>
        <p:spPr>
          <a:xfrm>
            <a:off x="839788" y="2505075"/>
            <a:ext cx="5157787"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5" name="文字版面配置區 4">
            <a:extLst>
              <a:ext uri="{FF2B5EF4-FFF2-40B4-BE49-F238E27FC236}">
                <a16:creationId xmlns:a16="http://schemas.microsoft.com/office/drawing/2014/main" id="{D98E98D9-1B64-42E0-BF51-3948B6593D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TW" altLang="en-US"/>
              <a:t>按一下以編輯母片文字樣式</a:t>
            </a:r>
          </a:p>
        </p:txBody>
      </p:sp>
      <p:sp>
        <p:nvSpPr>
          <p:cNvPr id="6" name="內容版面配置區 5">
            <a:extLst>
              <a:ext uri="{FF2B5EF4-FFF2-40B4-BE49-F238E27FC236}">
                <a16:creationId xmlns:a16="http://schemas.microsoft.com/office/drawing/2014/main" id="{91B0C13F-E177-4192-B9A6-DEC49612F692}"/>
              </a:ext>
            </a:extLst>
          </p:cNvPr>
          <p:cNvSpPr>
            <a:spLocks noGrp="1"/>
          </p:cNvSpPr>
          <p:nvPr>
            <p:ph sz="quarter" idx="4"/>
          </p:nvPr>
        </p:nvSpPr>
        <p:spPr>
          <a:xfrm>
            <a:off x="6172200" y="2505075"/>
            <a:ext cx="5183188" cy="3684588"/>
          </a:xfrm>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7" name="日期版面配置區 6">
            <a:extLst>
              <a:ext uri="{FF2B5EF4-FFF2-40B4-BE49-F238E27FC236}">
                <a16:creationId xmlns:a16="http://schemas.microsoft.com/office/drawing/2014/main" id="{64F99ADD-F054-4E54-9158-162DB547028A}"/>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8" name="頁尾版面配置區 7">
            <a:extLst>
              <a:ext uri="{FF2B5EF4-FFF2-40B4-BE49-F238E27FC236}">
                <a16:creationId xmlns:a16="http://schemas.microsoft.com/office/drawing/2014/main" id="{56242129-DAAA-4FB1-8D26-7248AD72CF9B}"/>
              </a:ext>
            </a:extLst>
          </p:cNvPr>
          <p:cNvSpPr>
            <a:spLocks noGrp="1"/>
          </p:cNvSpPr>
          <p:nvPr>
            <p:ph type="ftr" sz="quarter" idx="11"/>
          </p:nvPr>
        </p:nvSpPr>
        <p:spPr/>
        <p:txBody>
          <a:bodyPr/>
          <a:lstStyle/>
          <a:p>
            <a:endParaRPr lang="zh-TW" altLang="en-US"/>
          </a:p>
        </p:txBody>
      </p:sp>
      <p:sp>
        <p:nvSpPr>
          <p:cNvPr id="9" name="投影片編號版面配置區 8">
            <a:extLst>
              <a:ext uri="{FF2B5EF4-FFF2-40B4-BE49-F238E27FC236}">
                <a16:creationId xmlns:a16="http://schemas.microsoft.com/office/drawing/2014/main" id="{FFDDDDE1-FD8E-4032-A6CC-B2F72DA857B5}"/>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85708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E0A7E1C2-942A-47E2-9A00-0B52E276B5CF}"/>
              </a:ext>
            </a:extLst>
          </p:cNvPr>
          <p:cNvSpPr>
            <a:spLocks noGrp="1"/>
          </p:cNvSpPr>
          <p:nvPr>
            <p:ph type="title"/>
          </p:nvPr>
        </p:nvSpPr>
        <p:spPr/>
        <p:txBody>
          <a:bodyPr/>
          <a:lstStyle/>
          <a:p>
            <a:r>
              <a:rPr lang="zh-TW" altLang="en-US"/>
              <a:t>按一下以編輯母片標題樣式</a:t>
            </a:r>
          </a:p>
        </p:txBody>
      </p:sp>
      <p:sp>
        <p:nvSpPr>
          <p:cNvPr id="3" name="日期版面配置區 2">
            <a:extLst>
              <a:ext uri="{FF2B5EF4-FFF2-40B4-BE49-F238E27FC236}">
                <a16:creationId xmlns:a16="http://schemas.microsoft.com/office/drawing/2014/main" id="{1FEC29EA-2303-41C4-8179-5DF5AC137E66}"/>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4" name="頁尾版面配置區 3">
            <a:extLst>
              <a:ext uri="{FF2B5EF4-FFF2-40B4-BE49-F238E27FC236}">
                <a16:creationId xmlns:a16="http://schemas.microsoft.com/office/drawing/2014/main" id="{3A7E344C-546C-4B5B-948D-F248F196BFE4}"/>
              </a:ext>
            </a:extLst>
          </p:cNvPr>
          <p:cNvSpPr>
            <a:spLocks noGrp="1"/>
          </p:cNvSpPr>
          <p:nvPr>
            <p:ph type="ftr" sz="quarter" idx="11"/>
          </p:nvPr>
        </p:nvSpPr>
        <p:spPr/>
        <p:txBody>
          <a:bodyPr/>
          <a:lstStyle/>
          <a:p>
            <a:endParaRPr lang="zh-TW" altLang="en-US"/>
          </a:p>
        </p:txBody>
      </p:sp>
      <p:sp>
        <p:nvSpPr>
          <p:cNvPr id="5" name="投影片編號版面配置區 4">
            <a:extLst>
              <a:ext uri="{FF2B5EF4-FFF2-40B4-BE49-F238E27FC236}">
                <a16:creationId xmlns:a16="http://schemas.microsoft.com/office/drawing/2014/main" id="{BB0CE009-148B-41C4-9070-05067E45A9DE}"/>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677846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版面配置區 1">
            <a:extLst>
              <a:ext uri="{FF2B5EF4-FFF2-40B4-BE49-F238E27FC236}">
                <a16:creationId xmlns:a16="http://schemas.microsoft.com/office/drawing/2014/main" id="{D54434E9-DB57-4C91-A8E8-AA7E4DE1E42C}"/>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3" name="頁尾版面配置區 2">
            <a:extLst>
              <a:ext uri="{FF2B5EF4-FFF2-40B4-BE49-F238E27FC236}">
                <a16:creationId xmlns:a16="http://schemas.microsoft.com/office/drawing/2014/main" id="{43CBD5B2-A875-4997-957A-2CACB4E8187F}"/>
              </a:ext>
            </a:extLst>
          </p:cNvPr>
          <p:cNvSpPr>
            <a:spLocks noGrp="1"/>
          </p:cNvSpPr>
          <p:nvPr>
            <p:ph type="ftr" sz="quarter" idx="11"/>
          </p:nvPr>
        </p:nvSpPr>
        <p:spPr/>
        <p:txBody>
          <a:bodyPr/>
          <a:lstStyle/>
          <a:p>
            <a:endParaRPr lang="zh-TW" altLang="en-US"/>
          </a:p>
        </p:txBody>
      </p:sp>
      <p:sp>
        <p:nvSpPr>
          <p:cNvPr id="4" name="投影片編號版面配置區 3">
            <a:extLst>
              <a:ext uri="{FF2B5EF4-FFF2-40B4-BE49-F238E27FC236}">
                <a16:creationId xmlns:a16="http://schemas.microsoft.com/office/drawing/2014/main" id="{1DAE9AF9-98E2-49BC-890E-C4901C5C96D7}"/>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9844740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含輔助字幕的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37F9702-2F89-4C07-A091-A864CF9277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內容版面配置區 2">
            <a:extLst>
              <a:ext uri="{FF2B5EF4-FFF2-40B4-BE49-F238E27FC236}">
                <a16:creationId xmlns:a16="http://schemas.microsoft.com/office/drawing/2014/main" id="{6B9A033B-67CA-4692-9F96-92929D8AB9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文字版面配置區 3">
            <a:extLst>
              <a:ext uri="{FF2B5EF4-FFF2-40B4-BE49-F238E27FC236}">
                <a16:creationId xmlns:a16="http://schemas.microsoft.com/office/drawing/2014/main" id="{02A61FCE-0216-475F-8DCF-C058715F47F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87370C5D-745A-4EAE-A151-2541003A35B9}"/>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6" name="頁尾版面配置區 5">
            <a:extLst>
              <a:ext uri="{FF2B5EF4-FFF2-40B4-BE49-F238E27FC236}">
                <a16:creationId xmlns:a16="http://schemas.microsoft.com/office/drawing/2014/main" id="{706460B0-32D4-4AFB-8A7E-846482505E3F}"/>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0AD132A3-0D89-4417-A7DF-5A8A018E485A}"/>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5177295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含輔助字幕的圖片">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AC5306D-49B1-4801-B5D5-82BBCC509CAB}"/>
              </a:ext>
            </a:extLst>
          </p:cNvPr>
          <p:cNvSpPr>
            <a:spLocks noGrp="1"/>
          </p:cNvSpPr>
          <p:nvPr>
            <p:ph type="title"/>
          </p:nvPr>
        </p:nvSpPr>
        <p:spPr>
          <a:xfrm>
            <a:off x="839788" y="457200"/>
            <a:ext cx="3932237" cy="1600200"/>
          </a:xfrm>
        </p:spPr>
        <p:txBody>
          <a:bodyPr anchor="b"/>
          <a:lstStyle>
            <a:lvl1pPr>
              <a:defRPr sz="3200"/>
            </a:lvl1pPr>
          </a:lstStyle>
          <a:p>
            <a:r>
              <a:rPr lang="zh-TW" altLang="en-US"/>
              <a:t>按一下以編輯母片標題樣式</a:t>
            </a:r>
          </a:p>
        </p:txBody>
      </p:sp>
      <p:sp>
        <p:nvSpPr>
          <p:cNvPr id="3" name="圖片版面配置區 2">
            <a:extLst>
              <a:ext uri="{FF2B5EF4-FFF2-40B4-BE49-F238E27FC236}">
                <a16:creationId xmlns:a16="http://schemas.microsoft.com/office/drawing/2014/main" id="{E5F20369-2E94-4C2E-B0A1-93ADA101D8E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TW" altLang="en-US"/>
          </a:p>
        </p:txBody>
      </p:sp>
      <p:sp>
        <p:nvSpPr>
          <p:cNvPr id="4" name="文字版面配置區 3">
            <a:extLst>
              <a:ext uri="{FF2B5EF4-FFF2-40B4-BE49-F238E27FC236}">
                <a16:creationId xmlns:a16="http://schemas.microsoft.com/office/drawing/2014/main" id="{CAC760FC-4E62-42A9-8056-6EE8249B71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TW" altLang="en-US"/>
              <a:t>按一下以編輯母片文字樣式</a:t>
            </a:r>
          </a:p>
        </p:txBody>
      </p:sp>
      <p:sp>
        <p:nvSpPr>
          <p:cNvPr id="5" name="日期版面配置區 4">
            <a:extLst>
              <a:ext uri="{FF2B5EF4-FFF2-40B4-BE49-F238E27FC236}">
                <a16:creationId xmlns:a16="http://schemas.microsoft.com/office/drawing/2014/main" id="{05BD4D67-FBFA-40B4-9C57-519B88B3EC42}"/>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6" name="頁尾版面配置區 5">
            <a:extLst>
              <a:ext uri="{FF2B5EF4-FFF2-40B4-BE49-F238E27FC236}">
                <a16:creationId xmlns:a16="http://schemas.microsoft.com/office/drawing/2014/main" id="{28A5B214-3FE3-41C8-BAAF-7E87C796FFF3}"/>
              </a:ext>
            </a:extLst>
          </p:cNvPr>
          <p:cNvSpPr>
            <a:spLocks noGrp="1"/>
          </p:cNvSpPr>
          <p:nvPr>
            <p:ph type="ftr" sz="quarter" idx="11"/>
          </p:nvPr>
        </p:nvSpPr>
        <p:spPr/>
        <p:txBody>
          <a:bodyPr/>
          <a:lstStyle/>
          <a:p>
            <a:endParaRPr lang="zh-TW" altLang="en-US"/>
          </a:p>
        </p:txBody>
      </p:sp>
      <p:sp>
        <p:nvSpPr>
          <p:cNvPr id="7" name="投影片編號版面配置區 6">
            <a:extLst>
              <a:ext uri="{FF2B5EF4-FFF2-40B4-BE49-F238E27FC236}">
                <a16:creationId xmlns:a16="http://schemas.microsoft.com/office/drawing/2014/main" id="{34F60CC2-E109-4719-875D-510BAD1DAF71}"/>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26151998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標題及直排文字">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658099F-549D-41D0-8656-FC0BCFF0AC8B}"/>
              </a:ext>
            </a:extLst>
          </p:cNvPr>
          <p:cNvSpPr>
            <a:spLocks noGrp="1"/>
          </p:cNvSpPr>
          <p:nvPr>
            <p:ph type="title"/>
          </p:nvPr>
        </p:nvSpPr>
        <p:spPr/>
        <p:txBody>
          <a:bodyPr/>
          <a:lstStyle/>
          <a:p>
            <a:r>
              <a:rPr lang="zh-TW" altLang="en-US"/>
              <a:t>按一下以編輯母片標題樣式</a:t>
            </a:r>
          </a:p>
        </p:txBody>
      </p:sp>
      <p:sp>
        <p:nvSpPr>
          <p:cNvPr id="3" name="直排文字版面配置區 2">
            <a:extLst>
              <a:ext uri="{FF2B5EF4-FFF2-40B4-BE49-F238E27FC236}">
                <a16:creationId xmlns:a16="http://schemas.microsoft.com/office/drawing/2014/main" id="{9A026EBC-D2D7-4484-A574-A0FDADFD83EC}"/>
              </a:ext>
            </a:extLst>
          </p:cNvPr>
          <p:cNvSpPr>
            <a:spLocks noGrp="1"/>
          </p:cNvSpPr>
          <p:nvPr>
            <p:ph type="body" orient="vert" idx="1"/>
          </p:nvPr>
        </p:nvSpPr>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E955BDF0-F4E3-4A78-AC21-5996C7877466}"/>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77A58278-9C37-44E9-A992-05A40C4C24BF}"/>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FEF221A9-3DF2-4243-8312-6B441A40B45B}"/>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639897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直排標題及文字">
    <p:spTree>
      <p:nvGrpSpPr>
        <p:cNvPr id="1" name=""/>
        <p:cNvGrpSpPr/>
        <p:nvPr/>
      </p:nvGrpSpPr>
      <p:grpSpPr>
        <a:xfrm>
          <a:off x="0" y="0"/>
          <a:ext cx="0" cy="0"/>
          <a:chOff x="0" y="0"/>
          <a:chExt cx="0" cy="0"/>
        </a:xfrm>
      </p:grpSpPr>
      <p:sp>
        <p:nvSpPr>
          <p:cNvPr id="2" name="直排標題 1">
            <a:extLst>
              <a:ext uri="{FF2B5EF4-FFF2-40B4-BE49-F238E27FC236}">
                <a16:creationId xmlns:a16="http://schemas.microsoft.com/office/drawing/2014/main" id="{D407E2F2-53D7-4D47-8536-D902F65329D3}"/>
              </a:ext>
            </a:extLst>
          </p:cNvPr>
          <p:cNvSpPr>
            <a:spLocks noGrp="1"/>
          </p:cNvSpPr>
          <p:nvPr>
            <p:ph type="title" orient="vert"/>
          </p:nvPr>
        </p:nvSpPr>
        <p:spPr>
          <a:xfrm>
            <a:off x="8724900" y="365125"/>
            <a:ext cx="2628900" cy="5811838"/>
          </a:xfrm>
        </p:spPr>
        <p:txBody>
          <a:bodyPr vert="eaVert"/>
          <a:lstStyle/>
          <a:p>
            <a:r>
              <a:rPr lang="zh-TW" altLang="en-US"/>
              <a:t>按一下以編輯母片標題樣式</a:t>
            </a:r>
          </a:p>
        </p:txBody>
      </p:sp>
      <p:sp>
        <p:nvSpPr>
          <p:cNvPr id="3" name="直排文字版面配置區 2">
            <a:extLst>
              <a:ext uri="{FF2B5EF4-FFF2-40B4-BE49-F238E27FC236}">
                <a16:creationId xmlns:a16="http://schemas.microsoft.com/office/drawing/2014/main" id="{AEB11135-92E3-4798-9365-99DC4319D221}"/>
              </a:ext>
            </a:extLst>
          </p:cNvPr>
          <p:cNvSpPr>
            <a:spLocks noGrp="1"/>
          </p:cNvSpPr>
          <p:nvPr>
            <p:ph type="body" orient="vert" idx="1"/>
          </p:nvPr>
        </p:nvSpPr>
        <p:spPr>
          <a:xfrm>
            <a:off x="838200" y="365125"/>
            <a:ext cx="7734300" cy="5811838"/>
          </a:xfrm>
        </p:spPr>
        <p:txBody>
          <a:bodyPr vert="eaVert"/>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55D66D9F-EC40-4B77-81BD-B3B6ACD4C9DF}"/>
              </a:ext>
            </a:extLst>
          </p:cNvPr>
          <p:cNvSpPr>
            <a:spLocks noGrp="1"/>
          </p:cNvSpPr>
          <p:nvPr>
            <p:ph type="dt" sz="half" idx="10"/>
          </p:nvPr>
        </p:nvSpPr>
        <p:spPr/>
        <p:txBody>
          <a:body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328EDF41-8BB7-4F4D-866E-39DEF3CE579A}"/>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2A909E83-6E85-417E-A5C0-394F0D780B89}"/>
              </a:ext>
            </a:extLst>
          </p:cNvPr>
          <p:cNvSpPr>
            <a:spLocks noGrp="1"/>
          </p:cNvSpPr>
          <p:nvPr>
            <p:ph type="sldNum" sz="quarter" idx="12"/>
          </p:nvPr>
        </p:nvSpPr>
        <p:spPr/>
        <p:txBody>
          <a:body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3366646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標題版面配置區 1">
            <a:extLst>
              <a:ext uri="{FF2B5EF4-FFF2-40B4-BE49-F238E27FC236}">
                <a16:creationId xmlns:a16="http://schemas.microsoft.com/office/drawing/2014/main" id="{4809FC75-802D-4B19-AFA4-8A8D60B43C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TW" altLang="en-US"/>
              <a:t>按一下以編輯母片標題樣式</a:t>
            </a:r>
          </a:p>
        </p:txBody>
      </p:sp>
      <p:sp>
        <p:nvSpPr>
          <p:cNvPr id="3" name="文字版面配置區 2">
            <a:extLst>
              <a:ext uri="{FF2B5EF4-FFF2-40B4-BE49-F238E27FC236}">
                <a16:creationId xmlns:a16="http://schemas.microsoft.com/office/drawing/2014/main" id="{3EE7658D-1874-4965-86A1-F9DC152E33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16D7FBAA-F52E-4E99-ABAC-AD4E8AA23C1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D42070-5DAD-4E7E-A6F8-25E560BC7BBC}" type="datetimeFigureOut">
              <a:rPr lang="zh-TW" altLang="en-US" smtClean="0"/>
              <a:t>2026/8/3</a:t>
            </a:fld>
            <a:endParaRPr lang="zh-TW" altLang="en-US"/>
          </a:p>
        </p:txBody>
      </p:sp>
      <p:sp>
        <p:nvSpPr>
          <p:cNvPr id="5" name="頁尾版面配置區 4">
            <a:extLst>
              <a:ext uri="{FF2B5EF4-FFF2-40B4-BE49-F238E27FC236}">
                <a16:creationId xmlns:a16="http://schemas.microsoft.com/office/drawing/2014/main" id="{E5AA8CD1-761B-436C-81CD-04B671C3147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TW" altLang="en-US"/>
          </a:p>
        </p:txBody>
      </p:sp>
      <p:sp>
        <p:nvSpPr>
          <p:cNvPr id="6" name="投影片編號版面配置區 5">
            <a:extLst>
              <a:ext uri="{FF2B5EF4-FFF2-40B4-BE49-F238E27FC236}">
                <a16:creationId xmlns:a16="http://schemas.microsoft.com/office/drawing/2014/main" id="{247BE989-E3A2-4C5A-A4B2-D5729A6C57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7F09099-633A-4CE9-89D3-D4AC4F747E0F}" type="slidenum">
              <a:rPr lang="zh-TW" altLang="en-US" smtClean="0"/>
              <a:t>‹#›</a:t>
            </a:fld>
            <a:endParaRPr lang="zh-TW" altLang="en-US"/>
          </a:p>
        </p:txBody>
      </p:sp>
    </p:spTree>
    <p:extLst>
      <p:ext uri="{BB962C8B-B14F-4D97-AF65-F5344CB8AC3E}">
        <p14:creationId xmlns:p14="http://schemas.microsoft.com/office/powerpoint/2010/main" val="123467099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9.png"/><Relationship Id="rId7" Type="http://schemas.openxmlformats.org/officeDocument/2006/relationships/image" Target="../media/image23.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21.png"/><Relationship Id="rId10" Type="http://schemas.openxmlformats.org/officeDocument/2006/relationships/image" Target="../media/image26.png"/><Relationship Id="rId4" Type="http://schemas.openxmlformats.org/officeDocument/2006/relationships/image" Target="../media/image20.pn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0A29E60B-ABEB-4B38-8D6C-620B64DB3808}"/>
              </a:ext>
            </a:extLst>
          </p:cNvPr>
          <p:cNvSpPr>
            <a:spLocks noGrp="1"/>
          </p:cNvSpPr>
          <p:nvPr>
            <p:ph type="ctrTitle"/>
          </p:nvPr>
        </p:nvSpPr>
        <p:spPr>
          <a:xfrm>
            <a:off x="423333" y="868362"/>
            <a:ext cx="11345334" cy="2387600"/>
          </a:xfrm>
        </p:spPr>
        <p:txBody>
          <a:bodyPr>
            <a:normAutofit/>
          </a:bodyPr>
          <a:lstStyle/>
          <a:p>
            <a:pPr>
              <a:lnSpc>
                <a:spcPct val="115000"/>
              </a:lnSpc>
              <a:spcAft>
                <a:spcPts val="100"/>
              </a:spcAft>
            </a:pPr>
            <a:r>
              <a:rPr lang="en-US" altLang="zh-TW" sz="2800" b="1" kern="100" dirty="0">
                <a:solidFill>
                  <a:srgbClr val="000000"/>
                </a:solidFill>
                <a:effectLst/>
                <a:latin typeface="Aptos"/>
                <a:ea typeface="新細明體" panose="02020500000000000000" pitchFamily="18" charset="-120"/>
                <a:cs typeface="Times New Roman" panose="02020603050405020304" pitchFamily="18" charset="0"/>
              </a:rPr>
              <a:t>A Lumped-Parameter Modeling, Calibration, and Capacity-Measure Framework for Flux Generation in Symmetric</a:t>
            </a:r>
            <a:br>
              <a:rPr lang="zh-TW" altLang="zh-TW" sz="2800" kern="100" dirty="0">
                <a:effectLst/>
                <a:latin typeface="Aptos"/>
                <a:ea typeface="新細明體" panose="02020500000000000000" pitchFamily="18" charset="-120"/>
                <a:cs typeface="Times New Roman" panose="02020603050405020304" pitchFamily="18" charset="0"/>
              </a:rPr>
            </a:br>
            <a:r>
              <a:rPr lang="en-US" altLang="zh-TW" sz="2800" b="1" dirty="0">
                <a:solidFill>
                  <a:srgbClr val="000000"/>
                </a:solidFill>
                <a:effectLst/>
                <a:latin typeface="Aptos"/>
                <a:ea typeface="新細明體" panose="02020500000000000000" pitchFamily="18" charset="-120"/>
                <a:cs typeface="Times New Roman" panose="02020603050405020304" pitchFamily="18" charset="0"/>
              </a:rPr>
              <a:t>Multipole Electromagnetic Actuators </a:t>
            </a:r>
            <a:endParaRPr lang="zh-TW" altLang="en-US" sz="8000" dirty="0"/>
          </a:p>
        </p:txBody>
      </p:sp>
      <p:sp>
        <p:nvSpPr>
          <p:cNvPr id="3" name="副標題 2">
            <a:extLst>
              <a:ext uri="{FF2B5EF4-FFF2-40B4-BE49-F238E27FC236}">
                <a16:creationId xmlns:a16="http://schemas.microsoft.com/office/drawing/2014/main" id="{19B95CEF-03F4-426E-B312-4404BF04FCFA}"/>
              </a:ext>
            </a:extLst>
          </p:cNvPr>
          <p:cNvSpPr>
            <a:spLocks noGrp="1"/>
          </p:cNvSpPr>
          <p:nvPr>
            <p:ph type="subTitle" idx="1"/>
          </p:nvPr>
        </p:nvSpPr>
        <p:spPr>
          <a:xfrm>
            <a:off x="1524000" y="4203171"/>
            <a:ext cx="9144000" cy="1655762"/>
          </a:xfrm>
        </p:spPr>
        <p:txBody>
          <a:bodyPr/>
          <a:lstStyle/>
          <a:p>
            <a:r>
              <a:rPr lang="en-US" altLang="zh-TW" sz="2800" b="1" kern="100" dirty="0">
                <a:solidFill>
                  <a:srgbClr val="000000"/>
                </a:solidFill>
                <a:latin typeface="Aptos"/>
                <a:ea typeface="新細明體" panose="02020500000000000000" pitchFamily="18" charset="-120"/>
                <a:cs typeface="Times New Roman" panose="02020603050405020304" pitchFamily="18" charset="0"/>
              </a:rPr>
              <a:t>KUO,CHIEN-CHI</a:t>
            </a:r>
            <a:endParaRPr lang="zh-TW" altLang="en-US" sz="2800" b="1" kern="100" dirty="0">
              <a:solidFill>
                <a:srgbClr val="000000"/>
              </a:solidFill>
              <a:latin typeface="Aptos"/>
              <a:ea typeface="新細明體" panose="02020500000000000000" pitchFamily="18" charset="-120"/>
              <a:cs typeface="Times New Roman" panose="02020603050405020304" pitchFamily="18" charset="0"/>
            </a:endParaRPr>
          </a:p>
        </p:txBody>
      </p:sp>
    </p:spTree>
    <p:extLst>
      <p:ext uri="{BB962C8B-B14F-4D97-AF65-F5344CB8AC3E}">
        <p14:creationId xmlns:p14="http://schemas.microsoft.com/office/powerpoint/2010/main" val="4068006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265108"/>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6" name="文字方塊 5">
            <a:extLst>
              <a:ext uri="{FF2B5EF4-FFF2-40B4-BE49-F238E27FC236}">
                <a16:creationId xmlns:a16="http://schemas.microsoft.com/office/drawing/2014/main" id="{31ACE95C-3F52-4F1D-AC27-AFA6A8DD7680}"/>
              </a:ext>
            </a:extLst>
          </p:cNvPr>
          <p:cNvSpPr txBox="1"/>
          <p:nvPr/>
        </p:nvSpPr>
        <p:spPr>
          <a:xfrm>
            <a:off x="27459" y="55271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2F5EBC69-B8D1-446B-925C-8FAE56F5113E}"/>
                  </a:ext>
                </a:extLst>
              </p:cNvPr>
              <p:cNvSpPr txBox="1"/>
              <p:nvPr/>
            </p:nvSpPr>
            <p:spPr>
              <a:xfrm>
                <a:off x="93616" y="922045"/>
                <a:ext cx="7221144" cy="1515158"/>
              </a:xfrm>
              <a:prstGeom prst="rect">
                <a:avLst/>
              </a:prstGeom>
              <a:noFill/>
            </p:spPr>
            <p:txBody>
              <a:bodyPr wrap="none" lIns="0" tIns="0" rIns="0" bIns="0" rtlCol="0">
                <a:spAutoFit/>
              </a:bodyPr>
              <a:lstStyle/>
              <a:p>
                <a:pPr/>
                <a14:m>
                  <m:oMathPara xmlns:m="http://schemas.openxmlformats.org/officeDocument/2006/math">
                    <m:oMathParaPr>
                      <m:jc m:val="center"/>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0.1046</m:t>
                                      </m:r>
                                    </m:e>
                                    <m:e>
                                      <m:r>
                                        <a:rPr lang="en-US" altLang="zh-TW" b="0" i="1" smtClean="0">
                                          <a:latin typeface="Cambria Math" panose="02040503050406030204" pitchFamily="18" charset="0"/>
                                        </a:rPr>
                                        <m:t>−0.1809</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0.1745</m:t>
                                            </m:r>
                                          </m:e>
                                          <m:e>
                                            <m:r>
                                              <a:rPr lang="en-US" altLang="zh-TW" b="0" i="1" smtClean="0">
                                                <a:latin typeface="Cambria Math" panose="02040503050406030204" pitchFamily="18" charset="0"/>
                                              </a:rPr>
                                              <m:t>−0.1737</m:t>
                                            </m:r>
                                          </m:e>
                                          <m:e>
                                            <m:r>
                                              <a:rPr lang="en-US" altLang="zh-TW" b="0" i="1" smtClean="0">
                                                <a:latin typeface="Cambria Math" panose="02040503050406030204" pitchFamily="18" charset="0"/>
                                              </a:rPr>
                                              <m:t>−0.1827</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0.2145</m:t>
                                      </m:r>
                                    </m:e>
                                  </m:mr>
                                  <m:mr>
                                    <m:e>
                                      <m:r>
                                        <a:rPr lang="en-US" altLang="zh-TW" b="0" i="1" smtClean="0">
                                          <a:latin typeface="Cambria Math" panose="02040503050406030204" pitchFamily="18" charset="0"/>
                                        </a:rPr>
                                        <m:t>−0.1870</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0.2040</m:t>
                                            </m:r>
                                          </m:e>
                                        </m:mr>
                                        <m:mr>
                                          <m:e>
                                            <m:r>
                                              <a:rPr lang="en-US" altLang="zh-TW" b="0" i="1" smtClean="0">
                                                <a:latin typeface="Cambria Math" panose="02040503050406030204" pitchFamily="18" charset="0"/>
                                              </a:rPr>
                                              <m:t>−0.2045</m:t>
                                            </m:r>
                                          </m:e>
                                        </m:mr>
                                        <m:mr>
                                          <m:e>
                                            <m:r>
                                              <a:rPr lang="en-US" altLang="zh-TW" b="0" i="1" smtClean="0">
                                                <a:latin typeface="Cambria Math" panose="02040503050406030204" pitchFamily="18" charset="0"/>
                                              </a:rPr>
                                              <m:t>−0.1870</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.9517</m:t>
                                            </m:r>
                                          </m:e>
                                          <m:e>
                                            <m:r>
                                              <a:rPr lang="en-US" altLang="zh-TW" b="0" i="1" smtClean="0">
                                                <a:latin typeface="Cambria Math" panose="02040503050406030204" pitchFamily="18" charset="0"/>
                                              </a:rPr>
                                              <m:t>−0.1986</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0.1589</m:t>
                                                  </m:r>
                                                </m:e>
                                                <m:e>
                                                  <m:r>
                                                    <a:rPr lang="en-US" altLang="zh-TW" b="0" i="1" smtClean="0">
                                                      <a:latin typeface="Cambria Math" panose="02040503050406030204" pitchFamily="18" charset="0"/>
                                                    </a:rPr>
                                                    <m:t>−0.1576</m:t>
                                                  </m:r>
                                                </m:e>
                                                <m:e>
                                                  <m:r>
                                                    <a:rPr lang="en-US" altLang="zh-TW" b="0" i="1" smtClean="0">
                                                      <a:latin typeface="Cambria Math" panose="02040503050406030204" pitchFamily="18" charset="0"/>
                                                    </a:rPr>
                                                    <m:t>−0.2002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0.1737</m:t>
                                            </m:r>
                                          </m:e>
                                          <m:e>
                                            <m:r>
                                              <a:rPr lang="en-US" altLang="zh-TW" b="0" i="1" smtClean="0">
                                                <a:latin typeface="Cambria Math" panose="02040503050406030204" pitchFamily="18" charset="0"/>
                                              </a:rPr>
                                              <m:t>0.8427</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0.1076</m:t>
                                                  </m:r>
                                                </m:e>
                                                <m:e>
                                                  <m:r>
                                                    <a:rPr lang="en-US" altLang="zh-TW" b="0" i="1" smtClean="0">
                                                      <a:latin typeface="Cambria Math" panose="02040503050406030204" pitchFamily="18" charset="0"/>
                                                    </a:rPr>
                                                    <m:t>−0.1740</m:t>
                                                  </m:r>
                                                </m:e>
                                                <m:e>
                                                  <m:r>
                                                    <a:rPr lang="en-US" altLang="zh-TW" b="0" i="1" smtClean="0">
                                                      <a:latin typeface="Cambria Math" panose="02040503050406030204" pitchFamily="18" charset="0"/>
                                                    </a:rPr>
                                                    <m:t>−0.1827</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0.1571</m:t>
                                                  </m:r>
                                                </m:e>
                                                <m:e>
                                                  <m:r>
                                                    <a:rPr lang="en-US" altLang="zh-TW" b="0" i="1" smtClean="0">
                                                      <a:latin typeface="Cambria Math" panose="02040503050406030204" pitchFamily="18" charset="0"/>
                                                    </a:rPr>
                                                    <m:t>−0.2068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.9456</m:t>
                                                        </m:r>
                                                      </m:e>
                                                      <m:e>
                                                        <m:r>
                                                          <a:rPr lang="en-US" altLang="zh-TW" b="0" i="1" smtClean="0">
                                                            <a:latin typeface="Cambria Math" panose="02040503050406030204" pitchFamily="18" charset="0"/>
                                                          </a:rPr>
                                                          <m:t>−0.1569</m:t>
                                                        </m:r>
                                                      </m:e>
                                                      <m:e>
                                                        <m:r>
                                                          <a:rPr lang="en-US" altLang="zh-TW" b="0" i="1" smtClean="0">
                                                            <a:latin typeface="Cambria Math" panose="02040503050406030204" pitchFamily="18" charset="0"/>
                                                          </a:rPr>
                                                          <m:t>−0.1994</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0.1573</m:t>
                                                  </m:r>
                                                </m:e>
                                                <m:e>
                                                  <m:r>
                                                    <a:rPr lang="en-US" altLang="zh-TW" b="0" i="1" smtClean="0">
                                                      <a:latin typeface="Cambria Math" panose="02040503050406030204" pitchFamily="18" charset="0"/>
                                                    </a:rPr>
                                                    <m:t>−0.1983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0.1589</m:t>
                                                        </m:r>
                                                      </m:e>
                                                      <m:e>
                                                        <m:r>
                                                          <a:rPr lang="en-US" altLang="zh-TW" b="0" i="1" smtClean="0">
                                                            <a:latin typeface="Cambria Math" panose="02040503050406030204" pitchFamily="18" charset="0"/>
                                                          </a:rPr>
                                                          <m:t>0.9514</m:t>
                                                        </m:r>
                                                      </m:e>
                                                      <m:e>
                                                        <m:r>
                                                          <a:rPr lang="en-US" altLang="zh-TW" b="0" i="1" smtClean="0">
                                                            <a:latin typeface="Cambria Math" panose="02040503050406030204" pitchFamily="18" charset="0"/>
                                                          </a:rPr>
                                                          <m:t>−0.2097</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0.1734</m:t>
                                                  </m:r>
                                                </m:e>
                                                <m:e>
                                                  <m:r>
                                                    <a:rPr lang="en-US" altLang="zh-TW" b="0" i="1" smtClean="0">
                                                      <a:latin typeface="Cambria Math" panose="02040503050406030204" pitchFamily="18" charset="0"/>
                                                    </a:rPr>
                                                    <m:t>−0.1804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0.1746</m:t>
                                                        </m:r>
                                                      </m:e>
                                                      <m:e>
                                                        <m:r>
                                                          <a:rPr lang="en-US" altLang="zh-TW" b="0" i="1" smtClean="0">
                                                            <a:latin typeface="Cambria Math" panose="02040503050406030204" pitchFamily="18" charset="0"/>
                                                          </a:rPr>
                                                          <m:t>−0.1054</m:t>
                                                        </m:r>
                                                      </m:e>
                                                      <m:e>
                                                        <m:r>
                                                          <a:rPr lang="en-US" altLang="zh-TW" b="0" i="1" smtClean="0">
                                                            <a:latin typeface="Cambria Math" panose="02040503050406030204" pitchFamily="18" charset="0"/>
                                                          </a:rPr>
                                                          <m:t>0.8382</m:t>
                                                        </m:r>
                                                      </m:e>
                                                    </m:mr>
                                                  </m:m>
                                                </m:e>
                                              </m:mr>
                                            </m:m>
                                          </m:e>
                                        </m:mr>
                                      </m:m>
                                    </m:e>
                                  </m:mr>
                                </m:m>
                              </m:e>
                            </m:mr>
                          </m:m>
                        </m:e>
                      </m:d>
                    </m:oMath>
                  </m:oMathPara>
                </a14:m>
                <a:endParaRPr lang="zh-TW" altLang="en-US" dirty="0"/>
              </a:p>
            </p:txBody>
          </p:sp>
        </mc:Choice>
        <mc:Fallback>
          <p:sp>
            <p:nvSpPr>
              <p:cNvPr id="11" name="文字方塊 10">
                <a:extLst>
                  <a:ext uri="{FF2B5EF4-FFF2-40B4-BE49-F238E27FC236}">
                    <a16:creationId xmlns:a16="http://schemas.microsoft.com/office/drawing/2014/main" id="{2F5EBC69-B8D1-446B-925C-8FAE56F5113E}"/>
                  </a:ext>
                </a:extLst>
              </p:cNvPr>
              <p:cNvSpPr txBox="1">
                <a:spLocks noRot="1" noChangeAspect="1" noMove="1" noResize="1" noEditPoints="1" noAdjustHandles="1" noChangeArrowheads="1" noChangeShapeType="1" noTextEdit="1"/>
              </p:cNvSpPr>
              <p:nvPr/>
            </p:nvSpPr>
            <p:spPr>
              <a:xfrm>
                <a:off x="93616" y="922045"/>
                <a:ext cx="7221144" cy="1515158"/>
              </a:xfrm>
              <a:prstGeom prst="rect">
                <a:avLst/>
              </a:prstGeom>
              <a:blipFill>
                <a:blip r:embed="rId2"/>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文字方塊 11">
                <a:extLst>
                  <a:ext uri="{FF2B5EF4-FFF2-40B4-BE49-F238E27FC236}">
                    <a16:creationId xmlns:a16="http://schemas.microsoft.com/office/drawing/2014/main" id="{A9288B2E-2A0E-4CBD-B1AA-E51A8026C007}"/>
                  </a:ext>
                </a:extLst>
              </p:cNvPr>
              <p:cNvSpPr txBox="1"/>
              <p:nvPr/>
            </p:nvSpPr>
            <p:spPr>
              <a:xfrm>
                <a:off x="245534" y="2602752"/>
                <a:ext cx="1417824"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=874.3 </m:t>
                      </m:r>
                      <m:r>
                        <a:rPr lang="en-US" altLang="zh-TW" b="0" i="1" smtClean="0">
                          <a:latin typeface="Cambria Math" panose="02040503050406030204" pitchFamily="18" charset="0"/>
                        </a:rPr>
                        <m:t>𝑢𝑚</m:t>
                      </m:r>
                    </m:oMath>
                  </m:oMathPara>
                </a14:m>
                <a:endParaRPr lang="zh-TW" altLang="en-US" dirty="0"/>
              </a:p>
            </p:txBody>
          </p:sp>
        </mc:Choice>
        <mc:Fallback>
          <p:sp>
            <p:nvSpPr>
              <p:cNvPr id="12" name="文字方塊 11">
                <a:extLst>
                  <a:ext uri="{FF2B5EF4-FFF2-40B4-BE49-F238E27FC236}">
                    <a16:creationId xmlns:a16="http://schemas.microsoft.com/office/drawing/2014/main" id="{A9288B2E-2A0E-4CBD-B1AA-E51A8026C007}"/>
                  </a:ext>
                </a:extLst>
              </p:cNvPr>
              <p:cNvSpPr txBox="1">
                <a:spLocks noRot="1" noChangeAspect="1" noMove="1" noResize="1" noEditPoints="1" noAdjustHandles="1" noChangeArrowheads="1" noChangeShapeType="1" noTextEdit="1"/>
              </p:cNvSpPr>
              <p:nvPr/>
            </p:nvSpPr>
            <p:spPr>
              <a:xfrm>
                <a:off x="245534" y="2602752"/>
                <a:ext cx="1417824" cy="291234"/>
              </a:xfrm>
              <a:prstGeom prst="rect">
                <a:avLst/>
              </a:prstGeom>
              <a:blipFill>
                <a:blip r:embed="rId3"/>
                <a:stretch>
                  <a:fillRect l="-3863" t="-18750" r="-2146"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A60A8065-04E1-4355-AB61-D4FB54543C6C}"/>
                  </a:ext>
                </a:extLst>
              </p:cNvPr>
              <p:cNvSpPr txBox="1"/>
              <p:nvPr/>
            </p:nvSpPr>
            <p:spPr>
              <a:xfrm>
                <a:off x="2033242" y="2588646"/>
                <a:ext cx="2021194"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=9.6717</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3" name="文字方塊 12">
                <a:extLst>
                  <a:ext uri="{FF2B5EF4-FFF2-40B4-BE49-F238E27FC236}">
                    <a16:creationId xmlns:a16="http://schemas.microsoft.com/office/drawing/2014/main" id="{A60A8065-04E1-4355-AB61-D4FB54543C6C}"/>
                  </a:ext>
                </a:extLst>
              </p:cNvPr>
              <p:cNvSpPr txBox="1">
                <a:spLocks noRot="1" noChangeAspect="1" noMove="1" noResize="1" noEditPoints="1" noAdjustHandles="1" noChangeArrowheads="1" noChangeShapeType="1" noTextEdit="1"/>
              </p:cNvSpPr>
              <p:nvPr/>
            </p:nvSpPr>
            <p:spPr>
              <a:xfrm>
                <a:off x="2033242" y="2588646"/>
                <a:ext cx="2021194" cy="305340"/>
              </a:xfrm>
              <a:prstGeom prst="rect">
                <a:avLst/>
              </a:prstGeom>
              <a:blipFill>
                <a:blip r:embed="rId4"/>
                <a:stretch>
                  <a:fillRect t="-16000" r="-2417" b="-30000"/>
                </a:stretch>
              </a:blipFill>
            </p:spPr>
            <p:txBody>
              <a:bodyPr/>
              <a:lstStyle/>
              <a:p>
                <a:r>
                  <a:rPr lang="zh-TW" altLang="en-US">
                    <a:noFill/>
                  </a:rPr>
                  <a:t> </a:t>
                </a:r>
              </a:p>
            </p:txBody>
          </p:sp>
        </mc:Fallback>
      </mc:AlternateContent>
      <p:sp>
        <p:nvSpPr>
          <p:cNvPr id="14" name="文字方塊 13">
            <a:extLst>
              <a:ext uri="{FF2B5EF4-FFF2-40B4-BE49-F238E27FC236}">
                <a16:creationId xmlns:a16="http://schemas.microsoft.com/office/drawing/2014/main" id="{FE41946E-17EE-4133-80BE-043AEBF903C7}"/>
              </a:ext>
            </a:extLst>
          </p:cNvPr>
          <p:cNvSpPr txBox="1"/>
          <p:nvPr/>
        </p:nvSpPr>
        <p:spPr>
          <a:xfrm>
            <a:off x="7181346" y="893638"/>
            <a:ext cx="4680454" cy="1200329"/>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One parameter fitting results</a:t>
            </a:r>
          </a:p>
          <a:p>
            <a:pPr marL="285750" indent="-285750">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Calibration region R&lt;=150um</a:t>
            </a:r>
          </a:p>
          <a:p>
            <a:pPr marL="285750" indent="-285750">
              <a:buFont typeface="Arial" panose="020B0604020202020204" pitchFamily="34" charset="0"/>
              <a:buChar char="•"/>
            </a:pPr>
            <a:endParaRPr lang="en-US" altLang="zh-TW"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endParaRPr lang="zh-TW" altLang="en-US" dirty="0">
              <a:latin typeface="Times New Roman" panose="02020603050405020304" pitchFamily="18" charset="0"/>
              <a:cs typeface="Times New Roman" panose="02020603050405020304" pitchFamily="18" charset="0"/>
            </a:endParaRPr>
          </a:p>
        </p:txBody>
      </p:sp>
      <p:pic>
        <p:nvPicPr>
          <p:cNvPr id="5" name="圖片 4">
            <a:extLst>
              <a:ext uri="{FF2B5EF4-FFF2-40B4-BE49-F238E27FC236}">
                <a16:creationId xmlns:a16="http://schemas.microsoft.com/office/drawing/2014/main" id="{F8EAF5C4-9E6F-4FBF-8E8C-62C9CFA6C8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4867" y="3059535"/>
            <a:ext cx="4147532" cy="3533357"/>
          </a:xfrm>
          <a:prstGeom prst="rect">
            <a:avLst/>
          </a:prstGeom>
        </p:spPr>
      </p:pic>
      <p:pic>
        <p:nvPicPr>
          <p:cNvPr id="9" name="圖片 8">
            <a:extLst>
              <a:ext uri="{FF2B5EF4-FFF2-40B4-BE49-F238E27FC236}">
                <a16:creationId xmlns:a16="http://schemas.microsoft.com/office/drawing/2014/main" id="{34102C21-F5B9-47F1-AB1B-CE2F5E28D0B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942880" y="2828764"/>
            <a:ext cx="4342061" cy="3764128"/>
          </a:xfrm>
          <a:prstGeom prst="rect">
            <a:avLst/>
          </a:prstGeom>
        </p:spPr>
      </p:pic>
      <mc:AlternateContent xmlns:mc="http://schemas.openxmlformats.org/markup-compatibility/2006">
        <mc:Choice xmlns:a14="http://schemas.microsoft.com/office/drawing/2010/main" Requires="a14">
          <p:sp>
            <p:nvSpPr>
              <p:cNvPr id="19" name="文字方塊 18">
                <a:extLst>
                  <a:ext uri="{FF2B5EF4-FFF2-40B4-BE49-F238E27FC236}">
                    <a16:creationId xmlns:a16="http://schemas.microsoft.com/office/drawing/2014/main" id="{691A615E-8545-44BB-86EC-1FB59DF83C73}"/>
                  </a:ext>
                </a:extLst>
              </p:cNvPr>
              <p:cNvSpPr txBox="1"/>
              <p:nvPr/>
            </p:nvSpPr>
            <p:spPr>
              <a:xfrm>
                <a:off x="8502914" y="479763"/>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p:sp>
            <p:nvSpPr>
              <p:cNvPr id="19" name="文字方塊 18">
                <a:extLst>
                  <a:ext uri="{FF2B5EF4-FFF2-40B4-BE49-F238E27FC236}">
                    <a16:creationId xmlns:a16="http://schemas.microsoft.com/office/drawing/2014/main" id="{691A615E-8545-44BB-86EC-1FB59DF83C73}"/>
                  </a:ext>
                </a:extLst>
              </p:cNvPr>
              <p:cNvSpPr txBox="1">
                <a:spLocks noRot="1" noChangeAspect="1" noMove="1" noResize="1" noEditPoints="1" noAdjustHandles="1" noChangeArrowheads="1" noChangeShapeType="1" noTextEdit="1"/>
              </p:cNvSpPr>
              <p:nvPr/>
            </p:nvSpPr>
            <p:spPr>
              <a:xfrm>
                <a:off x="8502914" y="479763"/>
                <a:ext cx="3564053" cy="321563"/>
              </a:xfrm>
              <a:prstGeom prst="rect">
                <a:avLst/>
              </a:prstGeom>
              <a:blipFill>
                <a:blip r:embed="rId7"/>
                <a:stretch>
                  <a:fillRect l="-1199" t="-15385" r="-5308" b="-2500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5088173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文字方塊 2">
                <a:extLst>
                  <a:ext uri="{FF2B5EF4-FFF2-40B4-BE49-F238E27FC236}">
                    <a16:creationId xmlns:a16="http://schemas.microsoft.com/office/drawing/2014/main" id="{B6964577-860D-4EB3-8219-1A6240335DA6}"/>
                  </a:ext>
                </a:extLst>
              </p:cNvPr>
              <p:cNvSpPr txBox="1"/>
              <p:nvPr/>
            </p:nvSpPr>
            <p:spPr>
              <a:xfrm>
                <a:off x="8573024" y="570245"/>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573024" y="570245"/>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p:sp>
        <p:nvSpPr>
          <p:cNvPr id="19" name="文字方塊 18">
            <a:extLst>
              <a:ext uri="{FF2B5EF4-FFF2-40B4-BE49-F238E27FC236}">
                <a16:creationId xmlns:a16="http://schemas.microsoft.com/office/drawing/2014/main" id="{EBA17566-B42C-4B02-B869-9832F66C8C0A}"/>
              </a:ext>
            </a:extLst>
          </p:cNvPr>
          <p:cNvSpPr txBox="1"/>
          <p:nvPr/>
        </p:nvSpPr>
        <p:spPr>
          <a:xfrm>
            <a:off x="0" y="58724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4207ED95-D254-4C8C-9DFA-A3E72278EE2C}"/>
                  </a:ext>
                </a:extLst>
              </p:cNvPr>
              <p:cNvSpPr txBox="1"/>
              <p:nvPr/>
            </p:nvSpPr>
            <p:spPr>
              <a:xfrm>
                <a:off x="163396" y="991967"/>
                <a:ext cx="7068538" cy="150823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0.1369</m:t>
                                      </m:r>
                                    </m:e>
                                    <m:e>
                                      <m:r>
                                        <a:rPr lang="en-US" altLang="zh-TW" b="0" i="1" smtClean="0">
                                          <a:latin typeface="Cambria Math" panose="02040503050406030204" pitchFamily="18" charset="0"/>
                                        </a:rPr>
                                        <m:t>−0.1291</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0.1993</m:t>
                                            </m:r>
                                          </m:e>
                                          <m:e>
                                            <m:r>
                                              <a:rPr lang="en-US" altLang="zh-TW" b="0" i="1" smtClean="0">
                                                <a:latin typeface="Cambria Math" panose="02040503050406030204" pitchFamily="18" charset="0"/>
                                              </a:rPr>
                                              <m:t>−0.1996</m:t>
                                            </m:r>
                                          </m:e>
                                          <m:e>
                                            <m:r>
                                              <a:rPr lang="en-US" altLang="zh-TW" b="0" i="1" smtClean="0">
                                                <a:latin typeface="Cambria Math" panose="02040503050406030204" pitchFamily="18" charset="0"/>
                                              </a:rPr>
                                              <m:t>−0.1289</m:t>
                                            </m:r>
                                          </m:e>
                                        </m:mr>
                                      </m:m>
                                    </m:e>
                                  </m:mr>
                                </m:m>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0.1380</m:t>
                                      </m:r>
                                    </m:e>
                                  </m:mr>
                                  <m:mr>
                                    <m:e>
                                      <m:r>
                                        <a:rPr lang="en-US" altLang="zh-TW" b="0" i="1" smtClean="0">
                                          <a:latin typeface="Cambria Math" panose="02040503050406030204" pitchFamily="18" charset="0"/>
                                        </a:rPr>
                                        <m:t>−0.1276</m:t>
                                      </m:r>
                                    </m:e>
                                  </m:mr>
                                  <m:mr>
                                    <m:e>
                                      <m:m>
                                        <m:mPr>
                                          <m:mcs>
                                            <m:mc>
                                              <m:mcPr>
                                                <m:count m:val="1"/>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0.2042</m:t>
                                            </m:r>
                                          </m:e>
                                        </m:mr>
                                        <m:mr>
                                          <m:e>
                                            <m:r>
                                              <a:rPr lang="en-US" altLang="zh-TW" b="0" i="1" smtClean="0">
                                                <a:latin typeface="Cambria Math" panose="02040503050406030204" pitchFamily="18" charset="0"/>
                                              </a:rPr>
                                              <m:t>−0.2033</m:t>
                                            </m:r>
                                          </m:e>
                                        </m:mr>
                                        <m:mr>
                                          <m:e>
                                            <m:r>
                                              <a:rPr lang="en-US" altLang="zh-TW" b="0" i="1" smtClean="0">
                                                <a:latin typeface="Cambria Math" panose="02040503050406030204" pitchFamily="18" charset="0"/>
                                              </a:rPr>
                                              <m:t>−0.1279</m:t>
                                            </m:r>
                                          </m:e>
                                        </m:mr>
                                      </m:m>
                                    </m:e>
                                  </m:mr>
                                </m:m>
                              </m:e>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.8309</m:t>
                                            </m:r>
                                          </m:e>
                                          <m:e>
                                            <m:r>
                                              <a:rPr lang="en-US" altLang="zh-TW" b="0" i="1" smtClean="0">
                                                <a:latin typeface="Cambria Math" panose="02040503050406030204" pitchFamily="18" charset="0"/>
                                              </a:rPr>
                                              <m:t>−0.2033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0.1231</m:t>
                                                  </m:r>
                                                </m:e>
                                                <m:e>
                                                  <m:r>
                                                    <a:rPr lang="en-US" altLang="zh-TW" b="0" i="1" smtClean="0">
                                                      <a:latin typeface="Cambria Math" panose="02040503050406030204" pitchFamily="18" charset="0"/>
                                                    </a:rPr>
                                                    <m:t>−0.1230</m:t>
                                                  </m:r>
                                                </m:e>
                                                <m:e>
                                                  <m:r>
                                                    <a:rPr lang="en-US" altLang="zh-TW" b="0" i="1" smtClean="0">
                                                      <a:latin typeface="Cambria Math" panose="02040503050406030204" pitchFamily="18" charset="0"/>
                                                    </a:rPr>
                                                    <m:t>−0.2030</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0.1923</m:t>
                                            </m:r>
                                          </m:e>
                                          <m:e>
                                            <m:r>
                                              <a:rPr lang="en-US" altLang="zh-TW" b="0" i="1" smtClean="0">
                                                <a:latin typeface="Cambria Math" panose="02040503050406030204" pitchFamily="18" charset="0"/>
                                              </a:rPr>
                                              <m:t>0.8291</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0.1358</m:t>
                                                  </m:r>
                                                </m:e>
                                                <m:e>
                                                  <m:r>
                                                    <a:rPr lang="en-US" altLang="zh-TW" b="0" i="1" smtClean="0">
                                                      <a:latin typeface="Cambria Math" panose="02040503050406030204" pitchFamily="18" charset="0"/>
                                                    </a:rPr>
                                                    <m:t>−0.1920</m:t>
                                                  </m:r>
                                                </m:e>
                                                <m:e>
                                                  <m:r>
                                                    <a:rPr lang="en-US" altLang="zh-TW" b="0" i="1" smtClean="0">
                                                      <a:latin typeface="Cambria Math" panose="02040503050406030204" pitchFamily="18" charset="0"/>
                                                    </a:rPr>
                                                    <m:t>−0.1284</m:t>
                                                  </m:r>
                                                </m:e>
                                              </m:mr>
                                            </m:m>
                                          </m:e>
                                        </m:mr>
                                      </m:m>
                                    </m:e>
                                  </m:mr>
                                  <m:m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0.1233</m:t>
                                                  </m:r>
                                                </m:e>
                                                <m:e>
                                                  <m:r>
                                                    <a:rPr lang="en-US" altLang="zh-TW" b="0" i="1" smtClean="0">
                                                      <a:latin typeface="Cambria Math" panose="02040503050406030204" pitchFamily="18" charset="0"/>
                                                    </a:rPr>
                                                    <m:t>−0.1403</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m:t>
                                                        </m:r>
                                                        <m:r>
                                                          <a:rPr lang="en-US" altLang="zh-TW" b="0" i="1" smtClean="0">
                                                            <a:latin typeface="Cambria Math" panose="02040503050406030204" pitchFamily="18" charset="0"/>
                                                          </a:rPr>
                                                          <m:t>.8365</m:t>
                                                        </m:r>
                                                      </m:e>
                                                      <m:e>
                                                        <m:r>
                                                          <a:rPr lang="en-US" altLang="zh-TW" b="0" i="1" smtClean="0">
                                                            <a:latin typeface="Cambria Math" panose="02040503050406030204" pitchFamily="18" charset="0"/>
                                                          </a:rPr>
                                                          <m:t>−0.1235</m:t>
                                                        </m:r>
                                                      </m:e>
                                                      <m:e>
                                                        <m:r>
                                                          <a:rPr lang="en-US" altLang="zh-TW" b="0" i="1" smtClean="0">
                                                            <a:latin typeface="Cambria Math" panose="02040503050406030204" pitchFamily="18" charset="0"/>
                                                          </a:rPr>
                                                          <m:t>−0.2048</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0.1230</m:t>
                                                  </m:r>
                                                </m:e>
                                                <m:e>
                                                  <m:r>
                                                    <a:rPr lang="en-US" altLang="zh-TW" b="0" i="1" smtClean="0">
                                                      <a:latin typeface="Cambria Math" panose="02040503050406030204" pitchFamily="18" charset="0"/>
                                                    </a:rPr>
                                                    <m:t>−0.2038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0.1234</m:t>
                                                        </m:r>
                                                      </m:e>
                                                      <m:e>
                                                        <m:r>
                                                          <a:rPr lang="en-US" altLang="zh-TW" b="0" i="1" smtClean="0">
                                                            <a:latin typeface="Cambria Math" panose="02040503050406030204" pitchFamily="18" charset="0"/>
                                                          </a:rPr>
                                                          <m:t>0.8338</m:t>
                                                        </m:r>
                                                      </m:e>
                                                      <m:e>
                                                        <m:r>
                                                          <a:rPr lang="en-US" altLang="zh-TW" b="0" i="1" smtClean="0">
                                                            <a:latin typeface="Cambria Math" panose="02040503050406030204" pitchFamily="18" charset="0"/>
                                                          </a:rPr>
                                                          <m:t>−0.1392</m:t>
                                                        </m:r>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0.1928</m:t>
                                                  </m:r>
                                                </m:e>
                                                <m:e>
                                                  <m:r>
                                                    <a:rPr lang="en-US" altLang="zh-TW" b="0" i="1" smtClean="0">
                                                      <a:latin typeface="Cambria Math" panose="02040503050406030204" pitchFamily="18" charset="0"/>
                                                    </a:rPr>
                                                    <m:t>−0.1288</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m:t>
                                                        </m:r>
                                                        <m:r>
                                                          <a:rPr lang="en-US" altLang="zh-TW" b="0" i="1" smtClean="0">
                                                            <a:latin typeface="Cambria Math" panose="02040503050406030204" pitchFamily="18" charset="0"/>
                                                          </a:rPr>
                                                          <m:t>0.1936</m:t>
                                                        </m:r>
                                                      </m:e>
                                                      <m:e>
                                                        <m:r>
                                                          <a:rPr lang="en-US" altLang="zh-TW" b="0" i="1" smtClean="0">
                                                            <a:latin typeface="Cambria Math" panose="02040503050406030204" pitchFamily="18" charset="0"/>
                                                          </a:rPr>
                                                          <m:t>−0.1366</m:t>
                                                        </m:r>
                                                      </m:e>
                                                      <m:e>
                                                        <m:r>
                                                          <a:rPr lang="en-US" altLang="zh-TW" b="0" i="1" smtClean="0">
                                                            <a:latin typeface="Cambria Math" panose="02040503050406030204" pitchFamily="18" charset="0"/>
                                                          </a:rPr>
                                                          <m:t>0.8328</m:t>
                                                        </m:r>
                                                      </m:e>
                                                    </m:mr>
                                                  </m:m>
                                                </m:e>
                                              </m:mr>
                                            </m:m>
                                          </m:e>
                                        </m:mr>
                                      </m:m>
                                    </m:e>
                                  </m:mr>
                                </m:m>
                              </m:e>
                            </m:mr>
                          </m:m>
                        </m:e>
                      </m:d>
                    </m:oMath>
                  </m:oMathPara>
                </a14:m>
                <a:endParaRPr lang="zh-TW" altLang="en-US" dirty="0"/>
              </a:p>
            </p:txBody>
          </p:sp>
        </mc:Choice>
        <mc:Fallback>
          <p:sp>
            <p:nvSpPr>
              <p:cNvPr id="11" name="文字方塊 10">
                <a:extLst>
                  <a:ext uri="{FF2B5EF4-FFF2-40B4-BE49-F238E27FC236}">
                    <a16:creationId xmlns:a16="http://schemas.microsoft.com/office/drawing/2014/main" id="{4207ED95-D254-4C8C-9DFA-A3E72278EE2C}"/>
                  </a:ext>
                </a:extLst>
              </p:cNvPr>
              <p:cNvSpPr txBox="1">
                <a:spLocks noRot="1" noChangeAspect="1" noMove="1" noResize="1" noEditPoints="1" noAdjustHandles="1" noChangeArrowheads="1" noChangeShapeType="1" noTextEdit="1"/>
              </p:cNvSpPr>
              <p:nvPr/>
            </p:nvSpPr>
            <p:spPr>
              <a:xfrm>
                <a:off x="163396" y="991967"/>
                <a:ext cx="7068538" cy="1508233"/>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文字方塊 11">
                <a:extLst>
                  <a:ext uri="{FF2B5EF4-FFF2-40B4-BE49-F238E27FC236}">
                    <a16:creationId xmlns:a16="http://schemas.microsoft.com/office/drawing/2014/main" id="{09DFD6CB-D8CB-4E1A-9FDD-034A016BE8DA}"/>
                  </a:ext>
                </a:extLst>
              </p:cNvPr>
              <p:cNvSpPr txBox="1"/>
              <p:nvPr/>
            </p:nvSpPr>
            <p:spPr>
              <a:xfrm>
                <a:off x="237300" y="2605723"/>
                <a:ext cx="1405000" cy="291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i="1" smtClean="0">
                              <a:latin typeface="Cambria Math" panose="02040503050406030204" pitchFamily="18" charset="0"/>
                              <a:ea typeface="Cambria Math" panose="02040503050406030204" pitchFamily="18" charset="0"/>
                            </a:rPr>
                            <m:t>ℓ</m:t>
                          </m:r>
                        </m:e>
                      </m:acc>
                      <m:r>
                        <a:rPr lang="en-US" altLang="zh-TW" b="0" i="1" smtClean="0">
                          <a:latin typeface="Cambria Math" panose="02040503050406030204" pitchFamily="18" charset="0"/>
                        </a:rPr>
                        <m:t>=874. 0</m:t>
                      </m:r>
                      <m:r>
                        <a:rPr lang="en-US" altLang="zh-TW" b="0" i="1" smtClean="0">
                          <a:latin typeface="Cambria Math" panose="02040503050406030204" pitchFamily="18" charset="0"/>
                        </a:rPr>
                        <m:t>𝑢𝑚</m:t>
                      </m:r>
                    </m:oMath>
                  </m:oMathPara>
                </a14:m>
                <a:endParaRPr lang="zh-TW" altLang="en-US" dirty="0"/>
              </a:p>
            </p:txBody>
          </p:sp>
        </mc:Choice>
        <mc:Fallback>
          <p:sp>
            <p:nvSpPr>
              <p:cNvPr id="12" name="文字方塊 11">
                <a:extLst>
                  <a:ext uri="{FF2B5EF4-FFF2-40B4-BE49-F238E27FC236}">
                    <a16:creationId xmlns:a16="http://schemas.microsoft.com/office/drawing/2014/main" id="{09DFD6CB-D8CB-4E1A-9FDD-034A016BE8DA}"/>
                  </a:ext>
                </a:extLst>
              </p:cNvPr>
              <p:cNvSpPr txBox="1">
                <a:spLocks noRot="1" noChangeAspect="1" noMove="1" noResize="1" noEditPoints="1" noAdjustHandles="1" noChangeArrowheads="1" noChangeShapeType="1" noTextEdit="1"/>
              </p:cNvSpPr>
              <p:nvPr/>
            </p:nvSpPr>
            <p:spPr>
              <a:xfrm>
                <a:off x="237300" y="2605723"/>
                <a:ext cx="1405000" cy="291234"/>
              </a:xfrm>
              <a:prstGeom prst="rect">
                <a:avLst/>
              </a:prstGeom>
              <a:blipFill>
                <a:blip r:embed="rId4"/>
                <a:stretch>
                  <a:fillRect l="-3913" t="-16667" r="-3478" b="-8333"/>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3" name="文字方塊 12">
                <a:extLst>
                  <a:ext uri="{FF2B5EF4-FFF2-40B4-BE49-F238E27FC236}">
                    <a16:creationId xmlns:a16="http://schemas.microsoft.com/office/drawing/2014/main" id="{D3C1F35D-FB92-4CF8-9E33-10CEB2945F74}"/>
                  </a:ext>
                </a:extLst>
              </p:cNvPr>
              <p:cNvSpPr txBox="1"/>
              <p:nvPr/>
            </p:nvSpPr>
            <p:spPr>
              <a:xfrm>
                <a:off x="1974123" y="2605723"/>
                <a:ext cx="2200731" cy="3053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Pre>
                        <m:sPrePr>
                          <m:ctrlPr>
                            <a:rPr lang="en-US" altLang="zh-TW" i="1" smtClean="0">
                              <a:latin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r>
                            <a:rPr lang="en-US" altLang="zh-TW" b="0" i="1" smtClean="0">
                              <a:latin typeface="Cambria Math" panose="02040503050406030204" pitchFamily="18" charset="0"/>
                            </a:rPr>
                            <m:t>=10.7518 </m:t>
                          </m:r>
                          <m:r>
                            <a:rPr lang="en-US" altLang="zh-TW" b="0" i="1" smtClean="0">
                              <a:latin typeface="Cambria Math" panose="02040503050406030204" pitchFamily="18" charset="0"/>
                            </a:rPr>
                            <m:t>𝑚𝑇</m:t>
                          </m:r>
                          <m:r>
                            <a:rPr lang="en-US" altLang="zh-TW" b="0" i="1" smtClean="0">
                              <a:latin typeface="Cambria Math" panose="02040503050406030204" pitchFamily="18" charset="0"/>
                            </a:rPr>
                            <m:t>/</m:t>
                          </m:r>
                          <m:r>
                            <a:rPr lang="en-US" altLang="zh-TW" b="0" i="1" smtClean="0">
                              <a:latin typeface="Cambria Math" panose="02040503050406030204" pitchFamily="18" charset="0"/>
                            </a:rPr>
                            <m:t>𝐴</m:t>
                          </m:r>
                        </m:e>
                      </m:sPre>
                    </m:oMath>
                  </m:oMathPara>
                </a14:m>
                <a:endParaRPr lang="zh-TW" altLang="en-US" dirty="0"/>
              </a:p>
            </p:txBody>
          </p:sp>
        </mc:Choice>
        <mc:Fallback>
          <p:sp>
            <p:nvSpPr>
              <p:cNvPr id="13" name="文字方塊 12">
                <a:extLst>
                  <a:ext uri="{FF2B5EF4-FFF2-40B4-BE49-F238E27FC236}">
                    <a16:creationId xmlns:a16="http://schemas.microsoft.com/office/drawing/2014/main" id="{D3C1F35D-FB92-4CF8-9E33-10CEB2945F74}"/>
                  </a:ext>
                </a:extLst>
              </p:cNvPr>
              <p:cNvSpPr txBox="1">
                <a:spLocks noRot="1" noChangeAspect="1" noMove="1" noResize="1" noEditPoints="1" noAdjustHandles="1" noChangeArrowheads="1" noChangeShapeType="1" noTextEdit="1"/>
              </p:cNvSpPr>
              <p:nvPr/>
            </p:nvSpPr>
            <p:spPr>
              <a:xfrm>
                <a:off x="1974123" y="2605723"/>
                <a:ext cx="2200731" cy="305340"/>
              </a:xfrm>
              <a:prstGeom prst="rect">
                <a:avLst/>
              </a:prstGeom>
              <a:blipFill>
                <a:blip r:embed="rId5"/>
                <a:stretch>
                  <a:fillRect t="-13725" r="-2216" b="-27451"/>
                </a:stretch>
              </a:blipFill>
            </p:spPr>
            <p:txBody>
              <a:bodyPr/>
              <a:lstStyle/>
              <a:p>
                <a:r>
                  <a:rPr lang="zh-TW" altLang="en-US">
                    <a:noFill/>
                  </a:rPr>
                  <a:t> </a:t>
                </a:r>
              </a:p>
            </p:txBody>
          </p:sp>
        </mc:Fallback>
      </mc:AlternateContent>
      <p:pic>
        <p:nvPicPr>
          <p:cNvPr id="5" name="圖片 4">
            <a:extLst>
              <a:ext uri="{FF2B5EF4-FFF2-40B4-BE49-F238E27FC236}">
                <a16:creationId xmlns:a16="http://schemas.microsoft.com/office/drawing/2014/main" id="{73055B59-78B2-4FFF-925E-957A63C0E6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396" y="3215664"/>
            <a:ext cx="4018123" cy="3548030"/>
          </a:xfrm>
          <a:prstGeom prst="rect">
            <a:avLst/>
          </a:prstGeom>
        </p:spPr>
      </p:pic>
      <p:sp>
        <p:nvSpPr>
          <p:cNvPr id="20" name="文字方塊 19">
            <a:extLst>
              <a:ext uri="{FF2B5EF4-FFF2-40B4-BE49-F238E27FC236}">
                <a16:creationId xmlns:a16="http://schemas.microsoft.com/office/drawing/2014/main" id="{17D1534C-2DB1-421C-95B8-9D127C67F4F1}"/>
              </a:ext>
            </a:extLst>
          </p:cNvPr>
          <p:cNvSpPr txBox="1"/>
          <p:nvPr/>
        </p:nvSpPr>
        <p:spPr>
          <a:xfrm>
            <a:off x="7298735" y="890401"/>
            <a:ext cx="3878298" cy="1711366"/>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Eighteen parameter </a:t>
            </a:r>
            <a:r>
              <a:rPr lang="en-US" altLang="zh-TW" dirty="0">
                <a:latin typeface="Times New Roman" panose="02020603050405020304" pitchFamily="18" charset="0"/>
                <a:cs typeface="Times New Roman" panose="02020603050405020304" pitchFamily="18" charset="0"/>
              </a:rPr>
              <a:t>fitting results</a:t>
            </a:r>
          </a:p>
          <a:p>
            <a:pPr marL="285750" indent="-285750">
              <a:lnSpc>
                <a:spcPct val="150000"/>
              </a:lnSpc>
              <a:buFont typeface="Arial" panose="020B0604020202020204" pitchFamily="34" charset="0"/>
              <a:buChar char="•"/>
            </a:pPr>
            <a:r>
              <a:rPr lang="en-US" altLang="zh-TW" dirty="0">
                <a:latin typeface="Times New Roman" panose="02020603050405020304" pitchFamily="18" charset="0"/>
                <a:cs typeface="Times New Roman" panose="02020603050405020304" pitchFamily="18" charset="0"/>
              </a:rPr>
              <a:t>Calibration region R&lt;=150um</a:t>
            </a:r>
            <a:endParaRPr lang="zh-TW" altLang="en-US" dirty="0">
              <a:latin typeface="Times New Roman" panose="02020603050405020304" pitchFamily="18" charset="0"/>
              <a:cs typeface="Times New Roman" panose="02020603050405020304" pitchFamily="18" charset="0"/>
            </a:endParaRP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endParaRPr lang="zh-TW" altLang="en-US" dirty="0"/>
          </a:p>
        </p:txBody>
      </p:sp>
      <p:pic>
        <p:nvPicPr>
          <p:cNvPr id="8" name="圖片 7">
            <a:extLst>
              <a:ext uri="{FF2B5EF4-FFF2-40B4-BE49-F238E27FC236}">
                <a16:creationId xmlns:a16="http://schemas.microsoft.com/office/drawing/2014/main" id="{1D5507D6-621A-4ED8-B47D-7B11233DC0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829443" y="2976876"/>
            <a:ext cx="4200378" cy="3786818"/>
          </a:xfrm>
          <a:prstGeom prst="rect">
            <a:avLst/>
          </a:prstGeom>
        </p:spPr>
      </p:pic>
    </p:spTree>
    <p:extLst>
      <p:ext uri="{BB962C8B-B14F-4D97-AF65-F5344CB8AC3E}">
        <p14:creationId xmlns:p14="http://schemas.microsoft.com/office/powerpoint/2010/main" val="42783174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EBA17566-B42C-4B02-B869-9832F66C8C0A}"/>
              </a:ext>
            </a:extLst>
          </p:cNvPr>
          <p:cNvSpPr txBox="1"/>
          <p:nvPr/>
        </p:nvSpPr>
        <p:spPr>
          <a:xfrm>
            <a:off x="0" y="587243"/>
            <a:ext cx="1879600" cy="369332"/>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Fitting results</a:t>
            </a:r>
            <a:endParaRPr lang="zh-TW" altLang="en-US" dirty="0"/>
          </a:p>
        </p:txBody>
      </p:sp>
      <p:pic>
        <p:nvPicPr>
          <p:cNvPr id="6" name="圖片 5">
            <a:extLst>
              <a:ext uri="{FF2B5EF4-FFF2-40B4-BE49-F238E27FC236}">
                <a16:creationId xmlns:a16="http://schemas.microsoft.com/office/drawing/2014/main" id="{4864F629-7696-4A52-8BF6-7B5B024F5B0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0177" y="1295399"/>
            <a:ext cx="5285823" cy="5097994"/>
          </a:xfrm>
          <a:prstGeom prst="rect">
            <a:avLst/>
          </a:prstGeom>
        </p:spPr>
      </p:pic>
    </p:spTree>
    <p:extLst>
      <p:ext uri="{BB962C8B-B14F-4D97-AF65-F5344CB8AC3E}">
        <p14:creationId xmlns:p14="http://schemas.microsoft.com/office/powerpoint/2010/main" val="240997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文字方塊 2">
                <a:extLst>
                  <a:ext uri="{FF2B5EF4-FFF2-40B4-BE49-F238E27FC236}">
                    <a16:creationId xmlns:a16="http://schemas.microsoft.com/office/drawing/2014/main" id="{B6964577-860D-4EB3-8219-1A6240335DA6}"/>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p:sp>
            <p:nvSpPr>
              <p:cNvPr id="3" name="文字方塊 2">
                <a:extLst>
                  <a:ext uri="{FF2B5EF4-FFF2-40B4-BE49-F238E27FC236}">
                    <a16:creationId xmlns:a16="http://schemas.microsoft.com/office/drawing/2014/main" id="{B6964577-860D-4EB3-8219-1A6240335DA6}"/>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337731"/>
                <a:ext cx="6585562" cy="254165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337731"/>
                <a:ext cx="6585562" cy="2541658"/>
              </a:xfrm>
              <a:prstGeom prst="rect">
                <a:avLst/>
              </a:prstGeom>
              <a:blipFill>
                <a:blip r:embed="rId3"/>
                <a:stretch>
                  <a:fillRect l="-556" b="-2878"/>
                </a:stretch>
              </a:blipFill>
            </p:spPr>
            <p:txBody>
              <a:bodyPr/>
              <a:lstStyle/>
              <a:p>
                <a:r>
                  <a:rPr lang="zh-TW" altLang="en-US">
                    <a:noFill/>
                  </a:rPr>
                  <a:t> </a:t>
                </a:r>
              </a:p>
            </p:txBody>
          </p:sp>
        </mc:Fallback>
      </mc:AlternateContent>
      <p:pic>
        <p:nvPicPr>
          <p:cNvPr id="6" name="圖片 5">
            <a:extLst>
              <a:ext uri="{FF2B5EF4-FFF2-40B4-BE49-F238E27FC236}">
                <a16:creationId xmlns:a16="http://schemas.microsoft.com/office/drawing/2014/main" id="{19DC279A-BD36-4119-8439-ACBBE884C7B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7134" y="715061"/>
            <a:ext cx="4933477" cy="4088622"/>
          </a:xfrm>
          <a:prstGeom prst="rect">
            <a:avLst/>
          </a:prstGeom>
        </p:spPr>
      </p:pic>
    </p:spTree>
    <p:extLst>
      <p:ext uri="{BB962C8B-B14F-4D97-AF65-F5344CB8AC3E}">
        <p14:creationId xmlns:p14="http://schemas.microsoft.com/office/powerpoint/2010/main" val="39634389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11" name="文字方塊 10">
                <a:extLst>
                  <a:ext uri="{FF2B5EF4-FFF2-40B4-BE49-F238E27FC236}">
                    <a16:creationId xmlns:a16="http://schemas.microsoft.com/office/drawing/2014/main" id="{54C8E874-6E04-4F06-97C3-1C58F72C5F9C}"/>
                  </a:ext>
                </a:extLst>
              </p:cNvPr>
              <p:cNvSpPr txBox="1"/>
              <p:nvPr/>
            </p:nvSpPr>
            <p:spPr>
              <a:xfrm>
                <a:off x="5420171" y="1053172"/>
                <a:ext cx="6586231" cy="254165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TW" dirty="0"/>
                  <a:t>This figure overlays the distributions of the two models. The red distribution is noticeably more concentrated than the blue one, indicating that the eighteen-parameter model performs better than the one-parameter model in fitting the magnetic field.</a:t>
                </a:r>
              </a:p>
              <a:p>
                <a:pPr marL="285750" indent="-285750">
                  <a:lnSpc>
                    <a:spcPct val="150000"/>
                  </a:lnSpc>
                  <a:buFont typeface="Arial" panose="020B0604020202020204" pitchFamily="34" charset="0"/>
                  <a:buChar char="•"/>
                </a:pPr>
                <a:endParaRPr lang="en-US" altLang="zh-TW" dirty="0"/>
              </a:p>
              <a:p>
                <a:pPr marL="285750" indent="-285750">
                  <a:lnSpc>
                    <a:spcPct val="150000"/>
                  </a:lnSpc>
                  <a:buFont typeface="Arial" panose="020B0604020202020204" pitchFamily="34" charset="0"/>
                  <a:buChar char="•"/>
                </a:pPr>
                <a:r>
                  <a:rPr lang="en-US" altLang="zh-TW" dirty="0"/>
                  <a:t>Sampling range:</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11" name="文字方塊 10">
                <a:extLst>
                  <a:ext uri="{FF2B5EF4-FFF2-40B4-BE49-F238E27FC236}">
                    <a16:creationId xmlns:a16="http://schemas.microsoft.com/office/drawing/2014/main" id="{54C8E874-6E04-4F06-97C3-1C58F72C5F9C}"/>
                  </a:ext>
                </a:extLst>
              </p:cNvPr>
              <p:cNvSpPr txBox="1">
                <a:spLocks noRot="1" noChangeAspect="1" noMove="1" noResize="1" noEditPoints="1" noAdjustHandles="1" noChangeArrowheads="1" noChangeShapeType="1" noTextEdit="1"/>
              </p:cNvSpPr>
              <p:nvPr/>
            </p:nvSpPr>
            <p:spPr>
              <a:xfrm>
                <a:off x="5420171" y="1053172"/>
                <a:ext cx="6586231" cy="2541658"/>
              </a:xfrm>
              <a:prstGeom prst="rect">
                <a:avLst/>
              </a:prstGeom>
              <a:blipFill>
                <a:blip r:embed="rId2"/>
                <a:stretch>
                  <a:fillRect l="-555" b="-2878"/>
                </a:stretch>
              </a:blipFill>
            </p:spPr>
            <p:txBody>
              <a:bodyPr/>
              <a:lstStyle/>
              <a:p>
                <a:r>
                  <a:rPr lang="zh-TW" altLang="en-US">
                    <a:noFill/>
                  </a:rPr>
                  <a:t> </a:t>
                </a:r>
              </a:p>
            </p:txBody>
          </p:sp>
        </mc:Fallback>
      </mc:AlternateContent>
      <p:pic>
        <p:nvPicPr>
          <p:cNvPr id="8" name="圖片 7">
            <a:extLst>
              <a:ext uri="{FF2B5EF4-FFF2-40B4-BE49-F238E27FC236}">
                <a16:creationId xmlns:a16="http://schemas.microsoft.com/office/drawing/2014/main" id="{380297B8-45C0-455E-B040-6068A877E4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598" y="953711"/>
            <a:ext cx="5234573" cy="4292600"/>
          </a:xfrm>
          <a:prstGeom prst="rect">
            <a:avLst/>
          </a:prstGeom>
        </p:spPr>
      </p:pic>
      <mc:AlternateContent xmlns:mc="http://schemas.openxmlformats.org/markup-compatibility/2006">
        <mc:Choice xmlns:a14="http://schemas.microsoft.com/office/drawing/2010/main" Requires="a14">
          <p:sp>
            <p:nvSpPr>
              <p:cNvPr id="12" name="文字方塊 11">
                <a:extLst>
                  <a:ext uri="{FF2B5EF4-FFF2-40B4-BE49-F238E27FC236}">
                    <a16:creationId xmlns:a16="http://schemas.microsoft.com/office/drawing/2014/main" id="{7BBB93AC-730C-4472-B89F-98F28D34B642}"/>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p:sp>
            <p:nvSpPr>
              <p:cNvPr id="12" name="文字方塊 11">
                <a:extLst>
                  <a:ext uri="{FF2B5EF4-FFF2-40B4-BE49-F238E27FC236}">
                    <a16:creationId xmlns:a16="http://schemas.microsoft.com/office/drawing/2014/main" id="{7BBB93AC-730C-4472-B89F-98F28D34B642}"/>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4"/>
                <a:stretch>
                  <a:fillRect l="-1197" t="-15385" r="-5299" b="-2500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158681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976117A0-A94B-49AB-92D6-B22FD0AF0753}"/>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Current-based lumped-parameter modeling and calibration</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sp>
        <p:nvSpPr>
          <p:cNvPr id="40" name="文字方塊 39">
            <a:extLst>
              <a:ext uri="{FF2B5EF4-FFF2-40B4-BE49-F238E27FC236}">
                <a16:creationId xmlns:a16="http://schemas.microsoft.com/office/drawing/2014/main" id="{B1E82766-E1D8-4AA6-A2B9-6AEA170385C0}"/>
              </a:ext>
            </a:extLst>
          </p:cNvPr>
          <p:cNvSpPr txBox="1"/>
          <p:nvPr/>
        </p:nvSpPr>
        <p:spPr>
          <a:xfrm>
            <a:off x="0" y="324377"/>
            <a:ext cx="6324600" cy="390684"/>
          </a:xfrm>
          <a:prstGeom prst="rect">
            <a:avLst/>
          </a:prstGeom>
          <a:noFill/>
        </p:spPr>
        <p:txBody>
          <a:bodyPr wrap="square" rtlCol="0">
            <a:spAutoFit/>
          </a:bodyPr>
          <a:lstStyle/>
          <a:p>
            <a:pPr>
              <a:lnSpc>
                <a:spcPct val="115000"/>
              </a:lnSpc>
              <a:spcAft>
                <a:spcPts val="800"/>
              </a:spcAft>
            </a:pPr>
            <a:r>
              <a:rPr lang="en-US" altLang="zh-TW"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E</a:t>
            </a:r>
            <a:r>
              <a:rPr lang="en-US" altLang="zh-TW" kern="100" dirty="0">
                <a:solidFill>
                  <a:srgbClr val="000000"/>
                </a:solidFill>
                <a:effectLst/>
                <a:latin typeface="Times New Roman" panose="02020603050405020304" pitchFamily="18" charset="0"/>
                <a:ea typeface="新細明體" panose="02020500000000000000" pitchFamily="18" charset="-120"/>
                <a:cs typeface="Times New Roman" panose="02020603050405020304" pitchFamily="18" charset="0"/>
              </a:rPr>
              <a:t>. </a:t>
            </a:r>
            <a:r>
              <a:rPr lang="en-US" altLang="zh-TW" i="1" kern="100" dirty="0">
                <a:solidFill>
                  <a:srgbClr val="000000"/>
                </a:solidFill>
                <a:latin typeface="Times New Roman" panose="02020603050405020304" pitchFamily="18" charset="0"/>
                <a:ea typeface="新細明體" panose="02020500000000000000" pitchFamily="18" charset="-120"/>
                <a:cs typeface="Times New Roman" panose="02020603050405020304" pitchFamily="18" charset="0"/>
              </a:rPr>
              <a:t>Validation</a:t>
            </a:r>
            <a:endParaRPr lang="zh-TW" altLang="zh-TW" kern="100" dirty="0">
              <a:effectLst/>
              <a:latin typeface="Aptos"/>
              <a:ea typeface="新細明體" panose="02020500000000000000" pitchFamily="18" charset="-120"/>
              <a:cs typeface="Times New Roman" panose="02020603050405020304" pitchFamily="18" charset="0"/>
            </a:endParaRPr>
          </a:p>
        </p:txBody>
      </p:sp>
      <p:sp>
        <p:nvSpPr>
          <p:cNvPr id="19" name="文字方塊 18">
            <a:extLst>
              <a:ext uri="{FF2B5EF4-FFF2-40B4-BE49-F238E27FC236}">
                <a16:creationId xmlns:a16="http://schemas.microsoft.com/office/drawing/2014/main" id="{7AEE1245-C1D7-468D-B66E-D359C98E02EC}"/>
              </a:ext>
            </a:extLst>
          </p:cNvPr>
          <p:cNvSpPr txBox="1"/>
          <p:nvPr/>
        </p:nvSpPr>
        <p:spPr>
          <a:xfrm>
            <a:off x="6885600" y="840717"/>
            <a:ext cx="5384798" cy="4801314"/>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These two figures show the differences in the calibrated magnetic charge locations between the two models. The upper row presents the magnetic charge locations calibrated by the one-parameter model, shown using side views of poles P1 and P2. It can be clearly seen that, for the lower pole, some of the magnetic charge locations are located outside the pole. This is because the one-parameter model constrains the magnetic charges to lie along the actuator coordinate axes. The lower row presents the results of the eighteen-parameter model, in which the magnetic charge locations of the lower pole move inside the pole. This is more consistent with the expected physical situation. Moreover, the error histograms shown above also indicate that these magnetic charge locations are more consistent with the theoretical positions.</a:t>
            </a:r>
            <a:endParaRPr lang="zh-TW" altLang="en-US" dirty="0"/>
          </a:p>
        </p:txBody>
      </p:sp>
      <mc:AlternateContent xmlns:mc="http://schemas.openxmlformats.org/markup-compatibility/2006">
        <mc:Choice xmlns:a14="http://schemas.microsoft.com/office/drawing/2010/main" Requires="a14">
          <p:sp>
            <p:nvSpPr>
              <p:cNvPr id="29" name="文字方塊 28">
                <a:extLst>
                  <a:ext uri="{FF2B5EF4-FFF2-40B4-BE49-F238E27FC236}">
                    <a16:creationId xmlns:a16="http://schemas.microsoft.com/office/drawing/2014/main" id="{89A87B67-4717-4362-98CB-9141ED7DCE5C}"/>
                  </a:ext>
                </a:extLst>
              </p:cNvPr>
              <p:cNvSpPr txBox="1"/>
              <p:nvPr/>
            </p:nvSpPr>
            <p:spPr>
              <a:xfrm>
                <a:off x="8217453" y="423838"/>
                <a:ext cx="3564053" cy="32156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𝐶𝑎𝑙𝑖𝑏𝑟𝑎𝑡𝑒</m:t>
                      </m:r>
                      <m:r>
                        <a:rPr lang="en-US" altLang="zh-TW" b="0" i="1" smtClean="0">
                          <a:latin typeface="Cambria Math" panose="02040503050406030204" pitchFamily="18" charset="0"/>
                        </a:rPr>
                        <m:t> </m:t>
                      </m:r>
                      <m:r>
                        <a:rPr lang="en-US" altLang="zh-TW" b="0" i="1" smtClean="0">
                          <a:latin typeface="Cambria Math" panose="02040503050406030204" pitchFamily="18" charset="0"/>
                        </a:rPr>
                        <m:t>𝑚𝑜𝑑𝑒𝑙</m:t>
                      </m:r>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𝑏</m:t>
                          </m:r>
                        </m:e>
                        <m:sub>
                          <m:r>
                            <a:rPr lang="en-US" altLang="zh-TW" b="0" i="1" smtClean="0">
                              <a:latin typeface="Cambria Math" panose="02040503050406030204" pitchFamily="18" charset="0"/>
                              <a:ea typeface="Cambria Math" panose="02040503050406030204" pitchFamily="18" charset="0"/>
                            </a:rPr>
                            <m:t>𝑖𝑗</m:t>
                          </m:r>
                        </m:sub>
                      </m:sSub>
                      <m:r>
                        <a:rPr lang="en-US" altLang="zh-TW" b="0" i="1" smtClean="0">
                          <a:latin typeface="Cambria Math" panose="02040503050406030204" pitchFamily="18" charset="0"/>
                          <a:ea typeface="Cambria Math" panose="02040503050406030204" pitchFamily="18" charset="0"/>
                        </a:rPr>
                        <m:t>=</m:t>
                      </m:r>
                      <m:sSub>
                        <m:sSubPr>
                          <m:ctrlPr>
                            <a:rPr lang="en-US" altLang="zh-TW" b="0" i="1" smtClean="0">
                              <a:latin typeface="Cambria Math" panose="02040503050406030204" pitchFamily="18" charset="0"/>
                              <a:ea typeface="Cambria Math" panose="02040503050406030204" pitchFamily="18" charset="0"/>
                            </a:rPr>
                          </m:ctrlPr>
                        </m:sSubPr>
                        <m:e>
                          <m:r>
                            <a:rPr lang="en-US" altLang="zh-TW" b="0" i="1" smtClean="0">
                              <a:latin typeface="Cambria Math" panose="02040503050406030204" pitchFamily="18" charset="0"/>
                              <a:ea typeface="Cambria Math" panose="02040503050406030204" pitchFamily="18" charset="0"/>
                            </a:rPr>
                            <m:t>𝑆</m:t>
                          </m:r>
                        </m:e>
                        <m:sub>
                          <m:r>
                            <a:rPr lang="en-US" altLang="zh-TW" b="0" i="1" smtClean="0">
                              <a:latin typeface="Cambria Math" panose="02040503050406030204" pitchFamily="18" charset="0"/>
                              <a:ea typeface="Cambria Math" panose="02040503050406030204" pitchFamily="18" charset="0"/>
                            </a:rPr>
                            <m:t>𝑖</m:t>
                          </m:r>
                        </m:sub>
                      </m:sSub>
                      <m:sPre>
                        <m:sPrePr>
                          <m:ctrlPr>
                            <a:rPr lang="en-US" altLang="zh-TW" b="0" i="1" smtClean="0">
                              <a:latin typeface="Cambria Math" panose="02040503050406030204" pitchFamily="18" charset="0"/>
                              <a:ea typeface="Cambria Math" panose="02040503050406030204" pitchFamily="18" charset="0"/>
                            </a:rPr>
                          </m:ctrlPr>
                        </m:sPrePr>
                        <m:sub/>
                        <m:sup>
                          <m:r>
                            <a:rPr lang="en-US" altLang="zh-TW" b="0" i="1" smtClean="0">
                              <a:latin typeface="Cambria Math" panose="02040503050406030204" pitchFamily="18" charset="0"/>
                            </a:rPr>
                            <m:t>𝐵</m:t>
                          </m:r>
                        </m:sup>
                        <m:e>
                          <m:sSub>
                            <m:sSubPr>
                              <m:ctrlPr>
                                <a:rPr lang="en-US" altLang="zh-TW"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𝑔</m:t>
                                  </m:r>
                                </m:e>
                              </m:acc>
                            </m:e>
                            <m:sub>
                              <m:r>
                                <a:rPr lang="en-US" altLang="zh-TW" b="0" i="1" smtClean="0">
                                  <a:latin typeface="Cambria Math" panose="02040503050406030204" pitchFamily="18" charset="0"/>
                                </a:rPr>
                                <m:t>𝐼</m:t>
                              </m:r>
                            </m:sub>
                          </m:sSub>
                        </m:e>
                      </m:sPre>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𝐾</m:t>
                              </m:r>
                            </m:e>
                          </m:acc>
                        </m:e>
                        <m:sub>
                          <m:r>
                            <a:rPr lang="en-US" altLang="zh-TW" b="0" i="1" smtClean="0">
                              <a:latin typeface="Cambria Math" panose="02040503050406030204" pitchFamily="18" charset="0"/>
                            </a:rPr>
                            <m:t>𝐼</m:t>
                          </m:r>
                        </m:sub>
                      </m:sSub>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𝐼</m:t>
                          </m:r>
                        </m:e>
                        <m:sub>
                          <m:r>
                            <a:rPr lang="en-US" altLang="zh-TW" b="0" i="1" smtClean="0">
                              <a:latin typeface="Cambria Math" panose="02040503050406030204" pitchFamily="18" charset="0"/>
                            </a:rPr>
                            <m:t>𝑗</m:t>
                          </m:r>
                        </m:sub>
                      </m:sSub>
                    </m:oMath>
                  </m:oMathPara>
                </a14:m>
                <a:endParaRPr lang="zh-TW" altLang="en-US" dirty="0"/>
              </a:p>
            </p:txBody>
          </p:sp>
        </mc:Choice>
        <mc:Fallback>
          <p:sp>
            <p:nvSpPr>
              <p:cNvPr id="29" name="文字方塊 28">
                <a:extLst>
                  <a:ext uri="{FF2B5EF4-FFF2-40B4-BE49-F238E27FC236}">
                    <a16:creationId xmlns:a16="http://schemas.microsoft.com/office/drawing/2014/main" id="{89A87B67-4717-4362-98CB-9141ED7DCE5C}"/>
                  </a:ext>
                </a:extLst>
              </p:cNvPr>
              <p:cNvSpPr txBox="1">
                <a:spLocks noRot="1" noChangeAspect="1" noMove="1" noResize="1" noEditPoints="1" noAdjustHandles="1" noChangeArrowheads="1" noChangeShapeType="1" noTextEdit="1"/>
              </p:cNvSpPr>
              <p:nvPr/>
            </p:nvSpPr>
            <p:spPr>
              <a:xfrm>
                <a:off x="8217453" y="423838"/>
                <a:ext cx="3564053" cy="321563"/>
              </a:xfrm>
              <a:prstGeom prst="rect">
                <a:avLst/>
              </a:prstGeom>
              <a:blipFill>
                <a:blip r:embed="rId2"/>
                <a:stretch>
                  <a:fillRect l="-1197" t="-15385" r="-5299" b="-25000"/>
                </a:stretch>
              </a:blipFill>
            </p:spPr>
            <p:txBody>
              <a:bodyPr/>
              <a:lstStyle/>
              <a:p>
                <a:r>
                  <a:rPr lang="zh-TW" altLang="en-US">
                    <a:noFill/>
                  </a:rPr>
                  <a:t> </a:t>
                </a:r>
              </a:p>
            </p:txBody>
          </p:sp>
        </mc:Fallback>
      </mc:AlternateContent>
      <p:grpSp>
        <p:nvGrpSpPr>
          <p:cNvPr id="6" name="群組 5">
            <a:extLst>
              <a:ext uri="{FF2B5EF4-FFF2-40B4-BE49-F238E27FC236}">
                <a16:creationId xmlns:a16="http://schemas.microsoft.com/office/drawing/2014/main" id="{C89A0346-8189-4276-A7F0-0B064B6352FC}"/>
              </a:ext>
            </a:extLst>
          </p:cNvPr>
          <p:cNvGrpSpPr/>
          <p:nvPr/>
        </p:nvGrpSpPr>
        <p:grpSpPr>
          <a:xfrm>
            <a:off x="93061" y="1161519"/>
            <a:ext cx="6937032" cy="3354715"/>
            <a:chOff x="101527" y="1144012"/>
            <a:chExt cx="6937032" cy="3354715"/>
          </a:xfrm>
        </p:grpSpPr>
        <p:pic>
          <p:nvPicPr>
            <p:cNvPr id="5" name="圖片 4">
              <a:extLst>
                <a:ext uri="{FF2B5EF4-FFF2-40B4-BE49-F238E27FC236}">
                  <a16:creationId xmlns:a16="http://schemas.microsoft.com/office/drawing/2014/main" id="{A95DCD7E-C4E0-481E-BB54-103FC96112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2235" y="1144012"/>
              <a:ext cx="6503365" cy="3004655"/>
            </a:xfrm>
            <a:prstGeom prst="rect">
              <a:avLst/>
            </a:prstGeom>
          </p:spPr>
        </p:pic>
        <p:grpSp>
          <p:nvGrpSpPr>
            <p:cNvPr id="32" name="群組 31">
              <a:extLst>
                <a:ext uri="{FF2B5EF4-FFF2-40B4-BE49-F238E27FC236}">
                  <a16:creationId xmlns:a16="http://schemas.microsoft.com/office/drawing/2014/main" id="{00AAE3B7-7BF1-4B56-BAE2-3D620CD83099}"/>
                </a:ext>
              </a:extLst>
            </p:cNvPr>
            <p:cNvGrpSpPr/>
            <p:nvPr/>
          </p:nvGrpSpPr>
          <p:grpSpPr>
            <a:xfrm>
              <a:off x="101527" y="1345441"/>
              <a:ext cx="6937032" cy="3153286"/>
              <a:chOff x="1625800" y="1853204"/>
              <a:chExt cx="9002701" cy="3165128"/>
            </a:xfrm>
          </p:grpSpPr>
          <mc:AlternateContent xmlns:mc="http://schemas.openxmlformats.org/markup-compatibility/2006">
            <mc:Choice xmlns:a14="http://schemas.microsoft.com/office/drawing/2010/main" Requires="a14">
              <p:sp>
                <p:nvSpPr>
                  <p:cNvPr id="33" name="文字方塊 32">
                    <a:extLst>
                      <a:ext uri="{FF2B5EF4-FFF2-40B4-BE49-F238E27FC236}">
                        <a16:creationId xmlns:a16="http://schemas.microsoft.com/office/drawing/2014/main" id="{2518E20F-8820-4061-B1C1-9B2B8E6A835C}"/>
                      </a:ext>
                    </a:extLst>
                  </p:cNvPr>
                  <p:cNvSpPr txBox="1"/>
                  <p:nvPr/>
                </p:nvSpPr>
                <p:spPr>
                  <a:xfrm rot="16200000">
                    <a:off x="1059395" y="2788942"/>
                    <a:ext cx="1409810" cy="277000"/>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𝑧</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p:sp>
                <p:nvSpPr>
                  <p:cNvPr id="33" name="文字方塊 32">
                    <a:extLst>
                      <a:ext uri="{FF2B5EF4-FFF2-40B4-BE49-F238E27FC236}">
                        <a16:creationId xmlns:a16="http://schemas.microsoft.com/office/drawing/2014/main" id="{2518E20F-8820-4061-B1C1-9B2B8E6A835C}"/>
                      </a:ext>
                    </a:extLst>
                  </p:cNvPr>
                  <p:cNvSpPr txBox="1">
                    <a:spLocks noRot="1" noChangeAspect="1" noMove="1" noResize="1" noEditPoints="1" noAdjustHandles="1" noChangeArrowheads="1" noChangeShapeType="1" noTextEdit="1"/>
                  </p:cNvSpPr>
                  <p:nvPr/>
                </p:nvSpPr>
                <p:spPr>
                  <a:xfrm rot="16200000">
                    <a:off x="1059395" y="2788942"/>
                    <a:ext cx="1409810" cy="277000"/>
                  </a:xfrm>
                  <a:prstGeom prst="rect">
                    <a:avLst/>
                  </a:prstGeom>
                  <a:blipFill>
                    <a:blip r:embed="rId4"/>
                    <a:stretch>
                      <a:fillRect t="-6522" r="-77143" b="-2609"/>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4" name="文字方塊 33">
                    <a:extLst>
                      <a:ext uri="{FF2B5EF4-FFF2-40B4-BE49-F238E27FC236}">
                        <a16:creationId xmlns:a16="http://schemas.microsoft.com/office/drawing/2014/main" id="{C76A7CE7-457D-4FFE-A3B1-39E0A8845413}"/>
                      </a:ext>
                    </a:extLst>
                  </p:cNvPr>
                  <p:cNvSpPr txBox="1"/>
                  <p:nvPr/>
                </p:nvSpPr>
                <p:spPr>
                  <a:xfrm>
                    <a:off x="3287298" y="4741333"/>
                    <a:ext cx="1436034"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p:sp>
                <p:nvSpPr>
                  <p:cNvPr id="34" name="文字方塊 33">
                    <a:extLst>
                      <a:ext uri="{FF2B5EF4-FFF2-40B4-BE49-F238E27FC236}">
                        <a16:creationId xmlns:a16="http://schemas.microsoft.com/office/drawing/2014/main" id="{C76A7CE7-457D-4FFE-A3B1-39E0A8845413}"/>
                      </a:ext>
                    </a:extLst>
                  </p:cNvPr>
                  <p:cNvSpPr txBox="1">
                    <a:spLocks noRot="1" noChangeAspect="1" noMove="1" noResize="1" noEditPoints="1" noAdjustHandles="1" noChangeArrowheads="1" noChangeShapeType="1" noTextEdit="1"/>
                  </p:cNvSpPr>
                  <p:nvPr/>
                </p:nvSpPr>
                <p:spPr>
                  <a:xfrm>
                    <a:off x="3287298" y="4741333"/>
                    <a:ext cx="1436034" cy="276999"/>
                  </a:xfrm>
                  <a:prstGeom prst="rect">
                    <a:avLst/>
                  </a:prstGeom>
                  <a:blipFill>
                    <a:blip r:embed="rId5"/>
                    <a:stretch>
                      <a:fillRect l="-5495" t="-2222" r="-33516" b="-3777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5" name="文字方塊 34">
                    <a:extLst>
                      <a:ext uri="{FF2B5EF4-FFF2-40B4-BE49-F238E27FC236}">
                        <a16:creationId xmlns:a16="http://schemas.microsoft.com/office/drawing/2014/main" id="{A2AF3DB8-6AEF-4EDC-934E-65275A38ABCE}"/>
                      </a:ext>
                    </a:extLst>
                  </p:cNvPr>
                  <p:cNvSpPr txBox="1"/>
                  <p:nvPr/>
                </p:nvSpPr>
                <p:spPr>
                  <a:xfrm>
                    <a:off x="7265875" y="4741333"/>
                    <a:ext cx="1436034" cy="27699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m:rPr>
                              <m:sty m:val="p"/>
                            </m:rPr>
                            <a:rPr lang="en-US" altLang="zh-TW" b="0" i="0" smtClean="0">
                              <a:latin typeface="Cambria Math" panose="02040503050406030204" pitchFamily="18" charset="0"/>
                            </a:rPr>
                            <m:t>axis</m:t>
                          </m:r>
                          <m:r>
                            <a:rPr lang="en-US" altLang="zh-TW" b="0" i="1" smtClean="0">
                              <a:latin typeface="Cambria Math" panose="02040503050406030204" pitchFamily="18" charset="0"/>
                            </a:rPr>
                            <m:t>(</m:t>
                          </m:r>
                          <m:r>
                            <a:rPr lang="en-US" altLang="zh-TW" b="0" i="1" smtClean="0">
                              <a:latin typeface="Cambria Math" panose="02040503050406030204" pitchFamily="18" charset="0"/>
                            </a:rPr>
                            <m:t>𝑚𝑚</m:t>
                          </m:r>
                          <m:r>
                            <a:rPr lang="en-US" altLang="zh-TW" b="0" i="1" smtClean="0">
                              <a:latin typeface="Cambria Math" panose="02040503050406030204" pitchFamily="18" charset="0"/>
                            </a:rPr>
                            <m:t>)</m:t>
                          </m:r>
                        </m:oMath>
                      </m:oMathPara>
                    </a14:m>
                    <a:endParaRPr lang="zh-TW" altLang="en-US" i="1" dirty="0">
                      <a:latin typeface="Times New Roman" panose="02020603050405020304" pitchFamily="18" charset="0"/>
                      <a:cs typeface="Times New Roman" panose="02020603050405020304" pitchFamily="18" charset="0"/>
                    </a:endParaRPr>
                  </a:p>
                </p:txBody>
              </p:sp>
            </mc:Choice>
            <mc:Fallback>
              <p:sp>
                <p:nvSpPr>
                  <p:cNvPr id="35" name="文字方塊 34">
                    <a:extLst>
                      <a:ext uri="{FF2B5EF4-FFF2-40B4-BE49-F238E27FC236}">
                        <a16:creationId xmlns:a16="http://schemas.microsoft.com/office/drawing/2014/main" id="{A2AF3DB8-6AEF-4EDC-934E-65275A38ABCE}"/>
                      </a:ext>
                    </a:extLst>
                  </p:cNvPr>
                  <p:cNvSpPr txBox="1">
                    <a:spLocks noRot="1" noChangeAspect="1" noMove="1" noResize="1" noEditPoints="1" noAdjustHandles="1" noChangeArrowheads="1" noChangeShapeType="1" noTextEdit="1"/>
                  </p:cNvSpPr>
                  <p:nvPr/>
                </p:nvSpPr>
                <p:spPr>
                  <a:xfrm>
                    <a:off x="7265875" y="4741333"/>
                    <a:ext cx="1436034" cy="276999"/>
                  </a:xfrm>
                  <a:prstGeom prst="rect">
                    <a:avLst/>
                  </a:prstGeom>
                  <a:blipFill>
                    <a:blip r:embed="rId6"/>
                    <a:stretch>
                      <a:fillRect l="-5495" t="-2222" r="-33516" b="-37778"/>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6" name="文字方塊 35">
                    <a:extLst>
                      <a:ext uri="{FF2B5EF4-FFF2-40B4-BE49-F238E27FC236}">
                        <a16:creationId xmlns:a16="http://schemas.microsoft.com/office/drawing/2014/main" id="{B76B494B-9CE2-48D5-ABD5-138500987A43}"/>
                      </a:ext>
                    </a:extLst>
                  </p:cNvPr>
                  <p:cNvSpPr txBox="1"/>
                  <p:nvPr/>
                </p:nvSpPr>
                <p:spPr>
                  <a:xfrm>
                    <a:off x="2739450" y="2974322"/>
                    <a:ext cx="516103" cy="36933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𝟐</m:t>
                              </m:r>
                            </m:sub>
                          </m:sSub>
                        </m:oMath>
                      </m:oMathPara>
                    </a14:m>
                    <a:endParaRPr lang="zh-TW" altLang="en-US" b="1" dirty="0"/>
                  </a:p>
                </p:txBody>
              </p:sp>
            </mc:Choice>
            <mc:Fallback>
              <p:sp>
                <p:nvSpPr>
                  <p:cNvPr id="36" name="文字方塊 35">
                    <a:extLst>
                      <a:ext uri="{FF2B5EF4-FFF2-40B4-BE49-F238E27FC236}">
                        <a16:creationId xmlns:a16="http://schemas.microsoft.com/office/drawing/2014/main" id="{B76B494B-9CE2-48D5-ABD5-138500987A43}"/>
                      </a:ext>
                    </a:extLst>
                  </p:cNvPr>
                  <p:cNvSpPr txBox="1">
                    <a:spLocks noRot="1" noChangeAspect="1" noMove="1" noResize="1" noEditPoints="1" noAdjustHandles="1" noChangeArrowheads="1" noChangeShapeType="1" noTextEdit="1"/>
                  </p:cNvSpPr>
                  <p:nvPr/>
                </p:nvSpPr>
                <p:spPr>
                  <a:xfrm>
                    <a:off x="2739450" y="2974322"/>
                    <a:ext cx="516103" cy="369332"/>
                  </a:xfrm>
                  <a:prstGeom prst="rect">
                    <a:avLst/>
                  </a:prstGeom>
                  <a:blipFill>
                    <a:blip r:embed="rId7"/>
                    <a:stretch>
                      <a:fillRect l="-27692" r="-29231" b="-26667"/>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7" name="文字方塊 36">
                    <a:extLst>
                      <a:ext uri="{FF2B5EF4-FFF2-40B4-BE49-F238E27FC236}">
                        <a16:creationId xmlns:a16="http://schemas.microsoft.com/office/drawing/2014/main" id="{42FCE35B-7D7F-464A-AA8F-6154C7ED7B93}"/>
                      </a:ext>
                    </a:extLst>
                  </p:cNvPr>
                  <p:cNvSpPr txBox="1"/>
                  <p:nvPr/>
                </p:nvSpPr>
                <p:spPr>
                  <a:xfrm>
                    <a:off x="9075800" y="3612821"/>
                    <a:ext cx="516103" cy="36933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400" b="1" i="1" smtClean="0">
                                  <a:latin typeface="Cambria Math" panose="02040503050406030204" pitchFamily="18" charset="0"/>
                                </a:rPr>
                              </m:ctrlPr>
                            </m:sSubPr>
                            <m:e>
                              <m:r>
                                <a:rPr lang="en-US" altLang="zh-TW" sz="2400" b="1" i="1" smtClean="0">
                                  <a:latin typeface="Cambria Math" panose="02040503050406030204" pitchFamily="18" charset="0"/>
                                </a:rPr>
                                <m:t>𝒒</m:t>
                              </m:r>
                            </m:e>
                            <m:sub>
                              <m:r>
                                <a:rPr lang="en-US" altLang="zh-TW" sz="2400" b="1" i="1" smtClean="0">
                                  <a:latin typeface="Cambria Math" panose="02040503050406030204" pitchFamily="18" charset="0"/>
                                </a:rPr>
                                <m:t>𝒄</m:t>
                              </m:r>
                              <m:r>
                                <a:rPr lang="en-US" altLang="zh-TW" sz="2400" b="1" i="1" smtClean="0">
                                  <a:latin typeface="Cambria Math" panose="02040503050406030204" pitchFamily="18" charset="0"/>
                                </a:rPr>
                                <m:t>𝟏</m:t>
                              </m:r>
                            </m:sub>
                          </m:sSub>
                        </m:oMath>
                      </m:oMathPara>
                    </a14:m>
                    <a:endParaRPr lang="zh-TW" altLang="en-US" b="1" dirty="0"/>
                  </a:p>
                </p:txBody>
              </p:sp>
            </mc:Choice>
            <mc:Fallback>
              <p:sp>
                <p:nvSpPr>
                  <p:cNvPr id="37" name="文字方塊 36">
                    <a:extLst>
                      <a:ext uri="{FF2B5EF4-FFF2-40B4-BE49-F238E27FC236}">
                        <a16:creationId xmlns:a16="http://schemas.microsoft.com/office/drawing/2014/main" id="{42FCE35B-7D7F-464A-AA8F-6154C7ED7B93}"/>
                      </a:ext>
                    </a:extLst>
                  </p:cNvPr>
                  <p:cNvSpPr txBox="1">
                    <a:spLocks noRot="1" noChangeAspect="1" noMove="1" noResize="1" noEditPoints="1" noAdjustHandles="1" noChangeArrowheads="1" noChangeShapeType="1" noTextEdit="1"/>
                  </p:cNvSpPr>
                  <p:nvPr/>
                </p:nvSpPr>
                <p:spPr>
                  <a:xfrm>
                    <a:off x="9075800" y="3612821"/>
                    <a:ext cx="516103" cy="369332"/>
                  </a:xfrm>
                  <a:prstGeom prst="rect">
                    <a:avLst/>
                  </a:prstGeom>
                  <a:blipFill>
                    <a:blip r:embed="rId8"/>
                    <a:stretch>
                      <a:fillRect l="-29231" r="-29231" b="-2623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8" name="文字方塊 37">
                    <a:extLst>
                      <a:ext uri="{FF2B5EF4-FFF2-40B4-BE49-F238E27FC236}">
                        <a16:creationId xmlns:a16="http://schemas.microsoft.com/office/drawing/2014/main" id="{6CFB1552-A472-4518-825F-20F0BCA04B3E}"/>
                      </a:ext>
                    </a:extLst>
                  </p:cNvPr>
                  <p:cNvSpPr txBox="1"/>
                  <p:nvPr/>
                </p:nvSpPr>
                <p:spPr>
                  <a:xfrm>
                    <a:off x="4602953" y="3561266"/>
                    <a:ext cx="388696" cy="36933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p:sp>
                <p:nvSpPr>
                  <p:cNvPr id="38" name="文字方塊 37">
                    <a:extLst>
                      <a:ext uri="{FF2B5EF4-FFF2-40B4-BE49-F238E27FC236}">
                        <a16:creationId xmlns:a16="http://schemas.microsoft.com/office/drawing/2014/main" id="{6CFB1552-A472-4518-825F-20F0BCA04B3E}"/>
                      </a:ext>
                    </a:extLst>
                  </p:cNvPr>
                  <p:cNvSpPr txBox="1">
                    <a:spLocks noRot="1" noChangeAspect="1" noMove="1" noResize="1" noEditPoints="1" noAdjustHandles="1" noChangeArrowheads="1" noChangeShapeType="1" noTextEdit="1"/>
                  </p:cNvSpPr>
                  <p:nvPr/>
                </p:nvSpPr>
                <p:spPr>
                  <a:xfrm>
                    <a:off x="4602953" y="3561266"/>
                    <a:ext cx="388696" cy="369332"/>
                  </a:xfrm>
                  <a:prstGeom prst="rect">
                    <a:avLst/>
                  </a:prstGeom>
                  <a:blipFill>
                    <a:blip r:embed="rId9"/>
                    <a:stretch>
                      <a:fillRect l="-26531" t="-18333" r="-48980" b="-10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39" name="文字方塊 38">
                    <a:extLst>
                      <a:ext uri="{FF2B5EF4-FFF2-40B4-BE49-F238E27FC236}">
                        <a16:creationId xmlns:a16="http://schemas.microsoft.com/office/drawing/2014/main" id="{48CAC5C3-013E-4DAB-B73B-F3B88B959FF6}"/>
                      </a:ext>
                    </a:extLst>
                  </p:cNvPr>
                  <p:cNvSpPr txBox="1"/>
                  <p:nvPr/>
                </p:nvSpPr>
                <p:spPr>
                  <a:xfrm>
                    <a:off x="6913368" y="1853204"/>
                    <a:ext cx="388696" cy="36933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altLang="zh-TW" sz="2400" i="1" smtClean="0">
                                  <a:latin typeface="Cambria Math" panose="02040503050406030204" pitchFamily="18" charset="0"/>
                                </a:rPr>
                              </m:ctrlPr>
                            </m:sSubPr>
                            <m:e>
                              <m:acc>
                                <m:accPr>
                                  <m:chr m:val="̂"/>
                                  <m:ctrlPr>
                                    <a:rPr lang="en-US" altLang="zh-TW" sz="2400" i="1" smtClean="0">
                                      <a:latin typeface="Cambria Math" panose="02040503050406030204" pitchFamily="18" charset="0"/>
                                    </a:rPr>
                                  </m:ctrlPr>
                                </m:accPr>
                                <m:e>
                                  <m:r>
                                    <a:rPr lang="en-US" altLang="zh-TW" sz="2400" b="0" i="1" smtClean="0">
                                      <a:latin typeface="Cambria Math" panose="02040503050406030204" pitchFamily="18" charset="0"/>
                                    </a:rPr>
                                    <m:t>𝑥</m:t>
                                  </m:r>
                                </m:e>
                              </m:acc>
                            </m:e>
                            <m:sub>
                              <m:r>
                                <a:rPr lang="en-US" altLang="zh-TW" sz="2400" b="0" i="1" smtClean="0">
                                  <a:latin typeface="Cambria Math" panose="02040503050406030204" pitchFamily="18" charset="0"/>
                                </a:rPr>
                                <m:t>𝑎</m:t>
                              </m:r>
                            </m:sub>
                          </m:sSub>
                        </m:oMath>
                      </m:oMathPara>
                    </a14:m>
                    <a:endParaRPr lang="zh-TW" altLang="en-US" dirty="0"/>
                  </a:p>
                </p:txBody>
              </p:sp>
            </mc:Choice>
            <mc:Fallback>
              <p:sp>
                <p:nvSpPr>
                  <p:cNvPr id="39" name="文字方塊 38">
                    <a:extLst>
                      <a:ext uri="{FF2B5EF4-FFF2-40B4-BE49-F238E27FC236}">
                        <a16:creationId xmlns:a16="http://schemas.microsoft.com/office/drawing/2014/main" id="{48CAC5C3-013E-4DAB-B73B-F3B88B959FF6}"/>
                      </a:ext>
                    </a:extLst>
                  </p:cNvPr>
                  <p:cNvSpPr txBox="1">
                    <a:spLocks noRot="1" noChangeAspect="1" noMove="1" noResize="1" noEditPoints="1" noAdjustHandles="1" noChangeArrowheads="1" noChangeShapeType="1" noTextEdit="1"/>
                  </p:cNvSpPr>
                  <p:nvPr/>
                </p:nvSpPr>
                <p:spPr>
                  <a:xfrm>
                    <a:off x="6913368" y="1853204"/>
                    <a:ext cx="388696" cy="369332"/>
                  </a:xfrm>
                  <a:prstGeom prst="rect">
                    <a:avLst/>
                  </a:prstGeom>
                  <a:blipFill>
                    <a:blip r:embed="rId10"/>
                    <a:stretch>
                      <a:fillRect l="-26531" t="-18333" r="-48980" b="-10000"/>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41" name="文字方塊 40">
                    <a:extLst>
                      <a:ext uri="{FF2B5EF4-FFF2-40B4-BE49-F238E27FC236}">
                        <a16:creationId xmlns:a16="http://schemas.microsoft.com/office/drawing/2014/main" id="{D9CB3744-E5F2-475B-A7FA-C3CE15D1FA90}"/>
                      </a:ext>
                    </a:extLst>
                  </p:cNvPr>
                  <p:cNvSpPr txBox="1"/>
                  <p:nvPr/>
                </p:nvSpPr>
                <p:spPr>
                  <a:xfrm rot="16200000">
                    <a:off x="9940235" y="2958220"/>
                    <a:ext cx="1068754" cy="30777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d>
                            <m:dPr>
                              <m:begChr m:val="‖"/>
                              <m:endChr m:val="‖"/>
                              <m:ctrlPr>
                                <a:rPr lang="en-US" altLang="zh-TW" sz="2000" b="1" smtClean="0">
                                  <a:latin typeface="Cambria Math" panose="02040503050406030204" pitchFamily="18" charset="0"/>
                                </a:rPr>
                              </m:ctrlPr>
                            </m:dPr>
                            <m:e>
                              <m:r>
                                <a:rPr lang="en-US" altLang="zh-TW" sz="2000" b="1" i="0" smtClean="0">
                                  <a:latin typeface="Cambria Math" panose="02040503050406030204" pitchFamily="18" charset="0"/>
                                </a:rPr>
                                <m:t>𝐛</m:t>
                              </m:r>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𝑚𝑇</m:t>
                          </m:r>
                          <m:r>
                            <a:rPr lang="en-US" altLang="zh-TW" sz="2000" b="0" i="1" smtClean="0">
                              <a:latin typeface="Cambria Math" panose="02040503050406030204" pitchFamily="18" charset="0"/>
                            </a:rPr>
                            <m:t>)</m:t>
                          </m:r>
                        </m:oMath>
                      </m:oMathPara>
                    </a14:m>
                    <a:endParaRPr lang="zh-TW" altLang="en-US" sz="1600" dirty="0"/>
                  </a:p>
                </p:txBody>
              </p:sp>
            </mc:Choice>
            <mc:Fallback>
              <p:sp>
                <p:nvSpPr>
                  <p:cNvPr id="41" name="文字方塊 40">
                    <a:extLst>
                      <a:ext uri="{FF2B5EF4-FFF2-40B4-BE49-F238E27FC236}">
                        <a16:creationId xmlns:a16="http://schemas.microsoft.com/office/drawing/2014/main" id="{D9CB3744-E5F2-475B-A7FA-C3CE15D1FA90}"/>
                      </a:ext>
                    </a:extLst>
                  </p:cNvPr>
                  <p:cNvSpPr txBox="1">
                    <a:spLocks noRot="1" noChangeAspect="1" noMove="1" noResize="1" noEditPoints="1" noAdjustHandles="1" noChangeArrowheads="1" noChangeShapeType="1" noTextEdit="1"/>
                  </p:cNvSpPr>
                  <p:nvPr/>
                </p:nvSpPr>
                <p:spPr>
                  <a:xfrm rot="16200000">
                    <a:off x="9940235" y="2958220"/>
                    <a:ext cx="1068754" cy="307778"/>
                  </a:xfrm>
                  <a:prstGeom prst="rect">
                    <a:avLst/>
                  </a:prstGeom>
                  <a:blipFill>
                    <a:blip r:embed="rId11"/>
                    <a:stretch>
                      <a:fillRect l="-2564" t="-8000" r="-74359"/>
                    </a:stretch>
                  </a:blipFill>
                </p:spPr>
                <p:txBody>
                  <a:bodyPr/>
                  <a:lstStyle/>
                  <a:p>
                    <a:r>
                      <a:rPr lang="zh-TW" altLang="en-US">
                        <a:noFill/>
                      </a:rPr>
                      <a:t> </a:t>
                    </a:r>
                  </a:p>
                </p:txBody>
              </p:sp>
            </mc:Fallback>
          </mc:AlternateContent>
        </p:grpSp>
      </p:grpSp>
    </p:spTree>
    <p:extLst>
      <p:ext uri="{BB962C8B-B14F-4D97-AF65-F5344CB8AC3E}">
        <p14:creationId xmlns:p14="http://schemas.microsoft.com/office/powerpoint/2010/main" val="1808899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p:pic>
        <p:nvPicPr>
          <p:cNvPr id="6" name="圖片 5">
            <a:extLst>
              <a:ext uri="{FF2B5EF4-FFF2-40B4-BE49-F238E27FC236}">
                <a16:creationId xmlns:a16="http://schemas.microsoft.com/office/drawing/2014/main" id="{07704BA0-DF19-4F39-92BE-6060E4A6B9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0067" y="495831"/>
            <a:ext cx="5034425" cy="3720569"/>
          </a:xfrm>
          <a:prstGeom prst="rect">
            <a:avLst/>
          </a:prstGeom>
        </p:spPr>
      </p:pic>
      <p:pic>
        <p:nvPicPr>
          <p:cNvPr id="8" name="圖片 7">
            <a:extLst>
              <a:ext uri="{FF2B5EF4-FFF2-40B4-BE49-F238E27FC236}">
                <a16:creationId xmlns:a16="http://schemas.microsoft.com/office/drawing/2014/main" id="{A756B7B1-8E99-4952-A272-F4BB1D49D6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40288" y="495831"/>
            <a:ext cx="5435245" cy="3894666"/>
          </a:xfrm>
          <a:prstGeom prst="rect">
            <a:avLst/>
          </a:prstGeom>
        </p:spPr>
      </p:pic>
      <mc:AlternateContent xmlns:mc="http://schemas.openxmlformats.org/markup-compatibility/2006">
        <mc:Choice xmlns:a14="http://schemas.microsoft.com/office/drawing/2010/main" Requires="a14">
          <p:sp>
            <p:nvSpPr>
              <p:cNvPr id="10" name="文字方塊 9">
                <a:extLst>
                  <a:ext uri="{FF2B5EF4-FFF2-40B4-BE49-F238E27FC236}">
                    <a16:creationId xmlns:a16="http://schemas.microsoft.com/office/drawing/2014/main" id="{5D498C57-8584-407F-9D89-CA7E1125EC77}"/>
                  </a:ext>
                </a:extLst>
              </p:cNvPr>
              <p:cNvSpPr txBox="1"/>
              <p:nvPr/>
            </p:nvSpPr>
            <p:spPr>
              <a:xfrm>
                <a:off x="266700" y="4626504"/>
                <a:ext cx="1113790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Histograms of the One-Parameter and Eighteen-Parameter Models within the Sampling Range</a:t>
                </a:r>
                <a:r>
                  <a:rPr lang="zh-TW" altLang="en-US" dirty="0"/>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10" name="文字方塊 9">
                <a:extLst>
                  <a:ext uri="{FF2B5EF4-FFF2-40B4-BE49-F238E27FC236}">
                    <a16:creationId xmlns:a16="http://schemas.microsoft.com/office/drawing/2014/main" id="{5D498C57-8584-407F-9D89-CA7E1125EC77}"/>
                  </a:ext>
                </a:extLst>
              </p:cNvPr>
              <p:cNvSpPr txBox="1">
                <a:spLocks noRot="1" noChangeAspect="1" noMove="1" noResize="1" noEditPoints="1" noAdjustHandles="1" noChangeArrowheads="1" noChangeShapeType="1" noTextEdit="1"/>
              </p:cNvSpPr>
              <p:nvPr/>
            </p:nvSpPr>
            <p:spPr>
              <a:xfrm>
                <a:off x="266700" y="4626504"/>
                <a:ext cx="11137900" cy="369332"/>
              </a:xfrm>
              <a:prstGeom prst="rect">
                <a:avLst/>
              </a:prstGeom>
              <a:blipFill>
                <a:blip r:embed="rId4"/>
                <a:stretch>
                  <a:fillRect l="-383" t="-9836" b="-24590"/>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14707154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mc:Choice xmlns:a14="http://schemas.microsoft.com/office/drawing/2010/main" Requires="a14">
          <p:sp>
            <p:nvSpPr>
              <p:cNvPr id="9" name="文字方塊 8">
                <a:extLst>
                  <a:ext uri="{FF2B5EF4-FFF2-40B4-BE49-F238E27FC236}">
                    <a16:creationId xmlns:a16="http://schemas.microsoft.com/office/drawing/2014/main" id="{95B9B500-BE39-4A2E-848D-C7FDE3646D2C}"/>
                  </a:ext>
                </a:extLst>
              </p:cNvPr>
              <p:cNvSpPr txBox="1"/>
              <p:nvPr/>
            </p:nvSpPr>
            <p:spPr>
              <a:xfrm>
                <a:off x="198966" y="4595841"/>
                <a:ext cx="11137900" cy="369332"/>
              </a:xfrm>
              <a:prstGeom prst="rect">
                <a:avLst/>
              </a:prstGeom>
              <a:noFill/>
            </p:spPr>
            <p:txBody>
              <a:bodyPr wrap="square">
                <a:spAutoFit/>
              </a:bodyPr>
              <a:lstStyle/>
              <a:p>
                <a:pPr marL="285750" indent="-285750">
                  <a:buFont typeface="Arial" panose="020B0604020202020204" pitchFamily="34" charset="0"/>
                  <a:buChar char="•"/>
                </a:pPr>
                <a:r>
                  <a:rPr lang="en-US" altLang="zh-TW" dirty="0"/>
                  <a:t>Histograms of the One-Parameter and Eighteen-Parameter Models within the Sampling Range</a:t>
                </a:r>
                <a:r>
                  <a:rPr lang="zh-TW" altLang="en-US" dirty="0"/>
                  <a:t>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≤300</m:t>
                    </m:r>
                    <m:r>
                      <a:rPr lang="en-US" altLang="zh-TW" b="0" i="1" smtClean="0">
                        <a:latin typeface="Cambria Math" panose="02040503050406030204" pitchFamily="18" charset="0"/>
                        <a:ea typeface="Cambria Math" panose="02040503050406030204" pitchFamily="18" charset="0"/>
                      </a:rPr>
                      <m:t>𝑢𝑚</m:t>
                    </m:r>
                  </m:oMath>
                </a14:m>
                <a:endParaRPr lang="zh-TW" altLang="en-US" dirty="0"/>
              </a:p>
            </p:txBody>
          </p:sp>
        </mc:Choice>
        <mc:Fallback>
          <p:sp>
            <p:nvSpPr>
              <p:cNvPr id="9" name="文字方塊 8">
                <a:extLst>
                  <a:ext uri="{FF2B5EF4-FFF2-40B4-BE49-F238E27FC236}">
                    <a16:creationId xmlns:a16="http://schemas.microsoft.com/office/drawing/2014/main" id="{95B9B500-BE39-4A2E-848D-C7FDE3646D2C}"/>
                  </a:ext>
                </a:extLst>
              </p:cNvPr>
              <p:cNvSpPr txBox="1">
                <a:spLocks noRot="1" noChangeAspect="1" noMove="1" noResize="1" noEditPoints="1" noAdjustHandles="1" noChangeArrowheads="1" noChangeShapeType="1" noTextEdit="1"/>
              </p:cNvSpPr>
              <p:nvPr/>
            </p:nvSpPr>
            <p:spPr>
              <a:xfrm>
                <a:off x="198966" y="4595841"/>
                <a:ext cx="11137900" cy="369332"/>
              </a:xfrm>
              <a:prstGeom prst="rect">
                <a:avLst/>
              </a:prstGeom>
              <a:blipFill>
                <a:blip r:embed="rId2"/>
                <a:stretch>
                  <a:fillRect l="-383" t="-10000" b="-2666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DDC11D6E-A454-4551-9482-0985607903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9990" y="553539"/>
            <a:ext cx="5036478" cy="3683000"/>
          </a:xfrm>
          <a:prstGeom prst="rect">
            <a:avLst/>
          </a:prstGeom>
        </p:spPr>
      </p:pic>
      <p:pic>
        <p:nvPicPr>
          <p:cNvPr id="13" name="圖片 12">
            <a:extLst>
              <a:ext uri="{FF2B5EF4-FFF2-40B4-BE49-F238E27FC236}">
                <a16:creationId xmlns:a16="http://schemas.microsoft.com/office/drawing/2014/main" id="{28EE2BA1-3A58-4BF0-AED5-5CBCF16D8D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553539"/>
            <a:ext cx="5113867" cy="3804739"/>
          </a:xfrm>
          <a:prstGeom prst="rect">
            <a:avLst/>
          </a:prstGeom>
        </p:spPr>
      </p:pic>
    </p:spTree>
    <p:extLst>
      <p:ext uri="{BB962C8B-B14F-4D97-AF65-F5344CB8AC3E}">
        <p14:creationId xmlns:p14="http://schemas.microsoft.com/office/powerpoint/2010/main" val="35014799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標題 1">
            <a:extLst>
              <a:ext uri="{FF2B5EF4-FFF2-40B4-BE49-F238E27FC236}">
                <a16:creationId xmlns:a16="http://schemas.microsoft.com/office/drawing/2014/main" id="{2081F314-29CA-4B46-B557-C4EEC2EFBDA5}"/>
              </a:ext>
            </a:extLst>
          </p:cNvPr>
          <p:cNvSpPr>
            <a:spLocks noGrp="1"/>
          </p:cNvSpPr>
          <p:nvPr>
            <p:ph type="title"/>
          </p:nvPr>
        </p:nvSpPr>
        <p:spPr>
          <a:xfrm>
            <a:off x="0" y="85727"/>
            <a:ext cx="12081933" cy="837142"/>
          </a:xfrm>
        </p:spPr>
        <p:txBody>
          <a:bodyPr>
            <a:normAutofit fontScale="90000"/>
          </a:bodyPr>
          <a:lstStyle/>
          <a:p>
            <a:r>
              <a:rPr lang="en-US" altLang="zh-TW" sz="4000" b="1" kern="100" dirty="0">
                <a:solidFill>
                  <a:srgbClr val="000000"/>
                </a:solidFill>
                <a:latin typeface="Aptos"/>
                <a:ea typeface="新細明體" panose="02020500000000000000" pitchFamily="18" charset="-120"/>
                <a:cs typeface="Times New Roman" panose="02020603050405020304" pitchFamily="18" charset="0"/>
              </a:rPr>
              <a:t>Reference</a:t>
            </a:r>
            <a:br>
              <a:rPr lang="zh-TW" altLang="zh-TW" sz="1800" kern="100" dirty="0">
                <a:effectLst/>
                <a:latin typeface="Aptos"/>
                <a:ea typeface="新細明體" panose="02020500000000000000" pitchFamily="18" charset="-120"/>
                <a:cs typeface="Times New Roman" panose="02020603050405020304" pitchFamily="18" charset="0"/>
              </a:rPr>
            </a:br>
            <a:endParaRPr lang="zh-TW" altLang="en-US" dirty="0"/>
          </a:p>
        </p:txBody>
      </p:sp>
      <mc:AlternateContent xmlns:mc="http://schemas.openxmlformats.org/markup-compatibility/2006">
        <mc:Choice xmlns:a14="http://schemas.microsoft.com/office/drawing/2010/main" Requires="a14">
          <p:sp>
            <p:nvSpPr>
              <p:cNvPr id="9" name="文字方塊 8">
                <a:extLst>
                  <a:ext uri="{FF2B5EF4-FFF2-40B4-BE49-F238E27FC236}">
                    <a16:creationId xmlns:a16="http://schemas.microsoft.com/office/drawing/2014/main" id="{95B9B500-BE39-4A2E-848D-C7FDE3646D2C}"/>
                  </a:ext>
                </a:extLst>
              </p:cNvPr>
              <p:cNvSpPr txBox="1"/>
              <p:nvPr/>
            </p:nvSpPr>
            <p:spPr>
              <a:xfrm>
                <a:off x="110067" y="504298"/>
                <a:ext cx="11137900" cy="5858783"/>
              </a:xfrm>
              <a:prstGeom prst="rect">
                <a:avLst/>
              </a:prstGeom>
              <a:noFill/>
            </p:spPr>
            <p:txBody>
              <a:bodyPr wrap="square">
                <a:spAutoFit/>
              </a:bodyPr>
              <a:lstStyle/>
              <a:p>
                <a:pPr marL="285750" indent="-285750">
                  <a:buFont typeface="Arial" panose="020B0604020202020204" pitchFamily="34" charset="0"/>
                  <a:buChar char="•"/>
                </a:pPr>
                <a:r>
                  <a:rPr lang="en-US" altLang="zh-TW" dirty="0"/>
                  <a:t>Sampling range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≤150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742950" lvl="1" indent="-285750">
                  <a:buFont typeface="Wingdings" panose="05000000000000000000" pitchFamily="2" charset="2"/>
                  <a:buChar char="Ø"/>
                </a:pPr>
                <a14:m>
                  <m:oMath xmlns:m="http://schemas.openxmlformats.org/officeDocument/2006/math">
                    <m:r>
                      <m:rPr>
                        <m:sty m:val="p"/>
                      </m:rPr>
                      <a:rPr lang="en-US" altLang="zh-TW" i="1" dirty="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3.16</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dirty="0">
                        <a:ea typeface="Cambria Math" panose="02040503050406030204" pitchFamily="18" charset="0"/>
                      </a:rPr>
                      <m:t>Single</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marL="742950" lvl="1" indent="-285750">
                  <a:buFont typeface="Wingdings" panose="05000000000000000000" pitchFamily="2" charset="2"/>
                  <a:buChar char="Ø"/>
                </a:pPr>
                <a:endParaRPr lang="en-US" altLang="zh-TW" b="0" dirty="0"/>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0.31</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b="0" i="0" dirty="0" smtClean="0">
                        <a:ea typeface="Cambria Math" panose="02040503050406030204" pitchFamily="18" charset="0"/>
                      </a:rPr>
                      <m:t>Eighteen</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parameters</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lvl="1"/>
                <a:endParaRPr lang="en-US" altLang="zh-TW" dirty="0"/>
              </a:p>
              <a:p>
                <a:pPr marL="285750" indent="-285750">
                  <a:buFont typeface="Arial" panose="020B0604020202020204" pitchFamily="34" charset="0"/>
                  <a:buChar char="•"/>
                </a:pPr>
                <a:r>
                  <a:rPr lang="en-US" altLang="zh-TW" dirty="0"/>
                  <a:t>Sampling range </a:t>
                </a:r>
                <a14:m>
                  <m:oMath xmlns:m="http://schemas.openxmlformats.org/officeDocument/2006/math">
                    <m:r>
                      <a:rPr lang="en-US" altLang="zh-TW" b="0" i="1" smtClean="0">
                        <a:latin typeface="Cambria Math" panose="02040503050406030204" pitchFamily="18" charset="0"/>
                      </a:rPr>
                      <m:t>𝑅</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30</m:t>
                    </m:r>
                    <m:r>
                      <a:rPr lang="en-US" altLang="zh-TW" b="0" i="1" smtClean="0">
                        <a:latin typeface="Cambria Math" panose="02040503050406030204" pitchFamily="18" charset="0"/>
                        <a:ea typeface="Cambria Math" panose="02040503050406030204" pitchFamily="18" charset="0"/>
                      </a:rPr>
                      <m:t>0</m:t>
                    </m:r>
                    <m:r>
                      <a:rPr lang="en-US" altLang="zh-TW" b="0" i="1" smtClean="0">
                        <a:latin typeface="Cambria Math" panose="02040503050406030204" pitchFamily="18" charset="0"/>
                        <a:ea typeface="Cambria Math" panose="02040503050406030204" pitchFamily="18" charset="0"/>
                      </a:rPr>
                      <m:t>𝑢𝑚</m:t>
                    </m:r>
                  </m:oMath>
                </a14:m>
                <a:endParaRPr lang="en-US" altLang="zh-TW" b="0" dirty="0">
                  <a:ea typeface="Cambria Math" panose="02040503050406030204" pitchFamily="18" charset="0"/>
                </a:endParaRPr>
              </a:p>
              <a:p>
                <a:pPr marL="285750" indent="-285750">
                  <a:buFont typeface="Arial" panose="020B0604020202020204" pitchFamily="34" charset="0"/>
                  <a:buChar char="•"/>
                </a:pPr>
                <a:endParaRPr lang="en-US" altLang="zh-TW" dirty="0">
                  <a:ea typeface="Cambria Math" panose="02040503050406030204" pitchFamily="18" charset="0"/>
                </a:endParaRPr>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t>
                    </m:r>
                    <m:r>
                      <m:rPr>
                        <m:sty m:val="p"/>
                      </m:rPr>
                      <a:rPr lang="en-US" altLang="zh-TW" i="1" dirty="0" smtClean="0">
                        <a:latin typeface="Cambria Math" panose="02040503050406030204" pitchFamily="18" charset="0"/>
                        <a:ea typeface="Cambria Math" panose="02040503050406030204" pitchFamily="18" charset="0"/>
                      </a:rPr>
                      <m:t>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7.03</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dirty="0">
                        <a:ea typeface="Cambria Math" panose="02040503050406030204" pitchFamily="18" charset="0"/>
                      </a:rPr>
                      <m:t>Single</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marL="742950" lvl="1" indent="-285750">
                  <a:buFont typeface="Wingdings" panose="05000000000000000000" pitchFamily="2" charset="2"/>
                  <a:buChar char="Ø"/>
                </a:pPr>
                <a:endParaRPr lang="en-US" altLang="zh-TW" b="0" dirty="0"/>
              </a:p>
              <a:p>
                <a:pPr marL="742950" lvl="1" indent="-285750">
                  <a:buFont typeface="Wingdings" panose="05000000000000000000" pitchFamily="2" charset="2"/>
                  <a:buChar char="Ø"/>
                </a:pPr>
                <a14:m>
                  <m:oMath xmlns:m="http://schemas.openxmlformats.org/officeDocument/2006/math">
                    <m:r>
                      <m:rPr>
                        <m:sty m:val="p"/>
                      </m:rPr>
                      <a:rPr lang="en-US" altLang="zh-TW" i="1" dirty="0" smtClean="0">
                        <a:latin typeface="Cambria Math" panose="02040503050406030204" pitchFamily="18" charset="0"/>
                        <a:ea typeface="Cambria Math" panose="02040503050406030204" pitchFamily="18" charset="0"/>
                      </a:rPr>
                      <m:t>RM</m:t>
                    </m:r>
                    <m:r>
                      <m:rPr>
                        <m:sty m:val="p"/>
                      </m:rPr>
                      <a:rPr lang="en-US" altLang="zh-TW" i="1" dirty="0">
                        <a:latin typeface="Cambria Math" panose="02040503050406030204" pitchFamily="18" charset="0"/>
                        <a:ea typeface="Cambria Math" panose="02040503050406030204" pitchFamily="18" charset="0"/>
                      </a:rPr>
                      <m:t>S</m:t>
                    </m:r>
                    <m:r>
                      <m:rPr>
                        <m:sty m:val="p"/>
                      </m:rPr>
                      <a:rPr lang="en-US" altLang="zh-TW" i="1" dirty="0" smtClean="0">
                        <a:latin typeface="Cambria Math" panose="02040503050406030204" pitchFamily="18" charset="0"/>
                        <a:ea typeface="Cambria Math" panose="02040503050406030204" pitchFamily="18" charset="0"/>
                      </a:rPr>
                      <m:t>P</m:t>
                    </m:r>
                    <m:r>
                      <m:rPr>
                        <m:sty m:val="p"/>
                      </m:rPr>
                      <a:rPr lang="en-US" altLang="zh-TW" i="1" dirty="0">
                        <a:latin typeface="Cambria Math" panose="02040503050406030204" pitchFamily="18" charset="0"/>
                        <a:ea typeface="Cambria Math" panose="02040503050406030204" pitchFamily="18" charset="0"/>
                      </a:rPr>
                      <m:t>E</m:t>
                    </m:r>
                    <m:r>
                      <a:rPr lang="en-US" altLang="zh-TW" i="1" dirty="0" smtClean="0">
                        <a:latin typeface="Cambria Math" panose="02040503050406030204" pitchFamily="18" charset="0"/>
                        <a:ea typeface="Cambria Math" panose="02040503050406030204" pitchFamily="18" charset="0"/>
                      </a:rPr>
                      <m:t>=</m:t>
                    </m:r>
                    <m:rad>
                      <m:radPr>
                        <m:degHide m:val="on"/>
                        <m:ctrlPr>
                          <a:rPr lang="en-US" altLang="zh-TW" b="0" i="1" smtClean="0">
                            <a:latin typeface="Cambria Math" panose="02040503050406030204" pitchFamily="18" charset="0"/>
                          </a:rPr>
                        </m:ctrlPr>
                      </m:radPr>
                      <m:deg/>
                      <m:e>
                        <m:f>
                          <m:fPr>
                            <m:ctrlPr>
                              <a:rPr lang="en-US" altLang="zh-TW" b="0" i="1" smtClean="0">
                                <a:latin typeface="Cambria Math" panose="02040503050406030204" pitchFamily="18" charset="0"/>
                              </a:rPr>
                            </m:ctrlPr>
                          </m:fPr>
                          <m:num>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r>
                                          <a:rPr lang="en-US" altLang="zh-TW" b="0" i="1" smtClean="0">
                                            <a:latin typeface="Cambria Math" panose="02040503050406030204" pitchFamily="18" charset="0"/>
                                          </a:rPr>
                                          <m:t>−</m:t>
                                        </m:r>
                                        <m:sSub>
                                          <m:sSubPr>
                                            <m:ctrlPr>
                                              <a:rPr lang="en-US" altLang="zh-TW" i="1">
                                                <a:latin typeface="Cambria Math" panose="02040503050406030204" pitchFamily="18" charset="0"/>
                                                <a:ea typeface="Cambria Math" panose="02040503050406030204" pitchFamily="18" charset="0"/>
                                              </a:rPr>
                                            </m:ctrlPr>
                                          </m:sSubPr>
                                          <m:e>
                                            <m:r>
                                              <a:rPr lang="en-US" altLang="zh-TW" i="1">
                                                <a:latin typeface="Cambria Math" panose="02040503050406030204" pitchFamily="18" charset="0"/>
                                                <a:ea typeface="Cambria Math" panose="02040503050406030204" pitchFamily="18" charset="0"/>
                                              </a:rPr>
                                              <m:t>𝑆</m:t>
                                            </m:r>
                                          </m:e>
                                          <m:sub>
                                            <m:r>
                                              <a:rPr lang="en-US" altLang="zh-TW" i="1">
                                                <a:latin typeface="Cambria Math" panose="02040503050406030204" pitchFamily="18" charset="0"/>
                                                <a:ea typeface="Cambria Math" panose="02040503050406030204" pitchFamily="18" charset="0"/>
                                              </a:rPr>
                                              <m:t>𝑖</m:t>
                                            </m:r>
                                          </m:sub>
                                        </m:sSub>
                                        <m:sPre>
                                          <m:sPrePr>
                                            <m:ctrlPr>
                                              <a:rPr lang="en-US" altLang="zh-TW" i="1">
                                                <a:latin typeface="Cambria Math" panose="02040503050406030204" pitchFamily="18" charset="0"/>
                                                <a:ea typeface="Cambria Math" panose="02040503050406030204" pitchFamily="18" charset="0"/>
                                              </a:rPr>
                                            </m:ctrlPr>
                                          </m:sPrePr>
                                          <m:sub/>
                                          <m:sup>
                                            <m:r>
                                              <a:rPr lang="en-US" altLang="zh-TW" i="1">
                                                <a:latin typeface="Cambria Math" panose="02040503050406030204" pitchFamily="18" charset="0"/>
                                              </a:rPr>
                                              <m:t>𝐵</m:t>
                                            </m:r>
                                          </m:sup>
                                          <m:e>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𝑔</m:t>
                                                    </m:r>
                                                  </m:e>
                                                </m:acc>
                                              </m:e>
                                              <m:sub>
                                                <m:r>
                                                  <a:rPr lang="en-US" altLang="zh-TW" i="1">
                                                    <a:latin typeface="Cambria Math" panose="02040503050406030204" pitchFamily="18" charset="0"/>
                                                  </a:rPr>
                                                  <m:t>𝑉</m:t>
                                                </m:r>
                                              </m:sub>
                                            </m:sSub>
                                          </m:e>
                                        </m:sPre>
                                        <m:acc>
                                          <m:accPr>
                                            <m:chr m:val="̅"/>
                                            <m:ctrlPr>
                                              <a:rPr lang="zh-TW" altLang="en-US" i="1">
                                                <a:latin typeface="Cambria Math" panose="02040503050406030204" pitchFamily="18" charset="0"/>
                                              </a:rPr>
                                            </m:ctrlPr>
                                          </m:accPr>
                                          <m:e>
                                            <m:r>
                                              <a:rPr lang="en-US" altLang="zh-TW" i="1">
                                                <a:latin typeface="Cambria Math" panose="02040503050406030204" pitchFamily="18" charset="0"/>
                                              </a:rPr>
                                              <m:t>𝐷</m:t>
                                            </m:r>
                                          </m:e>
                                        </m:acc>
                                        <m:sSub>
                                          <m:sSubPr>
                                            <m:ctrlPr>
                                              <a:rPr lang="en-US" altLang="zh-TW" i="1">
                                                <a:latin typeface="Cambria Math" panose="02040503050406030204" pitchFamily="18" charset="0"/>
                                              </a:rPr>
                                            </m:ctrlPr>
                                          </m:sSubPr>
                                          <m:e>
                                            <m:r>
                                              <a:rPr lang="en-US" altLang="zh-TW" i="1">
                                                <a:latin typeface="Cambria Math" panose="02040503050406030204" pitchFamily="18" charset="0"/>
                                              </a:rPr>
                                              <m:t>𝑉</m:t>
                                            </m:r>
                                          </m:e>
                                          <m:sub>
                                            <m:r>
                                              <a:rPr lang="en-US" altLang="zh-TW" i="1">
                                                <a:latin typeface="Cambria Math" panose="02040503050406030204" pitchFamily="18" charset="0"/>
                                              </a:rPr>
                                              <m:t>𝑗</m:t>
                                            </m:r>
                                          </m:sub>
                                        </m:sSub>
                                      </m:e>
                                    </m:d>
                                  </m:e>
                                  <m:sup>
                                    <m:r>
                                      <a:rPr lang="en-US" altLang="zh-TW" b="0" i="1" smtClean="0">
                                        <a:latin typeface="Cambria Math" panose="02040503050406030204" pitchFamily="18" charset="0"/>
                                      </a:rPr>
                                      <m:t>2</m:t>
                                    </m:r>
                                  </m:sup>
                                </m:sSup>
                              </m:e>
                            </m:nary>
                          </m:num>
                          <m:den>
                            <m:nary>
                              <m:naryPr>
                                <m:chr m:val="∑"/>
                                <m:subHide m:val="on"/>
                                <m:supHide m:val="on"/>
                                <m:ctrlPr>
                                  <a:rPr lang="en-US" altLang="zh-TW" b="0" i="1" smtClean="0">
                                    <a:latin typeface="Cambria Math" panose="02040503050406030204" pitchFamily="18" charset="0"/>
                                  </a:rPr>
                                </m:ctrlPr>
                              </m:naryP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𝑏</m:t>
                                            </m:r>
                                          </m:e>
                                          <m:sub>
                                            <m:r>
                                              <a:rPr lang="en-US" altLang="zh-TW" b="0" i="1" smtClean="0">
                                                <a:latin typeface="Cambria Math" panose="02040503050406030204" pitchFamily="18" charset="0"/>
                                              </a:rPr>
                                              <m:t>𝐹𝐸𝑀</m:t>
                                            </m:r>
                                          </m:sub>
                                        </m:sSub>
                                      </m:e>
                                    </m:d>
                                  </m:e>
                                  <m:sup>
                                    <m:r>
                                      <a:rPr lang="en-US" altLang="zh-TW" b="0" i="1" smtClean="0">
                                        <a:latin typeface="Cambria Math" panose="02040503050406030204" pitchFamily="18" charset="0"/>
                                      </a:rPr>
                                      <m:t>2</m:t>
                                    </m:r>
                                  </m:sup>
                                </m:sSup>
                              </m:e>
                            </m:nary>
                          </m:den>
                        </m:f>
                      </m:e>
                    </m:rad>
                    <m:r>
                      <a:rPr lang="en-US" altLang="zh-TW" b="0" i="1" smtClean="0">
                        <a:latin typeface="Cambria Math" panose="02040503050406030204" pitchFamily="18" charset="0"/>
                        <a:ea typeface="Cambria Math" panose="02040503050406030204" pitchFamily="18" charset="0"/>
                      </a:rPr>
                      <m:t>×100</m:t>
                    </m:r>
                    <m:r>
                      <a:rPr lang="en-US" altLang="zh-TW" b="0" i="1" smtClean="0">
                        <a:latin typeface="Cambria Math" panose="02040503050406030204" pitchFamily="18" charset="0"/>
                      </a:rPr>
                      <m:t>=</m:t>
                    </m:r>
                    <m:r>
                      <a:rPr lang="en-US" altLang="zh-TW" b="0" i="1" smtClean="0">
                        <a:latin typeface="Cambria Math" panose="02040503050406030204" pitchFamily="18" charset="0"/>
                      </a:rPr>
                      <m:t>2.06</m:t>
                    </m:r>
                    <m:r>
                      <a:rPr lang="en-US" altLang="zh-TW" b="0" i="1" smtClean="0">
                        <a:latin typeface="Cambria Math" panose="02040503050406030204" pitchFamily="18" charset="0"/>
                      </a:rPr>
                      <m:t>%</m:t>
                    </m:r>
                    <m:r>
                      <m:rPr>
                        <m:nor/>
                      </m:rPr>
                      <a:rPr lang="en-US" altLang="zh-TW" dirty="0">
                        <a:ea typeface="Cambria Math" panose="02040503050406030204" pitchFamily="18" charset="0"/>
                      </a:rPr>
                      <m:t>(</m:t>
                    </m:r>
                    <m:r>
                      <m:rPr>
                        <m:nor/>
                      </m:rPr>
                      <a:rPr lang="en-US" altLang="zh-TW" b="0" i="0" dirty="0" smtClean="0">
                        <a:ea typeface="Cambria Math" panose="02040503050406030204" pitchFamily="18" charset="0"/>
                      </a:rPr>
                      <m:t>Eighteen</m:t>
                    </m:r>
                    <m:r>
                      <m:rPr>
                        <m:nor/>
                      </m:rPr>
                      <a:rPr lang="en-US" altLang="zh-TW" dirty="0">
                        <a:ea typeface="Cambria Math" panose="02040503050406030204" pitchFamily="18" charset="0"/>
                      </a:rPr>
                      <m:t> </m:t>
                    </m:r>
                    <m:r>
                      <m:rPr>
                        <m:nor/>
                      </m:rPr>
                      <a:rPr lang="en-US" altLang="zh-TW" dirty="0">
                        <a:ea typeface="Cambria Math" panose="02040503050406030204" pitchFamily="18" charset="0"/>
                      </a:rPr>
                      <m:t>parameters</m:t>
                    </m:r>
                    <m:r>
                      <m:rPr>
                        <m:nor/>
                      </m:rPr>
                      <a:rPr lang="en-US" altLang="zh-TW" dirty="0">
                        <a:ea typeface="Cambria Math" panose="02040503050406030204" pitchFamily="18" charset="0"/>
                      </a:rPr>
                      <m:t>)</m:t>
                    </m:r>
                  </m:oMath>
                </a14:m>
                <a:endParaRPr lang="en-US" altLang="zh-TW" dirty="0">
                  <a:ea typeface="Cambria Math" panose="02040503050406030204" pitchFamily="18" charset="0"/>
                </a:endParaRPr>
              </a:p>
              <a:p>
                <a:pPr lvl="1"/>
                <a:endParaRPr lang="en-US" altLang="zh-TW" b="0" dirty="0">
                  <a:ea typeface="Cambria Math" panose="02040503050406030204" pitchFamily="18" charset="0"/>
                </a:endParaRPr>
              </a:p>
              <a:p>
                <a:pPr marL="285750" indent="-285750">
                  <a:buFont typeface="Arial" panose="020B0604020202020204" pitchFamily="34" charset="0"/>
                  <a:buChar char="•"/>
                </a:pPr>
                <a:endParaRPr lang="en-US" altLang="zh-TW" b="0" dirty="0"/>
              </a:p>
              <a:p>
                <a:pPr lvl="1"/>
                <a:endParaRPr lang="zh-TW" altLang="en-US" dirty="0"/>
              </a:p>
            </p:txBody>
          </p:sp>
        </mc:Choice>
        <mc:Fallback>
          <p:sp>
            <p:nvSpPr>
              <p:cNvPr id="9" name="文字方塊 8">
                <a:extLst>
                  <a:ext uri="{FF2B5EF4-FFF2-40B4-BE49-F238E27FC236}">
                    <a16:creationId xmlns:a16="http://schemas.microsoft.com/office/drawing/2014/main" id="{95B9B500-BE39-4A2E-848D-C7FDE3646D2C}"/>
                  </a:ext>
                </a:extLst>
              </p:cNvPr>
              <p:cNvSpPr txBox="1">
                <a:spLocks noRot="1" noChangeAspect="1" noMove="1" noResize="1" noEditPoints="1" noAdjustHandles="1" noChangeArrowheads="1" noChangeShapeType="1" noTextEdit="1"/>
              </p:cNvSpPr>
              <p:nvPr/>
            </p:nvSpPr>
            <p:spPr>
              <a:xfrm>
                <a:off x="110067" y="504298"/>
                <a:ext cx="11137900" cy="5858783"/>
              </a:xfrm>
              <a:prstGeom prst="rect">
                <a:avLst/>
              </a:prstGeom>
              <a:blipFill>
                <a:blip r:embed="rId2"/>
                <a:stretch>
                  <a:fillRect l="-328" t="-624"/>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6" name="文字方塊 5">
                <a:extLst>
                  <a:ext uri="{FF2B5EF4-FFF2-40B4-BE49-F238E27FC236}">
                    <a16:creationId xmlns:a16="http://schemas.microsoft.com/office/drawing/2014/main" id="{0A3A1D2F-920F-4837-AC1C-5BC39DB79C9A}"/>
                  </a:ext>
                </a:extLst>
              </p:cNvPr>
              <p:cNvSpPr txBox="1"/>
              <p:nvPr/>
            </p:nvSpPr>
            <p:spPr>
              <a:xfrm>
                <a:off x="333746" y="5898963"/>
                <a:ext cx="7266669" cy="751872"/>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acc>
                        <m:accPr>
                          <m:chr m:val="̂"/>
                          <m:ctrlPr>
                            <a:rPr lang="zh-TW" altLang="en-US" i="1" smtClean="0">
                              <a:latin typeface="Cambria Math" panose="02040503050406030204" pitchFamily="18" charset="0"/>
                            </a:rPr>
                          </m:ctrlPr>
                        </m:accPr>
                        <m:e>
                          <m:r>
                            <a:rPr lang="en-US" altLang="zh-TW" b="0" i="1" smtClean="0">
                              <a:latin typeface="Cambria Math" panose="02040503050406030204" pitchFamily="18" charset="0"/>
                            </a:rPr>
                            <m:t>𝑒</m:t>
                          </m:r>
                        </m:e>
                      </m:acc>
                      <m:r>
                        <a:rPr lang="en-US" altLang="zh-TW" b="0" i="1" smtClean="0">
                          <a:latin typeface="Cambria Math" panose="02040503050406030204" pitchFamily="18" charset="0"/>
                        </a:rPr>
                        <m:t>=</m:t>
                      </m:r>
                      <m:f>
                        <m:fPr>
                          <m:type m:val="lin"/>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𝑒</m:t>
                          </m:r>
                        </m:num>
                        <m:den>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𝑙</m:t>
                              </m:r>
                            </m:e>
                          </m:acc>
                          <m:r>
                            <a:rPr lang="en-US" altLang="zh-TW" b="0" i="1" smtClean="0">
                              <a:latin typeface="Cambria Math" panose="02040503050406030204" pitchFamily="18" charset="0"/>
                            </a:rPr>
                            <m:t>=</m:t>
                          </m:r>
                          <m:d>
                            <m:dPr>
                              <m:begChr m:val="["/>
                              <m:endChr m:val="]"/>
                              <m:ctrlPr>
                                <a:rPr lang="en-US" altLang="zh-TW" b="0" i="1" smtClean="0">
                                  <a:latin typeface="Cambria Math" panose="02040503050406030204" pitchFamily="18" charset="0"/>
                                </a:rPr>
                              </m:ctrlPr>
                            </m:dPr>
                            <m:e>
                              <m:m>
                                <m:mPr>
                                  <m:mcs>
                                    <m:mc>
                                      <m:mcPr>
                                        <m:count m:val="1"/>
                                        <m:mcJc m:val="center"/>
                                      </m:mcPr>
                                    </m:mc>
                                  </m:mcs>
                                  <m:ctrlPr>
                                    <a:rPr lang="en-US" altLang="zh-TW" b="0" i="1" smtClean="0">
                                      <a:latin typeface="Cambria Math" panose="02040503050406030204" pitchFamily="18" charset="0"/>
                                    </a:rPr>
                                  </m:ctrlPr>
                                </m:mP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0.0183</m:t>
                                          </m:r>
                                        </m:e>
                                        <m:e>
                                          <m:r>
                                            <a:rPr lang="en-US" altLang="zh-TW" b="0" i="1" smtClean="0">
                                              <a:latin typeface="Cambria Math" panose="02040503050406030204" pitchFamily="18" charset="0"/>
                                            </a:rPr>
                                            <m:t>0.0195</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−0.1173</m:t>
                                                </m:r>
                                              </m:e>
                                              <m:e>
                                                <m:r>
                                                  <a:rPr lang="en-US" altLang="zh-TW" b="0" i="1" smtClean="0">
                                                    <a:latin typeface="Cambria Math" panose="02040503050406030204" pitchFamily="18" charset="0"/>
                                                  </a:rPr>
                                                  <m:t>0.0021</m:t>
                                                </m:r>
                                              </m:e>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0.0012</m:t>
                                                      </m:r>
                                                    </m:e>
                                                    <m:e>
                                                      <m:r>
                                                        <a:rPr lang="en-US" altLang="zh-TW" b="0" i="1" smtClean="0">
                                                          <a:latin typeface="Cambria Math" panose="02040503050406030204" pitchFamily="18" charset="0"/>
                                                        </a:rPr>
                                                        <m:t>−0.1180</m:t>
                                                      </m:r>
                                                    </m:e>
                                                  </m:mr>
                                                </m:m>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−0.1178</m:t>
                                          </m:r>
                                        </m:e>
                                        <m:e>
                                          <m:r>
                                            <a:rPr lang="en-US" altLang="zh-TW" b="0" i="1" smtClean="0">
                                              <a:latin typeface="Cambria Math" panose="02040503050406030204" pitchFamily="18" charset="0"/>
                                            </a:rPr>
                                            <m:t>0.0024</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0.0155</m:t>
                                                </m:r>
                                              </m:e>
                                              <m:e>
                                                <m:r>
                                                  <a:rPr lang="en-US" altLang="zh-TW" b="0" i="1" smtClean="0">
                                                    <a:latin typeface="Cambria Math" panose="02040503050406030204" pitchFamily="18" charset="0"/>
                                                  </a:rPr>
                                                  <m:t>0.0147</m:t>
                                                </m:r>
                                              </m:e>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0.0016</m:t>
                                                      </m:r>
                                                    </m:e>
                                                    <m:e>
                                                      <m:r>
                                                        <a:rPr lang="en-US" altLang="zh-TW" b="0" i="1" smtClean="0">
                                                          <a:latin typeface="Cambria Math" panose="02040503050406030204" pitchFamily="18" charset="0"/>
                                                        </a:rPr>
                                                        <m:t>−0.1180</m:t>
                                                      </m:r>
                                                    </m:e>
                                                  </m:mr>
                                                </m:m>
                                              </m:e>
                                            </m:mr>
                                          </m:m>
                                        </m:e>
                                      </m:mr>
                                    </m:m>
                                  </m:e>
                                </m:mr>
                                <m:mr>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0.1176</m:t>
                                          </m:r>
                                        </m:e>
                                        <m:e>
                                          <m:r>
                                            <a:rPr lang="en-US" altLang="zh-TW" b="0" i="1" smtClean="0">
                                              <a:latin typeface="Cambria Math" panose="02040503050406030204" pitchFamily="18" charset="0"/>
                                            </a:rPr>
                                            <m:t>−0.0022</m:t>
                                          </m:r>
                                        </m:e>
                                        <m:e>
                                          <m:m>
                                            <m:mPr>
                                              <m:mcs>
                                                <m:mc>
                                                  <m:mcPr>
                                                    <m:count m:val="3"/>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0.1167</m:t>
                                                </m:r>
                                              </m:e>
                                              <m:e>
                                                <m:r>
                                                  <a:rPr lang="en-US" altLang="zh-TW" b="0" i="1" smtClean="0">
                                                    <a:latin typeface="Cambria Math" panose="02040503050406030204" pitchFamily="18" charset="0"/>
                                                  </a:rPr>
                                                  <m:t>−0.0029</m:t>
                                                </m:r>
                                              </m:e>
                                              <m:e>
                                                <m:m>
                                                  <m:mPr>
                                                    <m:mcs>
                                                      <m:mc>
                                                        <m:mcPr>
                                                          <m:count m:val="2"/>
                                                          <m:mcJc m:val="center"/>
                                                        </m:mcPr>
                                                      </m:mc>
                                                    </m:mcs>
                                                    <m:ctrlPr>
                                                      <a:rPr lang="en-US" altLang="zh-TW" b="0" i="1" smtClean="0">
                                                        <a:latin typeface="Cambria Math" panose="02040503050406030204" pitchFamily="18" charset="0"/>
                                                      </a:rPr>
                                                    </m:ctrlPr>
                                                  </m:mPr>
                                                  <m:mr>
                                                    <m:e>
                                                      <m:r>
                                                        <m:rPr>
                                                          <m:brk m:alnAt="7"/>
                                                        </m:rPr>
                                                        <a:rPr lang="en-US" altLang="zh-TW" b="0" i="1" smtClean="0">
                                                          <a:latin typeface="Cambria Math" panose="02040503050406030204" pitchFamily="18" charset="0"/>
                                                        </a:rPr>
                                                        <m:t>−0.0178</m:t>
                                                      </m:r>
                                                    </m:e>
                                                    <m:e>
                                                      <m:r>
                                                        <a:rPr lang="en-US" altLang="zh-TW" b="0" i="1" smtClean="0">
                                                          <a:latin typeface="Cambria Math" panose="02040503050406030204" pitchFamily="18" charset="0"/>
                                                        </a:rPr>
                                                        <m:t>−0.0181</m:t>
                                                      </m:r>
                                                    </m:e>
                                                  </m:mr>
                                                </m:m>
                                              </m:e>
                                            </m:mr>
                                          </m:m>
                                        </m:e>
                                      </m:mr>
                                    </m:m>
                                  </m:e>
                                </m:mr>
                              </m:m>
                            </m:e>
                          </m:d>
                        </m:den>
                      </m:f>
                    </m:oMath>
                  </m:oMathPara>
                </a14:m>
                <a:endParaRPr lang="zh-TW" altLang="en-US" dirty="0"/>
              </a:p>
            </p:txBody>
          </p:sp>
        </mc:Choice>
        <mc:Fallback>
          <p:sp>
            <p:nvSpPr>
              <p:cNvPr id="6" name="文字方塊 5">
                <a:extLst>
                  <a:ext uri="{FF2B5EF4-FFF2-40B4-BE49-F238E27FC236}">
                    <a16:creationId xmlns:a16="http://schemas.microsoft.com/office/drawing/2014/main" id="{0A3A1D2F-920F-4837-AC1C-5BC39DB79C9A}"/>
                  </a:ext>
                </a:extLst>
              </p:cNvPr>
              <p:cNvSpPr txBox="1">
                <a:spLocks noRot="1" noChangeAspect="1" noMove="1" noResize="1" noEditPoints="1" noAdjustHandles="1" noChangeArrowheads="1" noChangeShapeType="1" noTextEdit="1"/>
              </p:cNvSpPr>
              <p:nvPr/>
            </p:nvSpPr>
            <p:spPr>
              <a:xfrm>
                <a:off x="333746" y="5898963"/>
                <a:ext cx="7266669" cy="751872"/>
              </a:xfrm>
              <a:prstGeom prst="rect">
                <a:avLst/>
              </a:prstGeom>
              <a:blipFill>
                <a:blip r:embed="rId3"/>
                <a:stretch>
                  <a:fillRect/>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207051437"/>
      </p:ext>
    </p:extLst>
  </p:cSld>
  <p:clrMapOvr>
    <a:masterClrMapping/>
  </p:clrMapOvr>
</p:sld>
</file>

<file path=ppt/theme/theme1.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10550</TotalTime>
  <Words>508</Words>
  <Application>Microsoft Office PowerPoint</Application>
  <PresentationFormat>寬螢幕</PresentationFormat>
  <Paragraphs>64</Paragraphs>
  <Slides>10</Slides>
  <Notes>0</Notes>
  <HiddenSlides>0</HiddenSlides>
  <MMClips>0</MMClips>
  <ScaleCrop>false</ScaleCrop>
  <HeadingPairs>
    <vt:vector size="6" baseType="variant">
      <vt:variant>
        <vt:lpstr>使用字型</vt:lpstr>
      </vt:variant>
      <vt:variant>
        <vt:i4>7</vt:i4>
      </vt:variant>
      <vt:variant>
        <vt:lpstr>佈景主題</vt:lpstr>
      </vt:variant>
      <vt:variant>
        <vt:i4>1</vt:i4>
      </vt:variant>
      <vt:variant>
        <vt:lpstr>投影片標題</vt:lpstr>
      </vt:variant>
      <vt:variant>
        <vt:i4>10</vt:i4>
      </vt:variant>
    </vt:vector>
  </HeadingPairs>
  <TitlesOfParts>
    <vt:vector size="18" baseType="lpstr">
      <vt:lpstr>Aptos</vt:lpstr>
      <vt:lpstr>Arial</vt:lpstr>
      <vt:lpstr>Calibri</vt:lpstr>
      <vt:lpstr>Calibri Light</vt:lpstr>
      <vt:lpstr>Cambria Math</vt:lpstr>
      <vt:lpstr>Times New Roman</vt:lpstr>
      <vt:lpstr>Wingdings</vt:lpstr>
      <vt:lpstr>Office 佈景主題</vt:lpstr>
      <vt:lpstr>A Lumped-Parameter Modeling, Calibration, and Capacity-Measure Framework for Flux Generation in Symmetric Multipole Electromagnetic Actuators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Current-based lumped-parameter modeling and calibration </vt:lpstr>
      <vt:lpstr>Reference </vt:lpstr>
      <vt:lpstr>Reference </vt:lpstr>
      <vt:lpstr>Reference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Lumped-Parameter Modeling, Calibration, and Capacity-Measure Framework for Flux Generation in Symmetric Multipole Electromagnetic Actuators</dc:title>
  <dc:creator>郭建棋</dc:creator>
  <cp:lastModifiedBy>郭建棋</cp:lastModifiedBy>
  <cp:revision>111</cp:revision>
  <dcterms:created xsi:type="dcterms:W3CDTF">2026-07-23T11:39:15Z</dcterms:created>
  <dcterms:modified xsi:type="dcterms:W3CDTF">2026-08-04T04:22:20Z</dcterms:modified>
</cp:coreProperties>
</file>