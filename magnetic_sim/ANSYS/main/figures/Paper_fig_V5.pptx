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8" r:id="rId3"/>
    <p:sldId id="287" r:id="rId4"/>
    <p:sldId id="285" r:id="rId5"/>
    <p:sldId id="269" r:id="rId6"/>
    <p:sldId id="290" r:id="rId7"/>
    <p:sldId id="283" r:id="rId8"/>
    <p:sldId id="291" r:id="rId9"/>
    <p:sldId id="272" r:id="rId10"/>
    <p:sldId id="273" r:id="rId11"/>
    <p:sldId id="293" r:id="rId12"/>
    <p:sldId id="294" r:id="rId13"/>
    <p:sldId id="286" r:id="rId14"/>
    <p:sldId id="288" r:id="rId15"/>
    <p:sldId id="289" r:id="rId16"/>
    <p:sldId id="292" r:id="rId17"/>
  </p:sldIdLst>
  <p:sldSz cx="12192000" cy="6858000"/>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113" d="100"/>
          <a:sy n="113" d="100"/>
        </p:scale>
        <p:origin x="510"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A313B5C-4451-4F85-8E22-4F6D30112120}"/>
              </a:ext>
            </a:extLst>
          </p:cNvPr>
          <p:cNvSpPr>
            <a:spLocks noGrp="1"/>
          </p:cNvSpPr>
          <p:nvPr>
            <p:ph type="ctrTitle"/>
          </p:nvPr>
        </p:nvSpPr>
        <p:spPr>
          <a:xfrm>
            <a:off x="1524000" y="1122363"/>
            <a:ext cx="9144000" cy="2387600"/>
          </a:xfrm>
        </p:spPr>
        <p:txBody>
          <a:bodyPr anchor="b"/>
          <a:lstStyle>
            <a:lvl1pPr algn="ctr">
              <a:defRPr sz="6000"/>
            </a:lvl1pPr>
          </a:lstStyle>
          <a:p>
            <a:r>
              <a:rPr lang="zh-TW" altLang="en-US"/>
              <a:t>按一下以編輯母片標題樣式</a:t>
            </a:r>
          </a:p>
        </p:txBody>
      </p:sp>
      <p:sp>
        <p:nvSpPr>
          <p:cNvPr id="3" name="副標題 2">
            <a:extLst>
              <a:ext uri="{FF2B5EF4-FFF2-40B4-BE49-F238E27FC236}">
                <a16:creationId xmlns:a16="http://schemas.microsoft.com/office/drawing/2014/main" id="{438C9657-D53F-4E4F-9171-BAB7C00D967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p>
        </p:txBody>
      </p:sp>
      <p:sp>
        <p:nvSpPr>
          <p:cNvPr id="4" name="日期版面配置區 3">
            <a:extLst>
              <a:ext uri="{FF2B5EF4-FFF2-40B4-BE49-F238E27FC236}">
                <a16:creationId xmlns:a16="http://schemas.microsoft.com/office/drawing/2014/main" id="{ECB1CB1F-3023-4059-8D9C-CF5C75B6AF97}"/>
              </a:ext>
            </a:extLst>
          </p:cNvPr>
          <p:cNvSpPr>
            <a:spLocks noGrp="1"/>
          </p:cNvSpPr>
          <p:nvPr>
            <p:ph type="dt" sz="half" idx="10"/>
          </p:nvPr>
        </p:nvSpPr>
        <p:spPr/>
        <p:txBody>
          <a:bodyPr/>
          <a:lstStyle/>
          <a:p>
            <a:fld id="{16D42070-5DAD-4E7E-A6F8-25E560BC7BBC}" type="datetimeFigureOut">
              <a:rPr lang="zh-TW" altLang="en-US" smtClean="0"/>
              <a:t>2026/8/14</a:t>
            </a:fld>
            <a:endParaRPr lang="zh-TW" altLang="en-US"/>
          </a:p>
        </p:txBody>
      </p:sp>
      <p:sp>
        <p:nvSpPr>
          <p:cNvPr id="5" name="頁尾版面配置區 4">
            <a:extLst>
              <a:ext uri="{FF2B5EF4-FFF2-40B4-BE49-F238E27FC236}">
                <a16:creationId xmlns:a16="http://schemas.microsoft.com/office/drawing/2014/main" id="{88FDADB6-4903-41BB-BC87-020BA3FBD9C3}"/>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7EFCEFEA-DE84-42FC-BE56-10A71321A99D}"/>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33047085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98524EB-4587-44AF-A65F-8CBAAF65D917}"/>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5A2C5D94-2521-44B1-AF19-188FFBBD19CB}"/>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65882776-4508-4BB4-B95B-94CABBBA1DAA}"/>
              </a:ext>
            </a:extLst>
          </p:cNvPr>
          <p:cNvSpPr>
            <a:spLocks noGrp="1"/>
          </p:cNvSpPr>
          <p:nvPr>
            <p:ph type="dt" sz="half" idx="10"/>
          </p:nvPr>
        </p:nvSpPr>
        <p:spPr/>
        <p:txBody>
          <a:bodyPr/>
          <a:lstStyle/>
          <a:p>
            <a:fld id="{16D42070-5DAD-4E7E-A6F8-25E560BC7BBC}" type="datetimeFigureOut">
              <a:rPr lang="zh-TW" altLang="en-US" smtClean="0"/>
              <a:t>2026/8/14</a:t>
            </a:fld>
            <a:endParaRPr lang="zh-TW" altLang="en-US"/>
          </a:p>
        </p:txBody>
      </p:sp>
      <p:sp>
        <p:nvSpPr>
          <p:cNvPr id="5" name="頁尾版面配置區 4">
            <a:extLst>
              <a:ext uri="{FF2B5EF4-FFF2-40B4-BE49-F238E27FC236}">
                <a16:creationId xmlns:a16="http://schemas.microsoft.com/office/drawing/2014/main" id="{180C8587-132A-4FA1-AC7D-93EABEB0372F}"/>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08ABA0DE-C7B2-4848-95AC-5A3E7CA5644D}"/>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29099172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2A3930A-494A-46F3-88CB-96081BB0DBF6}"/>
              </a:ext>
            </a:extLst>
          </p:cNvPr>
          <p:cNvSpPr>
            <a:spLocks noGrp="1"/>
          </p:cNvSpPr>
          <p:nvPr>
            <p:ph type="title"/>
          </p:nvPr>
        </p:nvSpPr>
        <p:spPr>
          <a:xfrm>
            <a:off x="831850" y="1709738"/>
            <a:ext cx="10515600" cy="2852737"/>
          </a:xfrm>
        </p:spPr>
        <p:txBody>
          <a:bodyPr anchor="b"/>
          <a:lstStyle>
            <a:lvl1pPr>
              <a:defRPr sz="6000"/>
            </a:lvl1pPr>
          </a:lstStyle>
          <a:p>
            <a:r>
              <a:rPr lang="zh-TW" altLang="en-US"/>
              <a:t>按一下以編輯母片標題樣式</a:t>
            </a:r>
          </a:p>
        </p:txBody>
      </p:sp>
      <p:sp>
        <p:nvSpPr>
          <p:cNvPr id="3" name="文字版面配置區 2">
            <a:extLst>
              <a:ext uri="{FF2B5EF4-FFF2-40B4-BE49-F238E27FC236}">
                <a16:creationId xmlns:a16="http://schemas.microsoft.com/office/drawing/2014/main" id="{0478FD7A-7A96-43E2-8961-E0DB15C178D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TW" altLang="en-US"/>
              <a:t>按一下以編輯母片文字樣式</a:t>
            </a:r>
          </a:p>
        </p:txBody>
      </p:sp>
      <p:sp>
        <p:nvSpPr>
          <p:cNvPr id="4" name="日期版面配置區 3">
            <a:extLst>
              <a:ext uri="{FF2B5EF4-FFF2-40B4-BE49-F238E27FC236}">
                <a16:creationId xmlns:a16="http://schemas.microsoft.com/office/drawing/2014/main" id="{7006FC20-C1D3-46B0-BF1E-03D546043D36}"/>
              </a:ext>
            </a:extLst>
          </p:cNvPr>
          <p:cNvSpPr>
            <a:spLocks noGrp="1"/>
          </p:cNvSpPr>
          <p:nvPr>
            <p:ph type="dt" sz="half" idx="10"/>
          </p:nvPr>
        </p:nvSpPr>
        <p:spPr/>
        <p:txBody>
          <a:bodyPr/>
          <a:lstStyle/>
          <a:p>
            <a:fld id="{16D42070-5DAD-4E7E-A6F8-25E560BC7BBC}" type="datetimeFigureOut">
              <a:rPr lang="zh-TW" altLang="en-US" smtClean="0"/>
              <a:t>2026/8/14</a:t>
            </a:fld>
            <a:endParaRPr lang="zh-TW" altLang="en-US"/>
          </a:p>
        </p:txBody>
      </p:sp>
      <p:sp>
        <p:nvSpPr>
          <p:cNvPr id="5" name="頁尾版面配置區 4">
            <a:extLst>
              <a:ext uri="{FF2B5EF4-FFF2-40B4-BE49-F238E27FC236}">
                <a16:creationId xmlns:a16="http://schemas.microsoft.com/office/drawing/2014/main" id="{C4F6D392-6F8A-4414-AA11-638326A9F37A}"/>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FE7B8EB7-22A4-447A-A525-998FA4AEC1F4}"/>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8157239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個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732D765-AEAD-45D9-9508-FB7BE0E0289D}"/>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B12A380E-4D39-4CB1-A9B1-CAAAABD809C1}"/>
              </a:ext>
            </a:extLst>
          </p:cNvPr>
          <p:cNvSpPr>
            <a:spLocks noGrp="1"/>
          </p:cNvSpPr>
          <p:nvPr>
            <p:ph sz="half" idx="1"/>
          </p:nvPr>
        </p:nvSpPr>
        <p:spPr>
          <a:xfrm>
            <a:off x="838200" y="1825625"/>
            <a:ext cx="5181600" cy="435133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a:extLst>
              <a:ext uri="{FF2B5EF4-FFF2-40B4-BE49-F238E27FC236}">
                <a16:creationId xmlns:a16="http://schemas.microsoft.com/office/drawing/2014/main" id="{E4303AA3-878B-45F8-A4E8-92FA10CD26BC}"/>
              </a:ext>
            </a:extLst>
          </p:cNvPr>
          <p:cNvSpPr>
            <a:spLocks noGrp="1"/>
          </p:cNvSpPr>
          <p:nvPr>
            <p:ph sz="half" idx="2"/>
          </p:nvPr>
        </p:nvSpPr>
        <p:spPr>
          <a:xfrm>
            <a:off x="6172200" y="1825625"/>
            <a:ext cx="5181600" cy="435133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日期版面配置區 4">
            <a:extLst>
              <a:ext uri="{FF2B5EF4-FFF2-40B4-BE49-F238E27FC236}">
                <a16:creationId xmlns:a16="http://schemas.microsoft.com/office/drawing/2014/main" id="{E9C1F139-09FB-4A94-AA83-54F2B93E6A60}"/>
              </a:ext>
            </a:extLst>
          </p:cNvPr>
          <p:cNvSpPr>
            <a:spLocks noGrp="1"/>
          </p:cNvSpPr>
          <p:nvPr>
            <p:ph type="dt" sz="half" idx="10"/>
          </p:nvPr>
        </p:nvSpPr>
        <p:spPr/>
        <p:txBody>
          <a:bodyPr/>
          <a:lstStyle/>
          <a:p>
            <a:fld id="{16D42070-5DAD-4E7E-A6F8-25E560BC7BBC}" type="datetimeFigureOut">
              <a:rPr lang="zh-TW" altLang="en-US" smtClean="0"/>
              <a:t>2026/8/14</a:t>
            </a:fld>
            <a:endParaRPr lang="zh-TW" altLang="en-US"/>
          </a:p>
        </p:txBody>
      </p:sp>
      <p:sp>
        <p:nvSpPr>
          <p:cNvPr id="6" name="頁尾版面配置區 5">
            <a:extLst>
              <a:ext uri="{FF2B5EF4-FFF2-40B4-BE49-F238E27FC236}">
                <a16:creationId xmlns:a16="http://schemas.microsoft.com/office/drawing/2014/main" id="{D42CB685-F91E-4E52-9043-88820ECAF738}"/>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5047ED7B-0BBB-48C6-8CBE-10F473361AD8}"/>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18634796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328D6F7-2A01-404A-8E60-308B5B2DF66A}"/>
              </a:ext>
            </a:extLst>
          </p:cNvPr>
          <p:cNvSpPr>
            <a:spLocks noGrp="1"/>
          </p:cNvSpPr>
          <p:nvPr>
            <p:ph type="title"/>
          </p:nvPr>
        </p:nvSpPr>
        <p:spPr>
          <a:xfrm>
            <a:off x="839788" y="365125"/>
            <a:ext cx="10515600" cy="1325563"/>
          </a:xfrm>
        </p:spPr>
        <p:txBody>
          <a:bodyPr/>
          <a:lstStyle/>
          <a:p>
            <a:r>
              <a:rPr lang="zh-TW" altLang="en-US"/>
              <a:t>按一下以編輯母片標題樣式</a:t>
            </a:r>
          </a:p>
        </p:txBody>
      </p:sp>
      <p:sp>
        <p:nvSpPr>
          <p:cNvPr id="3" name="文字版面配置區 2">
            <a:extLst>
              <a:ext uri="{FF2B5EF4-FFF2-40B4-BE49-F238E27FC236}">
                <a16:creationId xmlns:a16="http://schemas.microsoft.com/office/drawing/2014/main" id="{F34BC229-0964-4EB2-A32F-3BE569B1158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4" name="內容版面配置區 3">
            <a:extLst>
              <a:ext uri="{FF2B5EF4-FFF2-40B4-BE49-F238E27FC236}">
                <a16:creationId xmlns:a16="http://schemas.microsoft.com/office/drawing/2014/main" id="{FBDD00DB-A2AC-4093-9580-16DB7A5856B6}"/>
              </a:ext>
            </a:extLst>
          </p:cNvPr>
          <p:cNvSpPr>
            <a:spLocks noGrp="1"/>
          </p:cNvSpPr>
          <p:nvPr>
            <p:ph sz="half" idx="2"/>
          </p:nvPr>
        </p:nvSpPr>
        <p:spPr>
          <a:xfrm>
            <a:off x="839788" y="2505075"/>
            <a:ext cx="5157787" cy="368458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a:extLst>
              <a:ext uri="{FF2B5EF4-FFF2-40B4-BE49-F238E27FC236}">
                <a16:creationId xmlns:a16="http://schemas.microsoft.com/office/drawing/2014/main" id="{D98E98D9-1B64-42E0-BF51-3948B6593DF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6" name="內容版面配置區 5">
            <a:extLst>
              <a:ext uri="{FF2B5EF4-FFF2-40B4-BE49-F238E27FC236}">
                <a16:creationId xmlns:a16="http://schemas.microsoft.com/office/drawing/2014/main" id="{91B0C13F-E177-4192-B9A6-DEC49612F692}"/>
              </a:ext>
            </a:extLst>
          </p:cNvPr>
          <p:cNvSpPr>
            <a:spLocks noGrp="1"/>
          </p:cNvSpPr>
          <p:nvPr>
            <p:ph sz="quarter" idx="4"/>
          </p:nvPr>
        </p:nvSpPr>
        <p:spPr>
          <a:xfrm>
            <a:off x="6172200" y="2505075"/>
            <a:ext cx="5183188" cy="368458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7" name="日期版面配置區 6">
            <a:extLst>
              <a:ext uri="{FF2B5EF4-FFF2-40B4-BE49-F238E27FC236}">
                <a16:creationId xmlns:a16="http://schemas.microsoft.com/office/drawing/2014/main" id="{64F99ADD-F054-4E54-9158-162DB547028A}"/>
              </a:ext>
            </a:extLst>
          </p:cNvPr>
          <p:cNvSpPr>
            <a:spLocks noGrp="1"/>
          </p:cNvSpPr>
          <p:nvPr>
            <p:ph type="dt" sz="half" idx="10"/>
          </p:nvPr>
        </p:nvSpPr>
        <p:spPr/>
        <p:txBody>
          <a:bodyPr/>
          <a:lstStyle/>
          <a:p>
            <a:fld id="{16D42070-5DAD-4E7E-A6F8-25E560BC7BBC}" type="datetimeFigureOut">
              <a:rPr lang="zh-TW" altLang="en-US" smtClean="0"/>
              <a:t>2026/8/14</a:t>
            </a:fld>
            <a:endParaRPr lang="zh-TW" altLang="en-US"/>
          </a:p>
        </p:txBody>
      </p:sp>
      <p:sp>
        <p:nvSpPr>
          <p:cNvPr id="8" name="頁尾版面配置區 7">
            <a:extLst>
              <a:ext uri="{FF2B5EF4-FFF2-40B4-BE49-F238E27FC236}">
                <a16:creationId xmlns:a16="http://schemas.microsoft.com/office/drawing/2014/main" id="{56242129-DAAA-4FB1-8D26-7248AD72CF9B}"/>
              </a:ext>
            </a:extLst>
          </p:cNvPr>
          <p:cNvSpPr>
            <a:spLocks noGrp="1"/>
          </p:cNvSpPr>
          <p:nvPr>
            <p:ph type="ftr" sz="quarter" idx="11"/>
          </p:nvPr>
        </p:nvSpPr>
        <p:spPr/>
        <p:txBody>
          <a:bodyPr/>
          <a:lstStyle/>
          <a:p>
            <a:endParaRPr lang="zh-TW" altLang="en-US"/>
          </a:p>
        </p:txBody>
      </p:sp>
      <p:sp>
        <p:nvSpPr>
          <p:cNvPr id="9" name="投影片編號版面配置區 8">
            <a:extLst>
              <a:ext uri="{FF2B5EF4-FFF2-40B4-BE49-F238E27FC236}">
                <a16:creationId xmlns:a16="http://schemas.microsoft.com/office/drawing/2014/main" id="{FFDDDDE1-FD8E-4032-A6CC-B2F72DA857B5}"/>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12857083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0A7E1C2-942A-47E2-9A00-0B52E276B5CF}"/>
              </a:ext>
            </a:extLst>
          </p:cNvPr>
          <p:cNvSpPr>
            <a:spLocks noGrp="1"/>
          </p:cNvSpPr>
          <p:nvPr>
            <p:ph type="title"/>
          </p:nvPr>
        </p:nvSpPr>
        <p:spPr/>
        <p:txBody>
          <a:bodyPr/>
          <a:lstStyle/>
          <a:p>
            <a:r>
              <a:rPr lang="zh-TW" altLang="en-US"/>
              <a:t>按一下以編輯母片標題樣式</a:t>
            </a:r>
          </a:p>
        </p:txBody>
      </p:sp>
      <p:sp>
        <p:nvSpPr>
          <p:cNvPr id="3" name="日期版面配置區 2">
            <a:extLst>
              <a:ext uri="{FF2B5EF4-FFF2-40B4-BE49-F238E27FC236}">
                <a16:creationId xmlns:a16="http://schemas.microsoft.com/office/drawing/2014/main" id="{1FEC29EA-2303-41C4-8179-5DF5AC137E66}"/>
              </a:ext>
            </a:extLst>
          </p:cNvPr>
          <p:cNvSpPr>
            <a:spLocks noGrp="1"/>
          </p:cNvSpPr>
          <p:nvPr>
            <p:ph type="dt" sz="half" idx="10"/>
          </p:nvPr>
        </p:nvSpPr>
        <p:spPr/>
        <p:txBody>
          <a:bodyPr/>
          <a:lstStyle/>
          <a:p>
            <a:fld id="{16D42070-5DAD-4E7E-A6F8-25E560BC7BBC}" type="datetimeFigureOut">
              <a:rPr lang="zh-TW" altLang="en-US" smtClean="0"/>
              <a:t>2026/8/14</a:t>
            </a:fld>
            <a:endParaRPr lang="zh-TW" altLang="en-US"/>
          </a:p>
        </p:txBody>
      </p:sp>
      <p:sp>
        <p:nvSpPr>
          <p:cNvPr id="4" name="頁尾版面配置區 3">
            <a:extLst>
              <a:ext uri="{FF2B5EF4-FFF2-40B4-BE49-F238E27FC236}">
                <a16:creationId xmlns:a16="http://schemas.microsoft.com/office/drawing/2014/main" id="{3A7E344C-546C-4B5B-948D-F248F196BFE4}"/>
              </a:ext>
            </a:extLst>
          </p:cNvPr>
          <p:cNvSpPr>
            <a:spLocks noGrp="1"/>
          </p:cNvSpPr>
          <p:nvPr>
            <p:ph type="ftr" sz="quarter" idx="11"/>
          </p:nvPr>
        </p:nvSpPr>
        <p:spPr/>
        <p:txBody>
          <a:bodyPr/>
          <a:lstStyle/>
          <a:p>
            <a:endParaRPr lang="zh-TW" altLang="en-US"/>
          </a:p>
        </p:txBody>
      </p:sp>
      <p:sp>
        <p:nvSpPr>
          <p:cNvPr id="5" name="投影片編號版面配置區 4">
            <a:extLst>
              <a:ext uri="{FF2B5EF4-FFF2-40B4-BE49-F238E27FC236}">
                <a16:creationId xmlns:a16="http://schemas.microsoft.com/office/drawing/2014/main" id="{BB0CE009-148B-41C4-9070-05067E45A9DE}"/>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12677846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a:extLst>
              <a:ext uri="{FF2B5EF4-FFF2-40B4-BE49-F238E27FC236}">
                <a16:creationId xmlns:a16="http://schemas.microsoft.com/office/drawing/2014/main" id="{D54434E9-DB57-4C91-A8E8-AA7E4DE1E42C}"/>
              </a:ext>
            </a:extLst>
          </p:cNvPr>
          <p:cNvSpPr>
            <a:spLocks noGrp="1"/>
          </p:cNvSpPr>
          <p:nvPr>
            <p:ph type="dt" sz="half" idx="10"/>
          </p:nvPr>
        </p:nvSpPr>
        <p:spPr/>
        <p:txBody>
          <a:bodyPr/>
          <a:lstStyle/>
          <a:p>
            <a:fld id="{16D42070-5DAD-4E7E-A6F8-25E560BC7BBC}" type="datetimeFigureOut">
              <a:rPr lang="zh-TW" altLang="en-US" smtClean="0"/>
              <a:t>2026/8/14</a:t>
            </a:fld>
            <a:endParaRPr lang="zh-TW" altLang="en-US"/>
          </a:p>
        </p:txBody>
      </p:sp>
      <p:sp>
        <p:nvSpPr>
          <p:cNvPr id="3" name="頁尾版面配置區 2">
            <a:extLst>
              <a:ext uri="{FF2B5EF4-FFF2-40B4-BE49-F238E27FC236}">
                <a16:creationId xmlns:a16="http://schemas.microsoft.com/office/drawing/2014/main" id="{43CBD5B2-A875-4997-957A-2CACB4E8187F}"/>
              </a:ext>
            </a:extLst>
          </p:cNvPr>
          <p:cNvSpPr>
            <a:spLocks noGrp="1"/>
          </p:cNvSpPr>
          <p:nvPr>
            <p:ph type="ftr" sz="quarter" idx="11"/>
          </p:nvPr>
        </p:nvSpPr>
        <p:spPr/>
        <p:txBody>
          <a:bodyPr/>
          <a:lstStyle/>
          <a:p>
            <a:endParaRPr lang="zh-TW" altLang="en-US"/>
          </a:p>
        </p:txBody>
      </p:sp>
      <p:sp>
        <p:nvSpPr>
          <p:cNvPr id="4" name="投影片編號版面配置區 3">
            <a:extLst>
              <a:ext uri="{FF2B5EF4-FFF2-40B4-BE49-F238E27FC236}">
                <a16:creationId xmlns:a16="http://schemas.microsoft.com/office/drawing/2014/main" id="{1DAE9AF9-98E2-49BC-890E-C4901C5C96D7}"/>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29844740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含輔助字幕的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37F9702-2F89-4C07-A091-A864CF9277AB}"/>
              </a:ext>
            </a:extLst>
          </p:cNvPr>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內容版面配置區 2">
            <a:extLst>
              <a:ext uri="{FF2B5EF4-FFF2-40B4-BE49-F238E27FC236}">
                <a16:creationId xmlns:a16="http://schemas.microsoft.com/office/drawing/2014/main" id="{6B9A033B-67CA-4692-9F96-92929D8AB91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a:extLst>
              <a:ext uri="{FF2B5EF4-FFF2-40B4-BE49-F238E27FC236}">
                <a16:creationId xmlns:a16="http://schemas.microsoft.com/office/drawing/2014/main" id="{02A61FCE-0216-475F-8DCF-C058715F47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日期版面配置區 4">
            <a:extLst>
              <a:ext uri="{FF2B5EF4-FFF2-40B4-BE49-F238E27FC236}">
                <a16:creationId xmlns:a16="http://schemas.microsoft.com/office/drawing/2014/main" id="{87370C5D-745A-4EAE-A151-2541003A35B9}"/>
              </a:ext>
            </a:extLst>
          </p:cNvPr>
          <p:cNvSpPr>
            <a:spLocks noGrp="1"/>
          </p:cNvSpPr>
          <p:nvPr>
            <p:ph type="dt" sz="half" idx="10"/>
          </p:nvPr>
        </p:nvSpPr>
        <p:spPr/>
        <p:txBody>
          <a:bodyPr/>
          <a:lstStyle/>
          <a:p>
            <a:fld id="{16D42070-5DAD-4E7E-A6F8-25E560BC7BBC}" type="datetimeFigureOut">
              <a:rPr lang="zh-TW" altLang="en-US" smtClean="0"/>
              <a:t>2026/8/14</a:t>
            </a:fld>
            <a:endParaRPr lang="zh-TW" altLang="en-US"/>
          </a:p>
        </p:txBody>
      </p:sp>
      <p:sp>
        <p:nvSpPr>
          <p:cNvPr id="6" name="頁尾版面配置區 5">
            <a:extLst>
              <a:ext uri="{FF2B5EF4-FFF2-40B4-BE49-F238E27FC236}">
                <a16:creationId xmlns:a16="http://schemas.microsoft.com/office/drawing/2014/main" id="{706460B0-32D4-4AFB-8A7E-846482505E3F}"/>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0AD132A3-0D89-4417-A7DF-5A8A018E485A}"/>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5177295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含輔助字幕的圖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AC5306D-49B1-4801-B5D5-82BBCC509CAB}"/>
              </a:ext>
            </a:extLst>
          </p:cNvPr>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圖片版面配置區 2">
            <a:extLst>
              <a:ext uri="{FF2B5EF4-FFF2-40B4-BE49-F238E27FC236}">
                <a16:creationId xmlns:a16="http://schemas.microsoft.com/office/drawing/2014/main" id="{E5F20369-2E94-4C2E-B0A1-93ADA101D8E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a:extLst>
              <a:ext uri="{FF2B5EF4-FFF2-40B4-BE49-F238E27FC236}">
                <a16:creationId xmlns:a16="http://schemas.microsoft.com/office/drawing/2014/main" id="{CAC760FC-4E62-42A9-8056-6EE8249B710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日期版面配置區 4">
            <a:extLst>
              <a:ext uri="{FF2B5EF4-FFF2-40B4-BE49-F238E27FC236}">
                <a16:creationId xmlns:a16="http://schemas.microsoft.com/office/drawing/2014/main" id="{05BD4D67-FBFA-40B4-9C57-519B88B3EC42}"/>
              </a:ext>
            </a:extLst>
          </p:cNvPr>
          <p:cNvSpPr>
            <a:spLocks noGrp="1"/>
          </p:cNvSpPr>
          <p:nvPr>
            <p:ph type="dt" sz="half" idx="10"/>
          </p:nvPr>
        </p:nvSpPr>
        <p:spPr/>
        <p:txBody>
          <a:bodyPr/>
          <a:lstStyle/>
          <a:p>
            <a:fld id="{16D42070-5DAD-4E7E-A6F8-25E560BC7BBC}" type="datetimeFigureOut">
              <a:rPr lang="zh-TW" altLang="en-US" smtClean="0"/>
              <a:t>2026/8/14</a:t>
            </a:fld>
            <a:endParaRPr lang="zh-TW" altLang="en-US"/>
          </a:p>
        </p:txBody>
      </p:sp>
      <p:sp>
        <p:nvSpPr>
          <p:cNvPr id="6" name="頁尾版面配置區 5">
            <a:extLst>
              <a:ext uri="{FF2B5EF4-FFF2-40B4-BE49-F238E27FC236}">
                <a16:creationId xmlns:a16="http://schemas.microsoft.com/office/drawing/2014/main" id="{28A5B214-3FE3-41C8-BAAF-7E87C796FFF3}"/>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34F60CC2-E109-4719-875D-510BAD1DAF71}"/>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26151998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658099F-549D-41D0-8656-FC0BCFF0AC8B}"/>
              </a:ext>
            </a:extLst>
          </p:cNvPr>
          <p:cNvSpPr>
            <a:spLocks noGrp="1"/>
          </p:cNvSpPr>
          <p:nvPr>
            <p:ph type="title"/>
          </p:nvPr>
        </p:nvSpPr>
        <p:spPr/>
        <p:txBody>
          <a:bodyPr/>
          <a:lstStyle/>
          <a:p>
            <a:r>
              <a:rPr lang="zh-TW" altLang="en-US"/>
              <a:t>按一下以編輯母片標題樣式</a:t>
            </a:r>
          </a:p>
        </p:txBody>
      </p:sp>
      <p:sp>
        <p:nvSpPr>
          <p:cNvPr id="3" name="直排文字版面配置區 2">
            <a:extLst>
              <a:ext uri="{FF2B5EF4-FFF2-40B4-BE49-F238E27FC236}">
                <a16:creationId xmlns:a16="http://schemas.microsoft.com/office/drawing/2014/main" id="{9A026EBC-D2D7-4484-A574-A0FDADFD83EC}"/>
              </a:ext>
            </a:extLst>
          </p:cNvPr>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E955BDF0-F4E3-4A78-AC21-5996C7877466}"/>
              </a:ext>
            </a:extLst>
          </p:cNvPr>
          <p:cNvSpPr>
            <a:spLocks noGrp="1"/>
          </p:cNvSpPr>
          <p:nvPr>
            <p:ph type="dt" sz="half" idx="10"/>
          </p:nvPr>
        </p:nvSpPr>
        <p:spPr/>
        <p:txBody>
          <a:bodyPr/>
          <a:lstStyle/>
          <a:p>
            <a:fld id="{16D42070-5DAD-4E7E-A6F8-25E560BC7BBC}" type="datetimeFigureOut">
              <a:rPr lang="zh-TW" altLang="en-US" smtClean="0"/>
              <a:t>2026/8/14</a:t>
            </a:fld>
            <a:endParaRPr lang="zh-TW" altLang="en-US"/>
          </a:p>
        </p:txBody>
      </p:sp>
      <p:sp>
        <p:nvSpPr>
          <p:cNvPr id="5" name="頁尾版面配置區 4">
            <a:extLst>
              <a:ext uri="{FF2B5EF4-FFF2-40B4-BE49-F238E27FC236}">
                <a16:creationId xmlns:a16="http://schemas.microsoft.com/office/drawing/2014/main" id="{77A58278-9C37-44E9-A992-05A40C4C24BF}"/>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FEF221A9-3DF2-4243-8312-6B441A40B45B}"/>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639897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a:extLst>
              <a:ext uri="{FF2B5EF4-FFF2-40B4-BE49-F238E27FC236}">
                <a16:creationId xmlns:a16="http://schemas.microsoft.com/office/drawing/2014/main" id="{D407E2F2-53D7-4D47-8536-D902F65329D3}"/>
              </a:ext>
            </a:extLst>
          </p:cNvPr>
          <p:cNvSpPr>
            <a:spLocks noGrp="1"/>
          </p:cNvSpPr>
          <p:nvPr>
            <p:ph type="title" orient="vert"/>
          </p:nvPr>
        </p:nvSpPr>
        <p:spPr>
          <a:xfrm>
            <a:off x="8724900" y="365125"/>
            <a:ext cx="2628900" cy="5811838"/>
          </a:xfrm>
        </p:spPr>
        <p:txBody>
          <a:bodyPr vert="eaVert"/>
          <a:lstStyle/>
          <a:p>
            <a:r>
              <a:rPr lang="zh-TW" altLang="en-US"/>
              <a:t>按一下以編輯母片標題樣式</a:t>
            </a:r>
          </a:p>
        </p:txBody>
      </p:sp>
      <p:sp>
        <p:nvSpPr>
          <p:cNvPr id="3" name="直排文字版面配置區 2">
            <a:extLst>
              <a:ext uri="{FF2B5EF4-FFF2-40B4-BE49-F238E27FC236}">
                <a16:creationId xmlns:a16="http://schemas.microsoft.com/office/drawing/2014/main" id="{AEB11135-92E3-4798-9365-99DC4319D221}"/>
              </a:ext>
            </a:extLst>
          </p:cNvPr>
          <p:cNvSpPr>
            <a:spLocks noGrp="1"/>
          </p:cNvSpPr>
          <p:nvPr>
            <p:ph type="body" orient="vert" idx="1"/>
          </p:nvPr>
        </p:nvSpPr>
        <p:spPr>
          <a:xfrm>
            <a:off x="838200" y="365125"/>
            <a:ext cx="7734300" cy="5811838"/>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55D66D9F-EC40-4B77-81BD-B3B6ACD4C9DF}"/>
              </a:ext>
            </a:extLst>
          </p:cNvPr>
          <p:cNvSpPr>
            <a:spLocks noGrp="1"/>
          </p:cNvSpPr>
          <p:nvPr>
            <p:ph type="dt" sz="half" idx="10"/>
          </p:nvPr>
        </p:nvSpPr>
        <p:spPr/>
        <p:txBody>
          <a:bodyPr/>
          <a:lstStyle/>
          <a:p>
            <a:fld id="{16D42070-5DAD-4E7E-A6F8-25E560BC7BBC}" type="datetimeFigureOut">
              <a:rPr lang="zh-TW" altLang="en-US" smtClean="0"/>
              <a:t>2026/8/14</a:t>
            </a:fld>
            <a:endParaRPr lang="zh-TW" altLang="en-US"/>
          </a:p>
        </p:txBody>
      </p:sp>
      <p:sp>
        <p:nvSpPr>
          <p:cNvPr id="5" name="頁尾版面配置區 4">
            <a:extLst>
              <a:ext uri="{FF2B5EF4-FFF2-40B4-BE49-F238E27FC236}">
                <a16:creationId xmlns:a16="http://schemas.microsoft.com/office/drawing/2014/main" id="{328EDF41-8BB7-4F4D-866E-39DEF3CE579A}"/>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2A909E83-6E85-417E-A5C0-394F0D780B89}"/>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33666469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a:extLst>
              <a:ext uri="{FF2B5EF4-FFF2-40B4-BE49-F238E27FC236}">
                <a16:creationId xmlns:a16="http://schemas.microsoft.com/office/drawing/2014/main" id="{4809FC75-802D-4B19-AFA4-8A8D60B43C9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TW" altLang="en-US"/>
              <a:t>按一下以編輯母片標題樣式</a:t>
            </a:r>
          </a:p>
        </p:txBody>
      </p:sp>
      <p:sp>
        <p:nvSpPr>
          <p:cNvPr id="3" name="文字版面配置區 2">
            <a:extLst>
              <a:ext uri="{FF2B5EF4-FFF2-40B4-BE49-F238E27FC236}">
                <a16:creationId xmlns:a16="http://schemas.microsoft.com/office/drawing/2014/main" id="{3EE7658D-1874-4965-86A1-F9DC152E33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16D7FBAA-F52E-4E99-ABAC-AD4E8AA23C1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D42070-5DAD-4E7E-A6F8-25E560BC7BBC}" type="datetimeFigureOut">
              <a:rPr lang="zh-TW" altLang="en-US" smtClean="0"/>
              <a:t>2026/8/14</a:t>
            </a:fld>
            <a:endParaRPr lang="zh-TW" altLang="en-US"/>
          </a:p>
        </p:txBody>
      </p:sp>
      <p:sp>
        <p:nvSpPr>
          <p:cNvPr id="5" name="頁尾版面配置區 4">
            <a:extLst>
              <a:ext uri="{FF2B5EF4-FFF2-40B4-BE49-F238E27FC236}">
                <a16:creationId xmlns:a16="http://schemas.microsoft.com/office/drawing/2014/main" id="{E5AA8CD1-761B-436C-81CD-04B671C3147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TW" altLang="en-US"/>
          </a:p>
        </p:txBody>
      </p:sp>
      <p:sp>
        <p:nvSpPr>
          <p:cNvPr id="6" name="投影片編號版面配置區 5">
            <a:extLst>
              <a:ext uri="{FF2B5EF4-FFF2-40B4-BE49-F238E27FC236}">
                <a16:creationId xmlns:a16="http://schemas.microsoft.com/office/drawing/2014/main" id="{247BE989-E3A2-4C5A-A4B2-D5729A6C57B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123467099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15.png"/></Relationships>
</file>

<file path=ppt/slides/_rels/slide4.xml.rels><?xml version="1.0" encoding="UTF-8" standalone="yes"?>
<Relationships xmlns="http://schemas.openxmlformats.org/package/2006/relationships"><Relationship Id="rId8" Type="http://schemas.openxmlformats.org/officeDocument/2006/relationships/image" Target="../media/image21.png"/><Relationship Id="rId7" Type="http://schemas.openxmlformats.org/officeDocument/2006/relationships/image" Target="../media/image201.png"/><Relationship Id="rId12" Type="http://schemas.openxmlformats.org/officeDocument/2006/relationships/image" Target="../media/image9.png"/><Relationship Id="rId2" Type="http://schemas.openxmlformats.org/officeDocument/2006/relationships/image" Target="../media/image151.png"/><Relationship Id="rId1" Type="http://schemas.openxmlformats.org/officeDocument/2006/relationships/slideLayout" Target="../slideLayouts/slideLayout2.xml"/><Relationship Id="rId6" Type="http://schemas.openxmlformats.org/officeDocument/2006/relationships/image" Target="../media/image190.png"/><Relationship Id="rId11" Type="http://schemas.openxmlformats.org/officeDocument/2006/relationships/image" Target="../media/image8.png"/><Relationship Id="rId10" Type="http://schemas.openxmlformats.org/officeDocument/2006/relationships/image" Target="../media/image38.png"/><Relationship Id="rId9" Type="http://schemas.openxmlformats.org/officeDocument/2006/relationships/image" Target="../media/image37.png"/><Relationship Id="rId4" Type="http://schemas.openxmlformats.org/officeDocument/2006/relationships/image" Target="../media/image170.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39.png"/></Relationships>
</file>

<file path=ppt/slides/_rels/slide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42.png"/></Relationships>
</file>

<file path=ppt/slides/_rels/slide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16.png"/><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46.png"/></Relationships>
</file>

<file path=ppt/slides/_rels/slide9.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0.png"/><Relationship Id="rId1" Type="http://schemas.openxmlformats.org/officeDocument/2006/relationships/slideLayout" Target="../slideLayouts/slideLayout2.xml"/><Relationship Id="rId6" Type="http://schemas.openxmlformats.org/officeDocument/2006/relationships/image" Target="../media/image55.png"/><Relationship Id="rId5" Type="http://schemas.openxmlformats.org/officeDocument/2006/relationships/image" Target="../media/image54.png"/><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8" Type="http://schemas.openxmlformats.org/officeDocument/2006/relationships/image" Target="../media/image240.png"/><Relationship Id="rId3" Type="http://schemas.openxmlformats.org/officeDocument/2006/relationships/image" Target="../media/image19.png"/><Relationship Id="rId7" Type="http://schemas.openxmlformats.org/officeDocument/2006/relationships/image" Target="../media/image230.png"/><Relationship Id="rId2" Type="http://schemas.openxmlformats.org/officeDocument/2006/relationships/image" Target="../media/image140.png"/><Relationship Id="rId1" Type="http://schemas.openxmlformats.org/officeDocument/2006/relationships/slideLayout" Target="../slideLayouts/slideLayout2.xml"/><Relationship Id="rId6" Type="http://schemas.openxmlformats.org/officeDocument/2006/relationships/image" Target="../media/image220.png"/><Relationship Id="rId11" Type="http://schemas.openxmlformats.org/officeDocument/2006/relationships/image" Target="../media/image270.png"/><Relationship Id="rId5" Type="http://schemas.openxmlformats.org/officeDocument/2006/relationships/image" Target="../media/image210.png"/><Relationship Id="rId10" Type="http://schemas.openxmlformats.org/officeDocument/2006/relationships/image" Target="../media/image260.png"/><Relationship Id="rId4" Type="http://schemas.openxmlformats.org/officeDocument/2006/relationships/image" Target="../media/image200.png"/><Relationship Id="rId9" Type="http://schemas.openxmlformats.org/officeDocument/2006/relationships/image" Target="../media/image250.png"/></Relationships>
</file>

<file path=ppt/slides/_rels/slide1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4.png"/><Relationship Id="rId3" Type="http://schemas.openxmlformats.org/officeDocument/2006/relationships/image" Target="../media/image24.png"/><Relationship Id="rId7" Type="http://schemas.openxmlformats.org/officeDocument/2006/relationships/image" Target="../media/image28.png"/><Relationship Id="rId12" Type="http://schemas.openxmlformats.org/officeDocument/2006/relationships/image" Target="../media/image33.pn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7.png"/><Relationship Id="rId11" Type="http://schemas.openxmlformats.org/officeDocument/2006/relationships/image" Target="../media/image32.png"/><Relationship Id="rId5" Type="http://schemas.openxmlformats.org/officeDocument/2006/relationships/image" Target="../media/image26.pn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png"/></Relationships>
</file>

<file path=ppt/slides/_rels/slide13.xml.rels><?xml version="1.0" encoding="UTF-8" standalone="yes"?>
<Relationships xmlns="http://schemas.openxmlformats.org/package/2006/relationships"><Relationship Id="rId13" Type="http://schemas.openxmlformats.org/officeDocument/2006/relationships/image" Target="../media/image440.png"/><Relationship Id="rId12" Type="http://schemas.openxmlformats.org/officeDocument/2006/relationships/image" Target="../media/image36.png"/><Relationship Id="rId2" Type="http://schemas.openxmlformats.org/officeDocument/2006/relationships/image" Target="../media/image35.png"/><Relationship Id="rId16" Type="http://schemas.openxmlformats.org/officeDocument/2006/relationships/image" Target="../media/image56.png"/><Relationship Id="rId1" Type="http://schemas.openxmlformats.org/officeDocument/2006/relationships/slideLayout" Target="../slideLayouts/slideLayout2.xml"/><Relationship Id="rId11" Type="http://schemas.openxmlformats.org/officeDocument/2006/relationships/image" Target="../media/image420.png"/><Relationship Id="rId15" Type="http://schemas.openxmlformats.org/officeDocument/2006/relationships/image" Target="../media/image59.png"/><Relationship Id="rId10" Type="http://schemas.openxmlformats.org/officeDocument/2006/relationships/image" Target="../media/image410.png"/><Relationship Id="rId9" Type="http://schemas.openxmlformats.org/officeDocument/2006/relationships/image" Target="../media/image400.png"/><Relationship Id="rId14" Type="http://schemas.openxmlformats.org/officeDocument/2006/relationships/image" Target="../media/image450.png"/><Relationship Id="rId4" Type="http://schemas.openxmlformats.org/officeDocument/2006/relationships/image" Target="../media/image310.png"/></Relationships>
</file>

<file path=ppt/slides/_rels/slide14.xml.rels><?xml version="1.0" encoding="UTF-8" standalone="yes"?>
<Relationships xmlns="http://schemas.openxmlformats.org/package/2006/relationships"><Relationship Id="rId3" Type="http://schemas.openxmlformats.org/officeDocument/2006/relationships/image" Target="../media/image62.png"/><Relationship Id="rId7" Type="http://schemas.openxmlformats.org/officeDocument/2006/relationships/image" Target="../media/image66.png"/><Relationship Id="rId2" Type="http://schemas.openxmlformats.org/officeDocument/2006/relationships/image" Target="../media/image40.png"/><Relationship Id="rId1" Type="http://schemas.openxmlformats.org/officeDocument/2006/relationships/slideLayout" Target="../slideLayouts/slideLayout2.xml"/><Relationship Id="rId6" Type="http://schemas.openxmlformats.org/officeDocument/2006/relationships/image" Target="../media/image65.png"/><Relationship Id="rId5" Type="http://schemas.openxmlformats.org/officeDocument/2006/relationships/image" Target="../media/image43.png"/><Relationship Id="rId4" Type="http://schemas.openxmlformats.org/officeDocument/2006/relationships/image" Target="../media/image63.png"/></Relationships>
</file>

<file path=ppt/slides/_rels/slide15.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44.png"/><Relationship Id="rId1" Type="http://schemas.openxmlformats.org/officeDocument/2006/relationships/slideLayout" Target="../slideLayouts/slideLayout2.xml"/><Relationship Id="rId6" Type="http://schemas.openxmlformats.org/officeDocument/2006/relationships/image" Target="../media/image71.png"/><Relationship Id="rId5" Type="http://schemas.openxmlformats.org/officeDocument/2006/relationships/image" Target="../media/image70.png"/><Relationship Id="rId4" Type="http://schemas.openxmlformats.org/officeDocument/2006/relationships/image" Target="../media/image69.png"/></Relationships>
</file>

<file path=ppt/slides/_rels/slide1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 Id="rId5" Type="http://schemas.openxmlformats.org/officeDocument/2006/relationships/image" Target="../media/image50.png"/><Relationship Id="rId4" Type="http://schemas.openxmlformats.org/officeDocument/2006/relationships/image" Target="../media/image4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A29E60B-ABEB-4B38-8D6C-620B64DB3808}"/>
              </a:ext>
            </a:extLst>
          </p:cNvPr>
          <p:cNvSpPr>
            <a:spLocks noGrp="1"/>
          </p:cNvSpPr>
          <p:nvPr>
            <p:ph type="ctrTitle"/>
          </p:nvPr>
        </p:nvSpPr>
        <p:spPr>
          <a:xfrm>
            <a:off x="423333" y="868362"/>
            <a:ext cx="11345334" cy="2387600"/>
          </a:xfrm>
        </p:spPr>
        <p:txBody>
          <a:bodyPr>
            <a:normAutofit/>
          </a:bodyPr>
          <a:lstStyle/>
          <a:p>
            <a:pPr>
              <a:lnSpc>
                <a:spcPct val="115000"/>
              </a:lnSpc>
              <a:spcAft>
                <a:spcPts val="100"/>
              </a:spcAft>
            </a:pPr>
            <a:r>
              <a:rPr lang="en-US" altLang="zh-TW" sz="2800" b="1" kern="100" dirty="0">
                <a:solidFill>
                  <a:srgbClr val="000000"/>
                </a:solidFill>
                <a:effectLst/>
                <a:latin typeface="Aptos"/>
                <a:ea typeface="新細明體" panose="02020500000000000000" pitchFamily="18" charset="-120"/>
                <a:cs typeface="Times New Roman" panose="02020603050405020304" pitchFamily="18" charset="0"/>
              </a:rPr>
              <a:t>A Lumped-Parameter Modeling, Calibration, and Capacity-Measure Framework for Flux Generation in Symmetric</a:t>
            </a:r>
            <a:br>
              <a:rPr lang="zh-TW" altLang="zh-TW" sz="2800" kern="100" dirty="0">
                <a:effectLst/>
                <a:latin typeface="Aptos"/>
                <a:ea typeface="新細明體" panose="02020500000000000000" pitchFamily="18" charset="-120"/>
                <a:cs typeface="Times New Roman" panose="02020603050405020304" pitchFamily="18" charset="0"/>
              </a:rPr>
            </a:br>
            <a:r>
              <a:rPr lang="en-US" altLang="zh-TW" sz="2800" b="1" dirty="0">
                <a:solidFill>
                  <a:srgbClr val="000000"/>
                </a:solidFill>
                <a:effectLst/>
                <a:latin typeface="Aptos"/>
                <a:ea typeface="新細明體" panose="02020500000000000000" pitchFamily="18" charset="-120"/>
                <a:cs typeface="Times New Roman" panose="02020603050405020304" pitchFamily="18" charset="0"/>
              </a:rPr>
              <a:t>Multipole Electromagnetic Actuators </a:t>
            </a:r>
            <a:endParaRPr lang="zh-TW" altLang="en-US" sz="8000" dirty="0"/>
          </a:p>
        </p:txBody>
      </p:sp>
      <p:sp>
        <p:nvSpPr>
          <p:cNvPr id="3" name="副標題 2">
            <a:extLst>
              <a:ext uri="{FF2B5EF4-FFF2-40B4-BE49-F238E27FC236}">
                <a16:creationId xmlns:a16="http://schemas.microsoft.com/office/drawing/2014/main" id="{19B95CEF-03F4-426E-B312-4404BF04FCFA}"/>
              </a:ext>
            </a:extLst>
          </p:cNvPr>
          <p:cNvSpPr>
            <a:spLocks noGrp="1"/>
          </p:cNvSpPr>
          <p:nvPr>
            <p:ph type="subTitle" idx="1"/>
          </p:nvPr>
        </p:nvSpPr>
        <p:spPr>
          <a:xfrm>
            <a:off x="1524000" y="4203171"/>
            <a:ext cx="9144000" cy="1655762"/>
          </a:xfrm>
        </p:spPr>
        <p:txBody>
          <a:bodyPr/>
          <a:lstStyle/>
          <a:p>
            <a:endParaRPr lang="zh-TW" altLang="en-US" sz="2800" b="1" kern="100" dirty="0">
              <a:solidFill>
                <a:srgbClr val="000000"/>
              </a:solidFill>
              <a:latin typeface="Aptos"/>
              <a:ea typeface="新細明體" panose="02020500000000000000" pitchFamily="18" charset="-120"/>
              <a:cs typeface="Times New Roman" panose="02020603050405020304" pitchFamily="18" charset="0"/>
            </a:endParaRPr>
          </a:p>
        </p:txBody>
      </p:sp>
    </p:spTree>
    <p:extLst>
      <p:ext uri="{BB962C8B-B14F-4D97-AF65-F5344CB8AC3E}">
        <p14:creationId xmlns:p14="http://schemas.microsoft.com/office/powerpoint/2010/main" val="4068006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265108"/>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p:sp>
        <p:nvSpPr>
          <p:cNvPr id="6" name="文字方塊 5">
            <a:extLst>
              <a:ext uri="{FF2B5EF4-FFF2-40B4-BE49-F238E27FC236}">
                <a16:creationId xmlns:a16="http://schemas.microsoft.com/office/drawing/2014/main" id="{31ACE95C-3F52-4F1D-AC27-AFA6A8DD7680}"/>
              </a:ext>
            </a:extLst>
          </p:cNvPr>
          <p:cNvSpPr txBox="1"/>
          <p:nvPr/>
        </p:nvSpPr>
        <p:spPr>
          <a:xfrm>
            <a:off x="27458" y="552713"/>
            <a:ext cx="4544541" cy="369332"/>
          </a:xfrm>
          <a:prstGeom prst="rect">
            <a:avLst/>
          </a:prstGeom>
          <a:noFill/>
        </p:spPr>
        <p:txBody>
          <a:bodyPr wrap="square" rtlCol="0">
            <a:spAutoFit/>
          </a:bodyPr>
          <a:lstStyle/>
          <a:p>
            <a:pPr marL="285750" indent="-285750">
              <a:buFont typeface="Wingdings" panose="05000000000000000000" pitchFamily="2" charset="2"/>
              <a:buChar char="l"/>
            </a:pPr>
            <a:r>
              <a:rPr lang="en-US" altLang="zh-TW" dirty="0">
                <a:latin typeface="Times New Roman" panose="02020603050405020304" pitchFamily="18" charset="0"/>
                <a:cs typeface="Times New Roman" panose="02020603050405020304" pitchFamily="18" charset="0"/>
              </a:rPr>
              <a:t>Interpolation Point Algorithm</a:t>
            </a:r>
            <a:endParaRPr lang="zh-TW" alt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2" name="文字方塊 11">
                <a:extLst>
                  <a:ext uri="{FF2B5EF4-FFF2-40B4-BE49-F238E27FC236}">
                    <a16:creationId xmlns:a16="http://schemas.microsoft.com/office/drawing/2014/main" id="{CCED5BA9-38C0-4DFD-921E-90F2FF1A615D}"/>
                  </a:ext>
                </a:extLst>
              </p:cNvPr>
              <p:cNvSpPr txBox="1"/>
              <p:nvPr/>
            </p:nvSpPr>
            <p:spPr>
              <a:xfrm>
                <a:off x="135467" y="1102250"/>
                <a:ext cx="5232404" cy="5784019"/>
              </a:xfrm>
              <a:prstGeom prst="rect">
                <a:avLst/>
              </a:prstGeom>
              <a:noFill/>
            </p:spPr>
            <p:txBody>
              <a:bodyPr wrap="square" rtlCol="0">
                <a:spAutoFit/>
              </a:bodyPr>
              <a:lstStyle/>
              <a:p>
                <a:pPr marL="342900" indent="-342900">
                  <a:buFont typeface="+mj-lt"/>
                  <a:buAutoNum type="arabicPeriod"/>
                </a:pPr>
                <a:r>
                  <a:rPr lang="en-US" altLang="zh-TW" dirty="0"/>
                  <a:t>Input </a:t>
                </a:r>
                <a14:m>
                  <m:oMath xmlns:m="http://schemas.openxmlformats.org/officeDocument/2006/math">
                    <m:sSub>
                      <m:sSubPr>
                        <m:ctrlPr>
                          <a:rPr lang="en-US" altLang="zh-TW" i="1" smtClean="0">
                            <a:latin typeface="Cambria Math" panose="02040503050406030204" pitchFamily="18" charset="0"/>
                          </a:rPr>
                        </m:ctrlPr>
                      </m:sSubPr>
                      <m:e>
                        <m:r>
                          <a:rPr lang="en-US" altLang="zh-TW" b="0" i="1" smtClean="0">
                            <a:latin typeface="Cambria Math" panose="02040503050406030204" pitchFamily="18" charset="0"/>
                          </a:rPr>
                          <m:t>𝑁</m:t>
                        </m:r>
                      </m:e>
                      <m:sub>
                        <m:r>
                          <a:rPr lang="en-US" altLang="zh-TW" b="0" i="1" smtClean="0">
                            <a:latin typeface="Cambria Math" panose="02040503050406030204" pitchFamily="18" charset="0"/>
                          </a:rPr>
                          <m:t>𝑟</m:t>
                        </m:r>
                      </m:sub>
                    </m:sSub>
                  </m:oMath>
                </a14:m>
                <a:r>
                  <a:rPr lang="en-US" altLang="zh-TW" dirty="0"/>
                  <a:t>,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zh-TW" altLang="en-US" i="1">
                            <a:latin typeface="Cambria Math" panose="02040503050406030204" pitchFamily="18" charset="0"/>
                          </a:rPr>
                          <m:t>𝜃</m:t>
                        </m:r>
                      </m:sub>
                    </m:sSub>
                  </m:oMath>
                </a14:m>
                <a:r>
                  <a:rPr lang="en-US" altLang="zh-TW" dirty="0"/>
                  <a:t>,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zh-TW" altLang="en-US" i="1">
                            <a:latin typeface="Cambria Math" panose="02040503050406030204" pitchFamily="18" charset="0"/>
                          </a:rPr>
                          <m:t>𝜙</m:t>
                        </m:r>
                      </m:sub>
                    </m:sSub>
                    <m:r>
                      <a:rPr lang="en-US" altLang="zh-TW" b="0" i="0" smtClean="0">
                        <a:latin typeface="Cambria Math" panose="02040503050406030204" pitchFamily="18" charset="0"/>
                      </a:rPr>
                      <m:t>,</m:t>
                    </m:r>
                    <m:r>
                      <a:rPr lang="en-US" altLang="zh-TW" b="0" i="1" smtClean="0">
                        <a:latin typeface="Cambria Math" panose="02040503050406030204" pitchFamily="18" charset="0"/>
                      </a:rPr>
                      <m:t>𝑅</m:t>
                    </m:r>
                  </m:oMath>
                </a14:m>
                <a:r>
                  <a:rPr lang="zh-TW" altLang="en-US" dirty="0"/>
                  <a:t>，</a:t>
                </a:r>
                <a:r>
                  <a:rPr lang="en-US" altLang="zh-TW" dirty="0"/>
                  <a:t> These represent the numbers of divisions required along the three coordinate directions of the sphere</a:t>
                </a:r>
                <a:r>
                  <a:rPr lang="zh-TW" altLang="en-US" dirty="0"/>
                  <a:t>，</a:t>
                </a:r>
                <a:r>
                  <a:rPr lang="en-US" altLang="zh-TW" dirty="0"/>
                  <a:t> where </a:t>
                </a:r>
                <a14:m>
                  <m:oMath xmlns:m="http://schemas.openxmlformats.org/officeDocument/2006/math">
                    <m:r>
                      <a:rPr lang="en-US" altLang="zh-TW" b="0" i="1" smtClean="0">
                        <a:latin typeface="Cambria Math" panose="02040503050406030204" pitchFamily="18" charset="0"/>
                      </a:rPr>
                      <m:t>𝑟</m:t>
                    </m:r>
                    <m:r>
                      <a:rPr lang="en-US" altLang="zh-TW" i="1">
                        <a:latin typeface="Cambria Math" panose="02040503050406030204" pitchFamily="18" charset="0"/>
                        <a:ea typeface="Cambria Math" panose="02040503050406030204" pitchFamily="18" charset="0"/>
                      </a:rPr>
                      <m:t>𝜖</m:t>
                    </m:r>
                    <m: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0</m:t>
                    </m:r>
                    <m:r>
                      <a:rPr lang="en-US" altLang="zh-TW" b="0" i="1" smtClean="0">
                        <a:latin typeface="Cambria Math" panose="02040503050406030204" pitchFamily="18" charset="0"/>
                        <a:ea typeface="Cambria Math" panose="02040503050406030204" pitchFamily="18" charset="0"/>
                      </a:rPr>
                      <m:t>  </m:t>
                    </m:r>
                    <m:r>
                      <a:rPr lang="en-US" altLang="zh-TW" b="0" i="1" smtClean="0">
                        <a:latin typeface="Cambria Math" panose="02040503050406030204" pitchFamily="18" charset="0"/>
                        <a:ea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m:t>
                    </m:r>
                  </m:oMath>
                </a14:m>
                <a:r>
                  <a:rPr lang="zh-TW" altLang="en-US" dirty="0"/>
                  <a:t>，</a:t>
                </a:r>
                <a14:m>
                  <m:oMath xmlns:m="http://schemas.openxmlformats.org/officeDocument/2006/math">
                    <m:r>
                      <a:rPr lang="zh-TW" altLang="en-US" i="1" smtClean="0">
                        <a:latin typeface="Cambria Math" panose="02040503050406030204" pitchFamily="18" charset="0"/>
                      </a:rPr>
                      <m:t>𝜃𝜖</m:t>
                    </m:r>
                    <m:d>
                      <m:dPr>
                        <m:begChr m:val="["/>
                        <m:endChr m:val="]"/>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0</m:t>
                        </m:r>
                        <m:r>
                          <a:rPr lang="en-US" altLang="zh-TW" b="0" i="1" smtClean="0">
                            <a:latin typeface="Cambria Math" panose="02040503050406030204" pitchFamily="18" charset="0"/>
                          </a:rPr>
                          <m:t>  </m:t>
                        </m:r>
                        <m:r>
                          <a:rPr lang="en-US" altLang="zh-TW" b="0" i="1" smtClean="0">
                            <a:latin typeface="Cambria Math" panose="02040503050406030204" pitchFamily="18" charset="0"/>
                          </a:rPr>
                          <m:t>2</m:t>
                        </m:r>
                        <m:r>
                          <a:rPr lang="zh-TW" altLang="en-US" b="0" i="1" smtClean="0">
                            <a:latin typeface="Cambria Math" panose="02040503050406030204" pitchFamily="18" charset="0"/>
                          </a:rPr>
                          <m:t>𝜋</m:t>
                        </m:r>
                      </m:e>
                    </m:d>
                  </m:oMath>
                </a14:m>
                <a:r>
                  <a:rPr lang="zh-TW" altLang="en-US" dirty="0"/>
                  <a:t>，</a:t>
                </a:r>
                <a14:m>
                  <m:oMath xmlns:m="http://schemas.openxmlformats.org/officeDocument/2006/math">
                    <m:r>
                      <a:rPr lang="zh-TW" altLang="en-US" i="1" dirty="0" smtClean="0">
                        <a:latin typeface="Cambria Math" panose="02040503050406030204" pitchFamily="18" charset="0"/>
                      </a:rPr>
                      <m:t>𝜙𝜖</m:t>
                    </m:r>
                    <m:r>
                      <a:rPr lang="en-US" altLang="zh-TW" b="0" i="1" dirty="0" smtClean="0">
                        <a:latin typeface="Cambria Math" panose="02040503050406030204" pitchFamily="18" charset="0"/>
                      </a:rPr>
                      <m:t>[</m:t>
                    </m:r>
                    <m:r>
                      <a:rPr lang="en-US" altLang="zh-TW" b="0" i="1" dirty="0" smtClean="0">
                        <a:latin typeface="Cambria Math" panose="02040503050406030204" pitchFamily="18" charset="0"/>
                        <a:ea typeface="Cambria Math" panose="02040503050406030204" pitchFamily="18" charset="0"/>
                      </a:rPr>
                      <m:t>−</m:t>
                    </m:r>
                    <m:f>
                      <m:fPr>
                        <m:ctrlPr>
                          <a:rPr lang="en-US" altLang="zh-TW" b="0" i="1" dirty="0" smtClean="0">
                            <a:latin typeface="Cambria Math" panose="02040503050406030204" pitchFamily="18" charset="0"/>
                            <a:ea typeface="Cambria Math" panose="02040503050406030204" pitchFamily="18" charset="0"/>
                          </a:rPr>
                        </m:ctrlPr>
                      </m:fPr>
                      <m:num>
                        <m:r>
                          <a:rPr lang="zh-TW" altLang="en-US" b="0" i="1" dirty="0" smtClean="0">
                            <a:latin typeface="Cambria Math" panose="02040503050406030204" pitchFamily="18" charset="0"/>
                            <a:ea typeface="Cambria Math" panose="02040503050406030204" pitchFamily="18" charset="0"/>
                          </a:rPr>
                          <m:t>𝜋</m:t>
                        </m:r>
                      </m:num>
                      <m:den>
                        <m:r>
                          <a:rPr lang="en-US" altLang="zh-TW" b="0" i="1" dirty="0" smtClean="0">
                            <a:latin typeface="Cambria Math" panose="02040503050406030204" pitchFamily="18" charset="0"/>
                            <a:ea typeface="Cambria Math" panose="02040503050406030204" pitchFamily="18" charset="0"/>
                          </a:rPr>
                          <m:t>2</m:t>
                        </m:r>
                      </m:den>
                    </m:f>
                    <m:r>
                      <a:rPr lang="en-US" altLang="zh-TW" b="0" i="1" dirty="0" smtClean="0">
                        <a:latin typeface="Cambria Math" panose="02040503050406030204" pitchFamily="18" charset="0"/>
                        <a:ea typeface="Cambria Math" panose="02040503050406030204" pitchFamily="18" charset="0"/>
                      </a:rPr>
                      <m:t>   </m:t>
                    </m:r>
                    <m:f>
                      <m:fPr>
                        <m:ctrlPr>
                          <a:rPr lang="en-US" altLang="zh-TW" b="0" i="1" dirty="0" smtClean="0">
                            <a:latin typeface="Cambria Math" panose="02040503050406030204" pitchFamily="18" charset="0"/>
                            <a:ea typeface="Cambria Math" panose="02040503050406030204" pitchFamily="18" charset="0"/>
                          </a:rPr>
                        </m:ctrlPr>
                      </m:fPr>
                      <m:num>
                        <m:r>
                          <a:rPr lang="zh-TW" altLang="en-US" b="0" i="1" dirty="0" smtClean="0">
                            <a:latin typeface="Cambria Math" panose="02040503050406030204" pitchFamily="18" charset="0"/>
                            <a:ea typeface="Cambria Math" panose="02040503050406030204" pitchFamily="18" charset="0"/>
                          </a:rPr>
                          <m:t>𝜋</m:t>
                        </m:r>
                      </m:num>
                      <m:den>
                        <m:r>
                          <a:rPr lang="en-US" altLang="zh-TW" b="0" i="1" dirty="0" smtClean="0">
                            <a:latin typeface="Cambria Math" panose="02040503050406030204" pitchFamily="18" charset="0"/>
                            <a:ea typeface="Cambria Math" panose="02040503050406030204" pitchFamily="18" charset="0"/>
                          </a:rPr>
                          <m:t>2</m:t>
                        </m:r>
                      </m:den>
                    </m:f>
                    <m:r>
                      <a:rPr lang="en-US" altLang="zh-TW" b="0" i="1" dirty="0" smtClean="0">
                        <a:latin typeface="Cambria Math" panose="02040503050406030204" pitchFamily="18" charset="0"/>
                        <a:ea typeface="Cambria Math" panose="02040503050406030204" pitchFamily="18" charset="0"/>
                      </a:rPr>
                      <m:t>]</m:t>
                    </m:r>
                  </m:oMath>
                </a14:m>
                <a:r>
                  <a:rPr lang="zh-TW" altLang="en-US" dirty="0"/>
                  <a:t>。</a:t>
                </a:r>
                <a:endParaRPr lang="en-US" altLang="zh-TW" dirty="0"/>
              </a:p>
              <a:p>
                <a:pPr marL="342900" indent="-342900">
                  <a:buFont typeface="+mj-lt"/>
                  <a:buAutoNum type="arabicPeriod"/>
                </a:pPr>
                <a:endParaRPr lang="en-US" altLang="zh-TW" dirty="0"/>
              </a:p>
              <a:p>
                <a:pPr marL="342900" indent="-342900">
                  <a:buFont typeface="+mj-lt"/>
                  <a:buAutoNum type="arabicPeriod"/>
                </a:pPr>
                <a:r>
                  <a:rPr lang="en-US" altLang="zh-TW" dirty="0"/>
                  <a:t>The sphere is uniformly divided along its three coordinate directions according to the following three equations.</a:t>
                </a:r>
              </a:p>
              <a:p>
                <a:pPr/>
                <a14:m>
                  <m:oMathPara xmlns:m="http://schemas.openxmlformats.org/officeDocument/2006/math">
                    <m:oMathParaPr>
                      <m:jc m:val="centerGroup"/>
                    </m:oMathParaPr>
                    <m:oMath xmlns:m="http://schemas.openxmlformats.org/officeDocument/2006/math">
                      <m:sSub>
                        <m:sSubPr>
                          <m:ctrlPr>
                            <a:rPr lang="en-US" altLang="zh-TW" i="1" smtClean="0">
                              <a:latin typeface="Cambria Math" panose="02040503050406030204" pitchFamily="18" charset="0"/>
                            </a:rPr>
                          </m:ctrlPr>
                        </m:sSubPr>
                        <m:e>
                          <m:r>
                            <a:rPr lang="en-US" altLang="zh-TW" b="0" i="1" smtClean="0">
                              <a:latin typeface="Cambria Math" panose="02040503050406030204" pitchFamily="18" charset="0"/>
                            </a:rPr>
                            <m:t>𝑟</m:t>
                          </m:r>
                        </m:e>
                        <m:sub>
                          <m:r>
                            <a:rPr lang="en-US" altLang="zh-TW" b="0" i="1" smtClean="0">
                              <a:latin typeface="Cambria Math" panose="02040503050406030204" pitchFamily="18" charset="0"/>
                            </a:rPr>
                            <m:t>𝑖</m:t>
                          </m:r>
                        </m:sub>
                      </m:sSub>
                      <m:r>
                        <a:rPr lang="en-US" altLang="zh-TW" b="0" i="1" smtClean="0">
                          <a:latin typeface="Cambria Math" panose="02040503050406030204" pitchFamily="18" charset="0"/>
                        </a:rPr>
                        <m:t>=</m:t>
                      </m:r>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m:t>
                      </m:r>
                      <m:sSup>
                        <m:sSupPr>
                          <m:ctrlPr>
                            <a:rPr lang="en-US" altLang="zh-TW" b="0" i="1" smtClean="0">
                              <a:latin typeface="Cambria Math" panose="02040503050406030204" pitchFamily="18" charset="0"/>
                              <a:ea typeface="Cambria Math" panose="02040503050406030204" pitchFamily="18" charset="0"/>
                            </a:rPr>
                          </m:ctrlPr>
                        </m:sSupPr>
                        <m:e>
                          <m:d>
                            <m:dPr>
                              <m:ctrlPr>
                                <a:rPr lang="en-US" altLang="zh-TW" b="0" i="1" smtClean="0">
                                  <a:latin typeface="Cambria Math" panose="02040503050406030204" pitchFamily="18" charset="0"/>
                                  <a:ea typeface="Cambria Math" panose="02040503050406030204" pitchFamily="18" charset="0"/>
                                </a:rPr>
                              </m:ctrlPr>
                            </m:dPr>
                            <m:e>
                              <m:f>
                                <m:fPr>
                                  <m:ctrlPr>
                                    <a:rPr lang="en-US" altLang="zh-TW" b="0" i="1" smtClean="0">
                                      <a:latin typeface="Cambria Math" panose="02040503050406030204" pitchFamily="18" charset="0"/>
                                      <a:ea typeface="Cambria Math" panose="02040503050406030204" pitchFamily="18" charset="0"/>
                                    </a:rPr>
                                  </m:ctrlPr>
                                </m:fPr>
                                <m:num>
                                  <m:r>
                                    <a:rPr lang="en-US" altLang="zh-TW" b="0" i="1" smtClean="0">
                                      <a:latin typeface="Cambria Math" panose="02040503050406030204" pitchFamily="18" charset="0"/>
                                      <a:ea typeface="Cambria Math" panose="02040503050406030204" pitchFamily="18" charset="0"/>
                                    </a:rPr>
                                    <m:t>𝑖</m:t>
                                  </m:r>
                                  <m: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0</m:t>
                                  </m:r>
                                  <m: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5</m:t>
                                  </m:r>
                                </m:num>
                                <m:den>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𝑁</m:t>
                                      </m:r>
                                    </m:e>
                                    <m:sub>
                                      <m:r>
                                        <a:rPr lang="en-US" altLang="zh-TW" b="0" i="1" smtClean="0">
                                          <a:latin typeface="Cambria Math" panose="02040503050406030204" pitchFamily="18" charset="0"/>
                                          <a:ea typeface="Cambria Math" panose="02040503050406030204" pitchFamily="18" charset="0"/>
                                        </a:rPr>
                                        <m:t>𝑟</m:t>
                                      </m:r>
                                    </m:sub>
                                  </m:sSub>
                                </m:den>
                              </m:f>
                            </m:e>
                          </m:d>
                        </m:e>
                        <m:sup>
                          <m:f>
                            <m:fPr>
                              <m:ctrlPr>
                                <a:rPr lang="en-US" altLang="zh-TW" b="0" i="1" smtClean="0">
                                  <a:latin typeface="Cambria Math" panose="02040503050406030204" pitchFamily="18" charset="0"/>
                                  <a:ea typeface="Cambria Math" panose="02040503050406030204" pitchFamily="18" charset="0"/>
                                </a:rPr>
                              </m:ctrlPr>
                            </m:fPr>
                            <m:num>
                              <m:r>
                                <a:rPr lang="en-US" altLang="zh-TW" b="0" i="1" smtClean="0">
                                  <a:latin typeface="Cambria Math" panose="02040503050406030204" pitchFamily="18" charset="0"/>
                                  <a:ea typeface="Cambria Math" panose="02040503050406030204" pitchFamily="18" charset="0"/>
                                </a:rPr>
                                <m:t>1</m:t>
                              </m:r>
                            </m:num>
                            <m:den>
                              <m:r>
                                <a:rPr lang="en-US" altLang="zh-TW" b="0" i="1" smtClean="0">
                                  <a:latin typeface="Cambria Math" panose="02040503050406030204" pitchFamily="18" charset="0"/>
                                  <a:ea typeface="Cambria Math" panose="02040503050406030204" pitchFamily="18" charset="0"/>
                                </a:rPr>
                                <m:t>3</m:t>
                              </m:r>
                            </m:den>
                          </m:f>
                        </m:sup>
                      </m:sSup>
                      <m: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𝑖</m:t>
                      </m:r>
                      <m: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1</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𝑁</m:t>
                          </m:r>
                        </m:e>
                        <m:sub>
                          <m:r>
                            <a:rPr lang="en-US" altLang="zh-TW" b="0" i="1" smtClean="0">
                              <a:latin typeface="Cambria Math" panose="02040503050406030204" pitchFamily="18" charset="0"/>
                              <a:ea typeface="Cambria Math" panose="02040503050406030204" pitchFamily="18" charset="0"/>
                            </a:rPr>
                            <m:t>𝑟</m:t>
                          </m:r>
                        </m:sub>
                      </m:sSub>
                    </m:oMath>
                  </m:oMathPara>
                </a14:m>
                <a:endParaRPr lang="en-US" altLang="zh-TW" dirty="0"/>
              </a:p>
              <a:p>
                <a:pPr/>
                <a14:m>
                  <m:oMathPara xmlns:m="http://schemas.openxmlformats.org/officeDocument/2006/math">
                    <m:oMathParaPr>
                      <m:jc m:val="centerGroup"/>
                    </m:oMathParaPr>
                    <m:oMath xmlns:m="http://schemas.openxmlformats.org/officeDocument/2006/math">
                      <m:sSub>
                        <m:sSubPr>
                          <m:ctrlPr>
                            <a:rPr lang="en-US" altLang="zh-TW" i="1" smtClean="0">
                              <a:latin typeface="Cambria Math" panose="02040503050406030204" pitchFamily="18" charset="0"/>
                            </a:rPr>
                          </m:ctrlPr>
                        </m:sSubPr>
                        <m:e>
                          <m:r>
                            <a:rPr lang="zh-TW" altLang="en-US" i="1" smtClean="0">
                              <a:latin typeface="Cambria Math" panose="02040503050406030204" pitchFamily="18" charset="0"/>
                            </a:rPr>
                            <m:t>𝜙</m:t>
                          </m:r>
                        </m:e>
                        <m:sub>
                          <m:r>
                            <a:rPr lang="en-US" altLang="zh-TW" b="0" i="1" smtClean="0">
                              <a:latin typeface="Cambria Math" panose="02040503050406030204" pitchFamily="18" charset="0"/>
                            </a:rPr>
                            <m:t>𝑗</m:t>
                          </m:r>
                        </m:sub>
                      </m:sSub>
                      <m:r>
                        <a:rPr lang="en-US" altLang="zh-TW" b="0" i="1" smtClean="0">
                          <a:latin typeface="Cambria Math" panose="02040503050406030204" pitchFamily="18" charset="0"/>
                        </a:rPr>
                        <m:t>=</m:t>
                      </m:r>
                      <m:sSup>
                        <m:sSupPr>
                          <m:ctrlPr>
                            <a:rPr lang="en-US" altLang="zh-TW" b="0" i="1" smtClean="0">
                              <a:latin typeface="Cambria Math" panose="02040503050406030204" pitchFamily="18" charset="0"/>
                            </a:rPr>
                          </m:ctrlPr>
                        </m:sSupPr>
                        <m:e>
                          <m:r>
                            <a:rPr lang="en-US" altLang="zh-TW" b="0" i="1" smtClean="0">
                              <a:latin typeface="Cambria Math" panose="02040503050406030204" pitchFamily="18" charset="0"/>
                            </a:rPr>
                            <m:t>𝑐𝑜𝑠</m:t>
                          </m:r>
                        </m:e>
                        <m:sup>
                          <m:r>
                            <a:rPr lang="en-US" altLang="zh-TW" b="0" i="1" smtClean="0">
                              <a:latin typeface="Cambria Math" panose="02040503050406030204" pitchFamily="18" charset="0"/>
                            </a:rPr>
                            <m:t>−</m:t>
                          </m:r>
                          <m:r>
                            <a:rPr lang="en-US" altLang="zh-TW" b="0" i="1" smtClean="0">
                              <a:latin typeface="Cambria Math" panose="02040503050406030204" pitchFamily="18" charset="0"/>
                            </a:rPr>
                            <m:t>1</m:t>
                          </m:r>
                        </m:sup>
                      </m:sSup>
                      <m:d>
                        <m:dPr>
                          <m:begChr m:val="["/>
                          <m:endChr m:val="]"/>
                          <m:ctrlPr>
                            <a:rPr lang="en-US" altLang="zh-TW" b="0" i="1" smtClean="0">
                              <a:latin typeface="Cambria Math" panose="02040503050406030204" pitchFamily="18" charset="0"/>
                            </a:rPr>
                          </m:ctrlPr>
                        </m:dPr>
                        <m:e>
                          <m:r>
                            <a:rPr lang="en-US" altLang="zh-TW" i="1">
                              <a:latin typeface="Cambria Math" panose="02040503050406030204" pitchFamily="18" charset="0"/>
                            </a:rPr>
                            <m:t>1</m:t>
                          </m:r>
                          <m:r>
                            <a:rPr lang="en-US" altLang="zh-TW" i="1">
                              <a:latin typeface="Cambria Math" panose="02040503050406030204" pitchFamily="18" charset="0"/>
                            </a:rPr>
                            <m:t>−</m:t>
                          </m:r>
                          <m:f>
                            <m:fPr>
                              <m:ctrlPr>
                                <a:rPr lang="en-US" altLang="zh-TW" i="1">
                                  <a:latin typeface="Cambria Math" panose="02040503050406030204" pitchFamily="18" charset="0"/>
                                </a:rPr>
                              </m:ctrlPr>
                            </m:fPr>
                            <m:num>
                              <m:d>
                                <m:dPr>
                                  <m:ctrlPr>
                                    <a:rPr lang="en-US" altLang="zh-TW" i="1">
                                      <a:latin typeface="Cambria Math" panose="02040503050406030204" pitchFamily="18" charset="0"/>
                                    </a:rPr>
                                  </m:ctrlPr>
                                </m:dPr>
                                <m:e>
                                  <m:r>
                                    <a:rPr lang="en-US" altLang="zh-TW" i="1">
                                      <a:latin typeface="Cambria Math" panose="02040503050406030204" pitchFamily="18" charset="0"/>
                                    </a:rPr>
                                    <m:t>2</m:t>
                                  </m:r>
                                  <m:r>
                                    <a:rPr lang="en-US" altLang="zh-TW" b="0" i="1" smtClean="0">
                                      <a:latin typeface="Cambria Math" panose="02040503050406030204" pitchFamily="18" charset="0"/>
                                    </a:rPr>
                                    <m:t>𝑗</m:t>
                                  </m:r>
                                  <m:r>
                                    <a:rPr lang="en-US" altLang="zh-TW" i="1">
                                      <a:latin typeface="Cambria Math" panose="02040503050406030204" pitchFamily="18" charset="0"/>
                                    </a:rPr>
                                    <m:t>−</m:t>
                                  </m:r>
                                  <m:r>
                                    <a:rPr lang="en-US" altLang="zh-TW" i="1">
                                      <a:latin typeface="Cambria Math" panose="02040503050406030204" pitchFamily="18" charset="0"/>
                                    </a:rPr>
                                    <m:t>1</m:t>
                                  </m:r>
                                </m:e>
                              </m:d>
                            </m:num>
                            <m:den>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el-GR" altLang="zh-TW" i="1">
                                      <a:latin typeface="Cambria Math" panose="02040503050406030204" pitchFamily="18" charset="0"/>
                                      <a:ea typeface="Cambria Math" panose="02040503050406030204" pitchFamily="18" charset="0"/>
                                    </a:rPr>
                                    <m:t>𝜙</m:t>
                                  </m:r>
                                </m:sub>
                              </m:sSub>
                            </m:den>
                          </m:f>
                        </m:e>
                      </m:d>
                      <m:r>
                        <a:rPr lang="en-US" altLang="zh-TW" b="0" i="1" smtClean="0">
                          <a:latin typeface="Cambria Math" panose="02040503050406030204" pitchFamily="18" charset="0"/>
                        </a:rPr>
                        <m:t>,</m:t>
                      </m:r>
                      <m:r>
                        <a:rPr lang="en-US" altLang="zh-TW" b="0" i="1" smtClean="0">
                          <a:latin typeface="Cambria Math" panose="02040503050406030204" pitchFamily="18" charset="0"/>
                        </a:rPr>
                        <m:t>𝑗</m:t>
                      </m:r>
                      <m:r>
                        <a:rPr lang="en-US" altLang="zh-TW" b="0" i="1" smtClean="0">
                          <a:latin typeface="Cambria Math" panose="02040503050406030204" pitchFamily="18" charset="0"/>
                        </a:rPr>
                        <m:t>=</m:t>
                      </m:r>
                      <m:r>
                        <a:rPr lang="en-US" altLang="zh-TW" b="0" i="1" smtClean="0">
                          <a:latin typeface="Cambria Math" panose="02040503050406030204" pitchFamily="18" charset="0"/>
                        </a:rPr>
                        <m:t>1</m:t>
                      </m:r>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𝑁</m:t>
                          </m:r>
                        </m:e>
                        <m:sub>
                          <m:r>
                            <a:rPr lang="zh-TW" altLang="en-US" b="0" i="1" smtClean="0">
                              <a:latin typeface="Cambria Math" panose="02040503050406030204" pitchFamily="18" charset="0"/>
                            </a:rPr>
                            <m:t>𝜙</m:t>
                          </m:r>
                        </m:sub>
                      </m:sSub>
                    </m:oMath>
                  </m:oMathPara>
                </a14:m>
                <a:endParaRPr lang="en-US" altLang="zh-TW" dirty="0"/>
              </a:p>
              <a:p>
                <a:pPr/>
                <a14:m>
                  <m:oMathPara xmlns:m="http://schemas.openxmlformats.org/officeDocument/2006/math">
                    <m:oMathParaPr>
                      <m:jc m:val="centerGroup"/>
                    </m:oMathParaPr>
                    <m:oMath xmlns:m="http://schemas.openxmlformats.org/officeDocument/2006/math">
                      <m:sSub>
                        <m:sSubPr>
                          <m:ctrlPr>
                            <a:rPr lang="en-US" altLang="zh-TW" i="1" smtClean="0">
                              <a:latin typeface="Cambria Math" panose="02040503050406030204" pitchFamily="18" charset="0"/>
                            </a:rPr>
                          </m:ctrlPr>
                        </m:sSubPr>
                        <m:e>
                          <m:r>
                            <a:rPr lang="zh-TW" altLang="en-US" i="1" smtClean="0">
                              <a:latin typeface="Cambria Math" panose="02040503050406030204" pitchFamily="18" charset="0"/>
                            </a:rPr>
                            <m:t>𝜃</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m:t>
                      </m:r>
                      <m:r>
                        <a:rPr lang="en-US" altLang="zh-TW" b="0" i="1" smtClean="0">
                          <a:latin typeface="Cambria Math" panose="02040503050406030204" pitchFamily="18" charset="0"/>
                        </a:rPr>
                        <m:t>2</m:t>
                      </m:r>
                      <m:r>
                        <a:rPr lang="zh-TW" altLang="en-US" b="0" i="1" smtClean="0">
                          <a:latin typeface="Cambria Math" panose="02040503050406030204" pitchFamily="18" charset="0"/>
                        </a:rPr>
                        <m:t>𝜋</m:t>
                      </m:r>
                      <m:r>
                        <a:rPr lang="en-US" altLang="zh-TW" i="1">
                          <a:latin typeface="Cambria Math" panose="02040503050406030204" pitchFamily="18" charset="0"/>
                          <a:ea typeface="Cambria Math" panose="02040503050406030204" pitchFamily="18" charset="0"/>
                        </a:rPr>
                        <m:t>∙</m:t>
                      </m:r>
                      <m:f>
                        <m:fPr>
                          <m:ctrlPr>
                            <a:rPr lang="en-US" altLang="zh-TW" i="1" smtClean="0">
                              <a:latin typeface="Cambria Math" panose="02040503050406030204" pitchFamily="18" charset="0"/>
                              <a:ea typeface="Cambria Math" panose="02040503050406030204" pitchFamily="18" charset="0"/>
                            </a:rPr>
                          </m:ctrlPr>
                        </m:fPr>
                        <m:num>
                          <m:r>
                            <a:rPr lang="en-US" altLang="zh-TW" b="0" i="1" smtClean="0">
                              <a:latin typeface="Cambria Math" panose="02040503050406030204" pitchFamily="18" charset="0"/>
                              <a:ea typeface="Cambria Math" panose="02040503050406030204" pitchFamily="18" charset="0"/>
                            </a:rPr>
                            <m:t>𝑘</m:t>
                          </m:r>
                          <m: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0</m:t>
                          </m:r>
                          <m: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5</m:t>
                          </m:r>
                        </m:num>
                        <m:den>
                          <m:sSub>
                            <m:sSubPr>
                              <m:ctrlPr>
                                <a:rPr lang="en-US" altLang="zh-TW"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𝑁</m:t>
                              </m:r>
                            </m:e>
                            <m:sub>
                              <m:r>
                                <a:rPr lang="zh-TW" altLang="en-US" i="1" smtClean="0">
                                  <a:latin typeface="Cambria Math" panose="02040503050406030204" pitchFamily="18" charset="0"/>
                                  <a:ea typeface="Cambria Math" panose="02040503050406030204" pitchFamily="18" charset="0"/>
                                </a:rPr>
                                <m:t>𝜃</m:t>
                              </m:r>
                            </m:sub>
                          </m:sSub>
                        </m:den>
                      </m:f>
                      <m:r>
                        <a:rPr lang="en-US" altLang="zh-TW" b="0" i="0" smtClean="0">
                          <a:latin typeface="Cambria Math" panose="02040503050406030204" pitchFamily="18" charset="0"/>
                          <a:ea typeface="Cambria Math" panose="02040503050406030204" pitchFamily="18" charset="0"/>
                        </a:rPr>
                        <m:t>,</m:t>
                      </m:r>
                      <m:r>
                        <m:rPr>
                          <m:sty m:val="p"/>
                        </m:rPr>
                        <a:rPr lang="en-US" altLang="zh-TW" b="0" i="0" smtClean="0">
                          <a:latin typeface="Cambria Math" panose="02040503050406030204" pitchFamily="18" charset="0"/>
                          <a:ea typeface="Cambria Math" panose="02040503050406030204" pitchFamily="18" charset="0"/>
                        </a:rPr>
                        <m:t>k</m:t>
                      </m:r>
                      <m:r>
                        <a:rPr lang="en-US" altLang="zh-TW" b="0" i="0" smtClean="0">
                          <a:latin typeface="Cambria Math" panose="02040503050406030204" pitchFamily="18" charset="0"/>
                          <a:ea typeface="Cambria Math" panose="02040503050406030204" pitchFamily="18" charset="0"/>
                        </a:rPr>
                        <m:t>=</m:t>
                      </m:r>
                      <m:r>
                        <a:rPr lang="en-US" altLang="zh-TW" b="0" i="0" smtClean="0">
                          <a:latin typeface="Cambria Math" panose="02040503050406030204" pitchFamily="18" charset="0"/>
                          <a:ea typeface="Cambria Math" panose="02040503050406030204" pitchFamily="18" charset="0"/>
                        </a:rPr>
                        <m:t>1</m:t>
                      </m:r>
                      <m:r>
                        <a:rPr lang="en-US" altLang="zh-TW" b="0" i="0"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𝑁</m:t>
                          </m:r>
                        </m:e>
                        <m:sub>
                          <m:r>
                            <a:rPr lang="zh-TW" altLang="en-US" b="0" i="1" smtClean="0">
                              <a:latin typeface="Cambria Math" panose="02040503050406030204" pitchFamily="18" charset="0"/>
                              <a:ea typeface="Cambria Math" panose="02040503050406030204" pitchFamily="18" charset="0"/>
                            </a:rPr>
                            <m:t>𝜃</m:t>
                          </m:r>
                        </m:sub>
                      </m:sSub>
                    </m:oMath>
                  </m:oMathPara>
                </a14:m>
                <a:endParaRPr lang="en-US" altLang="zh-TW" dirty="0"/>
              </a:p>
              <a:p>
                <a:pPr marL="342900" indent="-342900">
                  <a:buFont typeface="+mj-lt"/>
                  <a:buAutoNum type="arabicPeriod" startAt="3"/>
                </a:pPr>
                <a:r>
                  <a:rPr lang="en-US" altLang="zh-TW" dirty="0"/>
                  <a:t>Load the FEM data and filter out the air nodes.</a:t>
                </a:r>
              </a:p>
              <a:p>
                <a:pPr marL="342900" indent="-342900">
                  <a:buFont typeface="+mj-lt"/>
                  <a:buAutoNum type="arabicPeriod" startAt="3"/>
                </a:pPr>
                <a:endParaRPr lang="en-US" altLang="zh-TW" dirty="0"/>
              </a:p>
              <a:p>
                <a:pPr marL="342900" indent="-342900">
                  <a:buFont typeface="+mj-lt"/>
                  <a:buAutoNum type="arabicPeriod" startAt="3"/>
                </a:pPr>
                <a:endParaRPr lang="en-US" altLang="zh-TW" dirty="0"/>
              </a:p>
              <a:p>
                <a:pPr marL="342900" indent="-342900">
                  <a:buFont typeface="+mj-lt"/>
                  <a:buAutoNum type="arabicPeriod" startAt="3"/>
                </a:pPr>
                <a:endParaRPr lang="en-US" altLang="zh-TW" dirty="0"/>
              </a:p>
              <a:p>
                <a:endParaRPr lang="zh-TW" altLang="en-US" dirty="0"/>
              </a:p>
            </p:txBody>
          </p:sp>
        </mc:Choice>
        <mc:Fallback xmlns="">
          <p:sp>
            <p:nvSpPr>
              <p:cNvPr id="12" name="文字方塊 11">
                <a:extLst>
                  <a:ext uri="{FF2B5EF4-FFF2-40B4-BE49-F238E27FC236}">
                    <a16:creationId xmlns:a16="http://schemas.microsoft.com/office/drawing/2014/main" id="{CCED5BA9-38C0-4DFD-921E-90F2FF1A615D}"/>
                  </a:ext>
                </a:extLst>
              </p:cNvPr>
              <p:cNvSpPr txBox="1">
                <a:spLocks noRot="1" noChangeAspect="1" noMove="1" noResize="1" noEditPoints="1" noAdjustHandles="1" noChangeArrowheads="1" noChangeShapeType="1" noTextEdit="1"/>
              </p:cNvSpPr>
              <p:nvPr/>
            </p:nvSpPr>
            <p:spPr>
              <a:xfrm>
                <a:off x="135467" y="1102250"/>
                <a:ext cx="5232404" cy="5784019"/>
              </a:xfrm>
              <a:prstGeom prst="rect">
                <a:avLst/>
              </a:prstGeom>
              <a:blipFill>
                <a:blip r:embed="rId2"/>
                <a:stretch>
                  <a:fillRect l="-931" t="-52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7" name="文字方塊 16">
                <a:extLst>
                  <a:ext uri="{FF2B5EF4-FFF2-40B4-BE49-F238E27FC236}">
                    <a16:creationId xmlns:a16="http://schemas.microsoft.com/office/drawing/2014/main" id="{BAC94394-2803-4407-90C8-1813E84CFAFF}"/>
                  </a:ext>
                </a:extLst>
              </p:cNvPr>
              <p:cNvSpPr txBox="1"/>
              <p:nvPr/>
            </p:nvSpPr>
            <p:spPr>
              <a:xfrm>
                <a:off x="5367871" y="1102250"/>
                <a:ext cx="6493929" cy="5176417"/>
              </a:xfrm>
              <a:prstGeom prst="rect">
                <a:avLst/>
              </a:prstGeom>
              <a:noFill/>
            </p:spPr>
            <p:txBody>
              <a:bodyPr wrap="square" rtlCol="0">
                <a:spAutoFit/>
              </a:bodyPr>
              <a:lstStyle/>
              <a:p>
                <a:pPr marL="342900" indent="-342900">
                  <a:buFont typeface="+mj-lt"/>
                  <a:buAutoNum type="arabicPeriod" startAt="4"/>
                </a:pPr>
                <a:r>
                  <a:rPr lang="en-US" altLang="zh-TW" dirty="0"/>
                  <a:t>Localization: Determine which tetrahedron contains each query point and return its coordinates relative to the four vertices.</a:t>
                </a:r>
              </a:p>
              <a:p>
                <a:pPr marL="342900" indent="-342900">
                  <a:buFont typeface="+mj-lt"/>
                  <a:buAutoNum type="arabicPeriod" startAt="4"/>
                </a:pPr>
                <a:endParaRPr lang="en-US" altLang="zh-TW" dirty="0"/>
              </a:p>
              <a:p>
                <a:pPr marL="342900" indent="-342900">
                  <a:buFont typeface="+mj-lt"/>
                  <a:buAutoNum type="arabicPeriod" startAt="4"/>
                </a:pPr>
                <a:r>
                  <a:rPr lang="en-US" altLang="zh-TW" dirty="0"/>
                  <a:t>Barycentric Interpolation:</a:t>
                </a:r>
              </a:p>
              <a:p>
                <a:pPr lvl="1"/>
                <a:r>
                  <a:rPr lang="en-US" altLang="zh-TW" dirty="0"/>
                  <a:t>Let the coordinates of the four vertices be:</a:t>
                </a:r>
                <a14:m>
                  <m:oMath xmlns:m="http://schemas.openxmlformats.org/officeDocument/2006/math">
                    <m:sSub>
                      <m:sSubPr>
                        <m:ctrlPr>
                          <a:rPr lang="en-US" altLang="zh-TW" i="1" smtClean="0">
                            <a:latin typeface="Cambria Math" panose="02040503050406030204" pitchFamily="18" charset="0"/>
                          </a:rPr>
                        </m:ctrlPr>
                      </m:sSubPr>
                      <m:e>
                        <m:r>
                          <a:rPr lang="en-US" altLang="zh-TW" b="0" i="1" smtClean="0">
                            <a:latin typeface="Cambria Math" panose="02040503050406030204" pitchFamily="18" charset="0"/>
                          </a:rPr>
                          <m:t>𝑃</m:t>
                        </m:r>
                      </m:e>
                      <m:sub>
                        <m:r>
                          <a:rPr lang="en-US" altLang="zh-TW" b="0" i="1" smtClean="0">
                            <a:latin typeface="Cambria Math" panose="02040503050406030204" pitchFamily="18" charset="0"/>
                          </a:rPr>
                          <m:t>1</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𝑃</m:t>
                        </m:r>
                      </m:e>
                      <m:sub>
                        <m:r>
                          <a:rPr lang="en-US" altLang="zh-TW" b="0" i="1" smtClean="0">
                            <a:latin typeface="Cambria Math" panose="02040503050406030204" pitchFamily="18" charset="0"/>
                          </a:rPr>
                          <m:t>2</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𝑃</m:t>
                        </m:r>
                      </m:e>
                      <m:sub>
                        <m:r>
                          <a:rPr lang="en-US" altLang="zh-TW" b="0" i="1" smtClean="0">
                            <a:latin typeface="Cambria Math" panose="02040503050406030204" pitchFamily="18" charset="0"/>
                          </a:rPr>
                          <m:t>3</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𝑃</m:t>
                        </m:r>
                      </m:e>
                      <m:sub>
                        <m:r>
                          <a:rPr lang="en-US" altLang="zh-TW" b="0" i="1" smtClean="0">
                            <a:latin typeface="Cambria Math" panose="02040503050406030204" pitchFamily="18" charset="0"/>
                          </a:rPr>
                          <m:t>4</m:t>
                        </m:r>
                      </m:sub>
                    </m:sSub>
                  </m:oMath>
                </a14:m>
                <a:endParaRPr lang="en-US" altLang="zh-TW" dirty="0"/>
              </a:p>
              <a:p>
                <a:pPr lvl="1"/>
                <a:r>
                  <a:rPr lang="en-US" altLang="zh-TW" dirty="0"/>
                  <a:t>Let the coordinates of the interpolation point be:</a:t>
                </a:r>
                <a14:m>
                  <m:oMath xmlns:m="http://schemas.openxmlformats.org/officeDocument/2006/math">
                    <m:r>
                      <a:rPr lang="en-US" altLang="zh-TW" b="0" i="1" smtClean="0">
                        <a:latin typeface="Cambria Math" panose="02040503050406030204" pitchFamily="18" charset="0"/>
                      </a:rPr>
                      <m:t>𝑃</m:t>
                    </m:r>
                  </m:oMath>
                </a14:m>
                <a:endParaRPr lang="en-US" altLang="zh-TW" dirty="0"/>
              </a:p>
              <a:p>
                <a:pPr lvl="1"/>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𝑃</m:t>
                      </m:r>
                      <m:r>
                        <a:rPr lang="en-US" altLang="zh-TW" b="0" i="1" smtClean="0">
                          <a:latin typeface="Cambria Math" panose="02040503050406030204" pitchFamily="18" charset="0"/>
                        </a:rPr>
                        <m:t>=</m:t>
                      </m:r>
                      <m:nary>
                        <m:naryPr>
                          <m:chr m:val="∑"/>
                          <m:ctrlPr>
                            <a:rPr lang="en-US" altLang="zh-TW" b="0" i="1" smtClean="0">
                              <a:latin typeface="Cambria Math" panose="02040503050406030204" pitchFamily="18" charset="0"/>
                            </a:rPr>
                          </m:ctrlPr>
                        </m:naryPr>
                        <m:sub>
                          <m:r>
                            <m:rPr>
                              <m:brk m:alnAt="23"/>
                            </m:rPr>
                            <a:rPr lang="en-US" altLang="zh-TW" b="0" i="1" smtClean="0">
                              <a:latin typeface="Cambria Math" panose="02040503050406030204" pitchFamily="18" charset="0"/>
                            </a:rPr>
                            <m:t>𝑖</m:t>
                          </m:r>
                          <m:r>
                            <a:rPr lang="en-US" altLang="zh-TW" b="0" i="1" smtClean="0">
                              <a:latin typeface="Cambria Math" panose="02040503050406030204" pitchFamily="18" charset="0"/>
                            </a:rPr>
                            <m:t>=</m:t>
                          </m:r>
                          <m:r>
                            <a:rPr lang="en-US" altLang="zh-TW" b="0" i="1" smtClean="0">
                              <a:latin typeface="Cambria Math" panose="02040503050406030204" pitchFamily="18" charset="0"/>
                            </a:rPr>
                            <m:t>1</m:t>
                          </m:r>
                        </m:sub>
                        <m:sup>
                          <m:r>
                            <a:rPr lang="en-US" altLang="zh-TW" b="0" i="1" smtClean="0">
                              <a:latin typeface="Cambria Math" panose="02040503050406030204" pitchFamily="18" charset="0"/>
                            </a:rPr>
                            <m:t>4</m:t>
                          </m:r>
                        </m:sup>
                        <m:e>
                          <m:sSub>
                            <m:sSubPr>
                              <m:ctrlPr>
                                <a:rPr lang="en-US" altLang="zh-TW" b="0" i="1" smtClean="0">
                                  <a:latin typeface="Cambria Math" panose="02040503050406030204" pitchFamily="18" charset="0"/>
                                </a:rPr>
                              </m:ctrlPr>
                            </m:sSubPr>
                            <m:e>
                              <m:r>
                                <a:rPr lang="zh-TW" altLang="en-US" b="0" i="1" smtClean="0">
                                  <a:latin typeface="Cambria Math" panose="02040503050406030204" pitchFamily="18" charset="0"/>
                                </a:rPr>
                                <m:t>𝜆</m:t>
                              </m:r>
                            </m:e>
                            <m:sub>
                              <m:r>
                                <a:rPr lang="en-US" altLang="zh-TW" b="0" i="1" smtClean="0">
                                  <a:latin typeface="Cambria Math" panose="02040503050406030204" pitchFamily="18" charset="0"/>
                                </a:rPr>
                                <m:t>𝑖</m:t>
                              </m:r>
                            </m:sub>
                          </m:sSub>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𝑃</m:t>
                              </m:r>
                            </m:e>
                            <m:sub>
                              <m:r>
                                <a:rPr lang="en-US" altLang="zh-TW" b="0" i="1" smtClean="0">
                                  <a:latin typeface="Cambria Math" panose="02040503050406030204" pitchFamily="18" charset="0"/>
                                </a:rPr>
                                <m:t>𝑖</m:t>
                              </m:r>
                            </m:sub>
                          </m:sSub>
                        </m:e>
                      </m:nary>
                    </m:oMath>
                  </m:oMathPara>
                </a14:m>
                <a:endParaRPr lang="en-US" altLang="zh-TW" dirty="0"/>
              </a:p>
              <a:p>
                <a:pPr lvl="1"/>
                <a:r>
                  <a:rPr lang="en-US" altLang="zh-TW" dirty="0"/>
                  <a:t>Where </a:t>
                </a:r>
                <a14:m>
                  <m:oMath xmlns:m="http://schemas.openxmlformats.org/officeDocument/2006/math">
                    <m:sSub>
                      <m:sSubPr>
                        <m:ctrlPr>
                          <a:rPr lang="en-US" altLang="zh-TW" i="1" smtClean="0">
                            <a:latin typeface="Cambria Math" panose="02040503050406030204" pitchFamily="18" charset="0"/>
                          </a:rPr>
                        </m:ctrlPr>
                      </m:sSubPr>
                      <m:e>
                        <m:r>
                          <a:rPr lang="zh-TW" altLang="en-US" i="1" smtClean="0">
                            <a:latin typeface="Cambria Math" panose="02040503050406030204" pitchFamily="18" charset="0"/>
                          </a:rPr>
                          <m:t>𝜆</m:t>
                        </m:r>
                      </m:e>
                      <m:sub>
                        <m:r>
                          <a:rPr lang="en-US" altLang="zh-TW" b="0" i="1" smtClean="0">
                            <a:latin typeface="Cambria Math" panose="02040503050406030204" pitchFamily="18" charset="0"/>
                          </a:rPr>
                          <m:t>𝑖</m:t>
                        </m:r>
                      </m:sub>
                    </m:sSub>
                    <m:r>
                      <a:rPr lang="en-US" altLang="zh-TW" b="0" i="1" smtClean="0">
                        <a:latin typeface="Cambria Math" panose="02040503050406030204" pitchFamily="18" charset="0"/>
                      </a:rPr>
                      <m:t>=</m:t>
                    </m:r>
                    <m:f>
                      <m:fPr>
                        <m:ctrlPr>
                          <a:rPr lang="en-US" altLang="zh-TW" b="0" i="1" smtClean="0">
                            <a:latin typeface="Cambria Math" panose="02040503050406030204" pitchFamily="18" charset="0"/>
                          </a:rPr>
                        </m:ctrlPr>
                      </m:fPr>
                      <m:num>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𝑉</m:t>
                            </m:r>
                          </m:e>
                          <m:sub>
                            <m:r>
                              <a:rPr lang="en-US" altLang="zh-TW" b="0" i="1" smtClean="0">
                                <a:latin typeface="Cambria Math" panose="02040503050406030204" pitchFamily="18" charset="0"/>
                              </a:rPr>
                              <m:t>𝑖</m:t>
                            </m:r>
                          </m:sub>
                        </m:sSub>
                      </m:num>
                      <m:den>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𝑉</m:t>
                            </m:r>
                          </m:e>
                          <m:sub>
                            <m:r>
                              <a:rPr lang="en-US" altLang="zh-TW" b="0" i="1" smtClean="0">
                                <a:latin typeface="Cambria Math" panose="02040503050406030204" pitchFamily="18" charset="0"/>
                              </a:rPr>
                              <m:t>𝑡𝑜𝑡𝑎𝑙</m:t>
                            </m:r>
                          </m:sub>
                        </m:sSub>
                      </m:den>
                    </m:f>
                  </m:oMath>
                </a14:m>
                <a:r>
                  <a:rPr lang="en-US" altLang="zh-TW" dirty="0"/>
                  <a:t>(The volume of the sub-tetrahedron formed by replacing vertex</a:t>
                </a:r>
                <a:r>
                  <a:rPr lang="zh-TW" altLang="en-US" dirty="0"/>
                  <a:t> </a:t>
                </a:r>
                <a14:m>
                  <m:oMath xmlns:m="http://schemas.openxmlformats.org/officeDocument/2006/math">
                    <m:sSub>
                      <m:sSubPr>
                        <m:ctrlPr>
                          <a:rPr lang="en-US" altLang="zh-TW" i="1" smtClean="0">
                            <a:latin typeface="Cambria Math" panose="02040503050406030204" pitchFamily="18" charset="0"/>
                          </a:rPr>
                        </m:ctrlPr>
                      </m:sSubPr>
                      <m:e>
                        <m:r>
                          <a:rPr lang="en-US" altLang="zh-TW" b="0" i="1" smtClean="0">
                            <a:latin typeface="Cambria Math" panose="02040503050406030204" pitchFamily="18" charset="0"/>
                          </a:rPr>
                          <m:t>𝑃</m:t>
                        </m:r>
                      </m:e>
                      <m:sub>
                        <m:r>
                          <a:rPr lang="en-US" altLang="zh-TW" b="0" i="1" smtClean="0">
                            <a:latin typeface="Cambria Math" panose="02040503050406030204" pitchFamily="18" charset="0"/>
                          </a:rPr>
                          <m:t>𝑖</m:t>
                        </m:r>
                      </m:sub>
                    </m:sSub>
                  </m:oMath>
                </a14:m>
                <a:r>
                  <a:rPr lang="en-US" altLang="zh-TW" dirty="0"/>
                  <a:t> with </a:t>
                </a:r>
                <a14:m>
                  <m:oMath xmlns:m="http://schemas.openxmlformats.org/officeDocument/2006/math">
                    <m:r>
                      <a:rPr lang="en-US" altLang="zh-TW" b="0" i="1" smtClean="0">
                        <a:latin typeface="Cambria Math" panose="02040503050406030204" pitchFamily="18" charset="0"/>
                      </a:rPr>
                      <m:t>𝑃</m:t>
                    </m:r>
                  </m:oMath>
                </a14:m>
                <a:r>
                  <a:rPr lang="en-US" altLang="zh-TW" dirty="0"/>
                  <a:t>)</a:t>
                </a:r>
              </a:p>
              <a:p>
                <a:pPr lvl="1"/>
                <a:endParaRPr lang="en-US" altLang="zh-TW" dirty="0"/>
              </a:p>
              <a:p>
                <a:pPr marL="342900" indent="-342900">
                  <a:buFont typeface="+mj-lt"/>
                  <a:buAutoNum type="arabicPeriod" startAt="6"/>
                </a:pPr>
                <a:r>
                  <a:rPr lang="en-US" altLang="zh-TW" dirty="0"/>
                  <a:t>Repeat Steps 4 and 5 until all interpolation points have been processed.</a:t>
                </a:r>
              </a:p>
              <a:p>
                <a:pPr lvl="1"/>
                <a:endParaRPr lang="en-US" altLang="zh-TW" dirty="0"/>
              </a:p>
              <a:p>
                <a:endParaRPr lang="en-US" altLang="zh-TW" dirty="0"/>
              </a:p>
              <a:p>
                <a:pPr lvl="1"/>
                <a:endParaRPr lang="en-US" altLang="zh-TW" dirty="0"/>
              </a:p>
              <a:p>
                <a:endParaRPr lang="zh-TW" altLang="en-US" dirty="0"/>
              </a:p>
            </p:txBody>
          </p:sp>
        </mc:Choice>
        <mc:Fallback xmlns="">
          <p:sp>
            <p:nvSpPr>
              <p:cNvPr id="17" name="文字方塊 16">
                <a:extLst>
                  <a:ext uri="{FF2B5EF4-FFF2-40B4-BE49-F238E27FC236}">
                    <a16:creationId xmlns:a16="http://schemas.microsoft.com/office/drawing/2014/main" id="{BAC94394-2803-4407-90C8-1813E84CFAFF}"/>
                  </a:ext>
                </a:extLst>
              </p:cNvPr>
              <p:cNvSpPr txBox="1">
                <a:spLocks noRot="1" noChangeAspect="1" noMove="1" noResize="1" noEditPoints="1" noAdjustHandles="1" noChangeArrowheads="1" noChangeShapeType="1" noTextEdit="1"/>
              </p:cNvSpPr>
              <p:nvPr/>
            </p:nvSpPr>
            <p:spPr>
              <a:xfrm>
                <a:off x="5367871" y="1102250"/>
                <a:ext cx="6493929" cy="5176417"/>
              </a:xfrm>
              <a:prstGeom prst="rect">
                <a:avLst/>
              </a:prstGeom>
              <a:blipFill>
                <a:blip r:embed="rId3"/>
                <a:stretch>
                  <a:fillRect l="-845" t="-707" r="-37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8" name="文字方塊 27">
                <a:extLst>
                  <a:ext uri="{FF2B5EF4-FFF2-40B4-BE49-F238E27FC236}">
                    <a16:creationId xmlns:a16="http://schemas.microsoft.com/office/drawing/2014/main" id="{C0E707CC-394C-449D-AA24-F6E85B3C8C59}"/>
                  </a:ext>
                </a:extLst>
              </p:cNvPr>
              <p:cNvSpPr txBox="1"/>
              <p:nvPr/>
            </p:nvSpPr>
            <p:spPr>
              <a:xfrm>
                <a:off x="5367871" y="5215467"/>
                <a:ext cx="6578596" cy="646331"/>
              </a:xfrm>
              <a:prstGeom prst="rect">
                <a:avLst/>
              </a:prstGeom>
              <a:noFill/>
            </p:spPr>
            <p:txBody>
              <a:bodyPr wrap="square" rtlCol="0">
                <a:spAutoFit/>
              </a:bodyPr>
              <a:lstStyle/>
              <a:p>
                <a:pPr marL="285750" indent="-285750">
                  <a:buFont typeface="Wingdings" panose="05000000000000000000" pitchFamily="2" charset="2"/>
                  <a:buChar char="Ø"/>
                </a:pPr>
                <a:r>
                  <a:rPr lang="en-US" altLang="zh-TW" dirty="0"/>
                  <a:t>Ex:</a:t>
                </a:r>
                <a14:m>
                  <m:oMath xmlns:m="http://schemas.openxmlformats.org/officeDocument/2006/math">
                    <m:sSub>
                      <m:sSubPr>
                        <m:ctrlPr>
                          <a:rPr lang="en-US" altLang="zh-TW" i="1" smtClean="0">
                            <a:latin typeface="Cambria Math" panose="02040503050406030204" pitchFamily="18" charset="0"/>
                          </a:rPr>
                        </m:ctrlPr>
                      </m:sSubPr>
                      <m:e>
                        <m:r>
                          <a:rPr lang="en-US" altLang="zh-TW" b="0" i="1" smtClean="0">
                            <a:latin typeface="Cambria Math" panose="02040503050406030204" pitchFamily="18" charset="0"/>
                          </a:rPr>
                          <m:t>𝑁</m:t>
                        </m:r>
                      </m:e>
                      <m:sub>
                        <m:r>
                          <a:rPr lang="en-US" altLang="zh-TW" b="0" i="1" smtClean="0">
                            <a:latin typeface="Cambria Math" panose="02040503050406030204" pitchFamily="18" charset="0"/>
                          </a:rPr>
                          <m:t>𝑟</m:t>
                        </m:r>
                      </m:sub>
                    </m:sSub>
                    <m:r>
                      <a:rPr lang="en-US" altLang="zh-TW" b="0" i="1" smtClean="0">
                        <a:latin typeface="Cambria Math" panose="02040503050406030204" pitchFamily="18" charset="0"/>
                      </a:rPr>
                      <m:t>=</m:t>
                    </m:r>
                    <m:r>
                      <a:rPr lang="en-US" altLang="zh-TW" b="0" i="1" smtClean="0">
                        <a:latin typeface="Cambria Math" panose="02040503050406030204" pitchFamily="18" charset="0"/>
                      </a:rPr>
                      <m:t>2</m:t>
                    </m:r>
                  </m:oMath>
                </a14:m>
                <a:endParaRPr lang="en-US" altLang="zh-TW" b="0" dirty="0"/>
              </a:p>
              <a:p>
                <a:r>
                  <a:rPr lang="en-US" altLang="zh-TW" dirty="0"/>
                  <a:t>	</a:t>
                </a:r>
                <a:endParaRPr lang="zh-TW" altLang="en-US" dirty="0"/>
              </a:p>
            </p:txBody>
          </p:sp>
        </mc:Choice>
        <mc:Fallback xmlns="">
          <p:sp>
            <p:nvSpPr>
              <p:cNvPr id="28" name="文字方塊 27">
                <a:extLst>
                  <a:ext uri="{FF2B5EF4-FFF2-40B4-BE49-F238E27FC236}">
                    <a16:creationId xmlns:a16="http://schemas.microsoft.com/office/drawing/2014/main" id="{C0E707CC-394C-449D-AA24-F6E85B3C8C59}"/>
                  </a:ext>
                </a:extLst>
              </p:cNvPr>
              <p:cNvSpPr txBox="1">
                <a:spLocks noRot="1" noChangeAspect="1" noMove="1" noResize="1" noEditPoints="1" noAdjustHandles="1" noChangeArrowheads="1" noChangeShapeType="1" noTextEdit="1"/>
              </p:cNvSpPr>
              <p:nvPr/>
            </p:nvSpPr>
            <p:spPr>
              <a:xfrm>
                <a:off x="5367871" y="5215467"/>
                <a:ext cx="6578596" cy="646331"/>
              </a:xfrm>
              <a:prstGeom prst="rect">
                <a:avLst/>
              </a:prstGeom>
              <a:blipFill>
                <a:blip r:embed="rId4"/>
                <a:stretch>
                  <a:fillRect l="-649" t="-5660"/>
                </a:stretch>
              </a:blipFill>
            </p:spPr>
            <p:txBody>
              <a:bodyPr/>
              <a:lstStyle/>
              <a:p>
                <a:r>
                  <a:rPr lang="zh-TW" altLang="en-US">
                    <a:noFill/>
                  </a:rPr>
                  <a:t> </a:t>
                </a:r>
              </a:p>
            </p:txBody>
          </p:sp>
        </mc:Fallback>
      </mc:AlternateContent>
      <p:cxnSp>
        <p:nvCxnSpPr>
          <p:cNvPr id="30" name="直線單箭頭接點 29">
            <a:extLst>
              <a:ext uri="{FF2B5EF4-FFF2-40B4-BE49-F238E27FC236}">
                <a16:creationId xmlns:a16="http://schemas.microsoft.com/office/drawing/2014/main" id="{26E08411-0E10-498E-B632-44320EB42710}"/>
              </a:ext>
            </a:extLst>
          </p:cNvPr>
          <p:cNvCxnSpPr/>
          <p:nvPr/>
        </p:nvCxnSpPr>
        <p:spPr>
          <a:xfrm>
            <a:off x="6096000" y="5689600"/>
            <a:ext cx="5342467"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橢圓 30">
            <a:extLst>
              <a:ext uri="{FF2B5EF4-FFF2-40B4-BE49-F238E27FC236}">
                <a16:creationId xmlns:a16="http://schemas.microsoft.com/office/drawing/2014/main" id="{394DFB9A-EE1F-4ECE-B4C3-64D9170AAD25}"/>
              </a:ext>
            </a:extLst>
          </p:cNvPr>
          <p:cNvSpPr/>
          <p:nvPr/>
        </p:nvSpPr>
        <p:spPr>
          <a:xfrm>
            <a:off x="5981700" y="5569635"/>
            <a:ext cx="228600" cy="239929"/>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2" name="文字方塊 31">
            <a:extLst>
              <a:ext uri="{FF2B5EF4-FFF2-40B4-BE49-F238E27FC236}">
                <a16:creationId xmlns:a16="http://schemas.microsoft.com/office/drawing/2014/main" id="{6E4001B8-D496-4EB8-A427-29F8F6CD681F}"/>
              </a:ext>
            </a:extLst>
          </p:cNvPr>
          <p:cNvSpPr txBox="1"/>
          <p:nvPr/>
        </p:nvSpPr>
        <p:spPr>
          <a:xfrm>
            <a:off x="5668433" y="5770582"/>
            <a:ext cx="855133" cy="369332"/>
          </a:xfrm>
          <a:prstGeom prst="rect">
            <a:avLst/>
          </a:prstGeom>
          <a:noFill/>
        </p:spPr>
        <p:txBody>
          <a:bodyPr wrap="square" rtlCol="0">
            <a:spAutoFit/>
          </a:bodyPr>
          <a:lstStyle/>
          <a:p>
            <a:r>
              <a:rPr lang="en-US" altLang="zh-TW" dirty="0"/>
              <a:t>Center</a:t>
            </a:r>
            <a:endParaRPr lang="zh-TW" altLang="en-US" dirty="0"/>
          </a:p>
        </p:txBody>
      </p:sp>
      <p:cxnSp>
        <p:nvCxnSpPr>
          <p:cNvPr id="34" name="直線接點 33">
            <a:extLst>
              <a:ext uri="{FF2B5EF4-FFF2-40B4-BE49-F238E27FC236}">
                <a16:creationId xmlns:a16="http://schemas.microsoft.com/office/drawing/2014/main" id="{11B9BCAE-16E0-4EA9-9AC3-71AC94AE5DDD}"/>
              </a:ext>
            </a:extLst>
          </p:cNvPr>
          <p:cNvCxnSpPr/>
          <p:nvPr/>
        </p:nvCxnSpPr>
        <p:spPr>
          <a:xfrm>
            <a:off x="8767233" y="5393267"/>
            <a:ext cx="0" cy="64346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橢圓 34">
            <a:extLst>
              <a:ext uri="{FF2B5EF4-FFF2-40B4-BE49-F238E27FC236}">
                <a16:creationId xmlns:a16="http://schemas.microsoft.com/office/drawing/2014/main" id="{E4972A8D-69DC-47C0-9A60-93F8D71F6348}"/>
              </a:ext>
            </a:extLst>
          </p:cNvPr>
          <p:cNvSpPr/>
          <p:nvPr/>
        </p:nvSpPr>
        <p:spPr>
          <a:xfrm>
            <a:off x="7552267" y="5569635"/>
            <a:ext cx="228599" cy="239929"/>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7" name="橢圓 36">
            <a:extLst>
              <a:ext uri="{FF2B5EF4-FFF2-40B4-BE49-F238E27FC236}">
                <a16:creationId xmlns:a16="http://schemas.microsoft.com/office/drawing/2014/main" id="{F6BE17E4-2DD2-4A20-A697-5728CEAF5814}"/>
              </a:ext>
            </a:extLst>
          </p:cNvPr>
          <p:cNvSpPr/>
          <p:nvPr/>
        </p:nvSpPr>
        <p:spPr>
          <a:xfrm>
            <a:off x="10024533" y="5575303"/>
            <a:ext cx="228599" cy="239929"/>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文字方塊 37">
            <a:extLst>
              <a:ext uri="{FF2B5EF4-FFF2-40B4-BE49-F238E27FC236}">
                <a16:creationId xmlns:a16="http://schemas.microsoft.com/office/drawing/2014/main" id="{C7DE772D-91AB-4873-BA84-0850F2D64CCD}"/>
              </a:ext>
            </a:extLst>
          </p:cNvPr>
          <p:cNvSpPr txBox="1"/>
          <p:nvPr/>
        </p:nvSpPr>
        <p:spPr>
          <a:xfrm>
            <a:off x="7289799" y="5799729"/>
            <a:ext cx="1126066" cy="646331"/>
          </a:xfrm>
          <a:prstGeom prst="rect">
            <a:avLst/>
          </a:prstGeom>
          <a:noFill/>
        </p:spPr>
        <p:txBody>
          <a:bodyPr wrap="square" rtlCol="0">
            <a:spAutoFit/>
          </a:bodyPr>
          <a:lstStyle/>
          <a:p>
            <a:r>
              <a:rPr lang="en-US" altLang="zh-TW" dirty="0"/>
              <a:t>Sample point</a:t>
            </a:r>
            <a:endParaRPr lang="zh-TW" altLang="en-US" dirty="0"/>
          </a:p>
        </p:txBody>
      </p:sp>
      <p:sp>
        <p:nvSpPr>
          <p:cNvPr id="39" name="文字方塊 38">
            <a:extLst>
              <a:ext uri="{FF2B5EF4-FFF2-40B4-BE49-F238E27FC236}">
                <a16:creationId xmlns:a16="http://schemas.microsoft.com/office/drawing/2014/main" id="{383C0C6E-8646-44C1-8A4F-0CEE72F7AF79}"/>
              </a:ext>
            </a:extLst>
          </p:cNvPr>
          <p:cNvSpPr txBox="1"/>
          <p:nvPr/>
        </p:nvSpPr>
        <p:spPr>
          <a:xfrm>
            <a:off x="9751484" y="5770582"/>
            <a:ext cx="1126066" cy="646331"/>
          </a:xfrm>
          <a:prstGeom prst="rect">
            <a:avLst/>
          </a:prstGeom>
          <a:noFill/>
        </p:spPr>
        <p:txBody>
          <a:bodyPr wrap="square" rtlCol="0">
            <a:spAutoFit/>
          </a:bodyPr>
          <a:lstStyle/>
          <a:p>
            <a:r>
              <a:rPr lang="en-US" altLang="zh-TW" dirty="0"/>
              <a:t>Sample point</a:t>
            </a:r>
            <a:endParaRPr lang="zh-TW" altLang="en-US" dirty="0"/>
          </a:p>
        </p:txBody>
      </p:sp>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FE617669-674F-499C-B4B5-705FFEAAF284}"/>
                  </a:ext>
                </a:extLst>
              </p:cNvPr>
              <p:cNvSpPr txBox="1"/>
              <p:nvPr/>
            </p:nvSpPr>
            <p:spPr>
              <a:xfrm>
                <a:off x="11500222" y="5515423"/>
                <a:ext cx="16696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𝑟</m:t>
                      </m:r>
                    </m:oMath>
                  </m:oMathPara>
                </a14:m>
                <a:endParaRPr lang="zh-TW" altLang="en-US" dirty="0"/>
              </a:p>
            </p:txBody>
          </p:sp>
        </mc:Choice>
        <mc:Fallback xmlns="">
          <p:sp>
            <p:nvSpPr>
              <p:cNvPr id="36" name="文字方塊 35">
                <a:extLst>
                  <a:ext uri="{FF2B5EF4-FFF2-40B4-BE49-F238E27FC236}">
                    <a16:creationId xmlns:a16="http://schemas.microsoft.com/office/drawing/2014/main" id="{FE617669-674F-499C-B4B5-705FFEAAF284}"/>
                  </a:ext>
                </a:extLst>
              </p:cNvPr>
              <p:cNvSpPr txBox="1">
                <a:spLocks noRot="1" noChangeAspect="1" noMove="1" noResize="1" noEditPoints="1" noAdjustHandles="1" noChangeArrowheads="1" noChangeShapeType="1" noTextEdit="1"/>
              </p:cNvSpPr>
              <p:nvPr/>
            </p:nvSpPr>
            <p:spPr>
              <a:xfrm>
                <a:off x="11500222" y="5515423"/>
                <a:ext cx="166969" cy="276999"/>
              </a:xfrm>
              <a:prstGeom prst="rect">
                <a:avLst/>
              </a:prstGeom>
              <a:blipFill>
                <a:blip r:embed="rId5"/>
                <a:stretch>
                  <a:fillRect l="-22222" r="-18519"/>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35088173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282042"/>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p:sp>
        <p:nvSpPr>
          <p:cNvPr id="6" name="文字方塊 5">
            <a:extLst>
              <a:ext uri="{FF2B5EF4-FFF2-40B4-BE49-F238E27FC236}">
                <a16:creationId xmlns:a16="http://schemas.microsoft.com/office/drawing/2014/main" id="{31ACE95C-3F52-4F1D-AC27-AFA6A8DD7680}"/>
              </a:ext>
            </a:extLst>
          </p:cNvPr>
          <p:cNvSpPr txBox="1"/>
          <p:nvPr/>
        </p:nvSpPr>
        <p:spPr>
          <a:xfrm>
            <a:off x="27458" y="552713"/>
            <a:ext cx="4544541" cy="369332"/>
          </a:xfrm>
          <a:prstGeom prst="rect">
            <a:avLst/>
          </a:prstGeom>
          <a:noFill/>
        </p:spPr>
        <p:txBody>
          <a:bodyPr wrap="square" rtlCol="0">
            <a:spAutoFit/>
          </a:bodyPr>
          <a:lstStyle/>
          <a:p>
            <a:pPr marL="285750" indent="-285750">
              <a:buFont typeface="Wingdings" panose="05000000000000000000" pitchFamily="2" charset="2"/>
              <a:buChar char="l"/>
            </a:pPr>
            <a:r>
              <a:rPr lang="en-US" altLang="zh-TW" dirty="0">
                <a:latin typeface="Times New Roman" panose="02020603050405020304" pitchFamily="18" charset="0"/>
                <a:cs typeface="Times New Roman" panose="02020603050405020304" pitchFamily="18" charset="0"/>
              </a:rPr>
              <a:t>Interpolation Point Algorithm</a:t>
            </a:r>
            <a:endParaRPr lang="zh-TW" altLang="en-US" dirty="0">
              <a:latin typeface="Times New Roman" panose="02020603050405020304" pitchFamily="18" charset="0"/>
              <a:cs typeface="Times New Roman" panose="02020603050405020304" pitchFamily="18" charset="0"/>
            </a:endParaRPr>
          </a:p>
        </p:txBody>
      </p:sp>
      <p:sp>
        <p:nvSpPr>
          <p:cNvPr id="18" name="矩形 17">
            <a:extLst>
              <a:ext uri="{FF2B5EF4-FFF2-40B4-BE49-F238E27FC236}">
                <a16:creationId xmlns:a16="http://schemas.microsoft.com/office/drawing/2014/main" id="{D626DE7A-F9C6-47BF-9503-E4D79EF03BB4}"/>
              </a:ext>
            </a:extLst>
          </p:cNvPr>
          <p:cNvSpPr/>
          <p:nvPr/>
        </p:nvSpPr>
        <p:spPr>
          <a:xfrm rot="21166399">
            <a:off x="8390467" y="5858933"/>
            <a:ext cx="1877540" cy="330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12" name="群組 11">
            <a:extLst>
              <a:ext uri="{FF2B5EF4-FFF2-40B4-BE49-F238E27FC236}">
                <a16:creationId xmlns:a16="http://schemas.microsoft.com/office/drawing/2014/main" id="{8C914496-CCAB-4FB2-8F62-8FF430665AC4}"/>
              </a:ext>
            </a:extLst>
          </p:cNvPr>
          <p:cNvGrpSpPr/>
          <p:nvPr/>
        </p:nvGrpSpPr>
        <p:grpSpPr>
          <a:xfrm>
            <a:off x="309641" y="4566070"/>
            <a:ext cx="2679650" cy="2206203"/>
            <a:chOff x="305925" y="3311028"/>
            <a:chExt cx="3740858" cy="3002063"/>
          </a:xfrm>
        </p:grpSpPr>
        <p:grpSp>
          <p:nvGrpSpPr>
            <p:cNvPr id="5" name="群組 4">
              <a:extLst>
                <a:ext uri="{FF2B5EF4-FFF2-40B4-BE49-F238E27FC236}">
                  <a16:creationId xmlns:a16="http://schemas.microsoft.com/office/drawing/2014/main" id="{4C4C9969-1B44-4A59-A7E0-FC50AC2A4271}"/>
                </a:ext>
              </a:extLst>
            </p:cNvPr>
            <p:cNvGrpSpPr/>
            <p:nvPr/>
          </p:nvGrpSpPr>
          <p:grpSpPr>
            <a:xfrm>
              <a:off x="328724" y="3311028"/>
              <a:ext cx="3702977" cy="3002063"/>
              <a:chOff x="318690" y="3303224"/>
              <a:chExt cx="3702977" cy="3002063"/>
            </a:xfrm>
          </p:grpSpPr>
          <p:sp>
            <p:nvSpPr>
              <p:cNvPr id="3" name="矩形 2">
                <a:extLst>
                  <a:ext uri="{FF2B5EF4-FFF2-40B4-BE49-F238E27FC236}">
                    <a16:creationId xmlns:a16="http://schemas.microsoft.com/office/drawing/2014/main" id="{68A97F66-D40E-4AE5-9BB8-EB697B953184}"/>
                  </a:ext>
                </a:extLst>
              </p:cNvPr>
              <p:cNvSpPr/>
              <p:nvPr/>
            </p:nvSpPr>
            <p:spPr>
              <a:xfrm>
                <a:off x="2048933" y="5985933"/>
                <a:ext cx="1972734" cy="31935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CA362B68-8F37-4BBB-9784-37CA0CAA23D0}"/>
                  </a:ext>
                </a:extLst>
              </p:cNvPr>
              <p:cNvSpPr/>
              <p:nvPr/>
            </p:nvSpPr>
            <p:spPr>
              <a:xfrm rot="16200000">
                <a:off x="-508000" y="4129914"/>
                <a:ext cx="1972734" cy="31935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7" name="文字方塊 6">
                  <a:extLst>
                    <a:ext uri="{FF2B5EF4-FFF2-40B4-BE49-F238E27FC236}">
                      <a16:creationId xmlns:a16="http://schemas.microsoft.com/office/drawing/2014/main" id="{967F4FBF-AEED-4ECE-9557-6071629C0C5B}"/>
                    </a:ext>
                  </a:extLst>
                </p:cNvPr>
                <p:cNvSpPr txBox="1"/>
                <p:nvPr/>
              </p:nvSpPr>
              <p:spPr>
                <a:xfrm>
                  <a:off x="1910681" y="5984697"/>
                  <a:ext cx="2136102" cy="29452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400" b="1" i="0" smtClean="0">
                            <a:latin typeface="Cambria Math" panose="02040503050406030204" pitchFamily="18" charset="0"/>
                          </a:rPr>
                          <m:t>𝐍𝐮𝐦𝐛𝐞𝐫</m:t>
                        </m:r>
                        <m:r>
                          <a:rPr lang="en-US" altLang="zh-TW" sz="1400" b="1" i="0" smtClean="0">
                            <a:latin typeface="Cambria Math" panose="02040503050406030204" pitchFamily="18" charset="0"/>
                          </a:rPr>
                          <m:t> </m:t>
                        </m:r>
                        <m:r>
                          <a:rPr lang="en-US" altLang="zh-TW" sz="1400" b="1" i="0" smtClean="0">
                            <a:latin typeface="Cambria Math" panose="02040503050406030204" pitchFamily="18" charset="0"/>
                          </a:rPr>
                          <m:t>𝐨𝐟</m:t>
                        </m:r>
                        <m:r>
                          <a:rPr lang="en-US" altLang="zh-TW" sz="1400" b="1" i="0" smtClean="0">
                            <a:latin typeface="Cambria Math" panose="02040503050406030204" pitchFamily="18" charset="0"/>
                          </a:rPr>
                          <m:t> </m:t>
                        </m:r>
                        <m:r>
                          <a:rPr lang="en-US" altLang="zh-TW" sz="1400" b="1" i="0" smtClean="0">
                            <a:latin typeface="Cambria Math" panose="02040503050406030204" pitchFamily="18" charset="0"/>
                          </a:rPr>
                          <m:t>𝐩𝐨𝐢𝐧𝐭𝐬</m:t>
                        </m:r>
                      </m:oMath>
                    </m:oMathPara>
                  </a14:m>
                  <a:endParaRPr lang="zh-TW" altLang="en-US" sz="1400" b="1" dirty="0"/>
                </a:p>
              </p:txBody>
            </p:sp>
          </mc:Choice>
          <mc:Fallback xmlns="">
            <p:sp>
              <p:nvSpPr>
                <p:cNvPr id="7" name="文字方塊 6">
                  <a:extLst>
                    <a:ext uri="{FF2B5EF4-FFF2-40B4-BE49-F238E27FC236}">
                      <a16:creationId xmlns:a16="http://schemas.microsoft.com/office/drawing/2014/main" id="{967F4FBF-AEED-4ECE-9557-6071629C0C5B}"/>
                    </a:ext>
                  </a:extLst>
                </p:cNvPr>
                <p:cNvSpPr txBox="1">
                  <a:spLocks noRot="1" noChangeAspect="1" noMove="1" noResize="1" noEditPoints="1" noAdjustHandles="1" noChangeArrowheads="1" noChangeShapeType="1" noTextEdit="1"/>
                </p:cNvSpPr>
                <p:nvPr/>
              </p:nvSpPr>
              <p:spPr>
                <a:xfrm>
                  <a:off x="1910681" y="5984697"/>
                  <a:ext cx="2136102" cy="294529"/>
                </a:xfrm>
                <a:prstGeom prst="rect">
                  <a:avLst/>
                </a:prstGeom>
                <a:blipFill>
                  <a:blip r:embed="rId3"/>
                  <a:stretch>
                    <a:fillRect l="-4803" r="-11354" b="-4838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3" name="文字方塊 12">
                  <a:extLst>
                    <a:ext uri="{FF2B5EF4-FFF2-40B4-BE49-F238E27FC236}">
                      <a16:creationId xmlns:a16="http://schemas.microsoft.com/office/drawing/2014/main" id="{8AD4E5C0-D7AA-4972-A8B5-D3FF74D2338A}"/>
                    </a:ext>
                  </a:extLst>
                </p:cNvPr>
                <p:cNvSpPr txBox="1"/>
                <p:nvPr/>
              </p:nvSpPr>
              <p:spPr>
                <a:xfrm rot="16200000">
                  <a:off x="-405239" y="4110509"/>
                  <a:ext cx="1739091" cy="31676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US" altLang="zh-TW" sz="1400" b="1" i="1" smtClean="0">
                                <a:latin typeface="Cambria Math" panose="02040503050406030204" pitchFamily="18" charset="0"/>
                              </a:rPr>
                            </m:ctrlPr>
                          </m:accPr>
                          <m:e>
                            <m:r>
                              <a:rPr lang="zh-TW" altLang="en-US" sz="1400" b="1" i="1" smtClean="0">
                                <a:latin typeface="Cambria Math" panose="02040503050406030204" pitchFamily="18" charset="0"/>
                              </a:rPr>
                              <m:t>𝓵</m:t>
                            </m:r>
                          </m:e>
                        </m:acc>
                        <m:r>
                          <a:rPr lang="en-US" altLang="zh-TW" sz="1400" b="1" i="0" smtClean="0">
                            <a:latin typeface="Cambria Math" panose="02040503050406030204" pitchFamily="18" charset="0"/>
                          </a:rPr>
                          <m:t>(</m:t>
                        </m:r>
                        <m:r>
                          <a:rPr lang="en-US" altLang="zh-TW" sz="1400" b="1" i="1" smtClean="0">
                            <a:latin typeface="Cambria Math" panose="02040503050406030204" pitchFamily="18" charset="0"/>
                          </a:rPr>
                          <m:t>𝒎𝒊𝒄𝒓𝒐</m:t>
                        </m:r>
                        <m:r>
                          <a:rPr lang="en-US" altLang="zh-TW" sz="1400" b="1" i="1" smtClean="0">
                            <a:latin typeface="Cambria Math" panose="02040503050406030204" pitchFamily="18" charset="0"/>
                          </a:rPr>
                          <m:t> </m:t>
                        </m:r>
                        <m:r>
                          <a:rPr lang="en-US" altLang="zh-TW" sz="1400" b="1" i="1" smtClean="0">
                            <a:latin typeface="Cambria Math" panose="02040503050406030204" pitchFamily="18" charset="0"/>
                          </a:rPr>
                          <m:t>𝒎𝒆𝒕𝒆𝒓</m:t>
                        </m:r>
                        <m:r>
                          <a:rPr lang="en-US" altLang="zh-TW" sz="1400" b="1" i="0" smtClean="0">
                            <a:latin typeface="Cambria Math" panose="02040503050406030204" pitchFamily="18" charset="0"/>
                          </a:rPr>
                          <m:t>)</m:t>
                        </m:r>
                      </m:oMath>
                    </m:oMathPara>
                  </a14:m>
                  <a:endParaRPr lang="zh-TW" altLang="en-US" sz="1400" b="1" dirty="0"/>
                </a:p>
              </p:txBody>
            </p:sp>
          </mc:Choice>
          <mc:Fallback xmlns="">
            <p:sp>
              <p:nvSpPr>
                <p:cNvPr id="13" name="文字方塊 12">
                  <a:extLst>
                    <a:ext uri="{FF2B5EF4-FFF2-40B4-BE49-F238E27FC236}">
                      <a16:creationId xmlns:a16="http://schemas.microsoft.com/office/drawing/2014/main" id="{8AD4E5C0-D7AA-4972-A8B5-D3FF74D2338A}"/>
                    </a:ext>
                  </a:extLst>
                </p:cNvPr>
                <p:cNvSpPr txBox="1">
                  <a:spLocks noRot="1" noChangeAspect="1" noMove="1" noResize="1" noEditPoints="1" noAdjustHandles="1" noChangeArrowheads="1" noChangeShapeType="1" noTextEdit="1"/>
                </p:cNvSpPr>
                <p:nvPr/>
              </p:nvSpPr>
              <p:spPr>
                <a:xfrm rot="16200000">
                  <a:off x="-405239" y="4110509"/>
                  <a:ext cx="1739091" cy="316763"/>
                </a:xfrm>
                <a:prstGeom prst="rect">
                  <a:avLst/>
                </a:prstGeom>
                <a:blipFill>
                  <a:blip r:embed="rId4"/>
                  <a:stretch>
                    <a:fillRect l="-29412" t="-24599" r="-41176" b="-5882"/>
                  </a:stretch>
                </a:blipFill>
              </p:spPr>
              <p:txBody>
                <a:bodyPr/>
                <a:lstStyle/>
                <a:p>
                  <a:r>
                    <a:rPr lang="zh-TW" altLang="en-US">
                      <a:noFill/>
                    </a:rPr>
                    <a:t> </a:t>
                  </a:r>
                </a:p>
              </p:txBody>
            </p:sp>
          </mc:Fallback>
        </mc:AlternateContent>
      </p:grpSp>
      <mc:AlternateContent xmlns:mc="http://schemas.openxmlformats.org/markup-compatibility/2006">
        <mc:Choice xmlns:a14="http://schemas.microsoft.com/office/drawing/2010/main" Requires="a14">
          <p:sp>
            <p:nvSpPr>
              <p:cNvPr id="16" name="文字方塊 15">
                <a:extLst>
                  <a:ext uri="{FF2B5EF4-FFF2-40B4-BE49-F238E27FC236}">
                    <a16:creationId xmlns:a16="http://schemas.microsoft.com/office/drawing/2014/main" id="{680649BF-43EB-4D87-A80C-5D9C6A6A8C91}"/>
                  </a:ext>
                </a:extLst>
              </p:cNvPr>
              <p:cNvSpPr txBox="1"/>
              <p:nvPr/>
            </p:nvSpPr>
            <p:spPr>
              <a:xfrm>
                <a:off x="0" y="829602"/>
                <a:ext cx="11882359" cy="2933239"/>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Therefore, the evaluation criteria are revised as follows: the </a:t>
                </a:r>
                <a14:m>
                  <m:oMath xmlns:m="http://schemas.openxmlformats.org/officeDocument/2006/math">
                    <m:sPre>
                      <m:sPrePr>
                        <m:ctrlPr>
                          <a:rPr lang="en-US" altLang="zh-TW" i="1">
                            <a:latin typeface="Cambria Math" panose="02040503050406030204" pitchFamily="18" charset="0"/>
                          </a:rPr>
                        </m:ctrlPr>
                      </m:sPrePr>
                      <m:sub/>
                      <m:sup>
                        <m:r>
                          <a:rPr lang="en-US" altLang="zh-TW" i="1">
                            <a:latin typeface="Cambria Math" panose="02040503050406030204" pitchFamily="18" charset="0"/>
                          </a:rPr>
                          <m:t>𝐵</m:t>
                        </m:r>
                      </m:sup>
                      <m:e>
                        <m:sSub>
                          <m:sSubPr>
                            <m:ctrlPr>
                              <a:rPr lang="en-US" altLang="zh-TW" i="1">
                                <a:latin typeface="Cambria Math" panose="02040503050406030204" pitchFamily="18" charset="0"/>
                              </a:rPr>
                            </m:ctrlPr>
                          </m:sSubPr>
                          <m:e>
                            <m:acc>
                              <m:accPr>
                                <m:chr m:val="̂"/>
                                <m:ctrlPr>
                                  <a:rPr lang="en-US" altLang="zh-TW" i="1">
                                    <a:latin typeface="Cambria Math" panose="02040503050406030204" pitchFamily="18" charset="0"/>
                                  </a:rPr>
                                </m:ctrlPr>
                              </m:accPr>
                              <m:e>
                                <m:r>
                                  <a:rPr lang="en-US" altLang="zh-TW" i="1">
                                    <a:latin typeface="Cambria Math" panose="02040503050406030204" pitchFamily="18" charset="0"/>
                                  </a:rPr>
                                  <m:t>𝑔</m:t>
                                </m:r>
                              </m:e>
                            </m:acc>
                          </m:e>
                          <m:sub>
                            <m:r>
                              <a:rPr lang="en-US" altLang="zh-TW" i="1">
                                <a:latin typeface="Cambria Math" panose="02040503050406030204" pitchFamily="18" charset="0"/>
                              </a:rPr>
                              <m:t>𝐼</m:t>
                            </m:r>
                          </m:sub>
                        </m:sSub>
                      </m:e>
                    </m:sPre>
                  </m:oMath>
                </a14:m>
                <a:r>
                  <a:rPr lang="en-US" altLang="zh-TW" dirty="0"/>
                  <a:t>  and </a:t>
                </a:r>
                <a14:m>
                  <m:oMath xmlns:m="http://schemas.openxmlformats.org/officeDocument/2006/math">
                    <m:acc>
                      <m:accPr>
                        <m:chr m:val="̂"/>
                        <m:ctrlPr>
                          <a:rPr lang="en-US" altLang="zh-TW" i="1" smtClean="0">
                            <a:latin typeface="Cambria Math" panose="02040503050406030204" pitchFamily="18" charset="0"/>
                          </a:rPr>
                        </m:ctrlPr>
                      </m:accPr>
                      <m:e>
                        <m:r>
                          <a:rPr lang="en-US" altLang="zh-TW" i="1" smtClean="0">
                            <a:latin typeface="Cambria Math" panose="02040503050406030204" pitchFamily="18" charset="0"/>
                            <a:ea typeface="Cambria Math" panose="02040503050406030204" pitchFamily="18" charset="0"/>
                          </a:rPr>
                          <m:t>ℓ</m:t>
                        </m:r>
                      </m:e>
                    </m:acc>
                  </m:oMath>
                </a14:m>
                <a:r>
                  <a:rPr lang="en-US" altLang="zh-TW" dirty="0"/>
                  <a:t>must be stable, with the relative errors of the following ten points with respect to their respective preceding points being less than 0.5%, and </a:t>
                </a:r>
                <a14:m>
                  <m:oMath xmlns:m="http://schemas.openxmlformats.org/officeDocument/2006/math">
                    <m:sSub>
                      <m:sSubPr>
                        <m:ctrlPr>
                          <a:rPr lang="en-US" altLang="zh-TW" i="1" smtClean="0">
                            <a:latin typeface="Cambria Math" panose="02040503050406030204" pitchFamily="18" charset="0"/>
                          </a:rPr>
                        </m:ctrlPr>
                      </m:sSubPr>
                      <m:e>
                        <m:acc>
                          <m:accPr>
                            <m:chr m:val="̅"/>
                            <m:ctrlPr>
                              <a:rPr lang="en-US" altLang="zh-TW" i="1" smtClean="0">
                                <a:latin typeface="Cambria Math" panose="02040503050406030204" pitchFamily="18" charset="0"/>
                              </a:rPr>
                            </m:ctrlPr>
                          </m:accPr>
                          <m:e>
                            <m:r>
                              <a:rPr lang="en-US" altLang="zh-TW" b="0" i="1" smtClean="0">
                                <a:latin typeface="Cambria Math" panose="02040503050406030204" pitchFamily="18" charset="0"/>
                              </a:rPr>
                              <m:t>𝐾</m:t>
                            </m:r>
                          </m:e>
                        </m:acc>
                      </m:e>
                      <m:sub>
                        <m:r>
                          <a:rPr lang="en-US" altLang="zh-TW" b="0" i="1" smtClean="0">
                            <a:latin typeface="Cambria Math" panose="02040503050406030204" pitchFamily="18" charset="0"/>
                          </a:rPr>
                          <m:t>𝐼</m:t>
                        </m:r>
                      </m:sub>
                    </m:sSub>
                  </m:oMath>
                </a14:m>
                <a:r>
                  <a:rPr lang="en-US" altLang="zh-TW" dirty="0"/>
                  <a:t>​ must exhibit a physically consistent distribution, i.e., diagonal dominance.</a:t>
                </a:r>
              </a:p>
              <a:p>
                <a:pPr marL="285750" indent="-285750">
                  <a:buFont typeface="Arial" panose="020B0604020202020204" pitchFamily="34" charset="0"/>
                  <a:buChar char="•"/>
                </a:pPr>
                <a:r>
                  <a:rPr lang="en-US" altLang="zh-TW" dirty="0"/>
                  <a:t>The first actual design is N = 6, where the blue curve (single parameter) jumps to 931 µm and the red curve (eighteen parameters) to 873.5 µm; both then flatten almost immediately, blue settling at 877 and red at 872. The two vertical dashed lines mark the convergence points of the </a:t>
                </a:r>
                <a14:m>
                  <m:oMath xmlns:m="http://schemas.openxmlformats.org/officeDocument/2006/math">
                    <m:acc>
                      <m:accPr>
                        <m:chr m:val="̂"/>
                        <m:ctrlPr>
                          <a:rPr lang="en-US" altLang="zh-TW" i="1" smtClean="0">
                            <a:latin typeface="Cambria Math" panose="02040503050406030204" pitchFamily="18" charset="0"/>
                          </a:rPr>
                        </m:ctrlPr>
                      </m:accPr>
                      <m:e>
                        <m:r>
                          <a:rPr lang="en-US" altLang="zh-TW" i="1" smtClean="0">
                            <a:latin typeface="Cambria Math" panose="02040503050406030204" pitchFamily="18" charset="0"/>
                            <a:ea typeface="Cambria Math" panose="02040503050406030204" pitchFamily="18" charset="0"/>
                          </a:rPr>
                          <m:t>ℓ</m:t>
                        </m:r>
                      </m:e>
                    </m:acc>
                  </m:oMath>
                </a14:m>
                <a:r>
                  <a:rPr lang="en-US" altLang="zh-TW" dirty="0"/>
                  <a:t> criterion (relative change below 0.5% for ten consecutive designs): red at </a:t>
                </a:r>
                <a:r>
                  <a:rPr lang="en-US" altLang="zh-TW" b="1" dirty="0"/>
                  <a:t>6 points </a:t>
                </a:r>
                <a:r>
                  <a:rPr lang="en-US" altLang="zh-TW" dirty="0"/>
                  <a:t>and blue at </a:t>
                </a:r>
                <a:r>
                  <a:rPr lang="en-US" altLang="zh-TW" b="1" dirty="0"/>
                  <a:t>8 points</a:t>
                </a:r>
                <a:r>
                  <a:rPr lang="en-US" altLang="zh-TW" dirty="0"/>
                  <a:t>.</a:t>
                </a:r>
              </a:p>
              <a:p>
                <a:pPr marL="285750" indent="-285750">
                  <a:buFont typeface="Arial" panose="020B0604020202020204" pitchFamily="34" charset="0"/>
                  <a:buChar char="•"/>
                </a:pPr>
                <a:r>
                  <a:rPr lang="en-US" altLang="zh-TW" dirty="0"/>
                  <a:t>The two dashed lines mark the convergence points of the </a:t>
                </a:r>
                <a14:m>
                  <m:oMath xmlns:m="http://schemas.openxmlformats.org/officeDocument/2006/math">
                    <m:sPre>
                      <m:sPrePr>
                        <m:ctrlPr>
                          <a:rPr lang="en-US" altLang="zh-TW" i="1" smtClean="0">
                            <a:latin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r>
                      <a:rPr lang="en-US" altLang="zh-TW" b="0" i="1" smtClean="0">
                        <a:latin typeface="Cambria Math" panose="02040503050406030204" pitchFamily="18" charset="0"/>
                      </a:rPr>
                      <m:t> </m:t>
                    </m:r>
                  </m:oMath>
                </a14:m>
                <a:r>
                  <a:rPr lang="en-US" altLang="zh-TW" dirty="0"/>
                  <a:t>criterion: red at </a:t>
                </a:r>
                <a:r>
                  <a:rPr lang="en-US" altLang="zh-TW" b="1" dirty="0"/>
                  <a:t>80 points </a:t>
                </a:r>
                <a:r>
                  <a:rPr lang="en-US" altLang="zh-TW" dirty="0"/>
                  <a:t>and blue at </a:t>
                </a:r>
                <a:r>
                  <a:rPr lang="en-US" altLang="zh-TW" b="1" dirty="0"/>
                  <a:t>528 points</a:t>
                </a:r>
                <a:r>
                  <a:rPr lang="en-US" altLang="zh-TW" dirty="0"/>
                  <a:t>. Therefore, by taking the intersection of these criteria, the required number of points is determined to be 528 for the single-parameter model and 80 for the eighteen-parameter model.</a:t>
                </a:r>
                <a:endParaRPr lang="zh-TW" altLang="en-US" dirty="0"/>
              </a:p>
            </p:txBody>
          </p:sp>
        </mc:Choice>
        <mc:Fallback>
          <p:sp>
            <p:nvSpPr>
              <p:cNvPr id="16" name="文字方塊 15">
                <a:extLst>
                  <a:ext uri="{FF2B5EF4-FFF2-40B4-BE49-F238E27FC236}">
                    <a16:creationId xmlns:a16="http://schemas.microsoft.com/office/drawing/2014/main" id="{680649BF-43EB-4D87-A80C-5D9C6A6A8C91}"/>
                  </a:ext>
                </a:extLst>
              </p:cNvPr>
              <p:cNvSpPr txBox="1">
                <a:spLocks noRot="1" noChangeAspect="1" noMove="1" noResize="1" noEditPoints="1" noAdjustHandles="1" noChangeArrowheads="1" noChangeShapeType="1" noTextEdit="1"/>
              </p:cNvSpPr>
              <p:nvPr/>
            </p:nvSpPr>
            <p:spPr>
              <a:xfrm>
                <a:off x="0" y="829602"/>
                <a:ext cx="11882359" cy="2933239"/>
              </a:xfrm>
              <a:prstGeom prst="rect">
                <a:avLst/>
              </a:prstGeom>
              <a:blipFill>
                <a:blip r:embed="rId5"/>
                <a:stretch>
                  <a:fillRect l="-308" t="-208" r="-718" b="-2495"/>
                </a:stretch>
              </a:blipFill>
            </p:spPr>
            <p:txBody>
              <a:bodyPr/>
              <a:lstStyle/>
              <a:p>
                <a:r>
                  <a:rPr lang="zh-TW" altLang="en-US">
                    <a:noFill/>
                  </a:rPr>
                  <a:t> </a:t>
                </a:r>
              </a:p>
            </p:txBody>
          </p:sp>
        </mc:Fallback>
      </mc:AlternateContent>
      <p:sp>
        <p:nvSpPr>
          <p:cNvPr id="28" name="文字方塊 27">
            <a:extLst>
              <a:ext uri="{FF2B5EF4-FFF2-40B4-BE49-F238E27FC236}">
                <a16:creationId xmlns:a16="http://schemas.microsoft.com/office/drawing/2014/main" id="{215B1C10-4A8D-4F5C-BA12-89D80FC3EC4E}"/>
              </a:ext>
            </a:extLst>
          </p:cNvPr>
          <p:cNvSpPr txBox="1"/>
          <p:nvPr/>
        </p:nvSpPr>
        <p:spPr>
          <a:xfrm>
            <a:off x="0" y="2339706"/>
            <a:ext cx="11978275" cy="369332"/>
          </a:xfrm>
          <a:prstGeom prst="rect">
            <a:avLst/>
          </a:prstGeom>
          <a:noFill/>
        </p:spPr>
        <p:txBody>
          <a:bodyPr wrap="square">
            <a:spAutoFit/>
          </a:bodyPr>
          <a:lstStyle/>
          <a:p>
            <a:pPr marL="285750" indent="-285750">
              <a:buFont typeface="Arial" panose="020B0604020202020204" pitchFamily="34" charset="0"/>
              <a:buChar char="•"/>
            </a:pPr>
            <a:endParaRPr lang="zh-TW" altLang="en-US" dirty="0"/>
          </a:p>
        </p:txBody>
      </p:sp>
      <p:pic>
        <p:nvPicPr>
          <p:cNvPr id="21" name="圖片 20">
            <a:extLst>
              <a:ext uri="{FF2B5EF4-FFF2-40B4-BE49-F238E27FC236}">
                <a16:creationId xmlns:a16="http://schemas.microsoft.com/office/drawing/2014/main" id="{336EA0A6-1FA5-4C58-ADBD-81DCA422849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88950" y="3905236"/>
            <a:ext cx="3021556" cy="2400051"/>
          </a:xfrm>
          <a:prstGeom prst="rect">
            <a:avLst/>
          </a:prstGeom>
        </p:spPr>
      </p:pic>
      <p:pic>
        <p:nvPicPr>
          <p:cNvPr id="23" name="圖片 22">
            <a:extLst>
              <a:ext uri="{FF2B5EF4-FFF2-40B4-BE49-F238E27FC236}">
                <a16:creationId xmlns:a16="http://schemas.microsoft.com/office/drawing/2014/main" id="{9C687475-4E4F-47A3-BD21-EDA368CC98C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734621" y="3887815"/>
            <a:ext cx="3285067" cy="2583726"/>
          </a:xfrm>
          <a:prstGeom prst="rect">
            <a:avLst/>
          </a:prstGeom>
        </p:spPr>
      </p:pic>
    </p:spTree>
    <p:extLst>
      <p:ext uri="{BB962C8B-B14F-4D97-AF65-F5344CB8AC3E}">
        <p14:creationId xmlns:p14="http://schemas.microsoft.com/office/powerpoint/2010/main" val="28430246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282042"/>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p:sp>
        <p:nvSpPr>
          <p:cNvPr id="6" name="文字方塊 5">
            <a:extLst>
              <a:ext uri="{FF2B5EF4-FFF2-40B4-BE49-F238E27FC236}">
                <a16:creationId xmlns:a16="http://schemas.microsoft.com/office/drawing/2014/main" id="{31ACE95C-3F52-4F1D-AC27-AFA6A8DD7680}"/>
              </a:ext>
            </a:extLst>
          </p:cNvPr>
          <p:cNvSpPr txBox="1"/>
          <p:nvPr/>
        </p:nvSpPr>
        <p:spPr>
          <a:xfrm>
            <a:off x="27458" y="552713"/>
            <a:ext cx="4544541" cy="369332"/>
          </a:xfrm>
          <a:prstGeom prst="rect">
            <a:avLst/>
          </a:prstGeom>
          <a:noFill/>
        </p:spPr>
        <p:txBody>
          <a:bodyPr wrap="square" rtlCol="0">
            <a:spAutoFit/>
          </a:bodyPr>
          <a:lstStyle/>
          <a:p>
            <a:pPr marL="285750" indent="-285750">
              <a:buFont typeface="Wingdings" panose="05000000000000000000" pitchFamily="2" charset="2"/>
              <a:buChar char="l"/>
            </a:pPr>
            <a:r>
              <a:rPr lang="en-US" altLang="zh-TW" dirty="0">
                <a:latin typeface="Times New Roman" panose="02020603050405020304" pitchFamily="18" charset="0"/>
                <a:cs typeface="Times New Roman" panose="02020603050405020304" pitchFamily="18" charset="0"/>
              </a:rPr>
              <a:t>Calibration results</a:t>
            </a:r>
            <a:endParaRPr lang="zh-TW" altLang="en-US" dirty="0">
              <a:latin typeface="Times New Roman" panose="02020603050405020304" pitchFamily="18" charset="0"/>
              <a:cs typeface="Times New Roman" panose="02020603050405020304" pitchFamily="18" charset="0"/>
            </a:endParaRPr>
          </a:p>
        </p:txBody>
      </p:sp>
      <p:sp>
        <p:nvSpPr>
          <p:cNvPr id="18" name="矩形 17">
            <a:extLst>
              <a:ext uri="{FF2B5EF4-FFF2-40B4-BE49-F238E27FC236}">
                <a16:creationId xmlns:a16="http://schemas.microsoft.com/office/drawing/2014/main" id="{D626DE7A-F9C6-47BF-9503-E4D79EF03BB4}"/>
              </a:ext>
            </a:extLst>
          </p:cNvPr>
          <p:cNvSpPr/>
          <p:nvPr/>
        </p:nvSpPr>
        <p:spPr>
          <a:xfrm rot="21166399">
            <a:off x="8390467" y="5858933"/>
            <a:ext cx="1877540" cy="330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文字方塊 11">
            <a:extLst>
              <a:ext uri="{FF2B5EF4-FFF2-40B4-BE49-F238E27FC236}">
                <a16:creationId xmlns:a16="http://schemas.microsoft.com/office/drawing/2014/main" id="{FBD9F285-E19C-4465-9425-57DFB03A945C}"/>
              </a:ext>
            </a:extLst>
          </p:cNvPr>
          <p:cNvSpPr txBox="1"/>
          <p:nvPr/>
        </p:nvSpPr>
        <p:spPr>
          <a:xfrm>
            <a:off x="0" y="1461543"/>
            <a:ext cx="4529667" cy="646331"/>
          </a:xfrm>
          <a:prstGeom prst="rect">
            <a:avLst/>
          </a:prstGeom>
          <a:noFill/>
        </p:spPr>
        <p:txBody>
          <a:bodyPr wrap="square" rtlCol="0">
            <a:spAutoFit/>
          </a:bodyPr>
          <a:lstStyle/>
          <a:p>
            <a:endParaRPr lang="zh-TW" altLang="en-US" dirty="0"/>
          </a:p>
          <a:p>
            <a:pPr lvl="1"/>
            <a:endParaRPr lang="en-US" altLang="zh-TW" dirty="0"/>
          </a:p>
        </p:txBody>
      </p:sp>
      <mc:AlternateContent xmlns:mc="http://schemas.openxmlformats.org/markup-compatibility/2006" xmlns:a14="http://schemas.microsoft.com/office/drawing/2010/main">
        <mc:Choice Requires="a14">
          <p:sp>
            <p:nvSpPr>
              <p:cNvPr id="27" name="文字方塊 26">
                <a:extLst>
                  <a:ext uri="{FF2B5EF4-FFF2-40B4-BE49-F238E27FC236}">
                    <a16:creationId xmlns:a16="http://schemas.microsoft.com/office/drawing/2014/main" id="{6F5288B6-F08B-4647-BEC2-1ED8DF629DA3}"/>
                  </a:ext>
                </a:extLst>
              </p:cNvPr>
              <p:cNvSpPr txBox="1"/>
              <p:nvPr/>
            </p:nvSpPr>
            <p:spPr>
              <a:xfrm>
                <a:off x="8545338" y="457425"/>
                <a:ext cx="3564053"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sSub>
                        <m:sSubPr>
                          <m:ctrlPr>
                            <a:rPr lang="en-US" altLang="zh-TW" b="0"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𝐾</m:t>
                              </m:r>
                            </m:e>
                          </m:acc>
                        </m:e>
                        <m:sub>
                          <m:r>
                            <a:rPr lang="en-US" altLang="zh-TW" b="0" i="1" smtClean="0">
                              <a:latin typeface="Cambria Math" panose="02040503050406030204" pitchFamily="18" charset="0"/>
                            </a:rPr>
                            <m:t>𝐼</m:t>
                          </m:r>
                        </m:sub>
                      </m:sSub>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27" name="文字方塊 26">
                <a:extLst>
                  <a:ext uri="{FF2B5EF4-FFF2-40B4-BE49-F238E27FC236}">
                    <a16:creationId xmlns:a16="http://schemas.microsoft.com/office/drawing/2014/main" id="{6F5288B6-F08B-4647-BEC2-1ED8DF629DA3}"/>
                  </a:ext>
                </a:extLst>
              </p:cNvPr>
              <p:cNvSpPr txBox="1">
                <a:spLocks noRot="1" noChangeAspect="1" noMove="1" noResize="1" noEditPoints="1" noAdjustHandles="1" noChangeArrowheads="1" noChangeShapeType="1" noTextEdit="1"/>
              </p:cNvSpPr>
              <p:nvPr/>
            </p:nvSpPr>
            <p:spPr>
              <a:xfrm>
                <a:off x="8545338" y="457425"/>
                <a:ext cx="3564053" cy="321563"/>
              </a:xfrm>
              <a:prstGeom prst="rect">
                <a:avLst/>
              </a:prstGeom>
              <a:blipFill>
                <a:blip r:embed="rId2"/>
                <a:stretch>
                  <a:fillRect l="-1199" t="-13208" r="-5308" b="-22642"/>
                </a:stretch>
              </a:blipFill>
            </p:spPr>
            <p:txBody>
              <a:bodyPr/>
              <a:lstStyle/>
              <a:p>
                <a:r>
                  <a:rPr lang="zh-TW" altLang="en-US">
                    <a:noFill/>
                  </a:rPr>
                  <a:t> </a:t>
                </a:r>
              </a:p>
            </p:txBody>
          </p:sp>
        </mc:Fallback>
      </mc:AlternateContent>
      <p:sp>
        <p:nvSpPr>
          <p:cNvPr id="4" name="文字方塊 3">
            <a:extLst>
              <a:ext uri="{FF2B5EF4-FFF2-40B4-BE49-F238E27FC236}">
                <a16:creationId xmlns:a16="http://schemas.microsoft.com/office/drawing/2014/main" id="{3B29A552-EA7E-4837-AF53-D95DAEFD34FD}"/>
              </a:ext>
            </a:extLst>
          </p:cNvPr>
          <p:cNvSpPr txBox="1"/>
          <p:nvPr/>
        </p:nvSpPr>
        <p:spPr>
          <a:xfrm>
            <a:off x="27458" y="1818330"/>
            <a:ext cx="3613209"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Single parameter(528 points)</a:t>
            </a:r>
            <a:endParaRPr lang="zh-TW" altLang="en-US" dirty="0"/>
          </a:p>
        </p:txBody>
      </p:sp>
      <p:sp>
        <p:nvSpPr>
          <p:cNvPr id="47" name="文字方塊 46">
            <a:extLst>
              <a:ext uri="{FF2B5EF4-FFF2-40B4-BE49-F238E27FC236}">
                <a16:creationId xmlns:a16="http://schemas.microsoft.com/office/drawing/2014/main" id="{C5B7ED82-92AC-4C16-A18D-D2B3CA5A27F5}"/>
              </a:ext>
            </a:extLst>
          </p:cNvPr>
          <p:cNvSpPr txBox="1"/>
          <p:nvPr/>
        </p:nvSpPr>
        <p:spPr>
          <a:xfrm>
            <a:off x="27458" y="3886867"/>
            <a:ext cx="4832409"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Eighteen parameters(80 points)</a:t>
            </a:r>
            <a:endParaRPr lang="zh-TW" altLang="en-US" dirty="0"/>
          </a:p>
        </p:txBody>
      </p:sp>
      <mc:AlternateContent xmlns:mc="http://schemas.openxmlformats.org/markup-compatibility/2006" xmlns:a14="http://schemas.microsoft.com/office/drawing/2010/main">
        <mc:Choice Requires="a14">
          <p:sp>
            <p:nvSpPr>
              <p:cNvPr id="23" name="文字方塊 22">
                <a:extLst>
                  <a:ext uri="{FF2B5EF4-FFF2-40B4-BE49-F238E27FC236}">
                    <a16:creationId xmlns:a16="http://schemas.microsoft.com/office/drawing/2014/main" id="{F2D9CBB1-3EEA-4EB4-8FCC-FD3C5EFFA05F}"/>
                  </a:ext>
                </a:extLst>
              </p:cNvPr>
              <p:cNvSpPr txBox="1"/>
              <p:nvPr/>
            </p:nvSpPr>
            <p:spPr>
              <a:xfrm>
                <a:off x="154577" y="887936"/>
                <a:ext cx="7042090" cy="923330"/>
              </a:xfrm>
              <a:prstGeom prst="rect">
                <a:avLst/>
              </a:prstGeom>
              <a:noFill/>
            </p:spPr>
            <p:txBody>
              <a:bodyPr wrap="square" rtlCol="0">
                <a:spAutoFit/>
              </a:bodyPr>
              <a:lstStyle/>
              <a:p>
                <a:pPr marL="285750" indent="-285750">
                  <a:buFont typeface="Wingdings" panose="05000000000000000000" pitchFamily="2" charset="2"/>
                  <a:buChar char="Ø"/>
                </a:pPr>
                <a14:m>
                  <m:oMath xmlns:m="http://schemas.openxmlformats.org/officeDocument/2006/math">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≤150</m:t>
                    </m:r>
                    <m:r>
                      <a:rPr lang="en-US" altLang="zh-TW" b="0" i="1" smtClean="0">
                        <a:latin typeface="Cambria Math" panose="02040503050406030204" pitchFamily="18" charset="0"/>
                        <a:ea typeface="Cambria Math" panose="02040503050406030204" pitchFamily="18" charset="0"/>
                      </a:rPr>
                      <m:t>𝑢𝑚</m:t>
                    </m:r>
                  </m:oMath>
                </a14:m>
                <a:endParaRPr lang="en-US" altLang="zh-TW" b="0" dirty="0">
                  <a:ea typeface="Cambria Math" panose="02040503050406030204" pitchFamily="18" charset="0"/>
                </a:endParaRPr>
              </a:p>
              <a:p>
                <a:pPr marL="285750" indent="-285750">
                  <a:buFont typeface="Wingdings" panose="05000000000000000000" pitchFamily="2" charset="2"/>
                  <a:buChar char="Ø"/>
                </a:pPr>
                <a:r>
                  <a:rPr lang="en-US" altLang="zh-TW" dirty="0"/>
                  <a:t>Calibration results obtained using the interpolation points determined above.</a:t>
                </a:r>
                <a:endParaRPr lang="zh-TW" altLang="en-US" dirty="0"/>
              </a:p>
            </p:txBody>
          </p:sp>
        </mc:Choice>
        <mc:Fallback xmlns="">
          <p:sp>
            <p:nvSpPr>
              <p:cNvPr id="23" name="文字方塊 22">
                <a:extLst>
                  <a:ext uri="{FF2B5EF4-FFF2-40B4-BE49-F238E27FC236}">
                    <a16:creationId xmlns:a16="http://schemas.microsoft.com/office/drawing/2014/main" id="{F2D9CBB1-3EEA-4EB4-8FCC-FD3C5EFFA05F}"/>
                  </a:ext>
                </a:extLst>
              </p:cNvPr>
              <p:cNvSpPr txBox="1">
                <a:spLocks noRot="1" noChangeAspect="1" noMove="1" noResize="1" noEditPoints="1" noAdjustHandles="1" noChangeArrowheads="1" noChangeShapeType="1" noTextEdit="1"/>
              </p:cNvSpPr>
              <p:nvPr/>
            </p:nvSpPr>
            <p:spPr>
              <a:xfrm>
                <a:off x="154577" y="887936"/>
                <a:ext cx="7042090" cy="923330"/>
              </a:xfrm>
              <a:prstGeom prst="rect">
                <a:avLst/>
              </a:prstGeom>
              <a:blipFill>
                <a:blip r:embed="rId9"/>
                <a:stretch>
                  <a:fillRect l="-519" t="-1987" r="-865" b="-993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D533DBBD-FF5B-4992-BB28-0C81D697BDEB}"/>
                  </a:ext>
                </a:extLst>
              </p:cNvPr>
              <p:cNvSpPr txBox="1"/>
              <p:nvPr/>
            </p:nvSpPr>
            <p:spPr>
              <a:xfrm>
                <a:off x="-30118" y="2170138"/>
                <a:ext cx="7411480" cy="160903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TW" b="0"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𝐾</m:t>
                              </m:r>
                            </m:e>
                          </m:acc>
                        </m:e>
                        <m:sub>
                          <m:r>
                            <a:rPr lang="en-US" altLang="zh-TW" b="0" i="1" smtClean="0">
                              <a:latin typeface="Cambria Math" panose="02040503050406030204" pitchFamily="18" charset="0"/>
                            </a:rPr>
                            <m:t>𝐼</m:t>
                          </m:r>
                        </m:sub>
                      </m:sSub>
                      <m:r>
                        <a:rPr lang="en-US" altLang="zh-TW" b="0" i="1" smtClean="0">
                          <a:latin typeface="Cambria Math" panose="02040503050406030204" pitchFamily="18" charset="0"/>
                          <a:ea typeface="Cambria Math" panose="02040503050406030204" pitchFamily="18" charset="0"/>
                        </a:rPr>
                        <m:t>=</m:t>
                      </m:r>
                      <m:d>
                        <m:dPr>
                          <m:begChr m:val="["/>
                          <m:endChr m:val="]"/>
                          <m:ctrlPr>
                            <a:rPr lang="en-US" altLang="zh-TW"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b="0" i="1" smtClean="0">
                                  <a:latin typeface="Cambria Math" panose="02040503050406030204" pitchFamily="18" charset="0"/>
                                  <a:ea typeface="Cambria Math" panose="02040503050406030204" pitchFamily="18" charset="0"/>
                                </a:rPr>
                              </m:ctrlPr>
                            </m:mPr>
                            <m:mr>
                              <m:e>
                                <m:r>
                                  <m:rPr>
                                    <m:brk m:alnAt="7"/>
                                  </m:rPr>
                                  <a:rPr lang="en-US" altLang="zh-TW" b="0" i="1" smtClean="0">
                                    <a:latin typeface="Cambria Math" panose="02040503050406030204" pitchFamily="18" charset="0"/>
                                    <a:ea typeface="Cambria Math" panose="02040503050406030204" pitchFamily="18" charset="0"/>
                                  </a:rPr>
                                  <m:t>0</m:t>
                                </m:r>
                                <m:r>
                                  <a:rPr lang="en-US" altLang="zh-TW" b="0" i="1" smtClean="0">
                                    <a:latin typeface="Cambria Math" panose="02040503050406030204" pitchFamily="18" charset="0"/>
                                    <a:ea typeface="Cambria Math" panose="02040503050406030204" pitchFamily="18" charset="0"/>
                                  </a:rPr>
                                  <m:t>.8333</m:t>
                                </m:r>
                              </m:e>
                              <m:e>
                                <m:m>
                                  <m:mPr>
                                    <m:mcs>
                                      <m:mc>
                                        <m:mcPr>
                                          <m:count m:val="3"/>
                                          <m:mcJc m:val="center"/>
                                        </m:mcPr>
                                      </m:mc>
                                    </m:mcs>
                                    <m:ctrlPr>
                                      <a:rPr lang="en-US" altLang="zh-TW" b="0" i="1" smtClean="0">
                                        <a:latin typeface="Cambria Math" panose="02040503050406030204" pitchFamily="18" charset="0"/>
                                        <a:ea typeface="Cambria Math" panose="02040503050406030204" pitchFamily="18" charset="0"/>
                                      </a:rPr>
                                    </m:ctrlPr>
                                  </m:mPr>
                                  <m:mr>
                                    <m:e>
                                      <m:r>
                                        <m:rPr>
                                          <m:brk m:alnAt="7"/>
                                        </m:rP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0.0843</m:t>
                                      </m:r>
                                    </m:e>
                                    <m:e>
                                      <m:r>
                                        <a:rPr lang="en-US" altLang="zh-TW" b="0" i="1" smtClean="0">
                                          <a:latin typeface="Cambria Math" panose="02040503050406030204" pitchFamily="18" charset="0"/>
                                          <a:ea typeface="Cambria Math" panose="02040503050406030204" pitchFamily="18" charset="0"/>
                                        </a:rPr>
                                        <m:t>−0.2135</m:t>
                                      </m:r>
                                    </m:e>
                                    <m:e>
                                      <m:m>
                                        <m:mPr>
                                          <m:mcs>
                                            <m:mc>
                                              <m:mcPr>
                                                <m:count m:val="3"/>
                                                <m:mcJc m:val="center"/>
                                              </m:mcPr>
                                            </m:mc>
                                          </m:mcs>
                                          <m:ctrlPr>
                                            <a:rPr lang="en-US" altLang="zh-TW" b="0" i="1" smtClean="0">
                                              <a:latin typeface="Cambria Math" panose="02040503050406030204" pitchFamily="18" charset="0"/>
                                              <a:ea typeface="Cambria Math" panose="02040503050406030204" pitchFamily="18" charset="0"/>
                                            </a:rPr>
                                          </m:ctrlPr>
                                        </m:mPr>
                                        <m:mr>
                                          <m:e>
                                            <m:r>
                                              <m:rPr>
                                                <m:brk m:alnAt="7"/>
                                              </m:rP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0.1559</m:t>
                                            </m:r>
                                          </m:e>
                                          <m:e>
                                            <m:r>
                                              <a:rPr lang="en-US" altLang="zh-TW" b="0" i="1" smtClean="0">
                                                <a:latin typeface="Cambria Math" panose="02040503050406030204" pitchFamily="18" charset="0"/>
                                                <a:ea typeface="Cambria Math" panose="02040503050406030204" pitchFamily="18" charset="0"/>
                                              </a:rPr>
                                              <m:t>−0.1564</m:t>
                                            </m:r>
                                          </m:e>
                                          <m:e>
                                            <m:r>
                                              <a:rPr lang="en-US" altLang="zh-TW" b="0" i="1" smtClean="0">
                                                <a:latin typeface="Cambria Math" panose="02040503050406030204" pitchFamily="18" charset="0"/>
                                                <a:ea typeface="Cambria Math" panose="02040503050406030204" pitchFamily="18" charset="0"/>
                                              </a:rPr>
                                              <m:t>−0.2138</m:t>
                                            </m:r>
                                          </m:e>
                                        </m:mr>
                                      </m:m>
                                    </m:e>
                                  </m:mr>
                                </m:m>
                              </m:e>
                            </m:mr>
                            <m:mr>
                              <m:e>
                                <m:m>
                                  <m:mPr>
                                    <m:mcs>
                                      <m:mc>
                                        <m:mcPr>
                                          <m:count m:val="1"/>
                                          <m:mcJc m:val="center"/>
                                        </m:mcPr>
                                      </m:mc>
                                    </m:mcs>
                                    <m:ctrlPr>
                                      <a:rPr lang="en-US" altLang="zh-TW" b="0" i="1" smtClean="0">
                                        <a:latin typeface="Cambria Math" panose="02040503050406030204" pitchFamily="18" charset="0"/>
                                        <a:ea typeface="Cambria Math" panose="02040503050406030204" pitchFamily="18" charset="0"/>
                                      </a:rPr>
                                    </m:ctrlPr>
                                  </m:mPr>
                                  <m:mr>
                                    <m:e>
                                      <m:r>
                                        <m:rPr>
                                          <m:brk m:alnAt="7"/>
                                        </m:rP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0.2397</m:t>
                                      </m:r>
                                    </m:e>
                                  </m:mr>
                                  <m:mr>
                                    <m:e>
                                      <m:r>
                                        <a:rPr lang="en-US" altLang="zh-TW" b="0" i="1" smtClean="0">
                                          <a:latin typeface="Cambria Math" panose="02040503050406030204" pitchFamily="18" charset="0"/>
                                          <a:ea typeface="Cambria Math" panose="02040503050406030204" pitchFamily="18" charset="0"/>
                                        </a:rPr>
                                        <m:t>−0.2129</m:t>
                                      </m:r>
                                    </m:e>
                                  </m:mr>
                                  <m:mr>
                                    <m:e>
                                      <m:m>
                                        <m:mPr>
                                          <m:mcs>
                                            <m:mc>
                                              <m:mcPr>
                                                <m:count m:val="1"/>
                                                <m:mcJc m:val="center"/>
                                              </m:mcPr>
                                            </m:mc>
                                          </m:mcs>
                                          <m:ctrlPr>
                                            <a:rPr lang="en-US" altLang="zh-TW" b="0" i="1" smtClean="0">
                                              <a:latin typeface="Cambria Math" panose="02040503050406030204" pitchFamily="18" charset="0"/>
                                              <a:ea typeface="Cambria Math" panose="02040503050406030204" pitchFamily="18" charset="0"/>
                                            </a:rPr>
                                          </m:ctrlPr>
                                        </m:mPr>
                                        <m:mr>
                                          <m:e>
                                            <m:r>
                                              <m:rPr>
                                                <m:brk m:alnAt="7"/>
                                              </m:rP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0.2301</m:t>
                                            </m:r>
                                          </m:e>
                                        </m:mr>
                                        <m:mr>
                                          <m:e>
                                            <m:r>
                                              <a:rPr lang="en-US" altLang="zh-TW" b="0" i="1" smtClean="0">
                                                <a:latin typeface="Cambria Math" panose="02040503050406030204" pitchFamily="18" charset="0"/>
                                                <a:ea typeface="Cambria Math" panose="02040503050406030204" pitchFamily="18" charset="0"/>
                                              </a:rPr>
                                              <m:t>−0.2308</m:t>
                                            </m:r>
                                          </m:e>
                                        </m:mr>
                                        <m:mr>
                                          <m:e>
                                            <m:r>
                                              <a:rPr lang="en-US" altLang="zh-TW" b="0" i="1" smtClean="0">
                                                <a:latin typeface="Cambria Math" panose="02040503050406030204" pitchFamily="18" charset="0"/>
                                                <a:ea typeface="Cambria Math" panose="02040503050406030204" pitchFamily="18" charset="0"/>
                                              </a:rPr>
                                              <m:t>−0.2129</m:t>
                                            </m:r>
                                          </m:e>
                                        </m:mr>
                                      </m:m>
                                    </m:e>
                                  </m:mr>
                                </m:m>
                              </m:e>
                              <m:e>
                                <m:m>
                                  <m:mPr>
                                    <m:mcs>
                                      <m:mc>
                                        <m:mcPr>
                                          <m:count m:val="1"/>
                                          <m:mcJc m:val="center"/>
                                        </m:mcPr>
                                      </m:mc>
                                    </m:mcs>
                                    <m:ctrlPr>
                                      <a:rPr lang="en-US" altLang="zh-TW" b="0" i="1" smtClean="0">
                                        <a:latin typeface="Cambria Math" panose="02040503050406030204" pitchFamily="18" charset="0"/>
                                        <a:ea typeface="Cambria Math" panose="02040503050406030204" pitchFamily="18" charset="0"/>
                                      </a:rPr>
                                    </m:ctrlPr>
                                  </m:mPr>
                                  <m:mr>
                                    <m:e>
                                      <m:m>
                                        <m:mPr>
                                          <m:mcs>
                                            <m:mc>
                                              <m:mcPr>
                                                <m:count m:val="3"/>
                                                <m:mcJc m:val="center"/>
                                              </m:mcPr>
                                            </m:mc>
                                          </m:mcs>
                                          <m:ctrlPr>
                                            <a:rPr lang="en-US" altLang="zh-TW" b="0" i="1" smtClean="0">
                                              <a:latin typeface="Cambria Math" panose="02040503050406030204" pitchFamily="18" charset="0"/>
                                              <a:ea typeface="Cambria Math" panose="02040503050406030204" pitchFamily="18" charset="0"/>
                                            </a:rPr>
                                          </m:ctrlPr>
                                        </m:mPr>
                                        <m:mr>
                                          <m:e>
                                            <m:r>
                                              <m:rPr>
                                                <m:brk m:alnAt="7"/>
                                              </m:rPr>
                                              <a:rPr lang="en-US" altLang="zh-TW" b="0" i="1" smtClean="0">
                                                <a:latin typeface="Cambria Math" panose="02040503050406030204" pitchFamily="18" charset="0"/>
                                                <a:ea typeface="Cambria Math" panose="02040503050406030204" pitchFamily="18" charset="0"/>
                                              </a:rPr>
                                              <m:t>0</m:t>
                                            </m:r>
                                            <m:r>
                                              <a:rPr lang="en-US" altLang="zh-TW" b="0" i="1" smtClean="0">
                                                <a:latin typeface="Cambria Math" panose="02040503050406030204" pitchFamily="18" charset="0"/>
                                                <a:ea typeface="Cambria Math" panose="02040503050406030204" pitchFamily="18" charset="0"/>
                                              </a:rPr>
                                              <m:t>.9973</m:t>
                                            </m:r>
                                          </m:e>
                                          <m:e>
                                            <m:r>
                                              <a:rPr lang="en-US" altLang="zh-TW" b="0" i="1" smtClean="0">
                                                <a:latin typeface="Cambria Math" panose="02040503050406030204" pitchFamily="18" charset="0"/>
                                                <a:ea typeface="Cambria Math" panose="02040503050406030204" pitchFamily="18" charset="0"/>
                                              </a:rPr>
                                              <m:t>−0.2316</m:t>
                                            </m:r>
                                          </m:e>
                                          <m:e>
                                            <m:m>
                                              <m:mPr>
                                                <m:mcs>
                                                  <m:mc>
                                                    <m:mcPr>
                                                      <m:count m:val="3"/>
                                                      <m:mcJc m:val="center"/>
                                                    </m:mcPr>
                                                  </m:mc>
                                                </m:mcs>
                                                <m:ctrlPr>
                                                  <a:rPr lang="en-US" altLang="zh-TW" b="0" i="1" smtClean="0">
                                                    <a:latin typeface="Cambria Math" panose="02040503050406030204" pitchFamily="18" charset="0"/>
                                                    <a:ea typeface="Cambria Math" panose="02040503050406030204" pitchFamily="18" charset="0"/>
                                                  </a:rPr>
                                                </m:ctrlPr>
                                              </m:mPr>
                                              <m:mr>
                                                <m:e>
                                                  <m:r>
                                                    <m:rPr>
                                                      <m:brk m:alnAt="7"/>
                                                    </m:rP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0.1398</m:t>
                                                  </m:r>
                                                </m:e>
                                                <m:e>
                                                  <m:r>
                                                    <a:rPr lang="en-US" altLang="zh-TW" b="0" i="1" smtClean="0">
                                                      <a:latin typeface="Cambria Math" panose="02040503050406030204" pitchFamily="18" charset="0"/>
                                                      <a:ea typeface="Cambria Math" panose="02040503050406030204" pitchFamily="18" charset="0"/>
                                                    </a:rPr>
                                                    <m:t>−0.1399</m:t>
                                                  </m:r>
                                                </m:e>
                                                <m:e>
                                                  <m:r>
                                                    <a:rPr lang="en-US" altLang="zh-TW" b="0" i="1" smtClean="0">
                                                      <a:latin typeface="Cambria Math" panose="02040503050406030204" pitchFamily="18" charset="0"/>
                                                      <a:ea typeface="Cambria Math" panose="02040503050406030204" pitchFamily="18" charset="0"/>
                                                    </a:rPr>
                                                    <m:t>−0.2317</m:t>
                                                  </m:r>
                                                </m:e>
                                              </m:mr>
                                            </m:m>
                                          </m:e>
                                        </m:mr>
                                      </m:m>
                                    </m:e>
                                  </m:mr>
                                  <m:mr>
                                    <m:e>
                                      <m:m>
                                        <m:mPr>
                                          <m:mcs>
                                            <m:mc>
                                              <m:mcPr>
                                                <m:count m:val="3"/>
                                                <m:mcJc m:val="center"/>
                                              </m:mcPr>
                                            </m:mc>
                                          </m:mcs>
                                          <m:ctrlPr>
                                            <a:rPr lang="en-US" altLang="zh-TW" b="0" i="1" smtClean="0">
                                              <a:latin typeface="Cambria Math" panose="02040503050406030204" pitchFamily="18" charset="0"/>
                                              <a:ea typeface="Cambria Math" panose="02040503050406030204" pitchFamily="18" charset="0"/>
                                            </a:rPr>
                                          </m:ctrlPr>
                                        </m:mPr>
                                        <m:mr>
                                          <m:e>
                                            <m:r>
                                              <m:rPr>
                                                <m:brk m:alnAt="7"/>
                                              </m:rP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0.1559</m:t>
                                            </m:r>
                                          </m:e>
                                          <m:e>
                                            <m:r>
                                              <a:rPr lang="en-US" altLang="zh-TW" b="0" i="1" smtClean="0">
                                                <a:latin typeface="Cambria Math" panose="02040503050406030204" pitchFamily="18" charset="0"/>
                                                <a:ea typeface="Cambria Math" panose="02040503050406030204" pitchFamily="18" charset="0"/>
                                              </a:rPr>
                                              <m:t>0.8360</m:t>
                                            </m:r>
                                          </m:e>
                                          <m:e>
                                            <m:m>
                                              <m:mPr>
                                                <m:mcs>
                                                  <m:mc>
                                                    <m:mcPr>
                                                      <m:count m:val="3"/>
                                                      <m:mcJc m:val="center"/>
                                                    </m:mcPr>
                                                  </m:mc>
                                                </m:mcs>
                                                <m:ctrlPr>
                                                  <a:rPr lang="en-US" altLang="zh-TW" b="0" i="1" smtClean="0">
                                                    <a:latin typeface="Cambria Math" panose="02040503050406030204" pitchFamily="18" charset="0"/>
                                                    <a:ea typeface="Cambria Math" panose="02040503050406030204" pitchFamily="18" charset="0"/>
                                                  </a:rPr>
                                                </m:ctrlPr>
                                              </m:mPr>
                                              <m:mr>
                                                <m:e>
                                                  <m:r>
                                                    <m:rPr>
                                                      <m:brk m:alnAt="7"/>
                                                    </m:rP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0.0866</m:t>
                                                  </m:r>
                                                </m:e>
                                                <m:e>
                                                  <m:r>
                                                    <a:rPr lang="en-US" altLang="zh-TW" b="0" i="1" smtClean="0">
                                                      <a:latin typeface="Cambria Math" panose="02040503050406030204" pitchFamily="18" charset="0"/>
                                                      <a:ea typeface="Cambria Math" panose="02040503050406030204" pitchFamily="18" charset="0"/>
                                                    </a:rPr>
                                                    <m:t>−0.1568</m:t>
                                                  </m:r>
                                                </m:e>
                                                <m:e>
                                                  <m:r>
                                                    <a:rPr lang="en-US" altLang="zh-TW" b="0" i="1" smtClean="0">
                                                      <a:latin typeface="Cambria Math" panose="02040503050406030204" pitchFamily="18" charset="0"/>
                                                      <a:ea typeface="Cambria Math" panose="02040503050406030204" pitchFamily="18" charset="0"/>
                                                    </a:rPr>
                                                    <m:t>−0.2138</m:t>
                                                  </m:r>
                                                </m:e>
                                              </m:mr>
                                            </m:m>
                                          </m:e>
                                        </m:mr>
                                      </m:m>
                                    </m:e>
                                  </m:mr>
                                  <m:mr>
                                    <m:e>
                                      <m:m>
                                        <m:mPr>
                                          <m:mcs>
                                            <m:mc>
                                              <m:mcPr>
                                                <m:count m:val="1"/>
                                                <m:mcJc m:val="center"/>
                                              </m:mcPr>
                                            </m:mc>
                                          </m:mcs>
                                          <m:ctrlPr>
                                            <a:rPr lang="en-US" altLang="zh-TW" b="0" i="1" smtClean="0">
                                              <a:latin typeface="Cambria Math" panose="02040503050406030204" pitchFamily="18" charset="0"/>
                                              <a:ea typeface="Cambria Math" panose="02040503050406030204" pitchFamily="18" charset="0"/>
                                            </a:rPr>
                                          </m:ctrlPr>
                                        </m:mPr>
                                        <m:mr>
                                          <m:e>
                                            <m:m>
                                              <m:mPr>
                                                <m:mcs>
                                                  <m:mc>
                                                    <m:mcPr>
                                                      <m:count m:val="3"/>
                                                      <m:mcJc m:val="center"/>
                                                    </m:mcPr>
                                                  </m:mc>
                                                </m:mcs>
                                                <m:ctrlPr>
                                                  <a:rPr lang="en-US" altLang="zh-TW" b="0" i="1" smtClean="0">
                                                    <a:latin typeface="Cambria Math" panose="02040503050406030204" pitchFamily="18" charset="0"/>
                                                    <a:ea typeface="Cambria Math" panose="02040503050406030204" pitchFamily="18" charset="0"/>
                                                  </a:rPr>
                                                </m:ctrlPr>
                                              </m:mPr>
                                              <m:mr>
                                                <m:e>
                                                  <m:r>
                                                    <m:rPr>
                                                      <m:brk m:alnAt="7"/>
                                                    </m:rP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0.1389</m:t>
                                                  </m:r>
                                                </m:e>
                                                <m:e>
                                                  <m:r>
                                                    <a:rPr lang="en-US" altLang="zh-TW" b="0" i="1" smtClean="0">
                                                      <a:latin typeface="Cambria Math" panose="02040503050406030204" pitchFamily="18" charset="0"/>
                                                      <a:ea typeface="Cambria Math" panose="02040503050406030204" pitchFamily="18" charset="0"/>
                                                    </a:rPr>
                                                    <m:t>−0.2388</m:t>
                                                  </m:r>
                                                </m:e>
                                                <m:e>
                                                  <m:m>
                                                    <m:mPr>
                                                      <m:mcs>
                                                        <m:mc>
                                                          <m:mcPr>
                                                            <m:count m:val="3"/>
                                                            <m:mcJc m:val="center"/>
                                                          </m:mcPr>
                                                        </m:mc>
                                                      </m:mcs>
                                                      <m:ctrlPr>
                                                        <a:rPr lang="en-US" altLang="zh-TW" b="0" i="1" smtClean="0">
                                                          <a:latin typeface="Cambria Math" panose="02040503050406030204" pitchFamily="18" charset="0"/>
                                                          <a:ea typeface="Cambria Math" panose="02040503050406030204" pitchFamily="18" charset="0"/>
                                                        </a:rPr>
                                                      </m:ctrlPr>
                                                    </m:mPr>
                                                    <m:mr>
                                                      <m:e>
                                                        <m:r>
                                                          <m:rPr>
                                                            <m:brk m:alnAt="7"/>
                                                          </m:rPr>
                                                          <a:rPr lang="en-US" altLang="zh-TW" b="0" i="1" smtClean="0">
                                                            <a:latin typeface="Cambria Math" panose="02040503050406030204" pitchFamily="18" charset="0"/>
                                                            <a:ea typeface="Cambria Math" panose="02040503050406030204" pitchFamily="18" charset="0"/>
                                                          </a:rPr>
                                                          <m:t>0</m:t>
                                                        </m:r>
                                                        <m:r>
                                                          <a:rPr lang="en-US" altLang="zh-TW" b="0" i="1" smtClean="0">
                                                            <a:latin typeface="Cambria Math" panose="02040503050406030204" pitchFamily="18" charset="0"/>
                                                            <a:ea typeface="Cambria Math" panose="02040503050406030204" pitchFamily="18" charset="0"/>
                                                          </a:rPr>
                                                          <m:t>.9918</m:t>
                                                        </m:r>
                                                      </m:e>
                                                      <m:e>
                                                        <m:r>
                                                          <a:rPr lang="en-US" altLang="zh-TW" b="0" i="1" smtClean="0">
                                                            <a:latin typeface="Cambria Math" panose="02040503050406030204" pitchFamily="18" charset="0"/>
                                                            <a:ea typeface="Cambria Math" panose="02040503050406030204" pitchFamily="18" charset="0"/>
                                                          </a:rPr>
                                                          <m:t>−0.1392</m:t>
                                                        </m:r>
                                                      </m:e>
                                                      <m:e>
                                                        <m:r>
                                                          <a:rPr lang="en-US" altLang="zh-TW" b="0" i="1" smtClean="0">
                                                            <a:latin typeface="Cambria Math" panose="02040503050406030204" pitchFamily="18" charset="0"/>
                                                            <a:ea typeface="Cambria Math" panose="02040503050406030204" pitchFamily="18" charset="0"/>
                                                          </a:rPr>
                                                          <m:t>−0.2308</m:t>
                                                        </m:r>
                                                      </m:e>
                                                    </m:mr>
                                                  </m:m>
                                                </m:e>
                                              </m:mr>
                                            </m:m>
                                          </m:e>
                                        </m:mr>
                                        <m:mr>
                                          <m:e>
                                            <m:m>
                                              <m:mPr>
                                                <m:mcs>
                                                  <m:mc>
                                                    <m:mcPr>
                                                      <m:count m:val="3"/>
                                                      <m:mcJc m:val="center"/>
                                                    </m:mcPr>
                                                  </m:mc>
                                                </m:mcs>
                                                <m:ctrlPr>
                                                  <a:rPr lang="en-US" altLang="zh-TW" b="0" i="1" smtClean="0">
                                                    <a:latin typeface="Cambria Math" panose="02040503050406030204" pitchFamily="18" charset="0"/>
                                                    <a:ea typeface="Cambria Math" panose="02040503050406030204" pitchFamily="18" charset="0"/>
                                                  </a:rPr>
                                                </m:ctrlPr>
                                              </m:mPr>
                                              <m:mr>
                                                <m:e>
                                                  <m:r>
                                                    <m:rPr>
                                                      <m:brk m:alnAt="7"/>
                                                    </m:rP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0.1391</m:t>
                                                  </m:r>
                                                </m:e>
                                                <m:e>
                                                  <m:r>
                                                    <a:rPr lang="en-US" altLang="zh-TW" b="0" i="1" smtClean="0">
                                                      <a:latin typeface="Cambria Math" panose="02040503050406030204" pitchFamily="18" charset="0"/>
                                                      <a:ea typeface="Cambria Math" panose="02040503050406030204" pitchFamily="18" charset="0"/>
                                                    </a:rPr>
                                                    <m:t>−0.2313</m:t>
                                                  </m:r>
                                                </m:e>
                                                <m:e>
                                                  <m:m>
                                                    <m:mPr>
                                                      <m:mcs>
                                                        <m:mc>
                                                          <m:mcPr>
                                                            <m:count m:val="3"/>
                                                            <m:mcJc m:val="center"/>
                                                          </m:mcPr>
                                                        </m:mc>
                                                      </m:mcs>
                                                      <m:ctrlPr>
                                                        <a:rPr lang="en-US" altLang="zh-TW" b="0" i="1" smtClean="0">
                                                          <a:latin typeface="Cambria Math" panose="02040503050406030204" pitchFamily="18" charset="0"/>
                                                          <a:ea typeface="Cambria Math" panose="02040503050406030204" pitchFamily="18" charset="0"/>
                                                        </a:rPr>
                                                      </m:ctrlPr>
                                                    </m:mPr>
                                                    <m:mr>
                                                      <m:e>
                                                        <m:r>
                                                          <m:rPr>
                                                            <m:brk m:alnAt="7"/>
                                                          </m:rP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0.1399</m:t>
                                                        </m:r>
                                                      </m:e>
                                                      <m:e>
                                                        <m:r>
                                                          <a:rPr lang="en-US" altLang="zh-TW" b="0" i="1" smtClean="0">
                                                            <a:latin typeface="Cambria Math" panose="02040503050406030204" pitchFamily="18" charset="0"/>
                                                            <a:ea typeface="Cambria Math" panose="02040503050406030204" pitchFamily="18" charset="0"/>
                                                          </a:rPr>
                                                          <m:t>0.9964</m:t>
                                                        </m:r>
                                                      </m:e>
                                                      <m:e>
                                                        <m:r>
                                                          <a:rPr lang="en-US" altLang="zh-TW" b="0" i="1" smtClean="0">
                                                            <a:latin typeface="Cambria Math" panose="02040503050406030204" pitchFamily="18" charset="0"/>
                                                            <a:ea typeface="Cambria Math" panose="02040503050406030204" pitchFamily="18" charset="0"/>
                                                          </a:rPr>
                                                          <m:t>−0.2403</m:t>
                                                        </m:r>
                                                      </m:e>
                                                    </m:mr>
                                                  </m:m>
                                                </m:e>
                                              </m:mr>
                                            </m:m>
                                          </m:e>
                                        </m:mr>
                                        <m:mr>
                                          <m:e>
                                            <m:m>
                                              <m:mPr>
                                                <m:mcs>
                                                  <m:mc>
                                                    <m:mcPr>
                                                      <m:count m:val="3"/>
                                                      <m:mcJc m:val="center"/>
                                                    </m:mcPr>
                                                  </m:mc>
                                                </m:mcs>
                                                <m:ctrlPr>
                                                  <a:rPr lang="en-US" altLang="zh-TW" b="0" i="1" smtClean="0">
                                                    <a:latin typeface="Cambria Math" panose="02040503050406030204" pitchFamily="18" charset="0"/>
                                                    <a:ea typeface="Cambria Math" panose="02040503050406030204" pitchFamily="18" charset="0"/>
                                                  </a:rPr>
                                                </m:ctrlPr>
                                              </m:mPr>
                                              <m:mr>
                                                <m:e>
                                                  <m:r>
                                                    <m:rPr>
                                                      <m:brk m:alnAt="7"/>
                                                    </m:rP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0.1556</m:t>
                                                  </m:r>
                                                </m:e>
                                                <m:e>
                                                  <m:r>
                                                    <a:rPr lang="en-US" altLang="zh-TW" b="0" i="1" smtClean="0">
                                                      <a:latin typeface="Cambria Math" panose="02040503050406030204" pitchFamily="18" charset="0"/>
                                                      <a:ea typeface="Cambria Math" panose="02040503050406030204" pitchFamily="18" charset="0"/>
                                                    </a:rPr>
                                                    <m:t>−0.2129</m:t>
                                                  </m:r>
                                                </m:e>
                                                <m:e>
                                                  <m:m>
                                                    <m:mPr>
                                                      <m:mcs>
                                                        <m:mc>
                                                          <m:mcPr>
                                                            <m:count m:val="3"/>
                                                            <m:mcJc m:val="center"/>
                                                          </m:mcPr>
                                                        </m:mc>
                                                      </m:mcs>
                                                      <m:ctrlPr>
                                                        <a:rPr lang="en-US" altLang="zh-TW" b="0" i="1" smtClean="0">
                                                          <a:latin typeface="Cambria Math" panose="02040503050406030204" pitchFamily="18" charset="0"/>
                                                          <a:ea typeface="Cambria Math" panose="02040503050406030204" pitchFamily="18" charset="0"/>
                                                        </a:rPr>
                                                      </m:ctrlPr>
                                                    </m:mPr>
                                                    <m:mr>
                                                      <m:e>
                                                        <m:r>
                                                          <m:rPr>
                                                            <m:brk m:alnAt="7"/>
                                                          </m:rP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0.1560</m:t>
                                                        </m:r>
                                                      </m:e>
                                                      <m:e>
                                                        <m:r>
                                                          <a:rPr lang="en-US" altLang="zh-TW" b="0" i="1" smtClean="0">
                                                            <a:latin typeface="Cambria Math" panose="02040503050406030204" pitchFamily="18" charset="0"/>
                                                            <a:ea typeface="Cambria Math" panose="02040503050406030204" pitchFamily="18" charset="0"/>
                                                          </a:rPr>
                                                          <m:t>−0.0857</m:t>
                                                        </m:r>
                                                      </m:e>
                                                      <m:e>
                                                        <m:r>
                                                          <a:rPr lang="en-US" altLang="zh-TW" b="0" i="1" smtClean="0">
                                                            <a:latin typeface="Cambria Math" panose="02040503050406030204" pitchFamily="18" charset="0"/>
                                                            <a:ea typeface="Cambria Math" panose="02040503050406030204" pitchFamily="18" charset="0"/>
                                                          </a:rPr>
                                                          <m:t>0.8329</m:t>
                                                        </m:r>
                                                      </m:e>
                                                    </m:mr>
                                                  </m:m>
                                                </m:e>
                                              </m:mr>
                                            </m:m>
                                          </m:e>
                                        </m:mr>
                                      </m:m>
                                    </m:e>
                                  </m:mr>
                                </m:m>
                              </m:e>
                            </m:mr>
                          </m:m>
                        </m:e>
                      </m:d>
                    </m:oMath>
                  </m:oMathPara>
                </a14:m>
                <a:endParaRPr lang="zh-TW" altLang="en-US" dirty="0"/>
              </a:p>
            </p:txBody>
          </p:sp>
        </mc:Choice>
        <mc:Fallback xmlns="">
          <p:sp>
            <p:nvSpPr>
              <p:cNvPr id="48" name="文字方塊 47">
                <a:extLst>
                  <a:ext uri="{FF2B5EF4-FFF2-40B4-BE49-F238E27FC236}">
                    <a16:creationId xmlns:a16="http://schemas.microsoft.com/office/drawing/2014/main" id="{D533DBBD-FF5B-4992-BB28-0C81D697BDEB}"/>
                  </a:ext>
                </a:extLst>
              </p:cNvPr>
              <p:cNvSpPr txBox="1">
                <a:spLocks noRot="1" noChangeAspect="1" noMove="1" noResize="1" noEditPoints="1" noAdjustHandles="1" noChangeArrowheads="1" noChangeShapeType="1" noTextEdit="1"/>
              </p:cNvSpPr>
              <p:nvPr/>
            </p:nvSpPr>
            <p:spPr>
              <a:xfrm>
                <a:off x="-30118" y="2170138"/>
                <a:ext cx="7411480" cy="1609030"/>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8" name="文字方塊 27">
                <a:extLst>
                  <a:ext uri="{FF2B5EF4-FFF2-40B4-BE49-F238E27FC236}">
                    <a16:creationId xmlns:a16="http://schemas.microsoft.com/office/drawing/2014/main" id="{8F3A1AD7-F709-40B5-9313-5750A7D3CE62}"/>
                  </a:ext>
                </a:extLst>
              </p:cNvPr>
              <p:cNvSpPr txBox="1"/>
              <p:nvPr/>
            </p:nvSpPr>
            <p:spPr>
              <a:xfrm>
                <a:off x="7438938" y="2789767"/>
                <a:ext cx="2137124" cy="30534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Pre>
                        <m:sPrePr>
                          <m:ctrlPr>
                            <a:rPr lang="en-US" altLang="zh-TW" i="1" smtClean="0">
                              <a:latin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r>
                            <a:rPr lang="en-US" altLang="zh-TW" b="0" i="1" smtClean="0">
                              <a:latin typeface="Cambria Math" panose="02040503050406030204" pitchFamily="18" charset="0"/>
                            </a:rPr>
                            <m:t>=9.4451</m:t>
                          </m:r>
                          <m:f>
                            <m:fPr>
                              <m:type m:val="lin"/>
                              <m:ctrlPr>
                                <a:rPr lang="en-US" altLang="zh-TW" b="0" i="1" smtClean="0">
                                  <a:latin typeface="Cambria Math" panose="02040503050406030204" pitchFamily="18" charset="0"/>
                                </a:rPr>
                              </m:ctrlPr>
                            </m:fPr>
                            <m:num>
                              <m:r>
                                <a:rPr lang="en-US" altLang="zh-TW" b="0" i="1" smtClean="0">
                                  <a:latin typeface="Cambria Math" panose="02040503050406030204" pitchFamily="18" charset="0"/>
                                </a:rPr>
                                <m:t>𝑚𝑇</m:t>
                              </m:r>
                            </m:num>
                            <m:den>
                              <m:r>
                                <a:rPr lang="en-US" altLang="zh-TW" b="0" i="1" smtClean="0">
                                  <a:latin typeface="Cambria Math" panose="02040503050406030204" pitchFamily="18" charset="0"/>
                                </a:rPr>
                                <m:t>𝐴</m:t>
                              </m:r>
                            </m:den>
                          </m:f>
                        </m:e>
                      </m:sPre>
                    </m:oMath>
                  </m:oMathPara>
                </a14:m>
                <a:endParaRPr lang="zh-TW" altLang="en-US" dirty="0"/>
              </a:p>
            </p:txBody>
          </p:sp>
        </mc:Choice>
        <mc:Fallback xmlns="">
          <p:sp>
            <p:nvSpPr>
              <p:cNvPr id="28" name="文字方塊 27">
                <a:extLst>
                  <a:ext uri="{FF2B5EF4-FFF2-40B4-BE49-F238E27FC236}">
                    <a16:creationId xmlns:a16="http://schemas.microsoft.com/office/drawing/2014/main" id="{8F3A1AD7-F709-40B5-9313-5750A7D3CE62}"/>
                  </a:ext>
                </a:extLst>
              </p:cNvPr>
              <p:cNvSpPr txBox="1">
                <a:spLocks noRot="1" noChangeAspect="1" noMove="1" noResize="1" noEditPoints="1" noAdjustHandles="1" noChangeArrowheads="1" noChangeShapeType="1" noTextEdit="1"/>
              </p:cNvSpPr>
              <p:nvPr/>
            </p:nvSpPr>
            <p:spPr>
              <a:xfrm>
                <a:off x="7438938" y="2789767"/>
                <a:ext cx="2137124" cy="305340"/>
              </a:xfrm>
              <a:prstGeom prst="rect">
                <a:avLst/>
              </a:prstGeom>
              <a:blipFill>
                <a:blip r:embed="rId10"/>
                <a:stretch>
                  <a:fillRect t="-150000" r="-24217" b="-228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29DF120-4837-4A57-9491-C63B8C6EBE9C}"/>
                  </a:ext>
                </a:extLst>
              </p:cNvPr>
              <p:cNvSpPr txBox="1"/>
              <p:nvPr/>
            </p:nvSpPr>
            <p:spPr>
              <a:xfrm>
                <a:off x="27458" y="4230851"/>
                <a:ext cx="7411480" cy="160903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TW" b="0"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𝐾</m:t>
                              </m:r>
                            </m:e>
                          </m:acc>
                        </m:e>
                        <m:sub>
                          <m:r>
                            <a:rPr lang="en-US" altLang="zh-TW" b="0" i="1" smtClean="0">
                              <a:latin typeface="Cambria Math" panose="02040503050406030204" pitchFamily="18" charset="0"/>
                            </a:rPr>
                            <m:t>𝐼</m:t>
                          </m:r>
                        </m:sub>
                      </m:sSub>
                      <m:r>
                        <a:rPr lang="en-US" altLang="zh-TW" b="0" i="1" smtClean="0">
                          <a:latin typeface="Cambria Math" panose="02040503050406030204" pitchFamily="18" charset="0"/>
                          <a:ea typeface="Cambria Math" panose="02040503050406030204" pitchFamily="18" charset="0"/>
                        </a:rPr>
                        <m:t>=</m:t>
                      </m:r>
                      <m:d>
                        <m:dPr>
                          <m:begChr m:val="["/>
                          <m:endChr m:val="]"/>
                          <m:ctrlPr>
                            <a:rPr lang="en-US" altLang="zh-TW"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b="0" i="1" smtClean="0">
                                  <a:latin typeface="Cambria Math" panose="02040503050406030204" pitchFamily="18" charset="0"/>
                                  <a:ea typeface="Cambria Math" panose="02040503050406030204" pitchFamily="18" charset="0"/>
                                </a:rPr>
                              </m:ctrlPr>
                            </m:mPr>
                            <m:mr>
                              <m:e>
                                <m:r>
                                  <m:rPr>
                                    <m:brk m:alnAt="7"/>
                                  </m:rPr>
                                  <a:rPr lang="en-US" altLang="zh-TW" b="0" i="1" smtClean="0">
                                    <a:latin typeface="Cambria Math" panose="02040503050406030204" pitchFamily="18" charset="0"/>
                                    <a:ea typeface="Cambria Math" panose="02040503050406030204" pitchFamily="18" charset="0"/>
                                  </a:rPr>
                                  <m:t>0</m:t>
                                </m:r>
                                <m:r>
                                  <a:rPr lang="en-US" altLang="zh-TW" b="0" i="1" smtClean="0">
                                    <a:latin typeface="Cambria Math" panose="02040503050406030204" pitchFamily="18" charset="0"/>
                                    <a:ea typeface="Cambria Math" panose="02040503050406030204" pitchFamily="18" charset="0"/>
                                  </a:rPr>
                                  <m:t>.8333</m:t>
                                </m:r>
                              </m:e>
                              <m:e>
                                <m:m>
                                  <m:mPr>
                                    <m:mcs>
                                      <m:mc>
                                        <m:mcPr>
                                          <m:count m:val="3"/>
                                          <m:mcJc m:val="center"/>
                                        </m:mcPr>
                                      </m:mc>
                                    </m:mcs>
                                    <m:ctrlPr>
                                      <a:rPr lang="en-US" altLang="zh-TW" b="0" i="1" smtClean="0">
                                        <a:latin typeface="Cambria Math" panose="02040503050406030204" pitchFamily="18" charset="0"/>
                                        <a:ea typeface="Cambria Math" panose="02040503050406030204" pitchFamily="18" charset="0"/>
                                      </a:rPr>
                                    </m:ctrlPr>
                                  </m:mPr>
                                  <m:mr>
                                    <m:e>
                                      <m:r>
                                        <m:rPr>
                                          <m:brk m:alnAt="7"/>
                                        </m:rP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0.1378</m:t>
                                      </m:r>
                                    </m:e>
                                    <m:e>
                                      <m:r>
                                        <a:rPr lang="en-US" altLang="zh-TW" b="0" i="1" smtClean="0">
                                          <a:latin typeface="Cambria Math" panose="02040503050406030204" pitchFamily="18" charset="0"/>
                                          <a:ea typeface="Cambria Math" panose="02040503050406030204" pitchFamily="18" charset="0"/>
                                        </a:rPr>
                                        <m:t>−0.1286</m:t>
                                      </m:r>
                                    </m:e>
                                    <m:e>
                                      <m:m>
                                        <m:mPr>
                                          <m:mcs>
                                            <m:mc>
                                              <m:mcPr>
                                                <m:count m:val="3"/>
                                                <m:mcJc m:val="center"/>
                                              </m:mcPr>
                                            </m:mc>
                                          </m:mcs>
                                          <m:ctrlPr>
                                            <a:rPr lang="en-US" altLang="zh-TW" b="0" i="1" smtClean="0">
                                              <a:latin typeface="Cambria Math" panose="02040503050406030204" pitchFamily="18" charset="0"/>
                                              <a:ea typeface="Cambria Math" panose="02040503050406030204" pitchFamily="18" charset="0"/>
                                            </a:rPr>
                                          </m:ctrlPr>
                                        </m:mPr>
                                        <m:mr>
                                          <m:e>
                                            <m:r>
                                              <m:rPr>
                                                <m:brk m:alnAt="7"/>
                                              </m:rP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0.1919</m:t>
                                            </m:r>
                                          </m:e>
                                          <m:e>
                                            <m:r>
                                              <a:rPr lang="en-US" altLang="zh-TW" b="0" i="1" smtClean="0">
                                                <a:latin typeface="Cambria Math" panose="02040503050406030204" pitchFamily="18" charset="0"/>
                                                <a:ea typeface="Cambria Math" panose="02040503050406030204" pitchFamily="18" charset="0"/>
                                              </a:rPr>
                                              <m:t>−0.1932</m:t>
                                            </m:r>
                                          </m:e>
                                          <m:e>
                                            <m:r>
                                              <a:rPr lang="en-US" altLang="zh-TW" b="0" i="1" smtClean="0">
                                                <a:latin typeface="Cambria Math" panose="02040503050406030204" pitchFamily="18" charset="0"/>
                                                <a:ea typeface="Cambria Math" panose="02040503050406030204" pitchFamily="18" charset="0"/>
                                              </a:rPr>
                                              <m:t>−0.1293</m:t>
                                            </m:r>
                                          </m:e>
                                        </m:mr>
                                      </m:m>
                                    </m:e>
                                  </m:mr>
                                </m:m>
                              </m:e>
                            </m:mr>
                            <m:mr>
                              <m:e>
                                <m:m>
                                  <m:mPr>
                                    <m:mcs>
                                      <m:mc>
                                        <m:mcPr>
                                          <m:count m:val="1"/>
                                          <m:mcJc m:val="center"/>
                                        </m:mcPr>
                                      </m:mc>
                                    </m:mcs>
                                    <m:ctrlPr>
                                      <a:rPr lang="en-US" altLang="zh-TW" b="0" i="1" smtClean="0">
                                        <a:latin typeface="Cambria Math" panose="02040503050406030204" pitchFamily="18" charset="0"/>
                                        <a:ea typeface="Cambria Math" panose="02040503050406030204" pitchFamily="18" charset="0"/>
                                      </a:rPr>
                                    </m:ctrlPr>
                                  </m:mPr>
                                  <m:mr>
                                    <m:e>
                                      <m:r>
                                        <m:rPr>
                                          <m:brk m:alnAt="7"/>
                                        </m:rP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0.1386</m:t>
                                      </m:r>
                                    </m:e>
                                  </m:mr>
                                  <m:mr>
                                    <m:e>
                                      <m:r>
                                        <a:rPr lang="en-US" altLang="zh-TW" b="0" i="1" smtClean="0">
                                          <a:latin typeface="Cambria Math" panose="02040503050406030204" pitchFamily="18" charset="0"/>
                                          <a:ea typeface="Cambria Math" panose="02040503050406030204" pitchFamily="18" charset="0"/>
                                        </a:rPr>
                                        <m:t>−0.1290</m:t>
                                      </m:r>
                                    </m:e>
                                  </m:mr>
                                  <m:mr>
                                    <m:e>
                                      <m:m>
                                        <m:mPr>
                                          <m:mcs>
                                            <m:mc>
                                              <m:mcPr>
                                                <m:count m:val="1"/>
                                                <m:mcJc m:val="center"/>
                                              </m:mcPr>
                                            </m:mc>
                                          </m:mcs>
                                          <m:ctrlPr>
                                            <a:rPr lang="en-US" altLang="zh-TW" b="0" i="1" smtClean="0">
                                              <a:latin typeface="Cambria Math" panose="02040503050406030204" pitchFamily="18" charset="0"/>
                                              <a:ea typeface="Cambria Math" panose="02040503050406030204" pitchFamily="18" charset="0"/>
                                            </a:rPr>
                                          </m:ctrlPr>
                                        </m:mPr>
                                        <m:mr>
                                          <m:e>
                                            <m:r>
                                              <m:rPr>
                                                <m:brk m:alnAt="7"/>
                                              </m:rP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0.2053</m:t>
                                            </m:r>
                                          </m:e>
                                        </m:mr>
                                        <m:mr>
                                          <m:e>
                                            <m:r>
                                              <a:rPr lang="en-US" altLang="zh-TW" b="0" i="1" smtClean="0">
                                                <a:latin typeface="Cambria Math" panose="02040503050406030204" pitchFamily="18" charset="0"/>
                                                <a:ea typeface="Cambria Math" panose="02040503050406030204" pitchFamily="18" charset="0"/>
                                              </a:rPr>
                                              <m:t>−0.2046</m:t>
                                            </m:r>
                                          </m:e>
                                        </m:mr>
                                        <m:mr>
                                          <m:e>
                                            <m:r>
                                              <a:rPr lang="en-US" altLang="zh-TW" b="0" i="1" smtClean="0">
                                                <a:latin typeface="Cambria Math" panose="02040503050406030204" pitchFamily="18" charset="0"/>
                                                <a:ea typeface="Cambria Math" panose="02040503050406030204" pitchFamily="18" charset="0"/>
                                              </a:rPr>
                                              <m:t>−0.1298</m:t>
                                            </m:r>
                                          </m:e>
                                        </m:mr>
                                      </m:m>
                                    </m:e>
                                  </m:mr>
                                </m:m>
                              </m:e>
                              <m:e>
                                <m:m>
                                  <m:mPr>
                                    <m:mcs>
                                      <m:mc>
                                        <m:mcPr>
                                          <m:count m:val="1"/>
                                          <m:mcJc m:val="center"/>
                                        </m:mcPr>
                                      </m:mc>
                                    </m:mcs>
                                    <m:ctrlPr>
                                      <a:rPr lang="en-US" altLang="zh-TW" b="0" i="1" smtClean="0">
                                        <a:latin typeface="Cambria Math" panose="02040503050406030204" pitchFamily="18" charset="0"/>
                                        <a:ea typeface="Cambria Math" panose="02040503050406030204" pitchFamily="18" charset="0"/>
                                      </a:rPr>
                                    </m:ctrlPr>
                                  </m:mPr>
                                  <m:mr>
                                    <m:e>
                                      <m:m>
                                        <m:mPr>
                                          <m:mcs>
                                            <m:mc>
                                              <m:mcPr>
                                                <m:count m:val="3"/>
                                                <m:mcJc m:val="center"/>
                                              </m:mcPr>
                                            </m:mc>
                                          </m:mcs>
                                          <m:ctrlPr>
                                            <a:rPr lang="en-US" altLang="zh-TW" b="0" i="1" smtClean="0">
                                              <a:latin typeface="Cambria Math" panose="02040503050406030204" pitchFamily="18" charset="0"/>
                                              <a:ea typeface="Cambria Math" panose="02040503050406030204" pitchFamily="18" charset="0"/>
                                            </a:rPr>
                                          </m:ctrlPr>
                                        </m:mPr>
                                        <m:mr>
                                          <m:e>
                                            <m:r>
                                              <m:rPr>
                                                <m:brk m:alnAt="7"/>
                                              </m:rPr>
                                              <a:rPr lang="en-US" altLang="zh-TW" b="0" i="1" smtClean="0">
                                                <a:latin typeface="Cambria Math" panose="02040503050406030204" pitchFamily="18" charset="0"/>
                                                <a:ea typeface="Cambria Math" panose="02040503050406030204" pitchFamily="18" charset="0"/>
                                              </a:rPr>
                                              <m:t>0</m:t>
                                            </m:r>
                                            <m:r>
                                              <a:rPr lang="en-US" altLang="zh-TW" b="0" i="1" smtClean="0">
                                                <a:latin typeface="Cambria Math" panose="02040503050406030204" pitchFamily="18" charset="0"/>
                                                <a:ea typeface="Cambria Math" panose="02040503050406030204" pitchFamily="18" charset="0"/>
                                              </a:rPr>
                                              <m:t>.8285</m:t>
                                            </m:r>
                                          </m:e>
                                          <m:e>
                                            <m:r>
                                              <a:rPr lang="en-US" altLang="zh-TW" b="0" i="1" smtClean="0">
                                                <a:latin typeface="Cambria Math" panose="02040503050406030204" pitchFamily="18" charset="0"/>
                                                <a:ea typeface="Cambria Math" panose="02040503050406030204" pitchFamily="18" charset="0"/>
                                              </a:rPr>
                                              <m:t>−0.2022</m:t>
                                            </m:r>
                                          </m:e>
                                          <m:e>
                                            <m:m>
                                              <m:mPr>
                                                <m:mcs>
                                                  <m:mc>
                                                    <m:mcPr>
                                                      <m:count m:val="3"/>
                                                      <m:mcJc m:val="center"/>
                                                    </m:mcPr>
                                                  </m:mc>
                                                </m:mcs>
                                                <m:ctrlPr>
                                                  <a:rPr lang="en-US" altLang="zh-TW" b="0" i="1" smtClean="0">
                                                    <a:latin typeface="Cambria Math" panose="02040503050406030204" pitchFamily="18" charset="0"/>
                                                    <a:ea typeface="Cambria Math" panose="02040503050406030204" pitchFamily="18" charset="0"/>
                                                  </a:rPr>
                                                </m:ctrlPr>
                                              </m:mPr>
                                              <m:mr>
                                                <m:e>
                                                  <m:r>
                                                    <m:rPr>
                                                      <m:brk m:alnAt="7"/>
                                                    </m:rP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0.1216</m:t>
                                                  </m:r>
                                                </m:e>
                                                <m:e>
                                                  <m:r>
                                                    <a:rPr lang="en-US" altLang="zh-TW" b="0" i="1" smtClean="0">
                                                      <a:latin typeface="Cambria Math" panose="02040503050406030204" pitchFamily="18" charset="0"/>
                                                      <a:ea typeface="Cambria Math" panose="02040503050406030204" pitchFamily="18" charset="0"/>
                                                    </a:rPr>
                                                    <m:t>−0.1224</m:t>
                                                  </m:r>
                                                </m:e>
                                                <m:e>
                                                  <m:r>
                                                    <a:rPr lang="en-US" altLang="zh-TW" b="0" i="1" smtClean="0">
                                                      <a:latin typeface="Cambria Math" panose="02040503050406030204" pitchFamily="18" charset="0"/>
                                                      <a:ea typeface="Cambria Math" panose="02040503050406030204" pitchFamily="18" charset="0"/>
                                                    </a:rPr>
                                                    <m:t>−0.2033</m:t>
                                                  </m:r>
                                                </m:e>
                                              </m:mr>
                                            </m:m>
                                          </m:e>
                                        </m:mr>
                                      </m:m>
                                    </m:e>
                                  </m:mr>
                                  <m:mr>
                                    <m:e>
                                      <m:m>
                                        <m:mPr>
                                          <m:mcs>
                                            <m:mc>
                                              <m:mcPr>
                                                <m:count m:val="3"/>
                                                <m:mcJc m:val="center"/>
                                              </m:mcPr>
                                            </m:mc>
                                          </m:mcs>
                                          <m:ctrlPr>
                                            <a:rPr lang="en-US" altLang="zh-TW" b="0" i="1" smtClean="0">
                                              <a:latin typeface="Cambria Math" panose="02040503050406030204" pitchFamily="18" charset="0"/>
                                              <a:ea typeface="Cambria Math" panose="02040503050406030204" pitchFamily="18" charset="0"/>
                                            </a:rPr>
                                          </m:ctrlPr>
                                        </m:mPr>
                                        <m:mr>
                                          <m:e>
                                            <m:r>
                                              <m:rPr>
                                                <m:brk m:alnAt="7"/>
                                              </m:rP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0.1927</m:t>
                                            </m:r>
                                          </m:e>
                                          <m:e>
                                            <m:r>
                                              <a:rPr lang="en-US" altLang="zh-TW" b="0" i="1" smtClean="0">
                                                <a:latin typeface="Cambria Math" panose="02040503050406030204" pitchFamily="18" charset="0"/>
                                                <a:ea typeface="Cambria Math" panose="02040503050406030204" pitchFamily="18" charset="0"/>
                                              </a:rPr>
                                              <m:t>0.8302</m:t>
                                            </m:r>
                                          </m:e>
                                          <m:e>
                                            <m:m>
                                              <m:mPr>
                                                <m:mcs>
                                                  <m:mc>
                                                    <m:mcPr>
                                                      <m:count m:val="3"/>
                                                      <m:mcJc m:val="center"/>
                                                    </m:mcPr>
                                                  </m:mc>
                                                </m:mcs>
                                                <m:ctrlPr>
                                                  <a:rPr lang="en-US" altLang="zh-TW" b="0" i="1" smtClean="0">
                                                    <a:latin typeface="Cambria Math" panose="02040503050406030204" pitchFamily="18" charset="0"/>
                                                    <a:ea typeface="Cambria Math" panose="02040503050406030204" pitchFamily="18" charset="0"/>
                                                  </a:rPr>
                                                </m:ctrlPr>
                                              </m:mPr>
                                              <m:mr>
                                                <m:e>
                                                  <m:r>
                                                    <m:rPr>
                                                      <m:brk m:alnAt="7"/>
                                                    </m:rP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0.1347</m:t>
                                                  </m:r>
                                                </m:e>
                                                <m:e>
                                                  <m:r>
                                                    <a:rPr lang="en-US" altLang="zh-TW" b="0" i="1" smtClean="0">
                                                      <a:latin typeface="Cambria Math" panose="02040503050406030204" pitchFamily="18" charset="0"/>
                                                      <a:ea typeface="Cambria Math" panose="02040503050406030204" pitchFamily="18" charset="0"/>
                                                    </a:rPr>
                                                    <m:t>−0.1922</m:t>
                                                  </m:r>
                                                </m:e>
                                                <m:e>
                                                  <m:r>
                                                    <a:rPr lang="en-US" altLang="zh-TW" b="0" i="1" smtClean="0">
                                                      <a:latin typeface="Cambria Math" panose="02040503050406030204" pitchFamily="18" charset="0"/>
                                                      <a:ea typeface="Cambria Math" panose="02040503050406030204" pitchFamily="18" charset="0"/>
                                                    </a:rPr>
                                                    <m:t>−0.1286</m:t>
                                                  </m:r>
                                                </m:e>
                                              </m:mr>
                                            </m:m>
                                          </m:e>
                                        </m:mr>
                                      </m:m>
                                    </m:e>
                                  </m:mr>
                                  <m:mr>
                                    <m:e>
                                      <m:m>
                                        <m:mPr>
                                          <m:mcs>
                                            <m:mc>
                                              <m:mcPr>
                                                <m:count m:val="1"/>
                                                <m:mcJc m:val="center"/>
                                              </m:mcPr>
                                            </m:mc>
                                          </m:mcs>
                                          <m:ctrlPr>
                                            <a:rPr lang="en-US" altLang="zh-TW" b="0" i="1" smtClean="0">
                                              <a:latin typeface="Cambria Math" panose="02040503050406030204" pitchFamily="18" charset="0"/>
                                              <a:ea typeface="Cambria Math" panose="02040503050406030204" pitchFamily="18" charset="0"/>
                                            </a:rPr>
                                          </m:ctrlPr>
                                        </m:mPr>
                                        <m:mr>
                                          <m:e>
                                            <m:m>
                                              <m:mPr>
                                                <m:mcs>
                                                  <m:mc>
                                                    <m:mcPr>
                                                      <m:count m:val="3"/>
                                                      <m:mcJc m:val="center"/>
                                                    </m:mcPr>
                                                  </m:mc>
                                                </m:mcs>
                                                <m:ctrlPr>
                                                  <a:rPr lang="en-US" altLang="zh-TW" b="0" i="1" smtClean="0">
                                                    <a:latin typeface="Cambria Math" panose="02040503050406030204" pitchFamily="18" charset="0"/>
                                                    <a:ea typeface="Cambria Math" panose="02040503050406030204" pitchFamily="18" charset="0"/>
                                                  </a:rPr>
                                                </m:ctrlPr>
                                              </m:mPr>
                                              <m:mr>
                                                <m:e>
                                                  <m:r>
                                                    <m:rPr>
                                                      <m:brk m:alnAt="7"/>
                                                    </m:rP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0.1228</m:t>
                                                  </m:r>
                                                </m:e>
                                                <m:e>
                                                  <m:r>
                                                    <a:rPr lang="en-US" altLang="zh-TW" b="0" i="1" smtClean="0">
                                                      <a:latin typeface="Cambria Math" panose="02040503050406030204" pitchFamily="18" charset="0"/>
                                                      <a:ea typeface="Cambria Math" panose="02040503050406030204" pitchFamily="18" charset="0"/>
                                                    </a:rPr>
                                                    <m:t>−0.1393</m:t>
                                                  </m:r>
                                                </m:e>
                                                <m:e>
                                                  <m:m>
                                                    <m:mPr>
                                                      <m:mcs>
                                                        <m:mc>
                                                          <m:mcPr>
                                                            <m:count m:val="3"/>
                                                            <m:mcJc m:val="center"/>
                                                          </m:mcPr>
                                                        </m:mc>
                                                      </m:mcs>
                                                      <m:ctrlPr>
                                                        <a:rPr lang="en-US" altLang="zh-TW" b="0" i="1" smtClean="0">
                                                          <a:latin typeface="Cambria Math" panose="02040503050406030204" pitchFamily="18" charset="0"/>
                                                          <a:ea typeface="Cambria Math" panose="02040503050406030204" pitchFamily="18" charset="0"/>
                                                        </a:rPr>
                                                      </m:ctrlPr>
                                                    </m:mPr>
                                                    <m:mr>
                                                      <m:e>
                                                        <m:r>
                                                          <m:rPr>
                                                            <m:brk m:alnAt="7"/>
                                                          </m:rPr>
                                                          <a:rPr lang="en-US" altLang="zh-TW" b="0" i="1" smtClean="0">
                                                            <a:latin typeface="Cambria Math" panose="02040503050406030204" pitchFamily="18" charset="0"/>
                                                            <a:ea typeface="Cambria Math" panose="02040503050406030204" pitchFamily="18" charset="0"/>
                                                          </a:rPr>
                                                          <m:t>0</m:t>
                                                        </m:r>
                                                        <m:r>
                                                          <a:rPr lang="en-US" altLang="zh-TW" b="0" i="1" smtClean="0">
                                                            <a:latin typeface="Cambria Math" panose="02040503050406030204" pitchFamily="18" charset="0"/>
                                                            <a:ea typeface="Cambria Math" panose="02040503050406030204" pitchFamily="18" charset="0"/>
                                                          </a:rPr>
                                                          <m:t>.8357</m:t>
                                                        </m:r>
                                                      </m:e>
                                                      <m:e>
                                                        <m:r>
                                                          <a:rPr lang="en-US" altLang="zh-TW" b="0" i="1" smtClean="0">
                                                            <a:latin typeface="Cambria Math" panose="02040503050406030204" pitchFamily="18" charset="0"/>
                                                            <a:ea typeface="Cambria Math" panose="02040503050406030204" pitchFamily="18" charset="0"/>
                                                          </a:rPr>
                                                          <m:t>−0.1231</m:t>
                                                        </m:r>
                                                      </m:e>
                                                      <m:e>
                                                        <m:r>
                                                          <a:rPr lang="en-US" altLang="zh-TW" b="0" i="1" smtClean="0">
                                                            <a:latin typeface="Cambria Math" panose="02040503050406030204" pitchFamily="18" charset="0"/>
                                                            <a:ea typeface="Cambria Math" panose="02040503050406030204" pitchFamily="18" charset="0"/>
                                                          </a:rPr>
                                                          <m:t>−0.2050</m:t>
                                                        </m:r>
                                                      </m:e>
                                                    </m:mr>
                                                  </m:m>
                                                </m:e>
                                              </m:mr>
                                            </m:m>
                                          </m:e>
                                        </m:mr>
                                        <m:mr>
                                          <m:e>
                                            <m:m>
                                              <m:mPr>
                                                <m:mcs>
                                                  <m:mc>
                                                    <m:mcPr>
                                                      <m:count m:val="3"/>
                                                      <m:mcJc m:val="center"/>
                                                    </m:mcPr>
                                                  </m:mc>
                                                </m:mcs>
                                                <m:ctrlPr>
                                                  <a:rPr lang="en-US" altLang="zh-TW" b="0" i="1" smtClean="0">
                                                    <a:latin typeface="Cambria Math" panose="02040503050406030204" pitchFamily="18" charset="0"/>
                                                    <a:ea typeface="Cambria Math" panose="02040503050406030204" pitchFamily="18" charset="0"/>
                                                  </a:rPr>
                                                </m:ctrlPr>
                                              </m:mPr>
                                              <m:mr>
                                                <m:e>
                                                  <m:r>
                                                    <m:rPr>
                                                      <m:brk m:alnAt="7"/>
                                                    </m:rP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0.1228</m:t>
                                                  </m:r>
                                                </m:e>
                                                <m:e>
                                                  <m:r>
                                                    <a:rPr lang="en-US" altLang="zh-TW" b="0" i="1" smtClean="0">
                                                      <a:latin typeface="Cambria Math" panose="02040503050406030204" pitchFamily="18" charset="0"/>
                                                      <a:ea typeface="Cambria Math" panose="02040503050406030204" pitchFamily="18" charset="0"/>
                                                    </a:rPr>
                                                    <m:t>−0.2029</m:t>
                                                  </m:r>
                                                </m:e>
                                                <m:e>
                                                  <m:m>
                                                    <m:mPr>
                                                      <m:mcs>
                                                        <m:mc>
                                                          <m:mcPr>
                                                            <m:count m:val="3"/>
                                                            <m:mcJc m:val="center"/>
                                                          </m:mcPr>
                                                        </m:mc>
                                                      </m:mcs>
                                                      <m:ctrlPr>
                                                        <a:rPr lang="en-US" altLang="zh-TW" b="0" i="1" smtClean="0">
                                                          <a:latin typeface="Cambria Math" panose="02040503050406030204" pitchFamily="18" charset="0"/>
                                                          <a:ea typeface="Cambria Math" panose="02040503050406030204" pitchFamily="18" charset="0"/>
                                                        </a:rPr>
                                                      </m:ctrlPr>
                                                    </m:mPr>
                                                    <m:mr>
                                                      <m:e>
                                                        <m:r>
                                                          <m:rPr>
                                                            <m:brk m:alnAt="7"/>
                                                          </m:rP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0.1223</m:t>
                                                        </m:r>
                                                      </m:e>
                                                      <m:e>
                                                        <m:r>
                                                          <a:rPr lang="en-US" altLang="zh-TW" b="0" i="1" smtClean="0">
                                                            <a:latin typeface="Cambria Math" panose="02040503050406030204" pitchFamily="18" charset="0"/>
                                                            <a:ea typeface="Cambria Math" panose="02040503050406030204" pitchFamily="18" charset="0"/>
                                                          </a:rPr>
                                                          <m:t>0.8327</m:t>
                                                        </m:r>
                                                      </m:e>
                                                      <m:e>
                                                        <m:r>
                                                          <a:rPr lang="en-US" altLang="zh-TW" b="0" i="1" smtClean="0">
                                                            <a:latin typeface="Cambria Math" panose="02040503050406030204" pitchFamily="18" charset="0"/>
                                                            <a:ea typeface="Cambria Math" panose="02040503050406030204" pitchFamily="18" charset="0"/>
                                                          </a:rPr>
                                                          <m:t>−0.1386</m:t>
                                                        </m:r>
                                                      </m:e>
                                                    </m:mr>
                                                  </m:m>
                                                </m:e>
                                              </m:mr>
                                            </m:m>
                                          </m:e>
                                        </m:mr>
                                        <m:mr>
                                          <m:e>
                                            <m:m>
                                              <m:mPr>
                                                <m:mcs>
                                                  <m:mc>
                                                    <m:mcPr>
                                                      <m:count m:val="3"/>
                                                      <m:mcJc m:val="center"/>
                                                    </m:mcPr>
                                                  </m:mc>
                                                </m:mcs>
                                                <m:ctrlPr>
                                                  <a:rPr lang="en-US" altLang="zh-TW" b="0" i="1" smtClean="0">
                                                    <a:latin typeface="Cambria Math" panose="02040503050406030204" pitchFamily="18" charset="0"/>
                                                    <a:ea typeface="Cambria Math" panose="02040503050406030204" pitchFamily="18" charset="0"/>
                                                  </a:rPr>
                                                </m:ctrlPr>
                                              </m:mPr>
                                              <m:mr>
                                                <m:e>
                                                  <m:r>
                                                    <m:rPr>
                                                      <m:brk m:alnAt="7"/>
                                                    </m:rP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0.1941</m:t>
                                                  </m:r>
                                                </m:e>
                                                <m:e>
                                                  <m:r>
                                                    <a:rPr lang="en-US" altLang="zh-TW" b="0" i="1" smtClean="0">
                                                      <a:latin typeface="Cambria Math" panose="02040503050406030204" pitchFamily="18" charset="0"/>
                                                      <a:ea typeface="Cambria Math" panose="02040503050406030204" pitchFamily="18" charset="0"/>
                                                    </a:rPr>
                                                    <m:t>−0.1286</m:t>
                                                  </m:r>
                                                </m:e>
                                                <m:e>
                                                  <m:m>
                                                    <m:mPr>
                                                      <m:mcs>
                                                        <m:mc>
                                                          <m:mcPr>
                                                            <m:count m:val="3"/>
                                                            <m:mcJc m:val="center"/>
                                                          </m:mcPr>
                                                        </m:mc>
                                                      </m:mcs>
                                                      <m:ctrlPr>
                                                        <a:rPr lang="en-US" altLang="zh-TW" b="0" i="1" smtClean="0">
                                                          <a:latin typeface="Cambria Math" panose="02040503050406030204" pitchFamily="18" charset="0"/>
                                                          <a:ea typeface="Cambria Math" panose="02040503050406030204" pitchFamily="18" charset="0"/>
                                                        </a:rPr>
                                                      </m:ctrlPr>
                                                    </m:mPr>
                                                    <m:mr>
                                                      <m:e>
                                                        <m:r>
                                                          <m:rPr>
                                                            <m:brk m:alnAt="7"/>
                                                          </m:rP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0.1926</m:t>
                                                        </m:r>
                                                      </m:e>
                                                      <m:e>
                                                        <m:r>
                                                          <a:rPr lang="en-US" altLang="zh-TW" b="0" i="1" smtClean="0">
                                                            <a:latin typeface="Cambria Math" panose="02040503050406030204" pitchFamily="18" charset="0"/>
                                                            <a:ea typeface="Cambria Math" panose="02040503050406030204" pitchFamily="18" charset="0"/>
                                                          </a:rPr>
                                                          <m:t>−0.1376</m:t>
                                                        </m:r>
                                                      </m:e>
                                                      <m:e>
                                                        <m:r>
                                                          <a:rPr lang="en-US" altLang="zh-TW" b="0" i="1" smtClean="0">
                                                            <a:latin typeface="Cambria Math" panose="02040503050406030204" pitchFamily="18" charset="0"/>
                                                            <a:ea typeface="Cambria Math" panose="02040503050406030204" pitchFamily="18" charset="0"/>
                                                          </a:rPr>
                                                          <m:t>0.8363</m:t>
                                                        </m:r>
                                                      </m:e>
                                                    </m:mr>
                                                  </m:m>
                                                </m:e>
                                              </m:mr>
                                            </m:m>
                                          </m:e>
                                        </m:mr>
                                      </m:m>
                                    </m:e>
                                  </m:mr>
                                </m:m>
                              </m:e>
                            </m:mr>
                          </m:m>
                        </m:e>
                      </m:d>
                    </m:oMath>
                  </m:oMathPara>
                </a14:m>
                <a:endParaRPr lang="zh-TW" altLang="en-US" dirty="0"/>
              </a:p>
            </p:txBody>
          </p:sp>
        </mc:Choice>
        <mc:Fallback xmlns="">
          <p:sp>
            <p:nvSpPr>
              <p:cNvPr id="49" name="文字方塊 48">
                <a:extLst>
                  <a:ext uri="{FF2B5EF4-FFF2-40B4-BE49-F238E27FC236}">
                    <a16:creationId xmlns:a16="http://schemas.microsoft.com/office/drawing/2014/main" id="{829DF120-4837-4A57-9491-C63B8C6EBE9C}"/>
                  </a:ext>
                </a:extLst>
              </p:cNvPr>
              <p:cNvSpPr txBox="1">
                <a:spLocks noRot="1" noChangeAspect="1" noMove="1" noResize="1" noEditPoints="1" noAdjustHandles="1" noChangeArrowheads="1" noChangeShapeType="1" noTextEdit="1"/>
              </p:cNvSpPr>
              <p:nvPr/>
            </p:nvSpPr>
            <p:spPr>
              <a:xfrm>
                <a:off x="27458" y="4230851"/>
                <a:ext cx="7411480" cy="1609030"/>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0" name="文字方塊 49">
                <a:extLst>
                  <a:ext uri="{FF2B5EF4-FFF2-40B4-BE49-F238E27FC236}">
                    <a16:creationId xmlns:a16="http://schemas.microsoft.com/office/drawing/2014/main" id="{446BBB46-E171-4E6A-982D-DD19FF4414CF}"/>
                  </a:ext>
                </a:extLst>
              </p:cNvPr>
              <p:cNvSpPr txBox="1"/>
              <p:nvPr/>
            </p:nvSpPr>
            <p:spPr>
              <a:xfrm>
                <a:off x="154577" y="5970064"/>
                <a:ext cx="2201885" cy="30534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Pre>
                        <m:sPrePr>
                          <m:ctrlPr>
                            <a:rPr lang="en-US" altLang="zh-TW" i="1" smtClean="0">
                              <a:latin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r>
                            <a:rPr lang="en-US" altLang="zh-TW" b="0" i="1" smtClean="0">
                              <a:latin typeface="Cambria Math" panose="02040503050406030204" pitchFamily="18" charset="0"/>
                            </a:rPr>
                            <m:t>=10.7514</m:t>
                          </m:r>
                          <m:f>
                            <m:fPr>
                              <m:type m:val="lin"/>
                              <m:ctrlPr>
                                <a:rPr lang="en-US" altLang="zh-TW" b="0" i="1" smtClean="0">
                                  <a:latin typeface="Cambria Math" panose="02040503050406030204" pitchFamily="18" charset="0"/>
                                </a:rPr>
                              </m:ctrlPr>
                            </m:fPr>
                            <m:num>
                              <m:r>
                                <a:rPr lang="en-US" altLang="zh-TW" b="0" i="1" smtClean="0">
                                  <a:latin typeface="Cambria Math" panose="02040503050406030204" pitchFamily="18" charset="0"/>
                                </a:rPr>
                                <m:t>𝑚𝑇</m:t>
                              </m:r>
                            </m:num>
                            <m:den>
                              <m:r>
                                <a:rPr lang="en-US" altLang="zh-TW" b="0" i="1" smtClean="0">
                                  <a:latin typeface="Cambria Math" panose="02040503050406030204" pitchFamily="18" charset="0"/>
                                </a:rPr>
                                <m:t>𝐴</m:t>
                              </m:r>
                            </m:den>
                          </m:f>
                        </m:e>
                      </m:sPre>
                    </m:oMath>
                  </m:oMathPara>
                </a14:m>
                <a:endParaRPr lang="zh-TW" altLang="en-US" dirty="0"/>
              </a:p>
            </p:txBody>
          </p:sp>
        </mc:Choice>
        <mc:Fallback xmlns="">
          <p:sp>
            <p:nvSpPr>
              <p:cNvPr id="50" name="文字方塊 49">
                <a:extLst>
                  <a:ext uri="{FF2B5EF4-FFF2-40B4-BE49-F238E27FC236}">
                    <a16:creationId xmlns:a16="http://schemas.microsoft.com/office/drawing/2014/main" id="{446BBB46-E171-4E6A-982D-DD19FF4414CF}"/>
                  </a:ext>
                </a:extLst>
              </p:cNvPr>
              <p:cNvSpPr txBox="1">
                <a:spLocks noRot="1" noChangeAspect="1" noMove="1" noResize="1" noEditPoints="1" noAdjustHandles="1" noChangeArrowheads="1" noChangeShapeType="1" noTextEdit="1"/>
              </p:cNvSpPr>
              <p:nvPr/>
            </p:nvSpPr>
            <p:spPr>
              <a:xfrm>
                <a:off x="154577" y="5970064"/>
                <a:ext cx="2201885" cy="305340"/>
              </a:xfrm>
              <a:prstGeom prst="rect">
                <a:avLst/>
              </a:prstGeom>
              <a:blipFill>
                <a:blip r:embed="rId7"/>
                <a:stretch>
                  <a:fillRect t="-148000" r="-24862" b="-230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3" name="文字方塊 32">
                <a:extLst>
                  <a:ext uri="{FF2B5EF4-FFF2-40B4-BE49-F238E27FC236}">
                    <a16:creationId xmlns:a16="http://schemas.microsoft.com/office/drawing/2014/main" id="{B10B31CD-8B64-4A8F-A2F7-B3F6A0CEFA0B}"/>
                  </a:ext>
                </a:extLst>
              </p:cNvPr>
              <p:cNvSpPr txBox="1"/>
              <p:nvPr/>
            </p:nvSpPr>
            <p:spPr>
              <a:xfrm>
                <a:off x="3162300" y="5911618"/>
                <a:ext cx="6812827" cy="7275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zh-TW" altLang="en-US" i="1" smtClean="0">
                              <a:latin typeface="Cambria Math" panose="02040503050406030204" pitchFamily="18" charset="0"/>
                            </a:rPr>
                          </m:ctrlPr>
                        </m:accPr>
                        <m:e>
                          <m:r>
                            <a:rPr lang="en-US" altLang="zh-TW" b="0" i="1" smtClean="0">
                              <a:latin typeface="Cambria Math" panose="02040503050406030204" pitchFamily="18" charset="0"/>
                            </a:rPr>
                            <m:t>𝑒</m:t>
                          </m:r>
                        </m:e>
                      </m:acc>
                      <m:r>
                        <a:rPr lang="en-US" altLang="zh-TW" b="0" i="1" smtClean="0">
                          <a:latin typeface="Cambria Math" panose="02040503050406030204" pitchFamily="18" charset="0"/>
                        </a:rPr>
                        <m:t>=</m:t>
                      </m:r>
                      <m:d>
                        <m:dPr>
                          <m:begChr m:val="["/>
                          <m:endChr m:val="]"/>
                          <m:ctrlPr>
                            <a:rPr lang="en-US" altLang="zh-TW" b="0" i="1" smtClean="0">
                              <a:latin typeface="Cambria Math" panose="02040503050406030204" pitchFamily="18" charset="0"/>
                            </a:rPr>
                          </m:ctrlPr>
                        </m:dPr>
                        <m:e>
                          <m:m>
                            <m:mPr>
                              <m:mcs>
                                <m:mc>
                                  <m:mcPr>
                                    <m:count m:val="2"/>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m:t>
                                </m:r>
                                <m:r>
                                  <a:rPr lang="en-US" altLang="zh-TW" b="0" i="1" smtClean="0">
                                    <a:latin typeface="Cambria Math" panose="02040503050406030204" pitchFamily="18" charset="0"/>
                                  </a:rPr>
                                  <m:t>.0190</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m:t>
                                      </m:r>
                                      <m:r>
                                        <a:rPr lang="en-US" altLang="zh-TW" b="0" i="1" smtClean="0">
                                          <a:latin typeface="Cambria Math" panose="02040503050406030204" pitchFamily="18" charset="0"/>
                                        </a:rPr>
                                        <m:t>.0205</m:t>
                                      </m:r>
                                    </m:e>
                                    <m:e>
                                      <m:r>
                                        <a:rPr lang="en-US" altLang="zh-TW" b="0" i="1" smtClean="0">
                                          <a:latin typeface="Cambria Math" panose="02040503050406030204" pitchFamily="18" charset="0"/>
                                        </a:rPr>
                                        <m:t>−0.1172</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m:t>
                                            </m:r>
                                            <m:r>
                                              <a:rPr lang="en-US" altLang="zh-TW" b="0" i="1" smtClean="0">
                                                <a:latin typeface="Cambria Math" panose="02040503050406030204" pitchFamily="18" charset="0"/>
                                              </a:rPr>
                                              <m:t>.0022</m:t>
                                            </m:r>
                                          </m:e>
                                          <m:e>
                                            <m:r>
                                              <a:rPr lang="en-US" altLang="zh-TW" b="0" i="1" smtClean="0">
                                                <a:latin typeface="Cambria Math" panose="02040503050406030204" pitchFamily="18" charset="0"/>
                                              </a:rPr>
                                              <m:t>0.0017</m:t>
                                            </m:r>
                                          </m:e>
                                          <m:e>
                                            <m:r>
                                              <a:rPr lang="en-US" altLang="zh-TW" b="0" i="1" smtClean="0">
                                                <a:latin typeface="Cambria Math" panose="02040503050406030204" pitchFamily="18" charset="0"/>
                                              </a:rPr>
                                              <m:t>−0.1186</m:t>
                                            </m:r>
                                          </m:e>
                                        </m:mr>
                                      </m:m>
                                    </m:e>
                                  </m:mr>
                                </m:m>
                              </m:e>
                            </m:mr>
                            <m:mr>
                              <m:e>
                                <m:m>
                                  <m:mPr>
                                    <m:mcs>
                                      <m:mc>
                                        <m:mcPr>
                                          <m:count m:val="1"/>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0.1185</m:t>
                                      </m:r>
                                    </m:e>
                                  </m:mr>
                                  <m:mr>
                                    <m:e>
                                      <m:r>
                                        <a:rPr lang="en-US" altLang="zh-TW" b="0" i="1" smtClean="0">
                                          <a:latin typeface="Cambria Math" panose="02040503050406030204" pitchFamily="18" charset="0"/>
                                        </a:rPr>
                                        <m:t>0.1184</m:t>
                                      </m:r>
                                    </m:e>
                                  </m:mr>
                                </m:m>
                              </m:e>
                              <m:e>
                                <m:m>
                                  <m:mPr>
                                    <m:mcs>
                                      <m:mc>
                                        <m:mcPr>
                                          <m:count m:val="1"/>
                                          <m:mcJc m:val="center"/>
                                        </m:mcPr>
                                      </m:mc>
                                    </m:mcs>
                                    <m:ctrlPr>
                                      <a:rPr lang="en-US" altLang="zh-TW" b="0" i="1" smtClean="0">
                                        <a:latin typeface="Cambria Math" panose="02040503050406030204" pitchFamily="18" charset="0"/>
                                      </a:rPr>
                                    </m:ctrlPr>
                                  </m:mP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m:t>
                                            </m:r>
                                            <m:r>
                                              <a:rPr lang="en-US" altLang="zh-TW" b="0" i="1" smtClean="0">
                                                <a:latin typeface="Cambria Math" panose="02040503050406030204" pitchFamily="18" charset="0"/>
                                              </a:rPr>
                                              <m:t>.0028</m:t>
                                            </m:r>
                                          </m:e>
                                          <m:e>
                                            <m:r>
                                              <a:rPr lang="en-US" altLang="zh-TW" b="0" i="1" smtClean="0">
                                                <a:latin typeface="Cambria Math" panose="02040503050406030204" pitchFamily="18" charset="0"/>
                                              </a:rPr>
                                              <m:t>0.0156</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m:t>
                                                  </m:r>
                                                  <m:r>
                                                    <a:rPr lang="en-US" altLang="zh-TW" b="0" i="1" smtClean="0">
                                                      <a:latin typeface="Cambria Math" panose="02040503050406030204" pitchFamily="18" charset="0"/>
                                                    </a:rPr>
                                                    <m:t>.0156</m:t>
                                                  </m:r>
                                                </m:e>
                                                <m:e>
                                                  <m:r>
                                                    <a:rPr lang="en-US" altLang="zh-TW" b="0" i="1" smtClean="0">
                                                      <a:latin typeface="Cambria Math" panose="02040503050406030204" pitchFamily="18" charset="0"/>
                                                    </a:rPr>
                                                    <m:t>0.0019</m:t>
                                                  </m:r>
                                                </m:e>
                                                <m:e>
                                                  <m:r>
                                                    <a:rPr lang="en-US" altLang="zh-TW" b="0" i="1" smtClean="0">
                                                      <a:latin typeface="Cambria Math" panose="02040503050406030204" pitchFamily="18" charset="0"/>
                                                    </a:rPr>
                                                    <m:t>−0.1187</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0.0027</m:t>
                                            </m:r>
                                          </m:e>
                                          <m:e>
                                            <m:r>
                                              <a:rPr lang="en-US" altLang="zh-TW" b="0" i="1" smtClean="0">
                                                <a:latin typeface="Cambria Math" panose="02040503050406030204" pitchFamily="18" charset="0"/>
                                              </a:rPr>
                                              <m:t>0.1164</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0.0027</m:t>
                                                  </m:r>
                                                </m:e>
                                                <m:e>
                                                  <m:r>
                                                    <a:rPr lang="en-US" altLang="zh-TW" b="0" i="1" smtClean="0">
                                                      <a:latin typeface="Cambria Math" panose="02040503050406030204" pitchFamily="18" charset="0"/>
                                                    </a:rPr>
                                                    <m:t>−0.0183</m:t>
                                                  </m:r>
                                                </m:e>
                                                <m:e>
                                                  <m:r>
                                                    <a:rPr lang="en-US" altLang="zh-TW" b="0" i="1" smtClean="0">
                                                      <a:latin typeface="Cambria Math" panose="02040503050406030204" pitchFamily="18" charset="0"/>
                                                    </a:rPr>
                                                    <m:t>−0.0198</m:t>
                                                  </m:r>
                                                </m:e>
                                              </m:mr>
                                            </m:m>
                                          </m:e>
                                        </m:mr>
                                      </m:m>
                                    </m:e>
                                  </m:mr>
                                </m:m>
                              </m:e>
                            </m:mr>
                          </m:m>
                        </m:e>
                      </m:d>
                    </m:oMath>
                  </m:oMathPara>
                </a14:m>
                <a:endParaRPr lang="zh-TW" altLang="en-US" dirty="0"/>
              </a:p>
            </p:txBody>
          </p:sp>
        </mc:Choice>
        <mc:Fallback xmlns="">
          <p:sp>
            <p:nvSpPr>
              <p:cNvPr id="33" name="文字方塊 32">
                <a:extLst>
                  <a:ext uri="{FF2B5EF4-FFF2-40B4-BE49-F238E27FC236}">
                    <a16:creationId xmlns:a16="http://schemas.microsoft.com/office/drawing/2014/main" id="{B10B31CD-8B64-4A8F-A2F7-B3F6A0CEFA0B}"/>
                  </a:ext>
                </a:extLst>
              </p:cNvPr>
              <p:cNvSpPr txBox="1">
                <a:spLocks noRot="1" noChangeAspect="1" noMove="1" noResize="1" noEditPoints="1" noAdjustHandles="1" noChangeArrowheads="1" noChangeShapeType="1" noTextEdit="1"/>
              </p:cNvSpPr>
              <p:nvPr/>
            </p:nvSpPr>
            <p:spPr>
              <a:xfrm>
                <a:off x="3162300" y="5911618"/>
                <a:ext cx="6812827" cy="727571"/>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3" name="文字方塊 2">
                <a:extLst>
                  <a:ext uri="{FF2B5EF4-FFF2-40B4-BE49-F238E27FC236}">
                    <a16:creationId xmlns:a16="http://schemas.microsoft.com/office/drawing/2014/main" id="{99D90CB2-65C0-476B-AA40-53C3FFD5BEFF}"/>
                  </a:ext>
                </a:extLst>
              </p:cNvPr>
              <p:cNvSpPr txBox="1"/>
              <p:nvPr/>
            </p:nvSpPr>
            <p:spPr>
              <a:xfrm>
                <a:off x="7483892" y="2338400"/>
                <a:ext cx="1417824" cy="29123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acc>
                        <m:accPr>
                          <m:chr m:val="̂"/>
                          <m:ctrlPr>
                            <a:rPr lang="zh-TW" altLang="en-US" i="1" smtClean="0">
                              <a:latin typeface="Cambria Math" panose="02040503050406030204" pitchFamily="18" charset="0"/>
                            </a:rPr>
                          </m:ctrlPr>
                        </m:accPr>
                        <m:e>
                          <m:r>
                            <a:rPr lang="en-US" altLang="zh-TW" i="1" smtClean="0">
                              <a:latin typeface="Cambria Math" panose="02040503050406030204" pitchFamily="18" charset="0"/>
                              <a:ea typeface="Cambria Math" panose="02040503050406030204" pitchFamily="18" charset="0"/>
                            </a:rPr>
                            <m:t>ℓ</m:t>
                          </m:r>
                        </m:e>
                      </m:acc>
                      <m:r>
                        <a:rPr lang="en-US" altLang="zh-TW" b="0" i="1" smtClean="0">
                          <a:latin typeface="Cambria Math" panose="02040503050406030204" pitchFamily="18" charset="0"/>
                        </a:rPr>
                        <m:t>=875.1 </m:t>
                      </m:r>
                      <m:r>
                        <a:rPr lang="en-US" altLang="zh-TW" b="0" i="1" smtClean="0">
                          <a:latin typeface="Cambria Math" panose="02040503050406030204" pitchFamily="18" charset="0"/>
                        </a:rPr>
                        <m:t>𝑢𝑚</m:t>
                      </m:r>
                    </m:oMath>
                  </m:oMathPara>
                </a14:m>
                <a:endParaRPr lang="zh-TW" altLang="en-US" dirty="0"/>
              </a:p>
            </p:txBody>
          </p:sp>
        </mc:Choice>
        <mc:Fallback>
          <p:sp>
            <p:nvSpPr>
              <p:cNvPr id="3" name="文字方塊 2">
                <a:extLst>
                  <a:ext uri="{FF2B5EF4-FFF2-40B4-BE49-F238E27FC236}">
                    <a16:creationId xmlns:a16="http://schemas.microsoft.com/office/drawing/2014/main" id="{99D90CB2-65C0-476B-AA40-53C3FFD5BEFF}"/>
                  </a:ext>
                </a:extLst>
              </p:cNvPr>
              <p:cNvSpPr txBox="1">
                <a:spLocks noRot="1" noChangeAspect="1" noMove="1" noResize="1" noEditPoints="1" noAdjustHandles="1" noChangeArrowheads="1" noChangeShapeType="1" noTextEdit="1"/>
              </p:cNvSpPr>
              <p:nvPr/>
            </p:nvSpPr>
            <p:spPr>
              <a:xfrm>
                <a:off x="7483892" y="2338400"/>
                <a:ext cx="1417824" cy="291234"/>
              </a:xfrm>
              <a:prstGeom prst="rect">
                <a:avLst/>
              </a:prstGeom>
              <a:blipFill>
                <a:blip r:embed="rId11"/>
                <a:stretch>
                  <a:fillRect l="-3879" t="-19149" r="-2586" b="-10638"/>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7" name="文字方塊 16">
                <a:extLst>
                  <a:ext uri="{FF2B5EF4-FFF2-40B4-BE49-F238E27FC236}">
                    <a16:creationId xmlns:a16="http://schemas.microsoft.com/office/drawing/2014/main" id="{360E9A99-6E63-4772-B98A-515EB463BEED}"/>
                  </a:ext>
                </a:extLst>
              </p:cNvPr>
              <p:cNvSpPr txBox="1"/>
              <p:nvPr/>
            </p:nvSpPr>
            <p:spPr>
              <a:xfrm>
                <a:off x="7535369" y="4962005"/>
                <a:ext cx="1417824" cy="29123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acc>
                        <m:accPr>
                          <m:chr m:val="̂"/>
                          <m:ctrlPr>
                            <a:rPr lang="zh-TW" altLang="en-US" i="1" smtClean="0">
                              <a:latin typeface="Cambria Math" panose="02040503050406030204" pitchFamily="18" charset="0"/>
                            </a:rPr>
                          </m:ctrlPr>
                        </m:accPr>
                        <m:e>
                          <m:r>
                            <a:rPr lang="en-US" altLang="zh-TW" i="1" smtClean="0">
                              <a:latin typeface="Cambria Math" panose="02040503050406030204" pitchFamily="18" charset="0"/>
                              <a:ea typeface="Cambria Math" panose="02040503050406030204" pitchFamily="18" charset="0"/>
                            </a:rPr>
                            <m:t>ℓ</m:t>
                          </m:r>
                        </m:e>
                      </m:acc>
                      <m:r>
                        <a:rPr lang="en-US" altLang="zh-TW" b="0" i="1" smtClean="0">
                          <a:latin typeface="Cambria Math" panose="02040503050406030204" pitchFamily="18" charset="0"/>
                        </a:rPr>
                        <m:t>=873.5 </m:t>
                      </m:r>
                      <m:r>
                        <a:rPr lang="en-US" altLang="zh-TW" b="0" i="1" smtClean="0">
                          <a:latin typeface="Cambria Math" panose="02040503050406030204" pitchFamily="18" charset="0"/>
                        </a:rPr>
                        <m:t>𝑢𝑚</m:t>
                      </m:r>
                    </m:oMath>
                  </m:oMathPara>
                </a14:m>
                <a:endParaRPr lang="zh-TW" altLang="en-US" dirty="0"/>
              </a:p>
            </p:txBody>
          </p:sp>
        </mc:Choice>
        <mc:Fallback>
          <p:sp>
            <p:nvSpPr>
              <p:cNvPr id="17" name="文字方塊 16">
                <a:extLst>
                  <a:ext uri="{FF2B5EF4-FFF2-40B4-BE49-F238E27FC236}">
                    <a16:creationId xmlns:a16="http://schemas.microsoft.com/office/drawing/2014/main" id="{360E9A99-6E63-4772-B98A-515EB463BEED}"/>
                  </a:ext>
                </a:extLst>
              </p:cNvPr>
              <p:cNvSpPr txBox="1">
                <a:spLocks noRot="1" noChangeAspect="1" noMove="1" noResize="1" noEditPoints="1" noAdjustHandles="1" noChangeArrowheads="1" noChangeShapeType="1" noTextEdit="1"/>
              </p:cNvSpPr>
              <p:nvPr/>
            </p:nvSpPr>
            <p:spPr>
              <a:xfrm>
                <a:off x="7535369" y="4962005"/>
                <a:ext cx="1417824" cy="291234"/>
              </a:xfrm>
              <a:prstGeom prst="rect">
                <a:avLst/>
              </a:prstGeom>
              <a:blipFill>
                <a:blip r:embed="rId12"/>
                <a:stretch>
                  <a:fillRect l="-3863" t="-18750" r="-2146" b="-8333"/>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2126399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08956"/>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9" name="文字方塊 18">
                <a:extLst>
                  <a:ext uri="{FF2B5EF4-FFF2-40B4-BE49-F238E27FC236}">
                    <a16:creationId xmlns:a16="http://schemas.microsoft.com/office/drawing/2014/main" id="{EBA17566-B42C-4B02-B869-9832F66C8C0A}"/>
                  </a:ext>
                </a:extLst>
              </p:cNvPr>
              <p:cNvSpPr txBox="1"/>
              <p:nvPr/>
            </p:nvSpPr>
            <p:spPr>
              <a:xfrm>
                <a:off x="0" y="528770"/>
                <a:ext cx="12192000" cy="2656240"/>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The left figure is for the single-parameter model. Two stacked panels share the horizontal axis (sampling range, 80–500 µm), with </a:t>
                </a:r>
                <a14:m>
                  <m:oMath xmlns:m="http://schemas.openxmlformats.org/officeDocument/2006/math">
                    <m:acc>
                      <m:accPr>
                        <m:chr m:val="̂"/>
                        <m:ctrlPr>
                          <a:rPr lang="en-US" altLang="zh-TW" i="1" smtClean="0">
                            <a:latin typeface="Cambria Math" panose="02040503050406030204" pitchFamily="18" charset="0"/>
                          </a:rPr>
                        </m:ctrlPr>
                      </m:accPr>
                      <m:e>
                        <m:r>
                          <a:rPr lang="en-US" altLang="zh-TW" i="1" smtClean="0">
                            <a:latin typeface="Cambria Math" panose="02040503050406030204" pitchFamily="18" charset="0"/>
                            <a:ea typeface="Cambria Math" panose="02040503050406030204" pitchFamily="18" charset="0"/>
                          </a:rPr>
                          <m:t>ℓ</m:t>
                        </m:r>
                      </m:e>
                    </m:acc>
                  </m:oMath>
                </a14:m>
                <a:r>
                  <a:rPr lang="en-US" altLang="zh-TW" dirty="0"/>
                  <a:t> on top and </a:t>
                </a:r>
                <a14:m>
                  <m:oMath xmlns:m="http://schemas.openxmlformats.org/officeDocument/2006/math">
                    <m:sPre>
                      <m:sPrePr>
                        <m:ctrlPr>
                          <a:rPr lang="en-US" altLang="zh-TW" i="1">
                            <a:latin typeface="Cambria Math" panose="02040503050406030204" pitchFamily="18" charset="0"/>
                          </a:rPr>
                        </m:ctrlPr>
                      </m:sPrePr>
                      <m:sub/>
                      <m:sup>
                        <m:r>
                          <a:rPr lang="en-US" altLang="zh-TW" i="1">
                            <a:latin typeface="Cambria Math" panose="02040503050406030204" pitchFamily="18" charset="0"/>
                          </a:rPr>
                          <m:t>𝐵</m:t>
                        </m:r>
                      </m:sup>
                      <m:e>
                        <m:sSub>
                          <m:sSubPr>
                            <m:ctrlPr>
                              <a:rPr lang="en-US" altLang="zh-TW" i="1">
                                <a:latin typeface="Cambria Math" panose="02040503050406030204" pitchFamily="18" charset="0"/>
                              </a:rPr>
                            </m:ctrlPr>
                          </m:sSubPr>
                          <m:e>
                            <m:acc>
                              <m:accPr>
                                <m:chr m:val="̂"/>
                                <m:ctrlPr>
                                  <a:rPr lang="en-US" altLang="zh-TW" i="1">
                                    <a:latin typeface="Cambria Math" panose="02040503050406030204" pitchFamily="18" charset="0"/>
                                  </a:rPr>
                                </m:ctrlPr>
                              </m:accPr>
                              <m:e>
                                <m:r>
                                  <a:rPr lang="en-US" altLang="zh-TW" i="1">
                                    <a:latin typeface="Cambria Math" panose="02040503050406030204" pitchFamily="18" charset="0"/>
                                  </a:rPr>
                                  <m:t>𝑔</m:t>
                                </m:r>
                              </m:e>
                            </m:acc>
                          </m:e>
                          <m:sub>
                            <m:r>
                              <a:rPr lang="en-US" altLang="zh-TW" i="1">
                                <a:latin typeface="Cambria Math" panose="02040503050406030204" pitchFamily="18" charset="0"/>
                              </a:rPr>
                              <m:t>𝐼</m:t>
                            </m:r>
                          </m:sub>
                        </m:sSub>
                      </m:e>
                    </m:sPre>
                  </m:oMath>
                </a14:m>
                <a:r>
                  <a:rPr lang="en-US" altLang="zh-TW" dirty="0"/>
                  <a:t> below. Black denotes all grid points and blue the reduced point set, with the legend giving the overall discrepancy directly: 0.63% for ℓ̂ and 1.91% for the gain. The two </a:t>
                </a:r>
                <a14:m>
                  <m:oMath xmlns:m="http://schemas.openxmlformats.org/officeDocument/2006/math">
                    <m:acc>
                      <m:accPr>
                        <m:chr m:val="̂"/>
                        <m:ctrlPr>
                          <a:rPr lang="en-US" altLang="zh-TW" i="1">
                            <a:latin typeface="Cambria Math" panose="02040503050406030204" pitchFamily="18" charset="0"/>
                          </a:rPr>
                        </m:ctrlPr>
                      </m:accPr>
                      <m:e>
                        <m:r>
                          <a:rPr lang="en-US" altLang="zh-TW" i="1">
                            <a:latin typeface="Cambria Math" panose="02040503050406030204" pitchFamily="18" charset="0"/>
                            <a:ea typeface="Cambria Math" panose="02040503050406030204" pitchFamily="18" charset="0"/>
                          </a:rPr>
                          <m:t>ℓ</m:t>
                        </m:r>
                      </m:e>
                    </m:acc>
                  </m:oMath>
                </a14:m>
                <a:r>
                  <a:rPr lang="en-US" altLang="zh-TW" dirty="0"/>
                  <a:t> curves nearly coincide, diverging only slightly near 400 µm; for the gain, the blue curve lies clearly below the black one for R below 200 µm, and this region is the main source of the 1.91%. The error concentrates in the gain at small sampling ranges — the gain is the first quantity to degrade when points are scarce.</a:t>
                </a:r>
              </a:p>
              <a:p>
                <a:pPr marL="285750" indent="-285750">
                  <a:buFont typeface="Arial" panose="020B0604020202020204" pitchFamily="34" charset="0"/>
                  <a:buChar char="•"/>
                </a:pPr>
                <a:r>
                  <a:rPr lang="en-US" altLang="zh-TW" dirty="0"/>
                  <a:t>The right figure is the same comparison for the eighteen-parameter model, with red denoting the reduced result; the discrepancies drop to 0.33% for </a:t>
                </a:r>
                <a14:m>
                  <m:oMath xmlns:m="http://schemas.openxmlformats.org/officeDocument/2006/math">
                    <m:acc>
                      <m:accPr>
                        <m:chr m:val="̂"/>
                        <m:ctrlPr>
                          <a:rPr lang="en-US" altLang="zh-TW" i="1" smtClean="0">
                            <a:latin typeface="Cambria Math" panose="02040503050406030204" pitchFamily="18" charset="0"/>
                          </a:rPr>
                        </m:ctrlPr>
                      </m:accPr>
                      <m:e>
                        <m:r>
                          <a:rPr lang="en-US" altLang="zh-TW" i="1" smtClean="0">
                            <a:latin typeface="Cambria Math" panose="02040503050406030204" pitchFamily="18" charset="0"/>
                            <a:ea typeface="Cambria Math" panose="02040503050406030204" pitchFamily="18" charset="0"/>
                          </a:rPr>
                          <m:t>ℓ</m:t>
                        </m:r>
                      </m:e>
                    </m:acc>
                  </m:oMath>
                </a14:m>
                <a:r>
                  <a:rPr lang="en-US" altLang="zh-TW" dirty="0"/>
                  <a:t> and 0.75% for the </a:t>
                </a:r>
                <a14:m>
                  <m:oMath xmlns:m="http://schemas.openxmlformats.org/officeDocument/2006/math">
                    <m:sPre>
                      <m:sPrePr>
                        <m:ctrlPr>
                          <a:rPr lang="en-US" altLang="zh-TW" i="1">
                            <a:latin typeface="Cambria Math" panose="02040503050406030204" pitchFamily="18" charset="0"/>
                          </a:rPr>
                        </m:ctrlPr>
                      </m:sPrePr>
                      <m:sub/>
                      <m:sup>
                        <m:r>
                          <a:rPr lang="en-US" altLang="zh-TW" i="1">
                            <a:latin typeface="Cambria Math" panose="02040503050406030204" pitchFamily="18" charset="0"/>
                          </a:rPr>
                          <m:t>𝐵</m:t>
                        </m:r>
                      </m:sup>
                      <m:e>
                        <m:sSub>
                          <m:sSubPr>
                            <m:ctrlPr>
                              <a:rPr lang="en-US" altLang="zh-TW" i="1">
                                <a:latin typeface="Cambria Math" panose="02040503050406030204" pitchFamily="18" charset="0"/>
                              </a:rPr>
                            </m:ctrlPr>
                          </m:sSubPr>
                          <m:e>
                            <m:acc>
                              <m:accPr>
                                <m:chr m:val="̂"/>
                                <m:ctrlPr>
                                  <a:rPr lang="en-US" altLang="zh-TW" i="1">
                                    <a:latin typeface="Cambria Math" panose="02040503050406030204" pitchFamily="18" charset="0"/>
                                  </a:rPr>
                                </m:ctrlPr>
                              </m:accPr>
                              <m:e>
                                <m:r>
                                  <a:rPr lang="en-US" altLang="zh-TW" i="1">
                                    <a:latin typeface="Cambria Math" panose="02040503050406030204" pitchFamily="18" charset="0"/>
                                  </a:rPr>
                                  <m:t>𝑔</m:t>
                                </m:r>
                              </m:e>
                            </m:acc>
                          </m:e>
                          <m:sub>
                            <m:r>
                              <a:rPr lang="en-US" altLang="zh-TW" i="1">
                                <a:latin typeface="Cambria Math" panose="02040503050406030204" pitchFamily="18" charset="0"/>
                              </a:rPr>
                              <m:t>𝐼</m:t>
                            </m:r>
                          </m:sub>
                        </m:sSub>
                      </m:e>
                    </m:sPre>
                  </m:oMath>
                </a14:m>
                <a:r>
                  <a:rPr lang="en-US" altLang="zh-TW" dirty="0"/>
                  <a:t>. The curves essentially overlap, The additional degrees of freedom make the fit less sensitive to the sampling distribution.</a:t>
                </a:r>
                <a:endParaRPr lang="zh-TW" altLang="en-US" dirty="0"/>
              </a:p>
            </p:txBody>
          </p:sp>
        </mc:Choice>
        <mc:Fallback xmlns="">
          <p:sp>
            <p:nvSpPr>
              <p:cNvPr id="19" name="文字方塊 18">
                <a:extLst>
                  <a:ext uri="{FF2B5EF4-FFF2-40B4-BE49-F238E27FC236}">
                    <a16:creationId xmlns:a16="http://schemas.microsoft.com/office/drawing/2014/main" id="{EBA17566-B42C-4B02-B869-9832F66C8C0A}"/>
                  </a:ext>
                </a:extLst>
              </p:cNvPr>
              <p:cNvSpPr txBox="1">
                <a:spLocks noRot="1" noChangeAspect="1" noMove="1" noResize="1" noEditPoints="1" noAdjustHandles="1" noChangeArrowheads="1" noChangeShapeType="1" noTextEdit="1"/>
              </p:cNvSpPr>
              <p:nvPr/>
            </p:nvSpPr>
            <p:spPr>
              <a:xfrm>
                <a:off x="0" y="528770"/>
                <a:ext cx="12192000" cy="2656240"/>
              </a:xfrm>
              <a:prstGeom prst="rect">
                <a:avLst/>
              </a:prstGeom>
              <a:blipFill>
                <a:blip r:embed="rId2"/>
                <a:stretch>
                  <a:fillRect l="-300" t="-1379" r="-550" b="-2989"/>
                </a:stretch>
              </a:blipFill>
            </p:spPr>
            <p:txBody>
              <a:bodyPr/>
              <a:lstStyle/>
              <a:p>
                <a:r>
                  <a:rPr lang="zh-TW" altLang="en-US">
                    <a:noFill/>
                  </a:rPr>
                  <a:t> </a:t>
                </a:r>
              </a:p>
            </p:txBody>
          </p:sp>
        </mc:Fallback>
      </mc:AlternateContent>
      <p:pic>
        <p:nvPicPr>
          <p:cNvPr id="15" name="圖片 14">
            <a:extLst>
              <a:ext uri="{FF2B5EF4-FFF2-40B4-BE49-F238E27FC236}">
                <a16:creationId xmlns:a16="http://schemas.microsoft.com/office/drawing/2014/main" id="{A93EC600-4773-4A80-B2DD-F4538F41F27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65400" y="3310620"/>
            <a:ext cx="6609628" cy="2750443"/>
          </a:xfrm>
          <a:prstGeom prst="rect">
            <a:avLst/>
          </a:prstGeom>
        </p:spPr>
      </p:pic>
    </p:spTree>
    <p:extLst>
      <p:ext uri="{BB962C8B-B14F-4D97-AF65-F5344CB8AC3E}">
        <p14:creationId xmlns:p14="http://schemas.microsoft.com/office/powerpoint/2010/main" val="42783174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08956"/>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42" name="文字方塊 41">
                <a:extLst>
                  <a:ext uri="{FF2B5EF4-FFF2-40B4-BE49-F238E27FC236}">
                    <a16:creationId xmlns:a16="http://schemas.microsoft.com/office/drawing/2014/main" id="{3E8BD2E0-D5C2-4510-B916-42163123D019}"/>
                  </a:ext>
                </a:extLst>
              </p:cNvPr>
              <p:cNvSpPr txBox="1"/>
              <p:nvPr/>
            </p:nvSpPr>
            <p:spPr>
              <a:xfrm>
                <a:off x="0" y="753536"/>
                <a:ext cx="6968066" cy="5117555"/>
              </a:xfrm>
              <a:prstGeom prst="rect">
                <a:avLst/>
              </a:prstGeom>
              <a:noFill/>
            </p:spPr>
            <p:txBody>
              <a:bodyPr wrap="square">
                <a:spAutoFit/>
              </a:bodyPr>
              <a:lstStyle/>
              <a:p>
                <a:pPr marL="285750" indent="-285750">
                  <a:lnSpc>
                    <a:spcPct val="200000"/>
                  </a:lnSpc>
                  <a:buFont typeface="Arial" panose="020B0604020202020204" pitchFamily="34" charset="0"/>
                  <a:buChar char="•"/>
                </a:pPr>
                <a:r>
                  <a:rPr lang="zh-TW" altLang="en-US" dirty="0"/>
                  <a:t> The right figure plots</a:t>
                </a:r>
                <a14:m>
                  <m:oMath xmlns:m="http://schemas.openxmlformats.org/officeDocument/2006/math">
                    <m:rad>
                      <m:radPr>
                        <m:degHide m:val="on"/>
                        <m:ctrlPr>
                          <a:rPr lang="zh-TW" altLang="en-US" i="1" smtClean="0">
                            <a:latin typeface="Cambria Math" panose="02040503050406030204" pitchFamily="18" charset="0"/>
                          </a:rPr>
                        </m:ctrlPr>
                      </m:radPr>
                      <m:deg/>
                      <m:e>
                        <m:f>
                          <m:fPr>
                            <m:type m:val="lin"/>
                            <m:ctrlPr>
                              <a:rPr lang="zh-TW" altLang="en-US" i="1" smtClean="0">
                                <a:latin typeface="Cambria Math" panose="02040503050406030204" pitchFamily="18" charset="0"/>
                              </a:rPr>
                            </m:ctrlPr>
                          </m:fPr>
                          <m:num>
                            <m:r>
                              <a:rPr lang="en-US" altLang="zh-TW" b="0" i="1" smtClean="0">
                                <a:latin typeface="Cambria Math" panose="02040503050406030204" pitchFamily="18" charset="0"/>
                              </a:rPr>
                              <m:t>𝐽</m:t>
                            </m:r>
                          </m:num>
                          <m:den>
                            <m:r>
                              <a:rPr lang="en-US" altLang="zh-TW" b="0" i="1" smtClean="0">
                                <a:latin typeface="Cambria Math" panose="02040503050406030204" pitchFamily="18" charset="0"/>
                              </a:rPr>
                              <m:t>𝑁</m:t>
                            </m:r>
                          </m:den>
                        </m:f>
                      </m:e>
                    </m:rad>
                  </m:oMath>
                </a14:m>
                <a:r>
                  <a:rPr lang="zh-TW" altLang="en-US" dirty="0"/>
                  <a:t> (mT) against R — the residual obtained by calibrating each sampling range with its own point count and then fitting the field within that range. The blue curve (single parameter) rises monotonically from </a:t>
                </a:r>
                <a:r>
                  <a:rPr lang="zh-TW" altLang="en-US" b="1" dirty="0"/>
                  <a:t>0.10 to 1.30 </a:t>
                </a:r>
                <a:r>
                  <a:rPr lang="zh-TW" altLang="en-US" dirty="0"/>
                  <a:t>and the red curve (eighteen parameters) from nearly </a:t>
                </a:r>
                <a:r>
                  <a:rPr lang="zh-TW" altLang="en-US" b="1" dirty="0"/>
                  <a:t>0 to 0.95</a:t>
                </a:r>
                <a:r>
                  <a:rPr lang="zh-TW" altLang="en-US" dirty="0"/>
                  <a:t>; red stays below blue throughout, with the gap widening as R increases.</a:t>
                </a:r>
                <a:r>
                  <a:rPr lang="en-US" altLang="zh-TW" dirty="0"/>
                  <a:t> Regardless of sampling range, the eighteen-parameter model yields a lower field-fitting residual. Both degrade as R grows, indicating that the far field is where the point-charge model breaks down.</a:t>
                </a:r>
                <a:endParaRPr lang="zh-TW" altLang="en-US" dirty="0"/>
              </a:p>
            </p:txBody>
          </p:sp>
        </mc:Choice>
        <mc:Fallback xmlns="">
          <p:sp>
            <p:nvSpPr>
              <p:cNvPr id="42" name="文字方塊 41">
                <a:extLst>
                  <a:ext uri="{FF2B5EF4-FFF2-40B4-BE49-F238E27FC236}">
                    <a16:creationId xmlns:a16="http://schemas.microsoft.com/office/drawing/2014/main" id="{3E8BD2E0-D5C2-4510-B916-42163123D019}"/>
                  </a:ext>
                </a:extLst>
              </p:cNvPr>
              <p:cNvSpPr txBox="1">
                <a:spLocks noRot="1" noChangeAspect="1" noMove="1" noResize="1" noEditPoints="1" noAdjustHandles="1" noChangeArrowheads="1" noChangeShapeType="1" noTextEdit="1"/>
              </p:cNvSpPr>
              <p:nvPr/>
            </p:nvSpPr>
            <p:spPr>
              <a:xfrm>
                <a:off x="0" y="753536"/>
                <a:ext cx="6968066" cy="5117555"/>
              </a:xfrm>
              <a:prstGeom prst="rect">
                <a:avLst/>
              </a:prstGeom>
              <a:blipFill>
                <a:blip r:embed="rId5"/>
                <a:stretch>
                  <a:fillRect l="-525" t="-2861" r="-1400" b="-954"/>
                </a:stretch>
              </a:blipFill>
            </p:spPr>
            <p:txBody>
              <a:bodyPr/>
              <a:lstStyle/>
              <a:p>
                <a:r>
                  <a:rPr lang="zh-TW" altLang="en-US">
                    <a:noFill/>
                  </a:rPr>
                  <a:t> </a:t>
                </a:r>
              </a:p>
            </p:txBody>
          </p:sp>
        </mc:Fallback>
      </mc:AlternateContent>
      <p:pic>
        <p:nvPicPr>
          <p:cNvPr id="4" name="圖片 3">
            <a:extLst>
              <a:ext uri="{FF2B5EF4-FFF2-40B4-BE49-F238E27FC236}">
                <a16:creationId xmlns:a16="http://schemas.microsoft.com/office/drawing/2014/main" id="{2DDD7551-A6DF-4C92-ABC2-3DD2D9BC793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48110" y="1646766"/>
            <a:ext cx="4577195" cy="3564467"/>
          </a:xfrm>
          <a:prstGeom prst="rect">
            <a:avLst/>
          </a:prstGeom>
        </p:spPr>
      </p:pic>
    </p:spTree>
    <p:extLst>
      <p:ext uri="{BB962C8B-B14F-4D97-AF65-F5344CB8AC3E}">
        <p14:creationId xmlns:p14="http://schemas.microsoft.com/office/powerpoint/2010/main" val="33864427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290509"/>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p:grpSp>
        <p:nvGrpSpPr>
          <p:cNvPr id="16" name="群組 15">
            <a:extLst>
              <a:ext uri="{FF2B5EF4-FFF2-40B4-BE49-F238E27FC236}">
                <a16:creationId xmlns:a16="http://schemas.microsoft.com/office/drawing/2014/main" id="{41066563-D6A4-43FE-9CE0-2BCCFBE3221F}"/>
              </a:ext>
            </a:extLst>
          </p:cNvPr>
          <p:cNvGrpSpPr/>
          <p:nvPr/>
        </p:nvGrpSpPr>
        <p:grpSpPr>
          <a:xfrm>
            <a:off x="7801276" y="555957"/>
            <a:ext cx="3298941" cy="2688167"/>
            <a:chOff x="8614076" y="922869"/>
            <a:chExt cx="3298941" cy="2688167"/>
          </a:xfrm>
        </p:grpSpPr>
        <p:grpSp>
          <p:nvGrpSpPr>
            <p:cNvPr id="5" name="群組 4">
              <a:extLst>
                <a:ext uri="{FF2B5EF4-FFF2-40B4-BE49-F238E27FC236}">
                  <a16:creationId xmlns:a16="http://schemas.microsoft.com/office/drawing/2014/main" id="{2552A979-D820-46C1-A317-ABD6EF43C936}"/>
                </a:ext>
              </a:extLst>
            </p:cNvPr>
            <p:cNvGrpSpPr/>
            <p:nvPr/>
          </p:nvGrpSpPr>
          <p:grpSpPr>
            <a:xfrm>
              <a:off x="8660413" y="922869"/>
              <a:ext cx="3252604" cy="2688167"/>
              <a:chOff x="8660413" y="922869"/>
              <a:chExt cx="3252604" cy="2688167"/>
            </a:xfrm>
          </p:grpSpPr>
          <p:pic>
            <p:nvPicPr>
              <p:cNvPr id="10" name="圖片 9">
                <a:extLst>
                  <a:ext uri="{FF2B5EF4-FFF2-40B4-BE49-F238E27FC236}">
                    <a16:creationId xmlns:a16="http://schemas.microsoft.com/office/drawing/2014/main" id="{0E18C566-84D5-404B-B45D-1D4A4DD44F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721798" y="922869"/>
                <a:ext cx="3191219" cy="2643185"/>
              </a:xfrm>
              <a:prstGeom prst="rect">
                <a:avLst/>
              </a:prstGeom>
            </p:spPr>
          </p:pic>
          <p:sp>
            <p:nvSpPr>
              <p:cNvPr id="14" name="矩形 13">
                <a:extLst>
                  <a:ext uri="{FF2B5EF4-FFF2-40B4-BE49-F238E27FC236}">
                    <a16:creationId xmlns:a16="http://schemas.microsoft.com/office/drawing/2014/main" id="{62C14CF9-BADB-4786-B3C4-7A30D82FA28B}"/>
                  </a:ext>
                </a:extLst>
              </p:cNvPr>
              <p:cNvSpPr/>
              <p:nvPr/>
            </p:nvSpPr>
            <p:spPr>
              <a:xfrm>
                <a:off x="9818649" y="3403599"/>
                <a:ext cx="1202267" cy="20743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矩形 14">
                <a:extLst>
                  <a:ext uri="{FF2B5EF4-FFF2-40B4-BE49-F238E27FC236}">
                    <a16:creationId xmlns:a16="http://schemas.microsoft.com/office/drawing/2014/main" id="{1D9B10AE-E02B-445B-857F-2CDD163AC207}"/>
                  </a:ext>
                </a:extLst>
              </p:cNvPr>
              <p:cNvSpPr/>
              <p:nvPr/>
            </p:nvSpPr>
            <p:spPr>
              <a:xfrm rot="16200000">
                <a:off x="8162998" y="2067977"/>
                <a:ext cx="1202267" cy="20743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8" name="文字方塊 17">
                  <a:extLst>
                    <a:ext uri="{FF2B5EF4-FFF2-40B4-BE49-F238E27FC236}">
                      <a16:creationId xmlns:a16="http://schemas.microsoft.com/office/drawing/2014/main" id="{37CD99C8-6485-4B8F-BA2E-20289075C06D}"/>
                    </a:ext>
                  </a:extLst>
                </p:cNvPr>
                <p:cNvSpPr txBox="1"/>
                <p:nvPr/>
              </p:nvSpPr>
              <p:spPr>
                <a:xfrm>
                  <a:off x="9594740" y="3367842"/>
                  <a:ext cx="1785745"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400" b="1" i="0" smtClean="0">
                            <a:latin typeface="Cambria Math" panose="02040503050406030204" pitchFamily="18" charset="0"/>
                          </a:rPr>
                          <m:t>𝐑𝐞𝐬𝐢𝐝𝐮𝐚𝐥</m:t>
                        </m:r>
                        <m:r>
                          <a:rPr lang="en-US" altLang="zh-TW" sz="1400" b="1" i="0" smtClean="0">
                            <a:latin typeface="Cambria Math" panose="02040503050406030204" pitchFamily="18" charset="0"/>
                          </a:rPr>
                          <m:t> </m:t>
                        </m:r>
                        <m:r>
                          <a:rPr lang="en-US" altLang="zh-TW" sz="1400" b="1" i="0" smtClean="0">
                            <a:latin typeface="Cambria Math" panose="02040503050406030204" pitchFamily="18" charset="0"/>
                          </a:rPr>
                          <m:t>𝐞𝐫𝐫𝐨𝐫</m:t>
                        </m:r>
                        <m:r>
                          <a:rPr lang="en-US" altLang="zh-TW" sz="1400" b="1" i="0" smtClean="0">
                            <a:latin typeface="Cambria Math" panose="02040503050406030204" pitchFamily="18" charset="0"/>
                          </a:rPr>
                          <m:t> </m:t>
                        </m:r>
                        <m:r>
                          <a:rPr lang="en-US" altLang="zh-TW" sz="1400" b="1" i="1" smtClean="0">
                            <a:latin typeface="Cambria Math" panose="02040503050406030204" pitchFamily="18" charset="0"/>
                          </a:rPr>
                          <m:t>(</m:t>
                        </m:r>
                        <m:r>
                          <a:rPr lang="en-US" altLang="zh-TW" sz="1400" b="1" i="1" smtClean="0">
                            <a:latin typeface="Cambria Math" panose="02040503050406030204" pitchFamily="18" charset="0"/>
                          </a:rPr>
                          <m:t>𝒎𝑻</m:t>
                        </m:r>
                        <m:r>
                          <a:rPr lang="en-US" altLang="zh-TW" sz="1400" b="1" i="1" smtClean="0">
                            <a:latin typeface="Cambria Math" panose="02040503050406030204" pitchFamily="18" charset="0"/>
                          </a:rPr>
                          <m:t>) </m:t>
                        </m:r>
                      </m:oMath>
                    </m:oMathPara>
                  </a14:m>
                  <a:endParaRPr lang="zh-TW" altLang="en-US" b="1" dirty="0"/>
                </a:p>
              </p:txBody>
            </p:sp>
          </mc:Choice>
          <mc:Fallback xmlns="">
            <p:sp>
              <p:nvSpPr>
                <p:cNvPr id="18" name="文字方塊 17">
                  <a:extLst>
                    <a:ext uri="{FF2B5EF4-FFF2-40B4-BE49-F238E27FC236}">
                      <a16:creationId xmlns:a16="http://schemas.microsoft.com/office/drawing/2014/main" id="{37CD99C8-6485-4B8F-BA2E-20289075C06D}"/>
                    </a:ext>
                  </a:extLst>
                </p:cNvPr>
                <p:cNvSpPr txBox="1">
                  <a:spLocks noRot="1" noChangeAspect="1" noMove="1" noResize="1" noEditPoints="1" noAdjustHandles="1" noChangeArrowheads="1" noChangeShapeType="1" noTextEdit="1"/>
                </p:cNvSpPr>
                <p:nvPr/>
              </p:nvSpPr>
              <p:spPr>
                <a:xfrm>
                  <a:off x="9594740" y="3367842"/>
                  <a:ext cx="1785745" cy="215444"/>
                </a:xfrm>
                <a:prstGeom prst="rect">
                  <a:avLst/>
                </a:prstGeom>
                <a:blipFill>
                  <a:blip r:embed="rId3"/>
                  <a:stretch>
                    <a:fillRect l="-2048" r="-683" b="-3055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2" name="文字方塊 21">
                  <a:extLst>
                    <a:ext uri="{FF2B5EF4-FFF2-40B4-BE49-F238E27FC236}">
                      <a16:creationId xmlns:a16="http://schemas.microsoft.com/office/drawing/2014/main" id="{3A1C1C9C-CA79-4B5F-BAC3-E19FDF9575B5}"/>
                    </a:ext>
                  </a:extLst>
                </p:cNvPr>
                <p:cNvSpPr txBox="1"/>
                <p:nvPr/>
              </p:nvSpPr>
              <p:spPr>
                <a:xfrm rot="16200000">
                  <a:off x="8071780" y="2053795"/>
                  <a:ext cx="1300036"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400" b="1" i="0" smtClean="0">
                            <a:latin typeface="Cambria Math" panose="02040503050406030204" pitchFamily="18" charset="0"/>
                          </a:rPr>
                          <m:t>𝐏𝐞𝐫𝐜𝐞𝐧𝐭𝐚𝐠𝐞</m:t>
                        </m:r>
                        <m:r>
                          <a:rPr lang="en-US" altLang="zh-TW" sz="1400" b="0" i="1" smtClean="0">
                            <a:latin typeface="Cambria Math" panose="02040503050406030204" pitchFamily="18" charset="0"/>
                          </a:rPr>
                          <m:t>(%)</m:t>
                        </m:r>
                      </m:oMath>
                    </m:oMathPara>
                  </a14:m>
                  <a:endParaRPr lang="zh-TW" altLang="en-US" dirty="0"/>
                </a:p>
              </p:txBody>
            </p:sp>
          </mc:Choice>
          <mc:Fallback xmlns="">
            <p:sp>
              <p:nvSpPr>
                <p:cNvPr id="22" name="文字方塊 21">
                  <a:extLst>
                    <a:ext uri="{FF2B5EF4-FFF2-40B4-BE49-F238E27FC236}">
                      <a16:creationId xmlns:a16="http://schemas.microsoft.com/office/drawing/2014/main" id="{3A1C1C9C-CA79-4B5F-BAC3-E19FDF9575B5}"/>
                    </a:ext>
                  </a:extLst>
                </p:cNvPr>
                <p:cNvSpPr txBox="1">
                  <a:spLocks noRot="1" noChangeAspect="1" noMove="1" noResize="1" noEditPoints="1" noAdjustHandles="1" noChangeArrowheads="1" noChangeShapeType="1" noTextEdit="1"/>
                </p:cNvSpPr>
                <p:nvPr/>
              </p:nvSpPr>
              <p:spPr>
                <a:xfrm rot="16200000">
                  <a:off x="8071780" y="2053795"/>
                  <a:ext cx="1300036" cy="215444"/>
                </a:xfrm>
                <a:prstGeom prst="rect">
                  <a:avLst/>
                </a:prstGeom>
                <a:blipFill>
                  <a:blip r:embed="rId4"/>
                  <a:stretch>
                    <a:fillRect t="-4225" r="-34286" b="-4225"/>
                  </a:stretch>
                </a:blipFill>
              </p:spPr>
              <p:txBody>
                <a:bodyPr/>
                <a:lstStyle/>
                <a:p>
                  <a:r>
                    <a:rPr lang="zh-TW" altLang="en-US">
                      <a:noFill/>
                    </a:rPr>
                    <a:t> </a:t>
                  </a:r>
                </a:p>
              </p:txBody>
            </p:sp>
          </mc:Fallback>
        </mc:AlternateContent>
      </p:grpSp>
      <p:sp>
        <p:nvSpPr>
          <p:cNvPr id="38" name="文字方塊 37">
            <a:extLst>
              <a:ext uri="{FF2B5EF4-FFF2-40B4-BE49-F238E27FC236}">
                <a16:creationId xmlns:a16="http://schemas.microsoft.com/office/drawing/2014/main" id="{242ADC16-0937-45C1-A99F-F4B63E7FB005}"/>
              </a:ext>
            </a:extLst>
          </p:cNvPr>
          <p:cNvSpPr txBox="1"/>
          <p:nvPr/>
        </p:nvSpPr>
        <p:spPr>
          <a:xfrm>
            <a:off x="33373" y="555957"/>
            <a:ext cx="5291161" cy="6186309"/>
          </a:xfrm>
          <a:prstGeom prst="rect">
            <a:avLst/>
          </a:prstGeom>
          <a:noFill/>
        </p:spPr>
        <p:txBody>
          <a:bodyPr wrap="square">
            <a:spAutoFit/>
          </a:bodyPr>
          <a:lstStyle/>
          <a:p>
            <a:pPr marL="285750" indent="-285750">
              <a:buFont typeface="Arial" panose="020B0604020202020204" pitchFamily="34" charset="0"/>
              <a:buChar char="•"/>
            </a:pPr>
            <a:r>
              <a:rPr lang="zh-TW" altLang="en-US" dirty="0"/>
              <a:t>Calibrated with </a:t>
            </a:r>
            <a:r>
              <a:rPr lang="en-US" altLang="zh-TW" dirty="0"/>
              <a:t>528</a:t>
            </a:r>
            <a:r>
              <a:rPr lang="zh-TW" altLang="en-US" dirty="0"/>
              <a:t> sampling points，</a:t>
            </a:r>
            <a:r>
              <a:rPr lang="en-US" altLang="zh-TW" dirty="0"/>
              <a:t> and evaluated against the 1771 real  points inside the radius</a:t>
            </a:r>
            <a:r>
              <a:rPr lang="zh-TW" altLang="en-US" dirty="0"/>
              <a:t>(percentage on the vertical axis, residual in mT on the horizontal axis). The first is restricted to R ≤ 150 µm; the main peak falls between 0.15 and 0.30 with a right tail extending to 0.9, and the mean is 0.288 mT.</a:t>
            </a:r>
            <a:endParaRPr lang="en-US" altLang="zh-TW" dirty="0"/>
          </a:p>
          <a:p>
            <a:pPr marL="285750" indent="-285750">
              <a:buFont typeface="Arial" panose="020B0604020202020204" pitchFamily="34" charset="0"/>
              <a:buChar char="•"/>
            </a:pPr>
            <a:endParaRPr lang="en-US" altLang="zh-TW" dirty="0"/>
          </a:p>
          <a:p>
            <a:pPr marL="285750" indent="-285750">
              <a:buFont typeface="Arial" panose="020B0604020202020204" pitchFamily="34" charset="0"/>
              <a:buChar char="•"/>
            </a:pPr>
            <a:r>
              <a:rPr lang="en-US" altLang="zh-TW" dirty="0"/>
              <a:t>The second histogram extends to R ≤ 300 µm; the main peak shifts right to about 0.5 with a long tail reaching 3 </a:t>
            </a:r>
            <a:r>
              <a:rPr lang="en-US" altLang="zh-TW" dirty="0" err="1"/>
              <a:t>mT</a:t>
            </a:r>
            <a:r>
              <a:rPr lang="en-US" altLang="zh-TW" dirty="0"/>
              <a:t>, and the mean is 0.632 </a:t>
            </a:r>
            <a:r>
              <a:rPr lang="en-US" altLang="zh-TW" dirty="0" err="1"/>
              <a:t>mT.</a:t>
            </a:r>
            <a:endParaRPr lang="en-US" altLang="zh-TW" dirty="0"/>
          </a:p>
          <a:p>
            <a:pPr marL="285750" indent="-285750">
              <a:buFont typeface="Arial" panose="020B0604020202020204" pitchFamily="34" charset="0"/>
              <a:buChar char="•"/>
            </a:pPr>
            <a:endParaRPr lang="en-US" altLang="zh-TW" dirty="0"/>
          </a:p>
          <a:p>
            <a:pPr marL="285750" indent="-285750">
              <a:buFont typeface="Arial" panose="020B0604020202020204" pitchFamily="34" charset="0"/>
              <a:buChar char="•"/>
            </a:pPr>
            <a:r>
              <a:rPr lang="en-US" altLang="zh-TW" dirty="0"/>
              <a:t>The third histogram separates the two shells and overlays them: blue for R ≤ 150 µm (inner mean 0.286 </a:t>
            </a:r>
            <a:r>
              <a:rPr lang="en-US" altLang="zh-TW" dirty="0" err="1"/>
              <a:t>mT</a:t>
            </a:r>
            <a:r>
              <a:rPr lang="en-US" altLang="zh-TW" dirty="0"/>
              <a:t>) and red for 150 &lt; R ≤ 300 µm (outer mean 0.682 </a:t>
            </a:r>
            <a:r>
              <a:rPr lang="en-US" altLang="zh-TW" dirty="0" err="1"/>
              <a:t>mT</a:t>
            </a:r>
            <a:r>
              <a:rPr lang="en-US" altLang="zh-TW" dirty="0"/>
              <a:t>), with two dashed lines marking the respective means. The outer shell is not only shifted right as a whole but also noticeably broader. The large mean for R ≤ 300 µm is driven up by the outer shell; the inner region itself remains near 0.29, confirming that the error grows rapidly from the inside outward.</a:t>
            </a:r>
            <a:endParaRPr lang="zh-TW" altLang="en-US" dirty="0"/>
          </a:p>
        </p:txBody>
      </p:sp>
      <p:pic>
        <p:nvPicPr>
          <p:cNvPr id="19" name="圖片 18">
            <a:extLst>
              <a:ext uri="{FF2B5EF4-FFF2-40B4-BE49-F238E27FC236}">
                <a16:creationId xmlns:a16="http://schemas.microsoft.com/office/drawing/2014/main" id="{C094F007-57ED-4FA9-BCD1-4AB71A8062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37192" y="3606894"/>
            <a:ext cx="3806666" cy="3072894"/>
          </a:xfrm>
          <a:prstGeom prst="rect">
            <a:avLst/>
          </a:prstGeom>
        </p:spPr>
      </p:pic>
    </p:spTree>
    <p:extLst>
      <p:ext uri="{BB962C8B-B14F-4D97-AF65-F5344CB8AC3E}">
        <p14:creationId xmlns:p14="http://schemas.microsoft.com/office/powerpoint/2010/main" val="33977573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290509"/>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p:grpSp>
        <p:nvGrpSpPr>
          <p:cNvPr id="31" name="群組 30">
            <a:extLst>
              <a:ext uri="{FF2B5EF4-FFF2-40B4-BE49-F238E27FC236}">
                <a16:creationId xmlns:a16="http://schemas.microsoft.com/office/drawing/2014/main" id="{BBADE46F-E69F-4BD4-A2EC-5F04304A1B7F}"/>
              </a:ext>
            </a:extLst>
          </p:cNvPr>
          <p:cNvGrpSpPr/>
          <p:nvPr/>
        </p:nvGrpSpPr>
        <p:grpSpPr>
          <a:xfrm>
            <a:off x="7548139" y="485851"/>
            <a:ext cx="3537300" cy="2835423"/>
            <a:chOff x="8411739" y="621620"/>
            <a:chExt cx="3537300" cy="2835423"/>
          </a:xfrm>
        </p:grpSpPr>
        <p:grpSp>
          <p:nvGrpSpPr>
            <p:cNvPr id="30" name="群組 29">
              <a:extLst>
                <a:ext uri="{FF2B5EF4-FFF2-40B4-BE49-F238E27FC236}">
                  <a16:creationId xmlns:a16="http://schemas.microsoft.com/office/drawing/2014/main" id="{EF58CD53-80A6-4556-B225-77D80C744D23}"/>
                </a:ext>
              </a:extLst>
            </p:cNvPr>
            <p:cNvGrpSpPr/>
            <p:nvPr/>
          </p:nvGrpSpPr>
          <p:grpSpPr>
            <a:xfrm>
              <a:off x="8460492" y="621620"/>
              <a:ext cx="3488547" cy="2789391"/>
              <a:chOff x="8460492" y="621620"/>
              <a:chExt cx="3488547" cy="2789391"/>
            </a:xfrm>
          </p:grpSpPr>
          <p:pic>
            <p:nvPicPr>
              <p:cNvPr id="28" name="圖片 27">
                <a:extLst>
                  <a:ext uri="{FF2B5EF4-FFF2-40B4-BE49-F238E27FC236}">
                    <a16:creationId xmlns:a16="http://schemas.microsoft.com/office/drawing/2014/main" id="{042D52C6-B225-4DF9-B212-4A23941EFD5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475704" y="621620"/>
                <a:ext cx="3473335" cy="2789391"/>
              </a:xfrm>
              <a:prstGeom prst="rect">
                <a:avLst/>
              </a:prstGeom>
            </p:spPr>
          </p:pic>
          <p:sp>
            <p:nvSpPr>
              <p:cNvPr id="34" name="矩形 33">
                <a:extLst>
                  <a:ext uri="{FF2B5EF4-FFF2-40B4-BE49-F238E27FC236}">
                    <a16:creationId xmlns:a16="http://schemas.microsoft.com/office/drawing/2014/main" id="{8659A643-E450-4CA6-88EB-0AE5D5F0627F}"/>
                  </a:ext>
                </a:extLst>
              </p:cNvPr>
              <p:cNvSpPr/>
              <p:nvPr/>
            </p:nvSpPr>
            <p:spPr>
              <a:xfrm>
                <a:off x="9702800" y="3234267"/>
                <a:ext cx="1176867" cy="16669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7" name="矩形 36">
                <a:extLst>
                  <a:ext uri="{FF2B5EF4-FFF2-40B4-BE49-F238E27FC236}">
                    <a16:creationId xmlns:a16="http://schemas.microsoft.com/office/drawing/2014/main" id="{CC076215-4C1E-4750-B734-07194AED0FD8}"/>
                  </a:ext>
                </a:extLst>
              </p:cNvPr>
              <p:cNvSpPr/>
              <p:nvPr/>
            </p:nvSpPr>
            <p:spPr>
              <a:xfrm rot="16200000">
                <a:off x="7955404" y="1829993"/>
                <a:ext cx="1176867" cy="16669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02867522-04A5-42D3-BB4F-47F0FF031376}"/>
                    </a:ext>
                  </a:extLst>
                </p:cNvPr>
                <p:cNvSpPr txBox="1"/>
                <p:nvPr/>
              </p:nvSpPr>
              <p:spPr>
                <a:xfrm>
                  <a:off x="9618493" y="3241599"/>
                  <a:ext cx="1785745"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400" b="1" i="0" smtClean="0">
                            <a:latin typeface="Cambria Math" panose="02040503050406030204" pitchFamily="18" charset="0"/>
                          </a:rPr>
                          <m:t>𝐑𝐞𝐬𝐢𝐝𝐮𝐚𝐥</m:t>
                        </m:r>
                        <m:r>
                          <a:rPr lang="en-US" altLang="zh-TW" sz="1400" b="1" i="0" smtClean="0">
                            <a:latin typeface="Cambria Math" panose="02040503050406030204" pitchFamily="18" charset="0"/>
                          </a:rPr>
                          <m:t> </m:t>
                        </m:r>
                        <m:r>
                          <a:rPr lang="en-US" altLang="zh-TW" sz="1400" b="1" i="0" smtClean="0">
                            <a:latin typeface="Cambria Math" panose="02040503050406030204" pitchFamily="18" charset="0"/>
                          </a:rPr>
                          <m:t>𝐞𝐫𝐫𝐨𝐫</m:t>
                        </m:r>
                        <m:r>
                          <a:rPr lang="en-US" altLang="zh-TW" sz="1400" b="1" i="0" smtClean="0">
                            <a:latin typeface="Cambria Math" panose="02040503050406030204" pitchFamily="18" charset="0"/>
                          </a:rPr>
                          <m:t> </m:t>
                        </m:r>
                        <m:r>
                          <a:rPr lang="en-US" altLang="zh-TW" sz="1400" b="1" i="1" smtClean="0">
                            <a:latin typeface="Cambria Math" panose="02040503050406030204" pitchFamily="18" charset="0"/>
                          </a:rPr>
                          <m:t>(</m:t>
                        </m:r>
                        <m:r>
                          <a:rPr lang="en-US" altLang="zh-TW" sz="1400" b="1" i="1" smtClean="0">
                            <a:latin typeface="Cambria Math" panose="02040503050406030204" pitchFamily="18" charset="0"/>
                          </a:rPr>
                          <m:t>𝒎𝑻</m:t>
                        </m:r>
                        <m:r>
                          <a:rPr lang="en-US" altLang="zh-TW" sz="1400" b="1" i="1" smtClean="0">
                            <a:latin typeface="Cambria Math" panose="02040503050406030204" pitchFamily="18" charset="0"/>
                          </a:rPr>
                          <m:t>) </m:t>
                        </m:r>
                      </m:oMath>
                    </m:oMathPara>
                  </a14:m>
                  <a:endParaRPr lang="zh-TW" altLang="en-US" b="1" dirty="0"/>
                </a:p>
              </p:txBody>
            </p:sp>
          </mc:Choice>
          <mc:Fallback xmlns="">
            <p:sp>
              <p:nvSpPr>
                <p:cNvPr id="41" name="文字方塊 40">
                  <a:extLst>
                    <a:ext uri="{FF2B5EF4-FFF2-40B4-BE49-F238E27FC236}">
                      <a16:creationId xmlns:a16="http://schemas.microsoft.com/office/drawing/2014/main" id="{02867522-04A5-42D3-BB4F-47F0FF031376}"/>
                    </a:ext>
                  </a:extLst>
                </p:cNvPr>
                <p:cNvSpPr txBox="1">
                  <a:spLocks noRot="1" noChangeAspect="1" noMove="1" noResize="1" noEditPoints="1" noAdjustHandles="1" noChangeArrowheads="1" noChangeShapeType="1" noTextEdit="1"/>
                </p:cNvSpPr>
                <p:nvPr/>
              </p:nvSpPr>
              <p:spPr>
                <a:xfrm>
                  <a:off x="9618493" y="3241599"/>
                  <a:ext cx="1785745" cy="215444"/>
                </a:xfrm>
                <a:prstGeom prst="rect">
                  <a:avLst/>
                </a:prstGeom>
                <a:blipFill>
                  <a:blip r:embed="rId3"/>
                  <a:stretch>
                    <a:fillRect l="-2048" r="-683" b="-3142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A1AA19C0-C7B6-479A-972F-14B3CD2E3BDD}"/>
                    </a:ext>
                  </a:extLst>
                </p:cNvPr>
                <p:cNvSpPr txBox="1"/>
                <p:nvPr/>
              </p:nvSpPr>
              <p:spPr>
                <a:xfrm rot="16200000">
                  <a:off x="7869443" y="1805616"/>
                  <a:ext cx="1300036"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400" b="1" i="0" smtClean="0">
                            <a:latin typeface="Cambria Math" panose="02040503050406030204" pitchFamily="18" charset="0"/>
                          </a:rPr>
                          <m:t>𝐏𝐞𝐫𝐜𝐞𝐧𝐭𝐚𝐠𝐞</m:t>
                        </m:r>
                        <m:r>
                          <a:rPr lang="en-US" altLang="zh-TW" sz="1400" b="0" i="1" smtClean="0">
                            <a:latin typeface="Cambria Math" panose="02040503050406030204" pitchFamily="18" charset="0"/>
                          </a:rPr>
                          <m:t>(%)</m:t>
                        </m:r>
                      </m:oMath>
                    </m:oMathPara>
                  </a14:m>
                  <a:endParaRPr lang="zh-TW" altLang="en-US" dirty="0"/>
                </a:p>
              </p:txBody>
            </p:sp>
          </mc:Choice>
          <mc:Fallback xmlns="">
            <p:sp>
              <p:nvSpPr>
                <p:cNvPr id="45" name="文字方塊 44">
                  <a:extLst>
                    <a:ext uri="{FF2B5EF4-FFF2-40B4-BE49-F238E27FC236}">
                      <a16:creationId xmlns:a16="http://schemas.microsoft.com/office/drawing/2014/main" id="{A1AA19C0-C7B6-479A-972F-14B3CD2E3BDD}"/>
                    </a:ext>
                  </a:extLst>
                </p:cNvPr>
                <p:cNvSpPr txBox="1">
                  <a:spLocks noRot="1" noChangeAspect="1" noMove="1" noResize="1" noEditPoints="1" noAdjustHandles="1" noChangeArrowheads="1" noChangeShapeType="1" noTextEdit="1"/>
                </p:cNvSpPr>
                <p:nvPr/>
              </p:nvSpPr>
              <p:spPr>
                <a:xfrm rot="16200000">
                  <a:off x="7869443" y="1805616"/>
                  <a:ext cx="1300036" cy="215444"/>
                </a:xfrm>
                <a:prstGeom prst="rect">
                  <a:avLst/>
                </a:prstGeom>
                <a:blipFill>
                  <a:blip r:embed="rId4"/>
                  <a:stretch>
                    <a:fillRect t="-4225" r="-31429" b="-4225"/>
                  </a:stretch>
                </a:blipFill>
              </p:spPr>
              <p:txBody>
                <a:bodyPr/>
                <a:lstStyle/>
                <a:p>
                  <a:r>
                    <a:rPr lang="zh-TW" altLang="en-US">
                      <a:noFill/>
                    </a:rPr>
                    <a:t> </a:t>
                  </a:r>
                </a:p>
              </p:txBody>
            </p:sp>
          </mc:Fallback>
        </mc:AlternateContent>
      </p:grpSp>
      <p:sp>
        <p:nvSpPr>
          <p:cNvPr id="27" name="文字方塊 26">
            <a:extLst>
              <a:ext uri="{FF2B5EF4-FFF2-40B4-BE49-F238E27FC236}">
                <a16:creationId xmlns:a16="http://schemas.microsoft.com/office/drawing/2014/main" id="{FE54FCE1-819D-4E48-BB7F-611A7003CB69}"/>
              </a:ext>
            </a:extLst>
          </p:cNvPr>
          <p:cNvSpPr txBox="1"/>
          <p:nvPr/>
        </p:nvSpPr>
        <p:spPr>
          <a:xfrm>
            <a:off x="82953" y="676706"/>
            <a:ext cx="5221686" cy="5909310"/>
          </a:xfrm>
          <a:prstGeom prst="rect">
            <a:avLst/>
          </a:prstGeom>
          <a:noFill/>
        </p:spPr>
        <p:txBody>
          <a:bodyPr wrap="square">
            <a:spAutoFit/>
          </a:bodyPr>
          <a:lstStyle/>
          <a:p>
            <a:pPr marL="285750" indent="-285750">
              <a:buFont typeface="Arial" panose="020B0604020202020204" pitchFamily="34" charset="0"/>
              <a:buChar char="•"/>
            </a:pPr>
            <a:r>
              <a:rPr lang="zh-TW" altLang="en-US" dirty="0"/>
              <a:t>Calibrated with 80 sampling points，</a:t>
            </a:r>
            <a:r>
              <a:rPr lang="en-US" altLang="zh-TW" dirty="0"/>
              <a:t> and evaluated against the 1771 real  points inside the radius, The distribution peaks near 0.02 </a:t>
            </a:r>
            <a:r>
              <a:rPr lang="en-US" altLang="zh-TW" dirty="0" err="1"/>
              <a:t>mT</a:t>
            </a:r>
            <a:r>
              <a:rPr lang="en-US" altLang="zh-TW" dirty="0"/>
              <a:t> with a tail reaching 0.11 </a:t>
            </a:r>
            <a:r>
              <a:rPr lang="en-US" altLang="zh-TW" dirty="0" err="1"/>
              <a:t>mT</a:t>
            </a:r>
            <a:r>
              <a:rPr lang="en-US" altLang="zh-TW" dirty="0"/>
              <a:t>, and the mean is 0.028 </a:t>
            </a:r>
            <a:r>
              <a:rPr lang="en-US" altLang="zh-TW" dirty="0" err="1"/>
              <a:t>mT.</a:t>
            </a:r>
            <a:endParaRPr lang="en-US" altLang="zh-TW" dirty="0"/>
          </a:p>
          <a:p>
            <a:pPr marL="285750" indent="-285750">
              <a:buFont typeface="Arial" panose="020B0604020202020204" pitchFamily="34" charset="0"/>
              <a:buChar char="•"/>
            </a:pPr>
            <a:endParaRPr lang="en-US" altLang="zh-TW" dirty="0"/>
          </a:p>
          <a:p>
            <a:pPr marL="285750" indent="-285750">
              <a:buFont typeface="Arial" panose="020B0604020202020204" pitchFamily="34" charset="0"/>
              <a:buChar char="•"/>
            </a:pPr>
            <a:r>
              <a:rPr lang="en-US" altLang="zh-TW" dirty="0"/>
              <a:t>When the calibration radius is enlarged to 300 µm</a:t>
            </a:r>
            <a:r>
              <a:rPr lang="zh-TW" altLang="en-US" dirty="0"/>
              <a:t>，</a:t>
            </a:r>
            <a:r>
              <a:rPr lang="en-US" altLang="zh-TW" dirty="0"/>
              <a:t> evaluated against 14082 real grid points The distribution peaks near 0.07 </a:t>
            </a:r>
            <a:r>
              <a:rPr lang="en-US" altLang="zh-TW" dirty="0" err="1"/>
              <a:t>mT</a:t>
            </a:r>
            <a:r>
              <a:rPr lang="en-US" altLang="zh-TW" dirty="0"/>
              <a:t> with a long tail out to 1.90 </a:t>
            </a:r>
            <a:r>
              <a:rPr lang="en-US" altLang="zh-TW" dirty="0" err="1"/>
              <a:t>mT</a:t>
            </a:r>
            <a:r>
              <a:rPr lang="en-US" altLang="zh-TW" dirty="0"/>
              <a:t>, and the mean is 0.181 </a:t>
            </a:r>
            <a:r>
              <a:rPr lang="en-US" altLang="zh-TW" dirty="0" err="1"/>
              <a:t>mT.</a:t>
            </a:r>
            <a:endParaRPr lang="en-US" altLang="zh-TW" dirty="0"/>
          </a:p>
          <a:p>
            <a:pPr marL="285750" indent="-285750">
              <a:buFont typeface="Arial" panose="020B0604020202020204" pitchFamily="34" charset="0"/>
              <a:buChar char="•"/>
            </a:pPr>
            <a:endParaRPr lang="en-US" altLang="zh-TW" dirty="0"/>
          </a:p>
          <a:p>
            <a:pPr marL="285750" indent="-285750">
              <a:buFont typeface="Arial" panose="020B0604020202020204" pitchFamily="34" charset="0"/>
              <a:buChar char="•"/>
            </a:pPr>
            <a:r>
              <a:rPr lang="en-US" altLang="zh-TW" dirty="0"/>
              <a:t>The residuals of the previous figure are split by grid-point radius into two overlaid</a:t>
            </a:r>
            <a:r>
              <a:rPr lang="zh-TW" altLang="en-US" dirty="0"/>
              <a:t>，</a:t>
            </a:r>
            <a:r>
              <a:rPr lang="en-US" altLang="zh-TW" dirty="0"/>
              <a:t> The outer shell mean is 4.6 times the inner one, so the 0.181 </a:t>
            </a:r>
            <a:r>
              <a:rPr lang="en-US" altLang="zh-TW" dirty="0" err="1"/>
              <a:t>mT</a:t>
            </a:r>
            <a:r>
              <a:rPr lang="en-US" altLang="zh-TW" dirty="0"/>
              <a:t> of the previous figure is almost entirely set </a:t>
            </a:r>
            <a:r>
              <a:rPr lang="en-US" altLang="zh-TW" dirty="0" err="1"/>
              <a:t>bythe</a:t>
            </a:r>
            <a:r>
              <a:rPr lang="en-US" altLang="zh-TW" dirty="0"/>
              <a:t> outer shell. More importantly, for the very  same inner region the mean residual rises from 0.028 </a:t>
            </a:r>
            <a:r>
              <a:rPr lang="en-US" altLang="zh-TW" dirty="0" err="1"/>
              <a:t>mT</a:t>
            </a:r>
            <a:r>
              <a:rPr lang="en-US" altLang="zh-TW" dirty="0"/>
              <a:t> when calibrating at 150 µm to 0.044 </a:t>
            </a:r>
            <a:r>
              <a:rPr lang="en-US" altLang="zh-TW" dirty="0" err="1"/>
              <a:t>mT</a:t>
            </a:r>
            <a:r>
              <a:rPr lang="en-US" altLang="zh-TW" dirty="0"/>
              <a:t> when calibrating at 300 µm, an increase of 57%  enlarging the calibration range costs accuracy in the inner region, because the fit is pulled by the large residuals of the outer shell.</a:t>
            </a:r>
            <a:endParaRPr lang="zh-TW" altLang="en-US" dirty="0"/>
          </a:p>
        </p:txBody>
      </p:sp>
      <p:pic>
        <p:nvPicPr>
          <p:cNvPr id="4" name="圖片 3">
            <a:extLst>
              <a:ext uri="{FF2B5EF4-FFF2-40B4-BE49-F238E27FC236}">
                <a16:creationId xmlns:a16="http://schemas.microsoft.com/office/drawing/2014/main" id="{949FA3DA-D224-4E1C-AABD-76EE2002647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336124" y="3665735"/>
            <a:ext cx="3848343" cy="3106538"/>
          </a:xfrm>
          <a:prstGeom prst="rect">
            <a:avLst/>
          </a:prstGeom>
        </p:spPr>
      </p:pic>
    </p:spTree>
    <p:extLst>
      <p:ext uri="{BB962C8B-B14F-4D97-AF65-F5344CB8AC3E}">
        <p14:creationId xmlns:p14="http://schemas.microsoft.com/office/powerpoint/2010/main" val="30565722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B6964577-860D-4EB3-8219-1A6240335DA6}"/>
                  </a:ext>
                </a:extLst>
              </p:cNvPr>
              <p:cNvSpPr txBox="1"/>
              <p:nvPr/>
            </p:nvSpPr>
            <p:spPr>
              <a:xfrm>
                <a:off x="8217453" y="423838"/>
                <a:ext cx="3564053"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sSub>
                        <m:sSubPr>
                          <m:ctrlPr>
                            <a:rPr lang="en-US" altLang="zh-TW" b="0"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𝐾</m:t>
                              </m:r>
                            </m:e>
                          </m:acc>
                        </m:e>
                        <m:sub>
                          <m:r>
                            <a:rPr lang="en-US" altLang="zh-TW" b="0" i="1" smtClean="0">
                              <a:latin typeface="Cambria Math" panose="02040503050406030204" pitchFamily="18" charset="0"/>
                            </a:rPr>
                            <m:t>𝐼</m:t>
                          </m:r>
                        </m:sub>
                      </m:sSub>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3" name="文字方塊 2">
                <a:extLst>
                  <a:ext uri="{FF2B5EF4-FFF2-40B4-BE49-F238E27FC236}">
                    <a16:creationId xmlns:a16="http://schemas.microsoft.com/office/drawing/2014/main" id="{B6964577-860D-4EB3-8219-1A6240335DA6}"/>
                  </a:ext>
                </a:extLst>
              </p:cNvPr>
              <p:cNvSpPr txBox="1">
                <a:spLocks noRot="1" noChangeAspect="1" noMove="1" noResize="1" noEditPoints="1" noAdjustHandles="1" noChangeArrowheads="1" noChangeShapeType="1" noTextEdit="1"/>
              </p:cNvSpPr>
              <p:nvPr/>
            </p:nvSpPr>
            <p:spPr>
              <a:xfrm>
                <a:off x="8217453" y="423838"/>
                <a:ext cx="3564053" cy="321563"/>
              </a:xfrm>
              <a:prstGeom prst="rect">
                <a:avLst/>
              </a:prstGeom>
              <a:blipFill>
                <a:blip r:embed="rId2"/>
                <a:stretch>
                  <a:fillRect l="-1197" t="-15385" r="-5299" b="-25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54C8E874-6E04-4F06-97C3-1C58F72C5F9C}"/>
                  </a:ext>
                </a:extLst>
              </p:cNvPr>
              <p:cNvSpPr txBox="1"/>
              <p:nvPr/>
            </p:nvSpPr>
            <p:spPr>
              <a:xfrm>
                <a:off x="5420171" y="1337731"/>
                <a:ext cx="6585562" cy="2541658"/>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dirty="0"/>
                  <a:t>This figure overlays the distributions of the two models. The red distribution is noticeably more concentrated than the blue one, indicating that the eighteen-parameter model performs better than the one-parameter model in fitting the magnetic field.</a:t>
                </a:r>
              </a:p>
              <a:p>
                <a:pPr marL="285750" indent="-285750">
                  <a:lnSpc>
                    <a:spcPct val="150000"/>
                  </a:lnSpc>
                  <a:buFont typeface="Arial" panose="020B0604020202020204" pitchFamily="34" charset="0"/>
                  <a:buChar char="•"/>
                </a:pPr>
                <a:endParaRPr lang="en-US" altLang="zh-TW" dirty="0"/>
              </a:p>
              <a:p>
                <a:pPr marL="285750" indent="-285750">
                  <a:lnSpc>
                    <a:spcPct val="150000"/>
                  </a:lnSpc>
                  <a:buFont typeface="Arial" panose="020B0604020202020204" pitchFamily="34" charset="0"/>
                  <a:buChar char="•"/>
                </a:pPr>
                <a:r>
                  <a:rPr lang="en-US" altLang="zh-TW" dirty="0"/>
                  <a:t>Sampling range:</a:t>
                </a:r>
                <a14:m>
                  <m:oMath xmlns:m="http://schemas.openxmlformats.org/officeDocument/2006/math">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150</m:t>
                    </m:r>
                    <m:r>
                      <a:rPr lang="en-US" altLang="zh-TW" b="0" i="1" smtClean="0">
                        <a:latin typeface="Cambria Math" panose="02040503050406030204" pitchFamily="18" charset="0"/>
                        <a:ea typeface="Cambria Math" panose="02040503050406030204" pitchFamily="18" charset="0"/>
                      </a:rPr>
                      <m:t>𝑢𝑚</m:t>
                    </m:r>
                  </m:oMath>
                </a14:m>
                <a:endParaRPr lang="zh-TW" altLang="en-US" dirty="0"/>
              </a:p>
            </p:txBody>
          </p:sp>
        </mc:Choice>
        <mc:Fallback xmlns="">
          <p:sp>
            <p:nvSpPr>
              <p:cNvPr id="11" name="文字方塊 10">
                <a:extLst>
                  <a:ext uri="{FF2B5EF4-FFF2-40B4-BE49-F238E27FC236}">
                    <a16:creationId xmlns:a16="http://schemas.microsoft.com/office/drawing/2014/main" id="{54C8E874-6E04-4F06-97C3-1C58F72C5F9C}"/>
                  </a:ext>
                </a:extLst>
              </p:cNvPr>
              <p:cNvSpPr txBox="1">
                <a:spLocks noRot="1" noChangeAspect="1" noMove="1" noResize="1" noEditPoints="1" noAdjustHandles="1" noChangeArrowheads="1" noChangeShapeType="1" noTextEdit="1"/>
              </p:cNvSpPr>
              <p:nvPr/>
            </p:nvSpPr>
            <p:spPr>
              <a:xfrm>
                <a:off x="5420171" y="1337731"/>
                <a:ext cx="6585562" cy="2541658"/>
              </a:xfrm>
              <a:prstGeom prst="rect">
                <a:avLst/>
              </a:prstGeom>
              <a:blipFill>
                <a:blip r:embed="rId3"/>
                <a:stretch>
                  <a:fillRect l="-556" b="-2878"/>
                </a:stretch>
              </a:blipFill>
            </p:spPr>
            <p:txBody>
              <a:bodyPr/>
              <a:lstStyle/>
              <a:p>
                <a:r>
                  <a:rPr lang="zh-TW" altLang="en-US">
                    <a:noFill/>
                  </a:rPr>
                  <a:t> </a:t>
                </a:r>
              </a:p>
            </p:txBody>
          </p:sp>
        </mc:Fallback>
      </mc:AlternateContent>
      <p:grpSp>
        <p:nvGrpSpPr>
          <p:cNvPr id="7" name="群組 6">
            <a:extLst>
              <a:ext uri="{FF2B5EF4-FFF2-40B4-BE49-F238E27FC236}">
                <a16:creationId xmlns:a16="http://schemas.microsoft.com/office/drawing/2014/main" id="{885538DE-B8FD-40A3-B3DF-94CECE0AE005}"/>
              </a:ext>
            </a:extLst>
          </p:cNvPr>
          <p:cNvGrpSpPr/>
          <p:nvPr/>
        </p:nvGrpSpPr>
        <p:grpSpPr>
          <a:xfrm>
            <a:off x="412046" y="922869"/>
            <a:ext cx="4758497" cy="3897469"/>
            <a:chOff x="412046" y="922869"/>
            <a:chExt cx="4758497" cy="3897469"/>
          </a:xfrm>
        </p:grpSpPr>
        <p:grpSp>
          <p:nvGrpSpPr>
            <p:cNvPr id="6" name="群組 5">
              <a:extLst>
                <a:ext uri="{FF2B5EF4-FFF2-40B4-BE49-F238E27FC236}">
                  <a16:creationId xmlns:a16="http://schemas.microsoft.com/office/drawing/2014/main" id="{204A2E2A-E217-4B63-B9CE-16D46BBE2CC3}"/>
                </a:ext>
              </a:extLst>
            </p:cNvPr>
            <p:cNvGrpSpPr/>
            <p:nvPr/>
          </p:nvGrpSpPr>
          <p:grpSpPr>
            <a:xfrm>
              <a:off x="427436" y="922869"/>
              <a:ext cx="4743107" cy="3897469"/>
              <a:chOff x="427436" y="922869"/>
              <a:chExt cx="4743107" cy="3897469"/>
            </a:xfrm>
          </p:grpSpPr>
          <p:pic>
            <p:nvPicPr>
              <p:cNvPr id="5" name="圖片 4">
                <a:extLst>
                  <a:ext uri="{FF2B5EF4-FFF2-40B4-BE49-F238E27FC236}">
                    <a16:creationId xmlns:a16="http://schemas.microsoft.com/office/drawing/2014/main" id="{11351E0C-FB52-4996-A6E6-F633A5155AB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7718" y="922869"/>
                <a:ext cx="4702825" cy="3897469"/>
              </a:xfrm>
              <a:prstGeom prst="rect">
                <a:avLst/>
              </a:prstGeom>
            </p:spPr>
          </p:pic>
          <p:sp>
            <p:nvSpPr>
              <p:cNvPr id="4" name="矩形 3">
                <a:extLst>
                  <a:ext uri="{FF2B5EF4-FFF2-40B4-BE49-F238E27FC236}">
                    <a16:creationId xmlns:a16="http://schemas.microsoft.com/office/drawing/2014/main" id="{52A329CE-7079-4033-9D3B-A4C731D28382}"/>
                  </a:ext>
                </a:extLst>
              </p:cNvPr>
              <p:cNvSpPr/>
              <p:nvPr/>
            </p:nvSpPr>
            <p:spPr>
              <a:xfrm>
                <a:off x="2353733" y="4546600"/>
                <a:ext cx="1540934" cy="273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矩形 8">
                <a:extLst>
                  <a:ext uri="{FF2B5EF4-FFF2-40B4-BE49-F238E27FC236}">
                    <a16:creationId xmlns:a16="http://schemas.microsoft.com/office/drawing/2014/main" id="{E7D1ED05-08C1-4440-8C7B-332D3E92975C}"/>
                  </a:ext>
                </a:extLst>
              </p:cNvPr>
              <p:cNvSpPr/>
              <p:nvPr/>
            </p:nvSpPr>
            <p:spPr>
              <a:xfrm rot="16200000">
                <a:off x="-206162" y="2734734"/>
                <a:ext cx="1540934" cy="273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2" name="文字方塊 11">
                  <a:extLst>
                    <a:ext uri="{FF2B5EF4-FFF2-40B4-BE49-F238E27FC236}">
                      <a16:creationId xmlns:a16="http://schemas.microsoft.com/office/drawing/2014/main" id="{C6818569-D395-4F66-8618-ED26C17D8C4B}"/>
                    </a:ext>
                  </a:extLst>
                </p:cNvPr>
                <p:cNvSpPr txBox="1"/>
                <p:nvPr/>
              </p:nvSpPr>
              <p:spPr>
                <a:xfrm>
                  <a:off x="2056600" y="4521200"/>
                  <a:ext cx="2040623"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600" b="1" i="0" smtClean="0">
                            <a:latin typeface="Cambria Math" panose="02040503050406030204" pitchFamily="18" charset="0"/>
                          </a:rPr>
                          <m:t>𝐑𝐞𝐬𝐢𝐝𝐮𝐚𝐥</m:t>
                        </m:r>
                        <m:r>
                          <a:rPr lang="en-US" altLang="zh-TW" sz="1600" b="1" i="0" smtClean="0">
                            <a:latin typeface="Cambria Math" panose="02040503050406030204" pitchFamily="18" charset="0"/>
                          </a:rPr>
                          <m:t> </m:t>
                        </m:r>
                        <m:r>
                          <a:rPr lang="en-US" altLang="zh-TW" sz="1600" b="1" i="0" smtClean="0">
                            <a:latin typeface="Cambria Math" panose="02040503050406030204" pitchFamily="18" charset="0"/>
                          </a:rPr>
                          <m:t>𝐞𝐫𝐫𝐨𝐫</m:t>
                        </m:r>
                        <m:r>
                          <a:rPr lang="en-US" altLang="zh-TW" sz="1600" b="1" i="0" smtClean="0">
                            <a:latin typeface="Cambria Math" panose="02040503050406030204" pitchFamily="18" charset="0"/>
                          </a:rPr>
                          <m:t> </m:t>
                        </m:r>
                        <m:r>
                          <a:rPr lang="en-US" altLang="zh-TW" sz="1600" b="1" i="1" smtClean="0">
                            <a:latin typeface="Cambria Math" panose="02040503050406030204" pitchFamily="18" charset="0"/>
                          </a:rPr>
                          <m:t>(</m:t>
                        </m:r>
                        <m:r>
                          <a:rPr lang="en-US" altLang="zh-TW" sz="1600" b="1" i="1" smtClean="0">
                            <a:latin typeface="Cambria Math" panose="02040503050406030204" pitchFamily="18" charset="0"/>
                          </a:rPr>
                          <m:t>𝒎𝑻</m:t>
                        </m:r>
                        <m:r>
                          <a:rPr lang="en-US" altLang="zh-TW" sz="1600" b="1" i="1" smtClean="0">
                            <a:latin typeface="Cambria Math" panose="02040503050406030204" pitchFamily="18" charset="0"/>
                          </a:rPr>
                          <m:t>) </m:t>
                        </m:r>
                      </m:oMath>
                    </m:oMathPara>
                  </a14:m>
                  <a:endParaRPr lang="zh-TW" altLang="en-US" sz="2000" b="1" dirty="0"/>
                </a:p>
              </p:txBody>
            </p:sp>
          </mc:Choice>
          <mc:Fallback xmlns="">
            <p:sp>
              <p:nvSpPr>
                <p:cNvPr id="12" name="文字方塊 11">
                  <a:extLst>
                    <a:ext uri="{FF2B5EF4-FFF2-40B4-BE49-F238E27FC236}">
                      <a16:creationId xmlns:a16="http://schemas.microsoft.com/office/drawing/2014/main" id="{C6818569-D395-4F66-8618-ED26C17D8C4B}"/>
                    </a:ext>
                  </a:extLst>
                </p:cNvPr>
                <p:cNvSpPr txBox="1">
                  <a:spLocks noRot="1" noChangeAspect="1" noMove="1" noResize="1" noEditPoints="1" noAdjustHandles="1" noChangeArrowheads="1" noChangeShapeType="1" noTextEdit="1"/>
                </p:cNvSpPr>
                <p:nvPr/>
              </p:nvSpPr>
              <p:spPr>
                <a:xfrm>
                  <a:off x="2056600" y="4521200"/>
                  <a:ext cx="2040623" cy="246221"/>
                </a:xfrm>
                <a:prstGeom prst="rect">
                  <a:avLst/>
                </a:prstGeom>
                <a:blipFill>
                  <a:blip r:embed="rId5"/>
                  <a:stretch>
                    <a:fillRect l="-2090" r="-1194" b="-325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3" name="文字方塊 12">
                  <a:extLst>
                    <a:ext uri="{FF2B5EF4-FFF2-40B4-BE49-F238E27FC236}">
                      <a16:creationId xmlns:a16="http://schemas.microsoft.com/office/drawing/2014/main" id="{00C082E8-A392-4B92-8E0E-834FE15234DA}"/>
                    </a:ext>
                  </a:extLst>
                </p:cNvPr>
                <p:cNvSpPr txBox="1"/>
                <p:nvPr/>
              </p:nvSpPr>
              <p:spPr>
                <a:xfrm rot="16200000">
                  <a:off x="-209438" y="2726305"/>
                  <a:ext cx="1489189"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600" b="1" i="0" smtClean="0">
                            <a:latin typeface="Cambria Math" panose="02040503050406030204" pitchFamily="18" charset="0"/>
                          </a:rPr>
                          <m:t>𝐏𝐞𝐫𝐜𝐞𝐧𝐭𝐚𝐠𝐞</m:t>
                        </m:r>
                        <m:r>
                          <a:rPr lang="en-US" altLang="zh-TW" sz="1600" b="0" i="1" smtClean="0">
                            <a:latin typeface="Cambria Math" panose="02040503050406030204" pitchFamily="18" charset="0"/>
                          </a:rPr>
                          <m:t>(%)</m:t>
                        </m:r>
                      </m:oMath>
                    </m:oMathPara>
                  </a14:m>
                  <a:endParaRPr lang="zh-TW" altLang="en-US" sz="2000" dirty="0"/>
                </a:p>
              </p:txBody>
            </p:sp>
          </mc:Choice>
          <mc:Fallback xmlns="">
            <p:sp>
              <p:nvSpPr>
                <p:cNvPr id="13" name="文字方塊 12">
                  <a:extLst>
                    <a:ext uri="{FF2B5EF4-FFF2-40B4-BE49-F238E27FC236}">
                      <a16:creationId xmlns:a16="http://schemas.microsoft.com/office/drawing/2014/main" id="{00C082E8-A392-4B92-8E0E-834FE15234DA}"/>
                    </a:ext>
                  </a:extLst>
                </p:cNvPr>
                <p:cNvSpPr txBox="1">
                  <a:spLocks noRot="1" noChangeAspect="1" noMove="1" noResize="1" noEditPoints="1" noAdjustHandles="1" noChangeArrowheads="1" noChangeShapeType="1" noTextEdit="1"/>
                </p:cNvSpPr>
                <p:nvPr/>
              </p:nvSpPr>
              <p:spPr>
                <a:xfrm rot="16200000">
                  <a:off x="-209438" y="2726305"/>
                  <a:ext cx="1489189" cy="246221"/>
                </a:xfrm>
                <a:prstGeom prst="rect">
                  <a:avLst/>
                </a:prstGeom>
                <a:blipFill>
                  <a:blip r:embed="rId6"/>
                  <a:stretch>
                    <a:fillRect t="-4490" r="-32500" b="-4082"/>
                  </a:stretch>
                </a:blipFill>
              </p:spPr>
              <p:txBody>
                <a:bodyPr/>
                <a:lstStyle/>
                <a:p>
                  <a:r>
                    <a:rPr lang="zh-TW" altLang="en-US">
                      <a:noFill/>
                    </a:rPr>
                    <a:t> </a:t>
                  </a:r>
                </a:p>
              </p:txBody>
            </p:sp>
          </mc:Fallback>
        </mc:AlternateContent>
      </p:grpSp>
    </p:spTree>
    <p:extLst>
      <p:ext uri="{BB962C8B-B14F-4D97-AF65-F5344CB8AC3E}">
        <p14:creationId xmlns:p14="http://schemas.microsoft.com/office/powerpoint/2010/main" val="39634389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p:sp>
        <p:nvSpPr>
          <p:cNvPr id="19" name="文字方塊 18">
            <a:extLst>
              <a:ext uri="{FF2B5EF4-FFF2-40B4-BE49-F238E27FC236}">
                <a16:creationId xmlns:a16="http://schemas.microsoft.com/office/drawing/2014/main" id="{7AEE1245-C1D7-468D-B66E-D359C98E02EC}"/>
              </a:ext>
            </a:extLst>
          </p:cNvPr>
          <p:cNvSpPr txBox="1"/>
          <p:nvPr/>
        </p:nvSpPr>
        <p:spPr>
          <a:xfrm>
            <a:off x="6885600" y="840717"/>
            <a:ext cx="5384798" cy="4801314"/>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These two figures show the differences in the calibrated magnetic charge locations between the two models. The upper row presents the magnetic charge locations calibrated by the one-parameter model, shown using side views of poles P1 and P2. It can be clearly seen that, for the lower pole, some of the magnetic charge locations are located outside the pole. This is because the one-parameter model constrains the magnetic charges to lie along the actuator coordinate axes. The lower row presents the results of the eighteen-parameter model, in which the magnetic charge locations of the lower pole move inside the pole. This is more consistent with the expected physical situation. Moreover, the error histograms shown above also indicate that these magnetic charge locations are more consistent with the theoretical positions.</a:t>
            </a:r>
            <a:endParaRPr lang="zh-TW" altLang="en-US" dirty="0"/>
          </a:p>
        </p:txBody>
      </p:sp>
      <mc:AlternateContent xmlns:mc="http://schemas.openxmlformats.org/markup-compatibility/2006" xmlns:a14="http://schemas.microsoft.com/office/drawing/2010/main">
        <mc:Choice Requires="a14">
          <p:sp>
            <p:nvSpPr>
              <p:cNvPr id="29" name="文字方塊 28">
                <a:extLst>
                  <a:ext uri="{FF2B5EF4-FFF2-40B4-BE49-F238E27FC236}">
                    <a16:creationId xmlns:a16="http://schemas.microsoft.com/office/drawing/2014/main" id="{89A87B67-4717-4362-98CB-9141ED7DCE5C}"/>
                  </a:ext>
                </a:extLst>
              </p:cNvPr>
              <p:cNvSpPr txBox="1"/>
              <p:nvPr/>
            </p:nvSpPr>
            <p:spPr>
              <a:xfrm>
                <a:off x="8217453" y="423838"/>
                <a:ext cx="3564053"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sSub>
                        <m:sSubPr>
                          <m:ctrlPr>
                            <a:rPr lang="en-US" altLang="zh-TW" b="0"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𝐾</m:t>
                              </m:r>
                            </m:e>
                          </m:acc>
                        </m:e>
                        <m:sub>
                          <m:r>
                            <a:rPr lang="en-US" altLang="zh-TW" b="0" i="1" smtClean="0">
                              <a:latin typeface="Cambria Math" panose="02040503050406030204" pitchFamily="18" charset="0"/>
                            </a:rPr>
                            <m:t>𝐼</m:t>
                          </m:r>
                        </m:sub>
                      </m:sSub>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29" name="文字方塊 28">
                <a:extLst>
                  <a:ext uri="{FF2B5EF4-FFF2-40B4-BE49-F238E27FC236}">
                    <a16:creationId xmlns:a16="http://schemas.microsoft.com/office/drawing/2014/main" id="{89A87B67-4717-4362-98CB-9141ED7DCE5C}"/>
                  </a:ext>
                </a:extLst>
              </p:cNvPr>
              <p:cNvSpPr txBox="1">
                <a:spLocks noRot="1" noChangeAspect="1" noMove="1" noResize="1" noEditPoints="1" noAdjustHandles="1" noChangeArrowheads="1" noChangeShapeType="1" noTextEdit="1"/>
              </p:cNvSpPr>
              <p:nvPr/>
            </p:nvSpPr>
            <p:spPr>
              <a:xfrm>
                <a:off x="8217453" y="423838"/>
                <a:ext cx="3564053" cy="321563"/>
              </a:xfrm>
              <a:prstGeom prst="rect">
                <a:avLst/>
              </a:prstGeom>
              <a:blipFill>
                <a:blip r:embed="rId2"/>
                <a:stretch>
                  <a:fillRect l="-1197" t="-15385" r="-5299" b="-25000"/>
                </a:stretch>
              </a:blipFill>
            </p:spPr>
            <p:txBody>
              <a:bodyPr/>
              <a:lstStyle/>
              <a:p>
                <a:r>
                  <a:rPr lang="zh-TW" altLang="en-US">
                    <a:noFill/>
                  </a:rPr>
                  <a:t> </a:t>
                </a:r>
              </a:p>
            </p:txBody>
          </p:sp>
        </mc:Fallback>
      </mc:AlternateContent>
      <p:grpSp>
        <p:nvGrpSpPr>
          <p:cNvPr id="6" name="群組 5">
            <a:extLst>
              <a:ext uri="{FF2B5EF4-FFF2-40B4-BE49-F238E27FC236}">
                <a16:creationId xmlns:a16="http://schemas.microsoft.com/office/drawing/2014/main" id="{C89A0346-8189-4276-A7F0-0B064B6352FC}"/>
              </a:ext>
            </a:extLst>
          </p:cNvPr>
          <p:cNvGrpSpPr/>
          <p:nvPr/>
        </p:nvGrpSpPr>
        <p:grpSpPr>
          <a:xfrm>
            <a:off x="67661" y="1215969"/>
            <a:ext cx="6937032" cy="3354715"/>
            <a:chOff x="101527" y="1144012"/>
            <a:chExt cx="6937032" cy="3354715"/>
          </a:xfrm>
        </p:grpSpPr>
        <p:pic>
          <p:nvPicPr>
            <p:cNvPr id="5" name="圖片 4">
              <a:extLst>
                <a:ext uri="{FF2B5EF4-FFF2-40B4-BE49-F238E27FC236}">
                  <a16:creationId xmlns:a16="http://schemas.microsoft.com/office/drawing/2014/main" id="{A95DCD7E-C4E0-481E-BB54-103FC96112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2235" y="1144012"/>
              <a:ext cx="6503365" cy="3004655"/>
            </a:xfrm>
            <a:prstGeom prst="rect">
              <a:avLst/>
            </a:prstGeom>
          </p:spPr>
        </p:pic>
        <p:grpSp>
          <p:nvGrpSpPr>
            <p:cNvPr id="32" name="群組 31">
              <a:extLst>
                <a:ext uri="{FF2B5EF4-FFF2-40B4-BE49-F238E27FC236}">
                  <a16:creationId xmlns:a16="http://schemas.microsoft.com/office/drawing/2014/main" id="{00AAE3B7-7BF1-4B56-BAE2-3D620CD83099}"/>
                </a:ext>
              </a:extLst>
            </p:cNvPr>
            <p:cNvGrpSpPr/>
            <p:nvPr/>
          </p:nvGrpSpPr>
          <p:grpSpPr>
            <a:xfrm>
              <a:off x="101527" y="1345441"/>
              <a:ext cx="6937032" cy="3153286"/>
              <a:chOff x="1625800" y="1853204"/>
              <a:chExt cx="9002701" cy="3165128"/>
            </a:xfrm>
          </p:grpSpPr>
          <mc:AlternateContent xmlns:mc="http://schemas.openxmlformats.org/markup-compatibility/2006" xmlns:a14="http://schemas.microsoft.com/office/drawing/2010/main">
            <mc:Choice Requires="a14">
              <p:sp>
                <p:nvSpPr>
                  <p:cNvPr id="33" name="文字方塊 32">
                    <a:extLst>
                      <a:ext uri="{FF2B5EF4-FFF2-40B4-BE49-F238E27FC236}">
                        <a16:creationId xmlns:a16="http://schemas.microsoft.com/office/drawing/2014/main" id="{2518E20F-8820-4061-B1C1-9B2B8E6A835C}"/>
                      </a:ext>
                    </a:extLst>
                  </p:cNvPr>
                  <p:cNvSpPr txBox="1"/>
                  <p:nvPr/>
                </p:nvSpPr>
                <p:spPr>
                  <a:xfrm rot="16200000">
                    <a:off x="1059395" y="2788942"/>
                    <a:ext cx="1409810" cy="27700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𝑧</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xmlns="">
              <p:sp>
                <p:nvSpPr>
                  <p:cNvPr id="33" name="文字方塊 32">
                    <a:extLst>
                      <a:ext uri="{FF2B5EF4-FFF2-40B4-BE49-F238E27FC236}">
                        <a16:creationId xmlns:a16="http://schemas.microsoft.com/office/drawing/2014/main" id="{2518E20F-8820-4061-B1C1-9B2B8E6A835C}"/>
                      </a:ext>
                    </a:extLst>
                  </p:cNvPr>
                  <p:cNvSpPr txBox="1">
                    <a:spLocks noRot="1" noChangeAspect="1" noMove="1" noResize="1" noEditPoints="1" noAdjustHandles="1" noChangeArrowheads="1" noChangeShapeType="1" noTextEdit="1"/>
                  </p:cNvSpPr>
                  <p:nvPr/>
                </p:nvSpPr>
                <p:spPr>
                  <a:xfrm rot="16200000">
                    <a:off x="1059395" y="2788942"/>
                    <a:ext cx="1409810" cy="277000"/>
                  </a:xfrm>
                  <a:prstGeom prst="rect">
                    <a:avLst/>
                  </a:prstGeom>
                  <a:blipFill>
                    <a:blip r:embed="rId4"/>
                    <a:stretch>
                      <a:fillRect t="-6522" r="-77143" b="-260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C76A7CE7-457D-4FFE-A3B1-39E0A8845413}"/>
                      </a:ext>
                    </a:extLst>
                  </p:cNvPr>
                  <p:cNvSpPr txBox="1"/>
                  <p:nvPr/>
                </p:nvSpPr>
                <p:spPr>
                  <a:xfrm>
                    <a:off x="3287298" y="4741333"/>
                    <a:ext cx="143603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𝑥</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xmlns="">
              <p:sp>
                <p:nvSpPr>
                  <p:cNvPr id="34" name="文字方塊 33">
                    <a:extLst>
                      <a:ext uri="{FF2B5EF4-FFF2-40B4-BE49-F238E27FC236}">
                        <a16:creationId xmlns:a16="http://schemas.microsoft.com/office/drawing/2014/main" id="{C76A7CE7-457D-4FFE-A3B1-39E0A8845413}"/>
                      </a:ext>
                    </a:extLst>
                  </p:cNvPr>
                  <p:cNvSpPr txBox="1">
                    <a:spLocks noRot="1" noChangeAspect="1" noMove="1" noResize="1" noEditPoints="1" noAdjustHandles="1" noChangeArrowheads="1" noChangeShapeType="1" noTextEdit="1"/>
                  </p:cNvSpPr>
                  <p:nvPr/>
                </p:nvSpPr>
                <p:spPr>
                  <a:xfrm>
                    <a:off x="3287298" y="4741333"/>
                    <a:ext cx="1436034" cy="276999"/>
                  </a:xfrm>
                  <a:prstGeom prst="rect">
                    <a:avLst/>
                  </a:prstGeom>
                  <a:blipFill>
                    <a:blip r:embed="rId5"/>
                    <a:stretch>
                      <a:fillRect l="-5495" t="-2222" r="-33516" b="-3777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5" name="文字方塊 34">
                    <a:extLst>
                      <a:ext uri="{FF2B5EF4-FFF2-40B4-BE49-F238E27FC236}">
                        <a16:creationId xmlns:a16="http://schemas.microsoft.com/office/drawing/2014/main" id="{A2AF3DB8-6AEF-4EDC-934E-65275A38ABCE}"/>
                      </a:ext>
                    </a:extLst>
                  </p:cNvPr>
                  <p:cNvSpPr txBox="1"/>
                  <p:nvPr/>
                </p:nvSpPr>
                <p:spPr>
                  <a:xfrm>
                    <a:off x="7265875" y="4741333"/>
                    <a:ext cx="143603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𝑥</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xmlns="">
              <p:sp>
                <p:nvSpPr>
                  <p:cNvPr id="35" name="文字方塊 34">
                    <a:extLst>
                      <a:ext uri="{FF2B5EF4-FFF2-40B4-BE49-F238E27FC236}">
                        <a16:creationId xmlns:a16="http://schemas.microsoft.com/office/drawing/2014/main" id="{A2AF3DB8-6AEF-4EDC-934E-65275A38ABCE}"/>
                      </a:ext>
                    </a:extLst>
                  </p:cNvPr>
                  <p:cNvSpPr txBox="1">
                    <a:spLocks noRot="1" noChangeAspect="1" noMove="1" noResize="1" noEditPoints="1" noAdjustHandles="1" noChangeArrowheads="1" noChangeShapeType="1" noTextEdit="1"/>
                  </p:cNvSpPr>
                  <p:nvPr/>
                </p:nvSpPr>
                <p:spPr>
                  <a:xfrm>
                    <a:off x="7265875" y="4741333"/>
                    <a:ext cx="1436034" cy="276999"/>
                  </a:xfrm>
                  <a:prstGeom prst="rect">
                    <a:avLst/>
                  </a:prstGeom>
                  <a:blipFill>
                    <a:blip r:embed="rId6"/>
                    <a:stretch>
                      <a:fillRect l="-5495" t="-2222" r="-33516" b="-3777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B76B494B-9CE2-48D5-ABD5-138500987A43}"/>
                      </a:ext>
                    </a:extLst>
                  </p:cNvPr>
                  <p:cNvSpPr txBox="1"/>
                  <p:nvPr/>
                </p:nvSpPr>
                <p:spPr>
                  <a:xfrm>
                    <a:off x="2739450" y="2974322"/>
                    <a:ext cx="5161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sz="2400" b="1" i="1" smtClean="0">
                                  <a:latin typeface="Cambria Math" panose="02040503050406030204" pitchFamily="18" charset="0"/>
                                </a:rPr>
                              </m:ctrlPr>
                            </m:sSubPr>
                            <m:e>
                              <m:r>
                                <a:rPr lang="en-US" altLang="zh-TW" sz="2400" b="1" i="1" smtClean="0">
                                  <a:latin typeface="Cambria Math" panose="02040503050406030204" pitchFamily="18" charset="0"/>
                                </a:rPr>
                                <m:t>𝒒</m:t>
                              </m:r>
                            </m:e>
                            <m:sub>
                              <m:r>
                                <a:rPr lang="en-US" altLang="zh-TW" sz="2400" b="1" i="1" smtClean="0">
                                  <a:latin typeface="Cambria Math" panose="02040503050406030204" pitchFamily="18" charset="0"/>
                                </a:rPr>
                                <m:t>𝒄</m:t>
                              </m:r>
                              <m:r>
                                <a:rPr lang="en-US" altLang="zh-TW" sz="2400" b="1" i="1" smtClean="0">
                                  <a:latin typeface="Cambria Math" panose="02040503050406030204" pitchFamily="18" charset="0"/>
                                </a:rPr>
                                <m:t>𝟐</m:t>
                              </m:r>
                            </m:sub>
                          </m:sSub>
                        </m:oMath>
                      </m:oMathPara>
                    </a14:m>
                    <a:endParaRPr lang="zh-TW" altLang="en-US" b="1" dirty="0"/>
                  </a:p>
                </p:txBody>
              </p:sp>
            </mc:Choice>
            <mc:Fallback xmlns="">
              <p:sp>
                <p:nvSpPr>
                  <p:cNvPr id="36" name="文字方塊 35">
                    <a:extLst>
                      <a:ext uri="{FF2B5EF4-FFF2-40B4-BE49-F238E27FC236}">
                        <a16:creationId xmlns:a16="http://schemas.microsoft.com/office/drawing/2014/main" id="{B76B494B-9CE2-48D5-ABD5-138500987A43}"/>
                      </a:ext>
                    </a:extLst>
                  </p:cNvPr>
                  <p:cNvSpPr txBox="1">
                    <a:spLocks noRot="1" noChangeAspect="1" noMove="1" noResize="1" noEditPoints="1" noAdjustHandles="1" noChangeArrowheads="1" noChangeShapeType="1" noTextEdit="1"/>
                  </p:cNvSpPr>
                  <p:nvPr/>
                </p:nvSpPr>
                <p:spPr>
                  <a:xfrm>
                    <a:off x="2739450" y="2974322"/>
                    <a:ext cx="516103" cy="369332"/>
                  </a:xfrm>
                  <a:prstGeom prst="rect">
                    <a:avLst/>
                  </a:prstGeom>
                  <a:blipFill>
                    <a:blip r:embed="rId7"/>
                    <a:stretch>
                      <a:fillRect l="-27692" r="-29231" b="-2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42FCE35B-7D7F-464A-AA8F-6154C7ED7B93}"/>
                      </a:ext>
                    </a:extLst>
                  </p:cNvPr>
                  <p:cNvSpPr txBox="1"/>
                  <p:nvPr/>
                </p:nvSpPr>
                <p:spPr>
                  <a:xfrm>
                    <a:off x="9075800" y="3612821"/>
                    <a:ext cx="5161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sz="2400" b="1" i="1" smtClean="0">
                                  <a:latin typeface="Cambria Math" panose="02040503050406030204" pitchFamily="18" charset="0"/>
                                </a:rPr>
                              </m:ctrlPr>
                            </m:sSubPr>
                            <m:e>
                              <m:r>
                                <a:rPr lang="en-US" altLang="zh-TW" sz="2400" b="1" i="1" smtClean="0">
                                  <a:latin typeface="Cambria Math" panose="02040503050406030204" pitchFamily="18" charset="0"/>
                                </a:rPr>
                                <m:t>𝒒</m:t>
                              </m:r>
                            </m:e>
                            <m:sub>
                              <m:r>
                                <a:rPr lang="en-US" altLang="zh-TW" sz="2400" b="1" i="1" smtClean="0">
                                  <a:latin typeface="Cambria Math" panose="02040503050406030204" pitchFamily="18" charset="0"/>
                                </a:rPr>
                                <m:t>𝒄</m:t>
                              </m:r>
                              <m:r>
                                <a:rPr lang="en-US" altLang="zh-TW" sz="2400" b="1" i="1" smtClean="0">
                                  <a:latin typeface="Cambria Math" panose="02040503050406030204" pitchFamily="18" charset="0"/>
                                </a:rPr>
                                <m:t>𝟏</m:t>
                              </m:r>
                            </m:sub>
                          </m:sSub>
                        </m:oMath>
                      </m:oMathPara>
                    </a14:m>
                    <a:endParaRPr lang="zh-TW" altLang="en-US" b="1" dirty="0"/>
                  </a:p>
                </p:txBody>
              </p:sp>
            </mc:Choice>
            <mc:Fallback xmlns="">
              <p:sp>
                <p:nvSpPr>
                  <p:cNvPr id="37" name="文字方塊 36">
                    <a:extLst>
                      <a:ext uri="{FF2B5EF4-FFF2-40B4-BE49-F238E27FC236}">
                        <a16:creationId xmlns:a16="http://schemas.microsoft.com/office/drawing/2014/main" id="{42FCE35B-7D7F-464A-AA8F-6154C7ED7B93}"/>
                      </a:ext>
                    </a:extLst>
                  </p:cNvPr>
                  <p:cNvSpPr txBox="1">
                    <a:spLocks noRot="1" noChangeAspect="1" noMove="1" noResize="1" noEditPoints="1" noAdjustHandles="1" noChangeArrowheads="1" noChangeShapeType="1" noTextEdit="1"/>
                  </p:cNvSpPr>
                  <p:nvPr/>
                </p:nvSpPr>
                <p:spPr>
                  <a:xfrm>
                    <a:off x="9075800" y="3612821"/>
                    <a:ext cx="516103" cy="369332"/>
                  </a:xfrm>
                  <a:prstGeom prst="rect">
                    <a:avLst/>
                  </a:prstGeom>
                  <a:blipFill>
                    <a:blip r:embed="rId8"/>
                    <a:stretch>
                      <a:fillRect l="-29231" r="-29231" b="-2623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8" name="文字方塊 37">
                    <a:extLst>
                      <a:ext uri="{FF2B5EF4-FFF2-40B4-BE49-F238E27FC236}">
                        <a16:creationId xmlns:a16="http://schemas.microsoft.com/office/drawing/2014/main" id="{6CFB1552-A472-4518-825F-20F0BCA04B3E}"/>
                      </a:ext>
                    </a:extLst>
                  </p:cNvPr>
                  <p:cNvSpPr txBox="1"/>
                  <p:nvPr/>
                </p:nvSpPr>
                <p:spPr>
                  <a:xfrm>
                    <a:off x="4602953" y="3561266"/>
                    <a:ext cx="3886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sz="2400" i="1" smtClean="0">
                                  <a:latin typeface="Cambria Math" panose="02040503050406030204" pitchFamily="18" charset="0"/>
                                </a:rPr>
                              </m:ctrlPr>
                            </m:sSubPr>
                            <m:e>
                              <m:acc>
                                <m:accPr>
                                  <m:chr m:val="̂"/>
                                  <m:ctrlPr>
                                    <a:rPr lang="en-US" altLang="zh-TW" sz="2400" i="1" smtClean="0">
                                      <a:latin typeface="Cambria Math" panose="02040503050406030204" pitchFamily="18" charset="0"/>
                                    </a:rPr>
                                  </m:ctrlPr>
                                </m:accPr>
                                <m:e>
                                  <m:r>
                                    <a:rPr lang="en-US" altLang="zh-TW" sz="2400" b="0" i="1" smtClean="0">
                                      <a:latin typeface="Cambria Math" panose="02040503050406030204" pitchFamily="18" charset="0"/>
                                    </a:rPr>
                                    <m:t>𝑥</m:t>
                                  </m:r>
                                </m:e>
                              </m:acc>
                            </m:e>
                            <m:sub>
                              <m:r>
                                <a:rPr lang="en-US" altLang="zh-TW" sz="2400" b="0" i="1" smtClean="0">
                                  <a:latin typeface="Cambria Math" panose="02040503050406030204" pitchFamily="18" charset="0"/>
                                </a:rPr>
                                <m:t>𝑎</m:t>
                              </m:r>
                            </m:sub>
                          </m:sSub>
                        </m:oMath>
                      </m:oMathPara>
                    </a14:m>
                    <a:endParaRPr lang="zh-TW" altLang="en-US" dirty="0"/>
                  </a:p>
                </p:txBody>
              </p:sp>
            </mc:Choice>
            <mc:Fallback xmlns="">
              <p:sp>
                <p:nvSpPr>
                  <p:cNvPr id="38" name="文字方塊 37">
                    <a:extLst>
                      <a:ext uri="{FF2B5EF4-FFF2-40B4-BE49-F238E27FC236}">
                        <a16:creationId xmlns:a16="http://schemas.microsoft.com/office/drawing/2014/main" id="{6CFB1552-A472-4518-825F-20F0BCA04B3E}"/>
                      </a:ext>
                    </a:extLst>
                  </p:cNvPr>
                  <p:cNvSpPr txBox="1">
                    <a:spLocks noRot="1" noChangeAspect="1" noMove="1" noResize="1" noEditPoints="1" noAdjustHandles="1" noChangeArrowheads="1" noChangeShapeType="1" noTextEdit="1"/>
                  </p:cNvSpPr>
                  <p:nvPr/>
                </p:nvSpPr>
                <p:spPr>
                  <a:xfrm>
                    <a:off x="4602953" y="3561266"/>
                    <a:ext cx="388696" cy="369332"/>
                  </a:xfrm>
                  <a:prstGeom prst="rect">
                    <a:avLst/>
                  </a:prstGeom>
                  <a:blipFill>
                    <a:blip r:embed="rId9"/>
                    <a:stretch>
                      <a:fillRect l="-26531" t="-18333" r="-48980" b="-10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9" name="文字方塊 38">
                    <a:extLst>
                      <a:ext uri="{FF2B5EF4-FFF2-40B4-BE49-F238E27FC236}">
                        <a16:creationId xmlns:a16="http://schemas.microsoft.com/office/drawing/2014/main" id="{48CAC5C3-013E-4DAB-B73B-F3B88B959FF6}"/>
                      </a:ext>
                    </a:extLst>
                  </p:cNvPr>
                  <p:cNvSpPr txBox="1"/>
                  <p:nvPr/>
                </p:nvSpPr>
                <p:spPr>
                  <a:xfrm>
                    <a:off x="6913368" y="1853204"/>
                    <a:ext cx="3886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sz="2400" i="1" smtClean="0">
                                  <a:latin typeface="Cambria Math" panose="02040503050406030204" pitchFamily="18" charset="0"/>
                                </a:rPr>
                              </m:ctrlPr>
                            </m:sSubPr>
                            <m:e>
                              <m:acc>
                                <m:accPr>
                                  <m:chr m:val="̂"/>
                                  <m:ctrlPr>
                                    <a:rPr lang="en-US" altLang="zh-TW" sz="2400" i="1" smtClean="0">
                                      <a:latin typeface="Cambria Math" panose="02040503050406030204" pitchFamily="18" charset="0"/>
                                    </a:rPr>
                                  </m:ctrlPr>
                                </m:accPr>
                                <m:e>
                                  <m:r>
                                    <a:rPr lang="en-US" altLang="zh-TW" sz="2400" b="0" i="1" smtClean="0">
                                      <a:latin typeface="Cambria Math" panose="02040503050406030204" pitchFamily="18" charset="0"/>
                                    </a:rPr>
                                    <m:t>𝑥</m:t>
                                  </m:r>
                                </m:e>
                              </m:acc>
                            </m:e>
                            <m:sub>
                              <m:r>
                                <a:rPr lang="en-US" altLang="zh-TW" sz="2400" b="0" i="1" smtClean="0">
                                  <a:latin typeface="Cambria Math" panose="02040503050406030204" pitchFamily="18" charset="0"/>
                                </a:rPr>
                                <m:t>𝑎</m:t>
                              </m:r>
                            </m:sub>
                          </m:sSub>
                        </m:oMath>
                      </m:oMathPara>
                    </a14:m>
                    <a:endParaRPr lang="zh-TW" altLang="en-US" dirty="0"/>
                  </a:p>
                </p:txBody>
              </p:sp>
            </mc:Choice>
            <mc:Fallback xmlns="">
              <p:sp>
                <p:nvSpPr>
                  <p:cNvPr id="39" name="文字方塊 38">
                    <a:extLst>
                      <a:ext uri="{FF2B5EF4-FFF2-40B4-BE49-F238E27FC236}">
                        <a16:creationId xmlns:a16="http://schemas.microsoft.com/office/drawing/2014/main" id="{48CAC5C3-013E-4DAB-B73B-F3B88B959FF6}"/>
                      </a:ext>
                    </a:extLst>
                  </p:cNvPr>
                  <p:cNvSpPr txBox="1">
                    <a:spLocks noRot="1" noChangeAspect="1" noMove="1" noResize="1" noEditPoints="1" noAdjustHandles="1" noChangeArrowheads="1" noChangeShapeType="1" noTextEdit="1"/>
                  </p:cNvSpPr>
                  <p:nvPr/>
                </p:nvSpPr>
                <p:spPr>
                  <a:xfrm>
                    <a:off x="6913368" y="1853204"/>
                    <a:ext cx="388696" cy="369332"/>
                  </a:xfrm>
                  <a:prstGeom prst="rect">
                    <a:avLst/>
                  </a:prstGeom>
                  <a:blipFill>
                    <a:blip r:embed="rId10"/>
                    <a:stretch>
                      <a:fillRect l="-26531" t="-18333" r="-48980" b="-10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D9CB3744-E5F2-475B-A7FA-C3CE15D1FA90}"/>
                      </a:ext>
                    </a:extLst>
                  </p:cNvPr>
                  <p:cNvSpPr txBox="1"/>
                  <p:nvPr/>
                </p:nvSpPr>
                <p:spPr>
                  <a:xfrm rot="16200000">
                    <a:off x="9940235" y="2958220"/>
                    <a:ext cx="1068754" cy="30777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altLang="zh-TW" sz="2000" b="1" i="1" smtClean="0">
                                  <a:latin typeface="Cambria Math" panose="02040503050406030204" pitchFamily="18" charset="0"/>
                                </a:rPr>
                              </m:ctrlPr>
                            </m:dPr>
                            <m:e>
                              <m:r>
                                <a:rPr lang="en-US" altLang="zh-TW" sz="2000" b="1" i="0" smtClean="0">
                                  <a:latin typeface="Cambria Math" panose="02040503050406030204" pitchFamily="18" charset="0"/>
                                </a:rPr>
                                <m:t>𝐛</m:t>
                              </m:r>
                            </m:e>
                          </m:d>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𝑚𝑇</m:t>
                          </m:r>
                          <m:r>
                            <a:rPr lang="en-US" altLang="zh-TW" sz="2000" b="0" i="1" smtClean="0">
                              <a:latin typeface="Cambria Math" panose="02040503050406030204" pitchFamily="18" charset="0"/>
                            </a:rPr>
                            <m:t>)</m:t>
                          </m:r>
                        </m:oMath>
                      </m:oMathPara>
                    </a14:m>
                    <a:endParaRPr lang="zh-TW" altLang="en-US" sz="1600" dirty="0"/>
                  </a:p>
                </p:txBody>
              </p:sp>
            </mc:Choice>
            <mc:Fallback xmlns="">
              <p:sp>
                <p:nvSpPr>
                  <p:cNvPr id="41" name="文字方塊 40">
                    <a:extLst>
                      <a:ext uri="{FF2B5EF4-FFF2-40B4-BE49-F238E27FC236}">
                        <a16:creationId xmlns:a16="http://schemas.microsoft.com/office/drawing/2014/main" id="{D9CB3744-E5F2-475B-A7FA-C3CE15D1FA90}"/>
                      </a:ext>
                    </a:extLst>
                  </p:cNvPr>
                  <p:cNvSpPr txBox="1">
                    <a:spLocks noRot="1" noChangeAspect="1" noMove="1" noResize="1" noEditPoints="1" noAdjustHandles="1" noChangeArrowheads="1" noChangeShapeType="1" noTextEdit="1"/>
                  </p:cNvSpPr>
                  <p:nvPr/>
                </p:nvSpPr>
                <p:spPr>
                  <a:xfrm rot="16200000">
                    <a:off x="9940235" y="2958220"/>
                    <a:ext cx="1068754" cy="307778"/>
                  </a:xfrm>
                  <a:prstGeom prst="rect">
                    <a:avLst/>
                  </a:prstGeom>
                  <a:blipFill>
                    <a:blip r:embed="rId11"/>
                    <a:stretch>
                      <a:fillRect l="-2564" t="-8000" r="-74359"/>
                    </a:stretch>
                  </a:blipFill>
                </p:spPr>
                <p:txBody>
                  <a:bodyPr/>
                  <a:lstStyle/>
                  <a:p>
                    <a:r>
                      <a:rPr lang="zh-TW" altLang="en-US">
                        <a:noFill/>
                      </a:rPr>
                      <a:t> </a:t>
                    </a:r>
                  </a:p>
                </p:txBody>
              </p:sp>
            </mc:Fallback>
          </mc:AlternateContent>
        </p:grpSp>
      </p:grpSp>
    </p:spTree>
    <p:extLst>
      <p:ext uri="{BB962C8B-B14F-4D97-AF65-F5344CB8AC3E}">
        <p14:creationId xmlns:p14="http://schemas.microsoft.com/office/powerpoint/2010/main" val="18088995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192000" cy="837142"/>
          </a:xfrm>
        </p:spPr>
        <p:txBody>
          <a:bodyPr>
            <a:normAutofit fontScale="90000"/>
          </a:bodyPr>
          <a:lstStyle/>
          <a:p>
            <a:r>
              <a:rPr lang="en-US" altLang="zh-TW" sz="3600" b="1" kern="100" dirty="0">
                <a:solidFill>
                  <a:srgbClr val="000000"/>
                </a:solidFill>
                <a:latin typeface="Aptos"/>
                <a:ea typeface="新細明體" panose="02020500000000000000" pitchFamily="18" charset="-120"/>
                <a:cs typeface="Times New Roman" panose="02020603050405020304" pitchFamily="18" charset="0"/>
              </a:rPr>
              <a:t>Hall-sensor-voltage-based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pic>
        <p:nvPicPr>
          <p:cNvPr id="10" name="圖片 9">
            <a:extLst>
              <a:ext uri="{FF2B5EF4-FFF2-40B4-BE49-F238E27FC236}">
                <a16:creationId xmlns:a16="http://schemas.microsoft.com/office/drawing/2014/main" id="{5CC497E2-F390-4154-8F1C-1D87643010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64962" y="1608499"/>
            <a:ext cx="5817198" cy="3852501"/>
          </a:xfrm>
          <a:prstGeom prst="rect">
            <a:avLst/>
          </a:prstGeom>
        </p:spPr>
      </p:pic>
    </p:spTree>
    <p:extLst>
      <p:ext uri="{BB962C8B-B14F-4D97-AF65-F5344CB8AC3E}">
        <p14:creationId xmlns:p14="http://schemas.microsoft.com/office/powerpoint/2010/main" val="37240646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192000" cy="837142"/>
          </a:xfrm>
        </p:spPr>
        <p:txBody>
          <a:bodyPr>
            <a:normAutofit fontScale="90000"/>
          </a:bodyPr>
          <a:lstStyle/>
          <a:p>
            <a:r>
              <a:rPr lang="en-US" altLang="zh-TW" sz="3600" b="1" kern="100" dirty="0">
                <a:solidFill>
                  <a:srgbClr val="000000"/>
                </a:solidFill>
                <a:latin typeface="Aptos"/>
                <a:ea typeface="新細明體" panose="02020500000000000000" pitchFamily="18" charset="-120"/>
                <a:cs typeface="Times New Roman" panose="02020603050405020304" pitchFamily="18" charset="0"/>
              </a:rPr>
              <a:t>Hall-sensor-voltage-based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mc:AlternateContent xmlns:mc="http://schemas.openxmlformats.org/markup-compatibility/2006">
        <mc:Choice xmlns:a14="http://schemas.microsoft.com/office/drawing/2010/main" Requires="a14">
          <p:sp>
            <p:nvSpPr>
              <p:cNvPr id="17" name="文字方塊 16">
                <a:extLst>
                  <a:ext uri="{FF2B5EF4-FFF2-40B4-BE49-F238E27FC236}">
                    <a16:creationId xmlns:a16="http://schemas.microsoft.com/office/drawing/2014/main" id="{69C96541-2956-4051-B88A-6236D38F9E35}"/>
                  </a:ext>
                </a:extLst>
              </p:cNvPr>
              <p:cNvSpPr txBox="1"/>
              <p:nvPr/>
            </p:nvSpPr>
            <p:spPr>
              <a:xfrm>
                <a:off x="8503362" y="504298"/>
                <a:ext cx="3688638"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𝑉</m:t>
                              </m:r>
                            </m:sub>
                          </m:sSub>
                        </m:e>
                      </m:sPre>
                      <m:acc>
                        <m:accPr>
                          <m:chr m:val="̅"/>
                          <m:ctrlPr>
                            <a:rPr lang="zh-TW" altLang="en-US" b="0" i="1" smtClean="0">
                              <a:latin typeface="Cambria Math" panose="02040503050406030204" pitchFamily="18" charset="0"/>
                            </a:rPr>
                          </m:ctrlPr>
                        </m:accPr>
                        <m:e>
                          <m:r>
                            <a:rPr lang="en-US" altLang="zh-TW" b="0" i="1" smtClean="0">
                              <a:latin typeface="Cambria Math" panose="02040503050406030204" pitchFamily="18" charset="0"/>
                            </a:rPr>
                            <m:t>𝐷</m:t>
                          </m:r>
                        </m:e>
                      </m:acc>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𝑉</m:t>
                          </m:r>
                        </m:e>
                        <m:sub>
                          <m:r>
                            <a:rPr lang="en-US" altLang="zh-TW" b="0" i="1" smtClean="0">
                              <a:latin typeface="Cambria Math" panose="02040503050406030204" pitchFamily="18" charset="0"/>
                            </a:rPr>
                            <m:t>𝑗</m:t>
                          </m:r>
                        </m:sub>
                      </m:sSub>
                    </m:oMath>
                  </m:oMathPara>
                </a14:m>
                <a:endParaRPr lang="zh-TW" altLang="en-US" dirty="0"/>
              </a:p>
            </p:txBody>
          </p:sp>
        </mc:Choice>
        <mc:Fallback>
          <p:sp>
            <p:nvSpPr>
              <p:cNvPr id="17" name="文字方塊 16">
                <a:extLst>
                  <a:ext uri="{FF2B5EF4-FFF2-40B4-BE49-F238E27FC236}">
                    <a16:creationId xmlns:a16="http://schemas.microsoft.com/office/drawing/2014/main" id="{69C96541-2956-4051-B88A-6236D38F9E35}"/>
                  </a:ext>
                </a:extLst>
              </p:cNvPr>
              <p:cNvSpPr txBox="1">
                <a:spLocks noRot="1" noChangeAspect="1" noMove="1" noResize="1" noEditPoints="1" noAdjustHandles="1" noChangeArrowheads="1" noChangeShapeType="1" noTextEdit="1"/>
              </p:cNvSpPr>
              <p:nvPr/>
            </p:nvSpPr>
            <p:spPr>
              <a:xfrm>
                <a:off x="8503362" y="504298"/>
                <a:ext cx="3688638" cy="321563"/>
              </a:xfrm>
              <a:prstGeom prst="rect">
                <a:avLst/>
              </a:prstGeom>
              <a:blipFill>
                <a:blip r:embed="rId2"/>
                <a:stretch>
                  <a:fillRect t="-15385" r="-3802" b="-25000"/>
                </a:stretch>
              </a:blipFill>
            </p:spPr>
            <p:txBody>
              <a:bodyPr/>
              <a:lstStyle/>
              <a:p>
                <a:r>
                  <a:rPr lang="zh-TW" altLang="en-US">
                    <a:noFill/>
                  </a:rPr>
                  <a:t> </a:t>
                </a:r>
              </a:p>
            </p:txBody>
          </p:sp>
        </mc:Fallback>
      </mc:AlternateContent>
      <p:pic>
        <p:nvPicPr>
          <p:cNvPr id="4" name="圖片 3">
            <a:extLst>
              <a:ext uri="{FF2B5EF4-FFF2-40B4-BE49-F238E27FC236}">
                <a16:creationId xmlns:a16="http://schemas.microsoft.com/office/drawing/2014/main" id="{8238E239-0659-4120-863F-786BD492D37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060" y="619043"/>
            <a:ext cx="2955519" cy="2382835"/>
          </a:xfrm>
          <a:prstGeom prst="rect">
            <a:avLst/>
          </a:prstGeom>
        </p:spPr>
      </p:pic>
      <p:pic>
        <p:nvPicPr>
          <p:cNvPr id="6" name="圖片 5">
            <a:extLst>
              <a:ext uri="{FF2B5EF4-FFF2-40B4-BE49-F238E27FC236}">
                <a16:creationId xmlns:a16="http://schemas.microsoft.com/office/drawing/2014/main" id="{988C42B5-FBD1-4FD8-BABE-1FCBE073D28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09175" y="3429000"/>
            <a:ext cx="2570916" cy="3005448"/>
          </a:xfrm>
          <a:prstGeom prst="rect">
            <a:avLst/>
          </a:prstGeom>
        </p:spPr>
      </p:pic>
      <p:sp>
        <p:nvSpPr>
          <p:cNvPr id="7" name="文字方塊 6">
            <a:extLst>
              <a:ext uri="{FF2B5EF4-FFF2-40B4-BE49-F238E27FC236}">
                <a16:creationId xmlns:a16="http://schemas.microsoft.com/office/drawing/2014/main" id="{3B970DD4-BBB5-449B-A35D-ACB34E775395}"/>
              </a:ext>
            </a:extLst>
          </p:cNvPr>
          <p:cNvSpPr txBox="1"/>
          <p:nvPr/>
        </p:nvSpPr>
        <p:spPr>
          <a:xfrm>
            <a:off x="3141579" y="553537"/>
            <a:ext cx="3793066"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Single parameter</a:t>
            </a:r>
            <a:endParaRPr lang="zh-TW" altLang="en-US" dirty="0"/>
          </a:p>
        </p:txBody>
      </p:sp>
      <p:sp>
        <p:nvSpPr>
          <p:cNvPr id="9" name="文字方塊 8">
            <a:extLst>
              <a:ext uri="{FF2B5EF4-FFF2-40B4-BE49-F238E27FC236}">
                <a16:creationId xmlns:a16="http://schemas.microsoft.com/office/drawing/2014/main" id="{9FF4D34D-ECD2-4F94-BEEC-33EA0D199F4B}"/>
              </a:ext>
            </a:extLst>
          </p:cNvPr>
          <p:cNvSpPr txBox="1"/>
          <p:nvPr/>
        </p:nvSpPr>
        <p:spPr>
          <a:xfrm>
            <a:off x="3005667" y="3395133"/>
            <a:ext cx="3793066"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Eighteen parameters</a:t>
            </a:r>
            <a:endParaRPr lang="zh-TW" altLang="en-US" dirty="0"/>
          </a:p>
        </p:txBody>
      </p:sp>
      <mc:AlternateContent xmlns:mc="http://schemas.openxmlformats.org/markup-compatibility/2006">
        <mc:Choice xmlns:a14="http://schemas.microsoft.com/office/drawing/2010/main" Requires="a14">
          <p:sp>
            <p:nvSpPr>
              <p:cNvPr id="8" name="文字方塊 7">
                <a:extLst>
                  <a:ext uri="{FF2B5EF4-FFF2-40B4-BE49-F238E27FC236}">
                    <a16:creationId xmlns:a16="http://schemas.microsoft.com/office/drawing/2014/main" id="{006197D1-7E80-4D02-B036-2CFB5107B79F}"/>
                  </a:ext>
                </a:extLst>
              </p:cNvPr>
              <p:cNvSpPr txBox="1"/>
              <p:nvPr/>
            </p:nvSpPr>
            <p:spPr>
              <a:xfrm>
                <a:off x="3074404" y="1133231"/>
                <a:ext cx="4408258" cy="1622175"/>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acc>
                        <m:accPr>
                          <m:chr m:val="̅"/>
                          <m:ctrlPr>
                            <a:rPr lang="zh-TW" altLang="en-US" i="1" smtClean="0">
                              <a:latin typeface="Cambria Math" panose="02040503050406030204" pitchFamily="18" charset="0"/>
                            </a:rPr>
                          </m:ctrlPr>
                        </m:accPr>
                        <m:e>
                          <m:r>
                            <a:rPr lang="en-US" altLang="zh-TW" b="0" i="1" smtClean="0">
                              <a:latin typeface="Cambria Math" panose="02040503050406030204" pitchFamily="18" charset="0"/>
                            </a:rPr>
                            <m:t>𝐷</m:t>
                          </m:r>
                        </m:e>
                      </m:acc>
                      <m:r>
                        <a:rPr lang="en-US" altLang="zh-TW" b="0" i="1" smtClean="0">
                          <a:latin typeface="Cambria Math" panose="02040503050406030204" pitchFamily="18" charset="0"/>
                        </a:rPr>
                        <m:t>=</m:t>
                      </m:r>
                      <m:d>
                        <m:dPr>
                          <m:begChr m:val="["/>
                          <m:endChr m:val="]"/>
                          <m:ctrlPr>
                            <a:rPr lang="en-US" altLang="zh-TW" b="0" i="1" smtClean="0">
                              <a:latin typeface="Cambria Math" panose="02040503050406030204" pitchFamily="18" charset="0"/>
                            </a:rPr>
                          </m:ctrlPr>
                        </m:dPr>
                        <m:e>
                          <m:m>
                            <m:mPr>
                              <m:mcs>
                                <m:mc>
                                  <m:mcPr>
                                    <m:count m:val="2"/>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m:t>
                                </m:r>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8333</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0</m:t>
                                      </m:r>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4083</m:t>
                                      </m:r>
                                    </m:e>
                                    <m:e/>
                                    <m:e>
                                      <m:m>
                                        <m:mPr>
                                          <m:mcs>
                                            <m:mc>
                                              <m:mcPr>
                                                <m:count m:val="3"/>
                                                <m:mcJc m:val="center"/>
                                              </m:mcPr>
                                            </m:mc>
                                          </m:mcs>
                                          <m:ctrlPr>
                                            <a:rPr lang="en-US" altLang="zh-TW" b="0" i="1" smtClean="0">
                                              <a:latin typeface="Cambria Math" panose="02040503050406030204" pitchFamily="18" charset="0"/>
                                            </a:rPr>
                                          </m:ctrlPr>
                                        </m:mPr>
                                        <m:mr>
                                          <m:e/>
                                          <m:e/>
                                          <m:e/>
                                        </m:mr>
                                      </m:m>
                                    </m:e>
                                  </m:mr>
                                </m:m>
                              </m:e>
                            </m:mr>
                            <m:mr>
                              <m:e>
                                <m:m>
                                  <m:mPr>
                                    <m:mcs>
                                      <m:mc>
                                        <m:mcPr>
                                          <m:count m:val="1"/>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0</m:t>
                                      </m:r>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1427</m:t>
                                      </m:r>
                                    </m:e>
                                  </m:mr>
                                  <m:mr>
                                    <m:e>
                                      <m:r>
                                        <a:rPr lang="en-US" altLang="zh-TW" b="0" i="1" smtClean="0">
                                          <a:latin typeface="Cambria Math" panose="02040503050406030204" pitchFamily="18" charset="0"/>
                                        </a:rPr>
                                        <m:t>−</m:t>
                                      </m:r>
                                      <m:r>
                                        <a:rPr lang="en-US" altLang="zh-TW" b="0" i="1" smtClean="0">
                                          <a:latin typeface="Cambria Math" panose="02040503050406030204" pitchFamily="18" charset="0"/>
                                        </a:rPr>
                                        <m:t>0</m:t>
                                      </m:r>
                                      <m:r>
                                        <a:rPr lang="en-US" altLang="zh-TW" b="0" i="1" smtClean="0">
                                          <a:latin typeface="Cambria Math" panose="02040503050406030204" pitchFamily="18" charset="0"/>
                                        </a:rPr>
                                        <m:t>.</m:t>
                                      </m:r>
                                      <m:r>
                                        <a:rPr lang="en-US" altLang="zh-TW" b="0" i="1" smtClean="0">
                                          <a:latin typeface="Cambria Math" panose="02040503050406030204" pitchFamily="18" charset="0"/>
                                        </a:rPr>
                                        <m:t>3315</m:t>
                                      </m:r>
                                    </m:e>
                                  </m:mr>
                                  <m:mr>
                                    <m:e>
                                      <m:m>
                                        <m:mPr>
                                          <m:mcs>
                                            <m:mc>
                                              <m:mcPr>
                                                <m:count m:val="1"/>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m:t>
                                            </m:r>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0128</m:t>
                                            </m:r>
                                          </m:e>
                                        </m:mr>
                                        <m:mr>
                                          <m:e>
                                            <m:r>
                                              <a:rPr lang="en-US" altLang="zh-TW" b="0" i="1" smtClean="0">
                                                <a:latin typeface="Cambria Math" panose="02040503050406030204" pitchFamily="18" charset="0"/>
                                              </a:rPr>
                                              <m:t>0</m:t>
                                            </m:r>
                                            <m:r>
                                              <a:rPr lang="en-US" altLang="zh-TW" b="0" i="1" smtClean="0">
                                                <a:latin typeface="Cambria Math" panose="02040503050406030204" pitchFamily="18" charset="0"/>
                                              </a:rPr>
                                              <m:t>.</m:t>
                                            </m:r>
                                            <m:r>
                                              <a:rPr lang="en-US" altLang="zh-TW" b="0" i="1" smtClean="0">
                                                <a:latin typeface="Cambria Math" panose="02040503050406030204" pitchFamily="18" charset="0"/>
                                              </a:rPr>
                                              <m:t>0106</m:t>
                                            </m:r>
                                          </m:e>
                                        </m:mr>
                                        <m:mr>
                                          <m:e>
                                            <m:r>
                                              <a:rPr lang="en-US" altLang="zh-TW" b="0" i="1" smtClean="0">
                                                <a:latin typeface="Cambria Math" panose="02040503050406030204" pitchFamily="18" charset="0"/>
                                              </a:rPr>
                                              <m:t>−</m:t>
                                            </m:r>
                                            <m:r>
                                              <a:rPr lang="en-US" altLang="zh-TW" b="0" i="1" smtClean="0">
                                                <a:latin typeface="Cambria Math" panose="02040503050406030204" pitchFamily="18" charset="0"/>
                                              </a:rPr>
                                              <m:t>0</m:t>
                                            </m:r>
                                            <m:r>
                                              <a:rPr lang="en-US" altLang="zh-TW" b="0" i="1" smtClean="0">
                                                <a:latin typeface="Cambria Math" panose="02040503050406030204" pitchFamily="18" charset="0"/>
                                              </a:rPr>
                                              <m:t>.</m:t>
                                            </m:r>
                                            <m:r>
                                              <a:rPr lang="en-US" altLang="zh-TW" b="0" i="1" smtClean="0">
                                                <a:latin typeface="Cambria Math" panose="02040503050406030204" pitchFamily="18" charset="0"/>
                                              </a:rPr>
                                              <m:t>3267</m:t>
                                            </m:r>
                                          </m:e>
                                        </m:mr>
                                      </m:m>
                                    </m:e>
                                  </m:mr>
                                </m:m>
                              </m:e>
                              <m:e>
                                <m:m>
                                  <m:mPr>
                                    <m:mcs>
                                      <m:mc>
                                        <m:mcPr>
                                          <m:count m:val="1"/>
                                          <m:mcJc m:val="center"/>
                                        </m:mcPr>
                                      </m:mc>
                                    </m:mcs>
                                    <m:ctrlPr>
                                      <a:rPr lang="en-US" altLang="zh-TW" b="0" i="1" smtClean="0">
                                        <a:latin typeface="Cambria Math" panose="02040503050406030204" pitchFamily="18" charset="0"/>
                                      </a:rPr>
                                    </m:ctrlPr>
                                  </m:mP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1</m:t>
                                            </m:r>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4021</m:t>
                                            </m:r>
                                          </m:e>
                                          <m:e/>
                                          <m:e>
                                            <m:m>
                                              <m:mPr>
                                                <m:mcs>
                                                  <m:mc>
                                                    <m:mcPr>
                                                      <m:count m:val="3"/>
                                                      <m:mcJc m:val="center"/>
                                                    </m:mcPr>
                                                  </m:mc>
                                                </m:mcs>
                                                <m:ctrlPr>
                                                  <a:rPr lang="en-US" altLang="zh-TW" b="0" i="1" smtClean="0">
                                                    <a:latin typeface="Cambria Math" panose="02040503050406030204" pitchFamily="18" charset="0"/>
                                                  </a:rPr>
                                                </m:ctrlPr>
                                              </m:mPr>
                                              <m:mr>
                                                <m:e/>
                                                <m:e/>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0</m:t>
                                            </m:r>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3893</m:t>
                                            </m:r>
                                          </m:e>
                                          <m:e/>
                                          <m:e>
                                            <m:m>
                                              <m:mPr>
                                                <m:mcs>
                                                  <m:mc>
                                                    <m:mcPr>
                                                      <m:count m:val="3"/>
                                                      <m:mcJc m:val="center"/>
                                                    </m:mcPr>
                                                  </m:mc>
                                                </m:mcs>
                                                <m:ctrlPr>
                                                  <a:rPr lang="en-US" altLang="zh-TW" b="0" i="1" smtClean="0">
                                                    <a:latin typeface="Cambria Math" panose="02040503050406030204" pitchFamily="18" charset="0"/>
                                                  </a:rPr>
                                                </m:ctrlPr>
                                              </m:mPr>
                                              <m:mr>
                                                <m:e/>
                                                <m:e/>
                                                <m:e/>
                                              </m:mr>
                                            </m:m>
                                          </m:e>
                                        </m:mr>
                                      </m:m>
                                    </m:e>
                                  </m:mr>
                                  <m:mr>
                                    <m:e>
                                      <m:m>
                                        <m:mPr>
                                          <m:mcs>
                                            <m:mc>
                                              <m:mcPr>
                                                <m:count m:val="1"/>
                                                <m:mcJc m:val="center"/>
                                              </m:mcPr>
                                            </m:mc>
                                          </m:mcs>
                                          <m:ctrlPr>
                                            <a:rPr lang="en-US" altLang="zh-TW" b="0" i="1" smtClean="0">
                                              <a:latin typeface="Cambria Math" panose="02040503050406030204" pitchFamily="18" charset="0"/>
                                            </a:rPr>
                                          </m:ctrlPr>
                                        </m:mPr>
                                        <m:mr>
                                          <m:e>
                                            <m:m>
                                              <m:mPr>
                                                <m:mcs>
                                                  <m:mc>
                                                    <m:mcPr>
                                                      <m:count m:val="3"/>
                                                      <m:mcJc m:val="center"/>
                                                    </m:mcPr>
                                                  </m:mc>
                                                </m:mcs>
                                                <m:ctrlPr>
                                                  <a:rPr lang="en-US" altLang="zh-TW" b="0" i="1" smtClean="0">
                                                    <a:latin typeface="Cambria Math" panose="02040503050406030204" pitchFamily="18" charset="0"/>
                                                  </a:rPr>
                                                </m:ctrlPr>
                                              </m:mPr>
                                              <m:mr>
                                                <m:e/>
                                                <m:e/>
                                                <m:e>
                                                  <m:m>
                                                    <m:mPr>
                                                      <m:mcs>
                                                        <m:mc>
                                                          <m:mcPr>
                                                            <m:count m:val="3"/>
                                                            <m:mcJc m:val="center"/>
                                                          </m:mcPr>
                                                        </m:mc>
                                                      </m:mcs>
                                                      <m:ctrlPr>
                                                        <a:rPr lang="en-US" altLang="zh-TW" b="0" i="1" smtClean="0">
                                                          <a:latin typeface="Cambria Math" panose="02040503050406030204" pitchFamily="18" charset="0"/>
                                                        </a:rPr>
                                                      </m:ctrlPr>
                                                    </m:mPr>
                                                    <m:mr>
                                                      <m:e/>
                                                      <m:e/>
                                                      <m:e/>
                                                    </m:mr>
                                                  </m:m>
                                                </m:e>
                                              </m:mr>
                                            </m:m>
                                          </m:e>
                                        </m:mr>
                                        <m:mr>
                                          <m:e>
                                            <m:m>
                                              <m:mPr>
                                                <m:mcs>
                                                  <m:mc>
                                                    <m:mcPr>
                                                      <m:count m:val="3"/>
                                                      <m:mcJc m:val="center"/>
                                                    </m:mcPr>
                                                  </m:mc>
                                                </m:mcs>
                                                <m:ctrlPr>
                                                  <a:rPr lang="en-US" altLang="zh-TW" b="0" i="1" smtClean="0">
                                                    <a:latin typeface="Cambria Math" panose="02040503050406030204" pitchFamily="18" charset="0"/>
                                                  </a:rPr>
                                                </m:ctrlPr>
                                              </m:mPr>
                                              <m:mr>
                                                <m:e/>
                                                <m:e/>
                                                <m:e>
                                                  <m:m>
                                                    <m:mPr>
                                                      <m:mcs>
                                                        <m:mc>
                                                          <m:mcPr>
                                                            <m:count m:val="3"/>
                                                            <m:mcJc m:val="center"/>
                                                          </m:mcPr>
                                                        </m:mc>
                                                      </m:mcs>
                                                      <m:ctrlPr>
                                                        <a:rPr lang="en-US" altLang="zh-TW" b="0" i="1" smtClean="0">
                                                          <a:latin typeface="Cambria Math" panose="02040503050406030204" pitchFamily="18" charset="0"/>
                                                        </a:rPr>
                                                      </m:ctrlPr>
                                                    </m:mPr>
                                                    <m:mr>
                                                      <m:e/>
                                                      <m:e/>
                                                      <m:e/>
                                                    </m:mr>
                                                  </m:m>
                                                </m:e>
                                              </m:mr>
                                            </m:m>
                                          </m:e>
                                        </m:mr>
                                        <m:mr>
                                          <m:e>
                                            <m:m>
                                              <m:mPr>
                                                <m:mcs>
                                                  <m:mc>
                                                    <m:mcPr>
                                                      <m:count m:val="3"/>
                                                      <m:mcJc m:val="center"/>
                                                    </m:mcPr>
                                                  </m:mc>
                                                </m:mcs>
                                                <m:ctrlPr>
                                                  <a:rPr lang="en-US" altLang="zh-TW" b="0" i="1" smtClean="0">
                                                    <a:latin typeface="Cambria Math" panose="02040503050406030204" pitchFamily="18" charset="0"/>
                                                  </a:rPr>
                                                </m:ctrlPr>
                                              </m:mPr>
                                              <m:mr>
                                                <m:e/>
                                                <m:e/>
                                                <m:e>
                                                  <m:m>
                                                    <m:mPr>
                                                      <m:mcs>
                                                        <m:mc>
                                                          <m:mcPr>
                                                            <m:count m:val="3"/>
                                                            <m:mcJc m:val="center"/>
                                                          </m:mcPr>
                                                        </m:mc>
                                                      </m:mcs>
                                                      <m:ctrlPr>
                                                        <a:rPr lang="en-US" altLang="zh-TW" b="0" i="1" smtClean="0">
                                                          <a:latin typeface="Cambria Math" panose="02040503050406030204" pitchFamily="18" charset="0"/>
                                                        </a:rPr>
                                                      </m:ctrlPr>
                                                    </m:mPr>
                                                    <m:mr>
                                                      <m:e/>
                                                      <m:e/>
                                                      <m:e/>
                                                    </m:mr>
                                                  </m:m>
                                                </m:e>
                                              </m:mr>
                                            </m:m>
                                          </m:e>
                                        </m:mr>
                                      </m:m>
                                    </m:e>
                                  </m:mr>
                                </m:m>
                              </m:e>
                            </m:mr>
                          </m:m>
                        </m:e>
                      </m:d>
                    </m:oMath>
                  </m:oMathPara>
                </a14:m>
                <a:endParaRPr lang="zh-TW" altLang="en-US" dirty="0"/>
              </a:p>
            </p:txBody>
          </p:sp>
        </mc:Choice>
        <mc:Fallback>
          <p:sp>
            <p:nvSpPr>
              <p:cNvPr id="8" name="文字方塊 7">
                <a:extLst>
                  <a:ext uri="{FF2B5EF4-FFF2-40B4-BE49-F238E27FC236}">
                    <a16:creationId xmlns:a16="http://schemas.microsoft.com/office/drawing/2014/main" id="{006197D1-7E80-4D02-B036-2CFB5107B79F}"/>
                  </a:ext>
                </a:extLst>
              </p:cNvPr>
              <p:cNvSpPr txBox="1">
                <a:spLocks noRot="1" noChangeAspect="1" noMove="1" noResize="1" noEditPoints="1" noAdjustHandles="1" noChangeArrowheads="1" noChangeShapeType="1" noTextEdit="1"/>
              </p:cNvSpPr>
              <p:nvPr/>
            </p:nvSpPr>
            <p:spPr>
              <a:xfrm>
                <a:off x="3074404" y="1133231"/>
                <a:ext cx="4408258" cy="1622175"/>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1" name="文字方塊 10">
                <a:extLst>
                  <a:ext uri="{FF2B5EF4-FFF2-40B4-BE49-F238E27FC236}">
                    <a16:creationId xmlns:a16="http://schemas.microsoft.com/office/drawing/2014/main" id="{386414E2-CEAF-4A81-90A5-5ADF33E69046}"/>
                  </a:ext>
                </a:extLst>
              </p:cNvPr>
              <p:cNvSpPr txBox="1"/>
              <p:nvPr/>
            </p:nvSpPr>
            <p:spPr>
              <a:xfrm>
                <a:off x="3492745" y="5131731"/>
                <a:ext cx="8490080" cy="154433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𝑉</m:t>
                      </m:r>
                      <m:r>
                        <a:rPr lang="en-US" altLang="zh-TW" b="0" i="1" smtClean="0">
                          <a:latin typeface="Cambria Math" panose="02040503050406030204" pitchFamily="18" charset="0"/>
                        </a:rPr>
                        <m:t>=</m:t>
                      </m:r>
                      <m:d>
                        <m:dPr>
                          <m:begChr m:val="["/>
                          <m:endChr m:val="]"/>
                          <m:ctrlPr>
                            <a:rPr lang="en-US" altLang="zh-TW" b="0" i="1" smtClean="0">
                              <a:latin typeface="Cambria Math" panose="02040503050406030204" pitchFamily="18" charset="0"/>
                            </a:rPr>
                          </m:ctrlPr>
                        </m:dPr>
                        <m:e>
                          <m:m>
                            <m:mPr>
                              <m:mcs>
                                <m:mc>
                                  <m:mcPr>
                                    <m:count m:val="2"/>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1397</m:t>
                                </m:r>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2735</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44</m:t>
                                      </m:r>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8716</m:t>
                                      </m:r>
                                    </m:e>
                                    <m:e>
                                      <m:r>
                                        <a:rPr lang="en-US" altLang="zh-TW" b="0" i="1" smtClean="0">
                                          <a:latin typeface="Cambria Math" panose="02040503050406030204" pitchFamily="18" charset="0"/>
                                        </a:rPr>
                                        <m:t>−</m:t>
                                      </m:r>
                                      <m:r>
                                        <a:rPr lang="en-US" altLang="zh-TW" b="0" i="1" smtClean="0">
                                          <a:latin typeface="Cambria Math" panose="02040503050406030204" pitchFamily="18" charset="0"/>
                                        </a:rPr>
                                        <m:t>296</m:t>
                                      </m:r>
                                      <m:r>
                                        <a:rPr lang="en-US" altLang="zh-TW" b="0" i="1" smtClean="0">
                                          <a:latin typeface="Cambria Math" panose="02040503050406030204" pitchFamily="18" charset="0"/>
                                        </a:rPr>
                                        <m:t>.</m:t>
                                      </m:r>
                                      <m:r>
                                        <a:rPr lang="en-US" altLang="zh-TW" b="0" i="1" smtClean="0">
                                          <a:latin typeface="Cambria Math" panose="02040503050406030204" pitchFamily="18" charset="0"/>
                                        </a:rPr>
                                        <m:t>5495</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238</m:t>
                                            </m:r>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8386</m:t>
                                            </m:r>
                                          </m:e>
                                          <m:e>
                                            <m:r>
                                              <a:rPr lang="en-US" altLang="zh-TW" b="0" i="1" smtClean="0">
                                                <a:latin typeface="Cambria Math" panose="02040503050406030204" pitchFamily="18" charset="0"/>
                                              </a:rPr>
                                              <m:t>−</m:t>
                                            </m:r>
                                            <m:r>
                                              <a:rPr lang="en-US" altLang="zh-TW" b="0" i="1" smtClean="0">
                                                <a:latin typeface="Cambria Math" panose="02040503050406030204" pitchFamily="18" charset="0"/>
                                              </a:rPr>
                                              <m:t>249</m:t>
                                            </m:r>
                                            <m:r>
                                              <a:rPr lang="en-US" altLang="zh-TW" b="0" i="1" smtClean="0">
                                                <a:latin typeface="Cambria Math" panose="02040503050406030204" pitchFamily="18" charset="0"/>
                                              </a:rPr>
                                              <m:t>.</m:t>
                                            </m:r>
                                            <m:r>
                                              <a:rPr lang="en-US" altLang="zh-TW" b="0" i="1" smtClean="0">
                                                <a:latin typeface="Cambria Math" panose="02040503050406030204" pitchFamily="18" charset="0"/>
                                              </a:rPr>
                                              <m:t>5774</m:t>
                                            </m:r>
                                          </m:e>
                                          <m:e>
                                            <m:r>
                                              <a:rPr lang="en-US" altLang="zh-TW" b="0" i="1" smtClean="0">
                                                <a:latin typeface="Cambria Math" panose="02040503050406030204" pitchFamily="18" charset="0"/>
                                              </a:rPr>
                                              <m:t>−</m:t>
                                            </m:r>
                                            <m:r>
                                              <a:rPr lang="en-US" altLang="zh-TW" b="0" i="1" smtClean="0">
                                                <a:latin typeface="Cambria Math" panose="02040503050406030204" pitchFamily="18" charset="0"/>
                                              </a:rPr>
                                              <m:t>294</m:t>
                                            </m:r>
                                            <m:r>
                                              <a:rPr lang="en-US" altLang="zh-TW" b="0" i="1" smtClean="0">
                                                <a:latin typeface="Cambria Math" panose="02040503050406030204" pitchFamily="18" charset="0"/>
                                              </a:rPr>
                                              <m:t>.</m:t>
                                            </m:r>
                                            <m:r>
                                              <a:rPr lang="en-US" altLang="zh-TW" b="0" i="1" smtClean="0">
                                                <a:latin typeface="Cambria Math" panose="02040503050406030204" pitchFamily="18" charset="0"/>
                                              </a:rPr>
                                              <m:t>4416</m:t>
                                            </m:r>
                                          </m:e>
                                        </m:mr>
                                      </m:m>
                                    </m:e>
                                  </m:mr>
                                </m:m>
                              </m:e>
                            </m:mr>
                            <m:mr>
                              <m:e>
                                <m:m>
                                  <m:mPr>
                                    <m:mcs>
                                      <m:mc>
                                        <m:mcPr>
                                          <m:count m:val="1"/>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52</m:t>
                                      </m:r>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4580</m:t>
                                      </m:r>
                                    </m:e>
                                  </m:mr>
                                  <m:mr>
                                    <m:e>
                                      <m:r>
                                        <a:rPr lang="en-US" altLang="zh-TW" b="0" i="1" smtClean="0">
                                          <a:latin typeface="Cambria Math" panose="02040503050406030204" pitchFamily="18" charset="0"/>
                                        </a:rPr>
                                        <m:t>−</m:t>
                                      </m:r>
                                      <m:r>
                                        <a:rPr lang="en-US" altLang="zh-TW" b="0" i="1" smtClean="0">
                                          <a:latin typeface="Cambria Math" panose="02040503050406030204" pitchFamily="18" charset="0"/>
                                        </a:rPr>
                                        <m:t>294</m:t>
                                      </m:r>
                                      <m:r>
                                        <a:rPr lang="en-US" altLang="zh-TW" b="0" i="1" smtClean="0">
                                          <a:latin typeface="Cambria Math" panose="02040503050406030204" pitchFamily="18" charset="0"/>
                                        </a:rPr>
                                        <m:t>.</m:t>
                                      </m:r>
                                      <m:r>
                                        <a:rPr lang="en-US" altLang="zh-TW" b="0" i="1" smtClean="0">
                                          <a:latin typeface="Cambria Math" panose="02040503050406030204" pitchFamily="18" charset="0"/>
                                        </a:rPr>
                                        <m:t>5096</m:t>
                                      </m:r>
                                    </m:e>
                                  </m:mr>
                                  <m:mr>
                                    <m:e>
                                      <m:m>
                                        <m:mPr>
                                          <m:mcs>
                                            <m:mc>
                                              <m:mcPr>
                                                <m:count m:val="1"/>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235</m:t>
                                            </m:r>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8573</m:t>
                                            </m:r>
                                          </m:e>
                                        </m:mr>
                                        <m:mr>
                                          <m:e>
                                            <m:r>
                                              <a:rPr lang="en-US" altLang="zh-TW" b="0" i="1" smtClean="0">
                                                <a:latin typeface="Cambria Math" panose="02040503050406030204" pitchFamily="18" charset="0"/>
                                              </a:rPr>
                                              <m:t>−</m:t>
                                            </m:r>
                                            <m:r>
                                              <a:rPr lang="en-US" altLang="zh-TW" b="0" i="1" smtClean="0">
                                                <a:latin typeface="Cambria Math" panose="02040503050406030204" pitchFamily="18" charset="0"/>
                                              </a:rPr>
                                              <m:t>241</m:t>
                                            </m:r>
                                            <m:r>
                                              <a:rPr lang="en-US" altLang="zh-TW" b="0" i="1" smtClean="0">
                                                <a:latin typeface="Cambria Math" panose="02040503050406030204" pitchFamily="18" charset="0"/>
                                              </a:rPr>
                                              <m:t>.</m:t>
                                            </m:r>
                                            <m:r>
                                              <a:rPr lang="en-US" altLang="zh-TW" b="0" i="1" smtClean="0">
                                                <a:latin typeface="Cambria Math" panose="02040503050406030204" pitchFamily="18" charset="0"/>
                                              </a:rPr>
                                              <m:t>4100</m:t>
                                            </m:r>
                                          </m:e>
                                        </m:mr>
                                        <m:mr>
                                          <m:e>
                                            <m:r>
                                              <a:rPr lang="en-US" altLang="zh-TW" b="0" i="1" smtClean="0">
                                                <a:latin typeface="Cambria Math" panose="02040503050406030204" pitchFamily="18" charset="0"/>
                                              </a:rPr>
                                              <m:t>−</m:t>
                                            </m:r>
                                            <m:r>
                                              <a:rPr lang="en-US" altLang="zh-TW" b="0" i="1" smtClean="0">
                                                <a:latin typeface="Cambria Math" panose="02040503050406030204" pitchFamily="18" charset="0"/>
                                              </a:rPr>
                                              <m:t>288</m:t>
                                            </m:r>
                                            <m:r>
                                              <a:rPr lang="en-US" altLang="zh-TW" b="0" i="1" smtClean="0">
                                                <a:latin typeface="Cambria Math" panose="02040503050406030204" pitchFamily="18" charset="0"/>
                                              </a:rPr>
                                              <m:t>.</m:t>
                                            </m:r>
                                            <m:r>
                                              <a:rPr lang="en-US" altLang="zh-TW" b="0" i="1" smtClean="0">
                                                <a:latin typeface="Cambria Math" panose="02040503050406030204" pitchFamily="18" charset="0"/>
                                              </a:rPr>
                                              <m:t>6527</m:t>
                                            </m:r>
                                          </m:e>
                                        </m:mr>
                                      </m:m>
                                    </m:e>
                                  </m:mr>
                                </m:m>
                              </m:e>
                              <m:e>
                                <m:m>
                                  <m:mPr>
                                    <m:mcs>
                                      <m:mc>
                                        <m:mcPr>
                                          <m:count m:val="1"/>
                                          <m:mcJc m:val="center"/>
                                        </m:mcPr>
                                      </m:mc>
                                    </m:mcs>
                                    <m:ctrlPr>
                                      <a:rPr lang="en-US" altLang="zh-TW" b="0" i="1" smtClean="0">
                                        <a:latin typeface="Cambria Math" panose="02040503050406030204" pitchFamily="18" charset="0"/>
                                      </a:rPr>
                                    </m:ctrlPr>
                                  </m:mP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1598</m:t>
                                            </m:r>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5038</m:t>
                                            </m:r>
                                          </m:e>
                                          <m:e>
                                            <m:r>
                                              <a:rPr lang="en-US" altLang="zh-TW" b="0" i="1" smtClean="0">
                                                <a:latin typeface="Cambria Math" panose="02040503050406030204" pitchFamily="18" charset="0"/>
                                              </a:rPr>
                                              <m:t>−</m:t>
                                            </m:r>
                                            <m:r>
                                              <a:rPr lang="en-US" altLang="zh-TW" b="0" i="1" smtClean="0">
                                                <a:latin typeface="Cambria Math" panose="02040503050406030204" pitchFamily="18" charset="0"/>
                                              </a:rPr>
                                              <m:t>235</m:t>
                                            </m:r>
                                            <m:r>
                                              <a:rPr lang="en-US" altLang="zh-TW" b="0" i="1" smtClean="0">
                                                <a:latin typeface="Cambria Math" panose="02040503050406030204" pitchFamily="18" charset="0"/>
                                              </a:rPr>
                                              <m:t>.</m:t>
                                            </m:r>
                                            <m:r>
                                              <a:rPr lang="en-US" altLang="zh-TW" b="0" i="1" smtClean="0">
                                                <a:latin typeface="Cambria Math" panose="02040503050406030204" pitchFamily="18" charset="0"/>
                                              </a:rPr>
                                              <m:t>9132</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508</m:t>
                                                  </m:r>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5162</m:t>
                                                  </m:r>
                                                </m:e>
                                                <m:e>
                                                  <m:r>
                                                    <a:rPr lang="en-US" altLang="zh-TW" b="0" i="1" smtClean="0">
                                                      <a:latin typeface="Cambria Math" panose="02040503050406030204" pitchFamily="18" charset="0"/>
                                                    </a:rPr>
                                                    <m:t>−</m:t>
                                                  </m:r>
                                                  <m:r>
                                                    <a:rPr lang="en-US" altLang="zh-TW" b="0" i="1" smtClean="0">
                                                      <a:latin typeface="Cambria Math" panose="02040503050406030204" pitchFamily="18" charset="0"/>
                                                    </a:rPr>
                                                    <m:t>516</m:t>
                                                  </m:r>
                                                  <m:r>
                                                    <a:rPr lang="en-US" altLang="zh-TW" b="0" i="1" smtClean="0">
                                                      <a:latin typeface="Cambria Math" panose="02040503050406030204" pitchFamily="18" charset="0"/>
                                                    </a:rPr>
                                                    <m:t>.</m:t>
                                                  </m:r>
                                                  <m:r>
                                                    <a:rPr lang="en-US" altLang="zh-TW" b="0" i="1" smtClean="0">
                                                      <a:latin typeface="Cambria Math" panose="02040503050406030204" pitchFamily="18" charset="0"/>
                                                    </a:rPr>
                                                    <m:t>0957</m:t>
                                                  </m:r>
                                                </m:e>
                                                <m:e>
                                                  <m:r>
                                                    <a:rPr lang="en-US" altLang="zh-TW" b="0" i="1" smtClean="0">
                                                      <a:latin typeface="Cambria Math" panose="02040503050406030204" pitchFamily="18" charset="0"/>
                                                    </a:rPr>
                                                    <m:t>−</m:t>
                                                  </m:r>
                                                  <m:r>
                                                    <a:rPr lang="en-US" altLang="zh-TW" b="0" i="1" smtClean="0">
                                                      <a:latin typeface="Cambria Math" panose="02040503050406030204" pitchFamily="18" charset="0"/>
                                                    </a:rPr>
                                                    <m:t>237</m:t>
                                                  </m:r>
                                                  <m:r>
                                                    <a:rPr lang="en-US" altLang="zh-TW" b="0" i="1" smtClean="0">
                                                      <a:latin typeface="Cambria Math" panose="02040503050406030204" pitchFamily="18" charset="0"/>
                                                    </a:rPr>
                                                    <m:t>.</m:t>
                                                  </m:r>
                                                  <m:r>
                                                    <a:rPr lang="en-US" altLang="zh-TW" b="0" i="1" smtClean="0">
                                                      <a:latin typeface="Cambria Math" panose="02040503050406030204" pitchFamily="18" charset="0"/>
                                                    </a:rPr>
                                                    <m:t>4094</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234</m:t>
                                            </m:r>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5870</m:t>
                                            </m:r>
                                          </m:e>
                                          <m:e>
                                            <m:r>
                                              <a:rPr lang="en-US" altLang="zh-TW" b="0" i="1" smtClean="0">
                                                <a:latin typeface="Cambria Math" panose="02040503050406030204" pitchFamily="18" charset="0"/>
                                              </a:rPr>
                                              <m:t>1395</m:t>
                                            </m:r>
                                            <m:r>
                                              <a:rPr lang="en-US" altLang="zh-TW" b="0" i="1" smtClean="0">
                                                <a:latin typeface="Cambria Math" panose="02040503050406030204" pitchFamily="18" charset="0"/>
                                              </a:rPr>
                                              <m:t>.</m:t>
                                            </m:r>
                                            <m:r>
                                              <a:rPr lang="en-US" altLang="zh-TW" b="0" i="1" smtClean="0">
                                                <a:latin typeface="Cambria Math" panose="02040503050406030204" pitchFamily="18" charset="0"/>
                                              </a:rPr>
                                              <m:t>5988</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46</m:t>
                                                  </m:r>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2246</m:t>
                                                  </m:r>
                                                </m:e>
                                                <m:e>
                                                  <m:r>
                                                    <a:rPr lang="en-US" altLang="zh-TW" b="0" i="1" smtClean="0">
                                                      <a:latin typeface="Cambria Math" panose="02040503050406030204" pitchFamily="18" charset="0"/>
                                                    </a:rPr>
                                                    <m:t>−</m:t>
                                                  </m:r>
                                                  <m:r>
                                                    <a:rPr lang="en-US" altLang="zh-TW" b="0" i="1" smtClean="0">
                                                      <a:latin typeface="Cambria Math" panose="02040503050406030204" pitchFamily="18" charset="0"/>
                                                    </a:rPr>
                                                    <m:t>241</m:t>
                                                  </m:r>
                                                  <m:r>
                                                    <a:rPr lang="en-US" altLang="zh-TW" b="0" i="1" smtClean="0">
                                                      <a:latin typeface="Cambria Math" panose="02040503050406030204" pitchFamily="18" charset="0"/>
                                                    </a:rPr>
                                                    <m:t>.</m:t>
                                                  </m:r>
                                                  <m:r>
                                                    <a:rPr lang="en-US" altLang="zh-TW" b="0" i="1" smtClean="0">
                                                      <a:latin typeface="Cambria Math" panose="02040503050406030204" pitchFamily="18" charset="0"/>
                                                    </a:rPr>
                                                    <m:t>6162</m:t>
                                                  </m:r>
                                                </m:e>
                                                <m:e>
                                                  <m:r>
                                                    <a:rPr lang="en-US" altLang="zh-TW" b="0" i="1" smtClean="0">
                                                      <a:latin typeface="Cambria Math" panose="02040503050406030204" pitchFamily="18" charset="0"/>
                                                    </a:rPr>
                                                    <m:t>−</m:t>
                                                  </m:r>
                                                  <m:r>
                                                    <a:rPr lang="en-US" altLang="zh-TW" b="0" i="1" smtClean="0">
                                                      <a:latin typeface="Cambria Math" panose="02040503050406030204" pitchFamily="18" charset="0"/>
                                                    </a:rPr>
                                                    <m:t>294</m:t>
                                                  </m:r>
                                                  <m:r>
                                                    <a:rPr lang="en-US" altLang="zh-TW" b="0" i="1" smtClean="0">
                                                      <a:latin typeface="Cambria Math" panose="02040503050406030204" pitchFamily="18" charset="0"/>
                                                    </a:rPr>
                                                    <m:t>.</m:t>
                                                  </m:r>
                                                  <m:r>
                                                    <a:rPr lang="en-US" altLang="zh-TW" b="0" i="1" smtClean="0">
                                                      <a:latin typeface="Cambria Math" panose="02040503050406030204" pitchFamily="18" charset="0"/>
                                                    </a:rPr>
                                                    <m:t>7690</m:t>
                                                  </m:r>
                                                </m:e>
                                              </m:mr>
                                            </m:m>
                                          </m:e>
                                        </m:mr>
                                      </m:m>
                                    </m:e>
                                  </m:mr>
                                  <m:mr>
                                    <m:e>
                                      <m:m>
                                        <m:mPr>
                                          <m:mcs>
                                            <m:mc>
                                              <m:mcPr>
                                                <m:count m:val="1"/>
                                                <m:mcJc m:val="center"/>
                                              </m:mcPr>
                                            </m:mc>
                                          </m:mcs>
                                          <m:ctrlPr>
                                            <a:rPr lang="en-US" altLang="zh-TW" b="0" i="1" smtClean="0">
                                              <a:latin typeface="Cambria Math" panose="02040503050406030204" pitchFamily="18" charset="0"/>
                                            </a:rPr>
                                          </m:ctrlPr>
                                        </m:mP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530</m:t>
                                                  </m:r>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9619</m:t>
                                                  </m:r>
                                                </m:e>
                                                <m:e>
                                                  <m:r>
                                                    <a:rPr lang="en-US" altLang="zh-TW" b="0" i="1" smtClean="0">
                                                      <a:latin typeface="Cambria Math" panose="02040503050406030204" pitchFamily="18" charset="0"/>
                                                    </a:rPr>
                                                    <m:t>−</m:t>
                                                  </m:r>
                                                  <m:r>
                                                    <a:rPr lang="en-US" altLang="zh-TW" b="0" i="1" smtClean="0">
                                                      <a:latin typeface="Cambria Math" panose="02040503050406030204" pitchFamily="18" charset="0"/>
                                                    </a:rPr>
                                                    <m:t>51</m:t>
                                                  </m:r>
                                                  <m:r>
                                                    <a:rPr lang="en-US" altLang="zh-TW" b="0" i="1" smtClean="0">
                                                      <a:latin typeface="Cambria Math" panose="02040503050406030204" pitchFamily="18" charset="0"/>
                                                    </a:rPr>
                                                    <m:t>.</m:t>
                                                  </m:r>
                                                  <m:r>
                                                    <a:rPr lang="en-US" altLang="zh-TW" b="0" i="1" smtClean="0">
                                                      <a:latin typeface="Cambria Math" panose="02040503050406030204" pitchFamily="18" charset="0"/>
                                                    </a:rPr>
                                                    <m:t>6032</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1587</m:t>
                                                        </m:r>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2805</m:t>
                                                        </m:r>
                                                      </m:e>
                                                      <m:e>
                                                        <m:r>
                                                          <a:rPr lang="en-US" altLang="zh-TW" b="0" i="1" smtClean="0">
                                                            <a:latin typeface="Cambria Math" panose="02040503050406030204" pitchFamily="18" charset="0"/>
                                                          </a:rPr>
                                                          <m:t>−</m:t>
                                                        </m:r>
                                                        <m:r>
                                                          <a:rPr lang="en-US" altLang="zh-TW" b="0" i="1" smtClean="0">
                                                            <a:latin typeface="Cambria Math" panose="02040503050406030204" pitchFamily="18" charset="0"/>
                                                          </a:rPr>
                                                          <m:t>528</m:t>
                                                        </m:r>
                                                        <m:r>
                                                          <a:rPr lang="en-US" altLang="zh-TW" b="0" i="1" smtClean="0">
                                                            <a:latin typeface="Cambria Math" panose="02040503050406030204" pitchFamily="18" charset="0"/>
                                                          </a:rPr>
                                                          <m:t>.</m:t>
                                                        </m:r>
                                                        <m:r>
                                                          <a:rPr lang="en-US" altLang="zh-TW" b="0" i="1" smtClean="0">
                                                            <a:latin typeface="Cambria Math" panose="02040503050406030204" pitchFamily="18" charset="0"/>
                                                          </a:rPr>
                                                          <m:t>2991</m:t>
                                                        </m:r>
                                                      </m:e>
                                                      <m:e>
                                                        <m:r>
                                                          <a:rPr lang="en-US" altLang="zh-TW" b="0" i="1" smtClean="0">
                                                            <a:latin typeface="Cambria Math" panose="02040503050406030204" pitchFamily="18" charset="0"/>
                                                          </a:rPr>
                                                          <m:t>−</m:t>
                                                        </m:r>
                                                        <m:r>
                                                          <a:rPr lang="en-US" altLang="zh-TW" b="0" i="1" smtClean="0">
                                                            <a:latin typeface="Cambria Math" panose="02040503050406030204" pitchFamily="18" charset="0"/>
                                                          </a:rPr>
                                                          <m:t>225</m:t>
                                                        </m:r>
                                                        <m:r>
                                                          <a:rPr lang="en-US" altLang="zh-TW" b="0" i="1" smtClean="0">
                                                            <a:latin typeface="Cambria Math" panose="02040503050406030204" pitchFamily="18" charset="0"/>
                                                          </a:rPr>
                                                          <m:t>.</m:t>
                                                        </m:r>
                                                        <m:r>
                                                          <a:rPr lang="en-US" altLang="zh-TW" b="0" i="1" smtClean="0">
                                                            <a:latin typeface="Cambria Math" panose="02040503050406030204" pitchFamily="18" charset="0"/>
                                                          </a:rPr>
                                                          <m:t>8603</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521</m:t>
                                                  </m:r>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1573</m:t>
                                                  </m:r>
                                                </m:e>
                                                <m:e>
                                                  <m:r>
                                                    <a:rPr lang="en-US" altLang="zh-TW" b="0" i="1" smtClean="0">
                                                      <a:latin typeface="Cambria Math" panose="02040503050406030204" pitchFamily="18" charset="0"/>
                                                    </a:rPr>
                                                    <m:t>−</m:t>
                                                  </m:r>
                                                  <m:r>
                                                    <a:rPr lang="en-US" altLang="zh-TW" b="0" i="1" smtClean="0">
                                                      <a:latin typeface="Cambria Math" panose="02040503050406030204" pitchFamily="18" charset="0"/>
                                                    </a:rPr>
                                                    <m:t>229</m:t>
                                                  </m:r>
                                                  <m:r>
                                                    <a:rPr lang="en-US" altLang="zh-TW" b="0" i="1" smtClean="0">
                                                      <a:latin typeface="Cambria Math" panose="02040503050406030204" pitchFamily="18" charset="0"/>
                                                    </a:rPr>
                                                    <m:t>.</m:t>
                                                  </m:r>
                                                  <m:r>
                                                    <a:rPr lang="en-US" altLang="zh-TW" b="0" i="1" smtClean="0">
                                                      <a:latin typeface="Cambria Math" panose="02040503050406030204" pitchFamily="18" charset="0"/>
                                                    </a:rPr>
                                                    <m:t>5505</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520</m:t>
                                                        </m:r>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2988</m:t>
                                                        </m:r>
                                                      </m:e>
                                                      <m:e>
                                                        <m:r>
                                                          <a:rPr lang="en-US" altLang="zh-TW" b="0" i="1" smtClean="0">
                                                            <a:latin typeface="Cambria Math" panose="02040503050406030204" pitchFamily="18" charset="0"/>
                                                          </a:rPr>
                                                          <m:t>1582</m:t>
                                                        </m:r>
                                                        <m:r>
                                                          <a:rPr lang="en-US" altLang="zh-TW" b="0" i="1" smtClean="0">
                                                            <a:latin typeface="Cambria Math" panose="02040503050406030204" pitchFamily="18" charset="0"/>
                                                          </a:rPr>
                                                          <m:t>.</m:t>
                                                        </m:r>
                                                        <m:r>
                                                          <a:rPr lang="en-US" altLang="zh-TW" b="0" i="1" smtClean="0">
                                                            <a:latin typeface="Cambria Math" panose="02040503050406030204" pitchFamily="18" charset="0"/>
                                                          </a:rPr>
                                                          <m:t>0741</m:t>
                                                        </m:r>
                                                      </m:e>
                                                      <m:e>
                                                        <m:r>
                                                          <a:rPr lang="en-US" altLang="zh-TW" b="0" i="1" smtClean="0">
                                                            <a:latin typeface="Cambria Math" panose="02040503050406030204" pitchFamily="18" charset="0"/>
                                                          </a:rPr>
                                                          <m:t>−</m:t>
                                                        </m:r>
                                                        <m:r>
                                                          <a:rPr lang="en-US" altLang="zh-TW" b="0" i="1" smtClean="0">
                                                            <a:latin typeface="Cambria Math" panose="02040503050406030204" pitchFamily="18" charset="0"/>
                                                          </a:rPr>
                                                          <m:t>48</m:t>
                                                        </m:r>
                                                        <m:r>
                                                          <a:rPr lang="en-US" altLang="zh-TW" b="0" i="1" smtClean="0">
                                                            <a:latin typeface="Cambria Math" panose="02040503050406030204" pitchFamily="18" charset="0"/>
                                                          </a:rPr>
                                                          <m:t>.</m:t>
                                                        </m:r>
                                                        <m:r>
                                                          <a:rPr lang="en-US" altLang="zh-TW" b="0" i="1" smtClean="0">
                                                            <a:latin typeface="Cambria Math" panose="02040503050406030204" pitchFamily="18" charset="0"/>
                                                          </a:rPr>
                                                          <m:t>2349</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244</m:t>
                                                  </m:r>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1620</m:t>
                                                  </m:r>
                                                </m:e>
                                                <m:e>
                                                  <m:r>
                                                    <a:rPr lang="en-US" altLang="zh-TW" b="0" i="1" smtClean="0">
                                                      <a:latin typeface="Cambria Math" panose="02040503050406030204" pitchFamily="18" charset="0"/>
                                                    </a:rPr>
                                                    <m:t>−</m:t>
                                                  </m:r>
                                                  <m:r>
                                                    <a:rPr lang="en-US" altLang="zh-TW" b="0" i="1" smtClean="0">
                                                      <a:latin typeface="Cambria Math" panose="02040503050406030204" pitchFamily="18" charset="0"/>
                                                    </a:rPr>
                                                    <m:t>297</m:t>
                                                  </m:r>
                                                  <m:r>
                                                    <a:rPr lang="en-US" altLang="zh-TW" b="0" i="1" smtClean="0">
                                                      <a:latin typeface="Cambria Math" panose="02040503050406030204" pitchFamily="18" charset="0"/>
                                                    </a:rPr>
                                                    <m:t>.</m:t>
                                                  </m:r>
                                                  <m:r>
                                                    <a:rPr lang="en-US" altLang="zh-TW" b="0" i="1" smtClean="0">
                                                      <a:latin typeface="Cambria Math" panose="02040503050406030204" pitchFamily="18" charset="0"/>
                                                    </a:rPr>
                                                    <m:t>5548</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236</m:t>
                                                        </m:r>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1487</m:t>
                                                        </m:r>
                                                      </m:e>
                                                      <m:e>
                                                        <m:r>
                                                          <a:rPr lang="en-US" altLang="zh-TW" b="0" i="1" smtClean="0">
                                                            <a:latin typeface="Cambria Math" panose="02040503050406030204" pitchFamily="18" charset="0"/>
                                                          </a:rPr>
                                                          <m:t>−</m:t>
                                                        </m:r>
                                                        <m:r>
                                                          <a:rPr lang="en-US" altLang="zh-TW" b="0" i="1" smtClean="0">
                                                            <a:latin typeface="Cambria Math" panose="02040503050406030204" pitchFamily="18" charset="0"/>
                                                          </a:rPr>
                                                          <m:t>44</m:t>
                                                        </m:r>
                                                        <m:r>
                                                          <a:rPr lang="en-US" altLang="zh-TW" b="0" i="1" smtClean="0">
                                                            <a:latin typeface="Cambria Math" panose="02040503050406030204" pitchFamily="18" charset="0"/>
                                                          </a:rPr>
                                                          <m:t>.</m:t>
                                                        </m:r>
                                                        <m:r>
                                                          <a:rPr lang="en-US" altLang="zh-TW" b="0" i="1" smtClean="0">
                                                            <a:latin typeface="Cambria Math" panose="02040503050406030204" pitchFamily="18" charset="0"/>
                                                          </a:rPr>
                                                          <m:t>7574</m:t>
                                                        </m:r>
                                                      </m:e>
                                                      <m:e>
                                                        <m:r>
                                                          <a:rPr lang="en-US" altLang="zh-TW" b="0" i="1" smtClean="0">
                                                            <a:latin typeface="Cambria Math" panose="02040503050406030204" pitchFamily="18" charset="0"/>
                                                          </a:rPr>
                                                          <m:t>1386</m:t>
                                                        </m:r>
                                                        <m:r>
                                                          <a:rPr lang="en-US" altLang="zh-TW" b="0" i="1" smtClean="0">
                                                            <a:latin typeface="Cambria Math" panose="02040503050406030204" pitchFamily="18" charset="0"/>
                                                          </a:rPr>
                                                          <m:t>.</m:t>
                                                        </m:r>
                                                        <m:r>
                                                          <a:rPr lang="en-US" altLang="zh-TW" b="0" i="1" smtClean="0">
                                                            <a:latin typeface="Cambria Math" panose="02040503050406030204" pitchFamily="18" charset="0"/>
                                                          </a:rPr>
                                                          <m:t>8765</m:t>
                                                        </m:r>
                                                      </m:e>
                                                    </m:mr>
                                                  </m:m>
                                                </m:e>
                                              </m:mr>
                                            </m:m>
                                          </m:e>
                                        </m:mr>
                                      </m:m>
                                    </m:e>
                                  </m:mr>
                                </m:m>
                              </m:e>
                            </m:mr>
                          </m:m>
                        </m:e>
                      </m:d>
                    </m:oMath>
                  </m:oMathPara>
                </a14:m>
                <a:endParaRPr lang="zh-TW" altLang="en-US" dirty="0"/>
              </a:p>
            </p:txBody>
          </p:sp>
        </mc:Choice>
        <mc:Fallback>
          <p:sp>
            <p:nvSpPr>
              <p:cNvPr id="11" name="文字方塊 10">
                <a:extLst>
                  <a:ext uri="{FF2B5EF4-FFF2-40B4-BE49-F238E27FC236}">
                    <a16:creationId xmlns:a16="http://schemas.microsoft.com/office/drawing/2014/main" id="{386414E2-CEAF-4A81-90A5-5ADF33E69046}"/>
                  </a:ext>
                </a:extLst>
              </p:cNvPr>
              <p:cNvSpPr txBox="1">
                <a:spLocks noRot="1" noChangeAspect="1" noMove="1" noResize="1" noEditPoints="1" noAdjustHandles="1" noChangeArrowheads="1" noChangeShapeType="1" noTextEdit="1"/>
              </p:cNvSpPr>
              <p:nvPr/>
            </p:nvSpPr>
            <p:spPr>
              <a:xfrm>
                <a:off x="3492745" y="5131731"/>
                <a:ext cx="8490080" cy="154433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4" name="文字方塊 13">
                <a:extLst>
                  <a:ext uri="{FF2B5EF4-FFF2-40B4-BE49-F238E27FC236}">
                    <a16:creationId xmlns:a16="http://schemas.microsoft.com/office/drawing/2014/main" id="{6665644C-76DE-4109-8901-C9069532FE9A}"/>
                  </a:ext>
                </a:extLst>
              </p:cNvPr>
              <p:cNvSpPr txBox="1"/>
              <p:nvPr/>
            </p:nvSpPr>
            <p:spPr>
              <a:xfrm>
                <a:off x="7123644" y="1919059"/>
                <a:ext cx="3091167" cy="39767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𝑉</m:t>
                              </m:r>
                            </m:sub>
                          </m:sSub>
                        </m:e>
                      </m:sPre>
                      <m:r>
                        <a:rPr lang="en-US" altLang="zh-TW" b="0" i="1" smtClean="0">
                          <a:latin typeface="Cambria Math" panose="02040503050406030204" pitchFamily="18" charset="0"/>
                        </a:rPr>
                        <m:t>=</m:t>
                      </m:r>
                      <m:r>
                        <a:rPr lang="en-US" altLang="zh-TW" b="0" i="1" smtClean="0">
                          <a:latin typeface="Cambria Math" panose="02040503050406030204" pitchFamily="18" charset="0"/>
                        </a:rPr>
                        <m:t>5</m:t>
                      </m:r>
                      <m:r>
                        <a:rPr lang="en-US" altLang="zh-TW" b="0" i="1" smtClean="0">
                          <a:latin typeface="Cambria Math" panose="02040503050406030204" pitchFamily="18" charset="0"/>
                        </a:rPr>
                        <m:t>.</m:t>
                      </m:r>
                      <m:r>
                        <a:rPr lang="en-US" altLang="zh-TW" b="0" i="1" smtClean="0">
                          <a:latin typeface="Cambria Math" panose="02040503050406030204" pitchFamily="18" charset="0"/>
                        </a:rPr>
                        <m:t>098</m:t>
                      </m:r>
                      <m:r>
                        <a:rPr lang="en-US" altLang="zh-TW" b="0" i="1" smtClean="0">
                          <a:latin typeface="Cambria Math" panose="02040503050406030204" pitchFamily="18" charset="0"/>
                          <a:ea typeface="Cambria Math" panose="02040503050406030204" pitchFamily="18" charset="0"/>
                        </a:rPr>
                        <m:t>×</m:t>
                      </m:r>
                      <m:sSup>
                        <m:sSupPr>
                          <m:ctrlPr>
                            <a:rPr lang="en-US" altLang="zh-TW" b="0" i="1" smtClean="0">
                              <a:latin typeface="Cambria Math" panose="02040503050406030204" pitchFamily="18" charset="0"/>
                              <a:ea typeface="Cambria Math" panose="02040503050406030204" pitchFamily="18" charset="0"/>
                            </a:rPr>
                          </m:ctrlPr>
                        </m:sSupPr>
                        <m:e>
                          <m:r>
                            <a:rPr lang="en-US" altLang="zh-TW" b="0" i="1" smtClean="0">
                              <a:latin typeface="Cambria Math" panose="02040503050406030204" pitchFamily="18" charset="0"/>
                              <a:ea typeface="Cambria Math" panose="02040503050406030204" pitchFamily="18" charset="0"/>
                            </a:rPr>
                            <m:t>10</m:t>
                          </m:r>
                        </m:e>
                        <m:sup>
                          <m: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3</m:t>
                          </m:r>
                        </m:sup>
                      </m:sSup>
                      <m:r>
                        <a:rPr lang="en-US" altLang="zh-TW" b="0" i="1" smtClean="0">
                          <a:latin typeface="Cambria Math" panose="02040503050406030204" pitchFamily="18" charset="0"/>
                          <a:ea typeface="Cambria Math" panose="02040503050406030204" pitchFamily="18" charset="0"/>
                        </a:rPr>
                        <m:t>𝑚𝑇</m:t>
                      </m:r>
                      <m: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𝑚𝑉</m:t>
                      </m:r>
                    </m:oMath>
                  </m:oMathPara>
                </a14:m>
                <a:endParaRPr lang="zh-TW" altLang="en-US" dirty="0"/>
              </a:p>
            </p:txBody>
          </p:sp>
        </mc:Choice>
        <mc:Fallback>
          <p:sp>
            <p:nvSpPr>
              <p:cNvPr id="14" name="文字方塊 13">
                <a:extLst>
                  <a:ext uri="{FF2B5EF4-FFF2-40B4-BE49-F238E27FC236}">
                    <a16:creationId xmlns:a16="http://schemas.microsoft.com/office/drawing/2014/main" id="{6665644C-76DE-4109-8901-C9069532FE9A}"/>
                  </a:ext>
                </a:extLst>
              </p:cNvPr>
              <p:cNvSpPr txBox="1">
                <a:spLocks noRot="1" noChangeAspect="1" noMove="1" noResize="1" noEditPoints="1" noAdjustHandles="1" noChangeArrowheads="1" noChangeShapeType="1" noTextEdit="1"/>
              </p:cNvSpPr>
              <p:nvPr/>
            </p:nvSpPr>
            <p:spPr>
              <a:xfrm>
                <a:off x="7123644" y="1919059"/>
                <a:ext cx="3091167" cy="397673"/>
              </a:xfrm>
              <a:prstGeom prst="rect">
                <a:avLst/>
              </a:prstGeom>
              <a:blipFill>
                <a:blip r:embed="rId7"/>
                <a:stretch>
                  <a:fillRect b="-10769"/>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5" name="文字方塊 14">
                <a:extLst>
                  <a:ext uri="{FF2B5EF4-FFF2-40B4-BE49-F238E27FC236}">
                    <a16:creationId xmlns:a16="http://schemas.microsoft.com/office/drawing/2014/main" id="{8390B807-3DB8-4297-A126-FE7FCF645631}"/>
                  </a:ext>
                </a:extLst>
              </p:cNvPr>
              <p:cNvSpPr txBox="1"/>
              <p:nvPr/>
            </p:nvSpPr>
            <p:spPr>
              <a:xfrm>
                <a:off x="2963981" y="3901324"/>
                <a:ext cx="3106620" cy="166122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acc>
                        <m:accPr>
                          <m:chr m:val="̅"/>
                          <m:ctrlPr>
                            <a:rPr lang="zh-TW" altLang="en-US" i="1" smtClean="0">
                              <a:latin typeface="Cambria Math" panose="02040503050406030204" pitchFamily="18" charset="0"/>
                            </a:rPr>
                          </m:ctrlPr>
                        </m:accPr>
                        <m:e>
                          <m:r>
                            <a:rPr lang="en-US" altLang="zh-TW" b="0" i="1" smtClean="0">
                              <a:latin typeface="Cambria Math" panose="02040503050406030204" pitchFamily="18" charset="0"/>
                            </a:rPr>
                            <m:t>𝐷</m:t>
                          </m:r>
                        </m:e>
                      </m:acc>
                      <m:r>
                        <a:rPr lang="en-US" altLang="zh-TW" b="0" i="1" smtClean="0">
                          <a:latin typeface="Cambria Math" panose="02040503050406030204" pitchFamily="18" charset="0"/>
                        </a:rPr>
                        <m:t>=</m:t>
                      </m:r>
                      <m:d>
                        <m:dPr>
                          <m:begChr m:val="["/>
                          <m:endChr m:val="]"/>
                          <m:ctrlPr>
                            <a:rPr lang="en-US" altLang="zh-TW" b="0" i="1" smtClean="0">
                              <a:latin typeface="Cambria Math" panose="02040503050406030204" pitchFamily="18" charset="0"/>
                            </a:rPr>
                          </m:ctrlPr>
                        </m:dPr>
                        <m:e>
                          <m:m>
                            <m:mPr>
                              <m:mcs>
                                <m:mc>
                                  <m:mcPr>
                                    <m:count m:val="2"/>
                                    <m:mcJc m:val="center"/>
                                  </m:mcPr>
                                </m:mc>
                              </m:mcs>
                              <m:ctrlPr>
                                <a:rPr lang="en-US" altLang="zh-TW" b="0" i="1" smtClean="0">
                                  <a:latin typeface="Cambria Math" panose="02040503050406030204" pitchFamily="18" charset="0"/>
                                </a:rPr>
                              </m:ctrlPr>
                            </m:mPr>
                            <m:mr>
                              <m:e/>
                              <m:e>
                                <m:m>
                                  <m:mPr>
                                    <m:mcs>
                                      <m:mc>
                                        <m:mcPr>
                                          <m:count m:val="3"/>
                                          <m:mcJc m:val="center"/>
                                        </m:mcPr>
                                      </m:mc>
                                    </m:mcs>
                                    <m:ctrlPr>
                                      <a:rPr lang="en-US" altLang="zh-TW" b="0" i="1" smtClean="0">
                                        <a:latin typeface="Cambria Math" panose="02040503050406030204" pitchFamily="18" charset="0"/>
                                      </a:rPr>
                                    </m:ctrlPr>
                                  </m:mPr>
                                  <m:mr>
                                    <m:e/>
                                    <m:e/>
                                    <m:e>
                                      <m:m>
                                        <m:mPr>
                                          <m:mcs>
                                            <m:mc>
                                              <m:mcPr>
                                                <m:count m:val="3"/>
                                                <m:mcJc m:val="center"/>
                                              </m:mcPr>
                                            </m:mc>
                                          </m:mcs>
                                          <m:ctrlPr>
                                            <a:rPr lang="en-US" altLang="zh-TW" b="0" i="1" smtClean="0">
                                              <a:latin typeface="Cambria Math" panose="02040503050406030204" pitchFamily="18" charset="0"/>
                                            </a:rPr>
                                          </m:ctrlPr>
                                        </m:mPr>
                                        <m:mr>
                                          <m:e/>
                                          <m:e/>
                                          <m:e/>
                                        </m:mr>
                                      </m:m>
                                    </m:e>
                                  </m:mr>
                                </m:m>
                              </m:e>
                            </m:mr>
                            <m:mr>
                              <m:e>
                                <m:m>
                                  <m:mPr>
                                    <m:mcs>
                                      <m:mc>
                                        <m:mcPr>
                                          <m:count m:val="1"/>
                                          <m:mcJc m:val="center"/>
                                        </m:mcPr>
                                      </m:mc>
                                    </m:mcs>
                                    <m:ctrlPr>
                                      <a:rPr lang="en-US" altLang="zh-TW" b="0" i="1" smtClean="0">
                                        <a:latin typeface="Cambria Math" panose="02040503050406030204" pitchFamily="18" charset="0"/>
                                      </a:rPr>
                                    </m:ctrlPr>
                                  </m:mPr>
                                  <m:mr>
                                    <m:e/>
                                  </m:mr>
                                  <m:mr>
                                    <m:e/>
                                  </m:mr>
                                  <m:mr>
                                    <m:e>
                                      <m:m>
                                        <m:mPr>
                                          <m:mcs>
                                            <m:mc>
                                              <m:mcPr>
                                                <m:count m:val="1"/>
                                                <m:mcJc m:val="center"/>
                                              </m:mcPr>
                                            </m:mc>
                                          </m:mcs>
                                          <m:ctrlPr>
                                            <a:rPr lang="en-US" altLang="zh-TW" b="0" i="1" smtClean="0">
                                              <a:latin typeface="Cambria Math" panose="02040503050406030204" pitchFamily="18" charset="0"/>
                                            </a:rPr>
                                          </m:ctrlPr>
                                        </m:mPr>
                                        <m:mr>
                                          <m:e/>
                                        </m:mr>
                                        <m:mr>
                                          <m:e/>
                                        </m:mr>
                                        <m:mr>
                                          <m:e/>
                                        </m:mr>
                                      </m:m>
                                    </m:e>
                                  </m:mr>
                                </m:m>
                              </m:e>
                              <m:e>
                                <m:m>
                                  <m:mPr>
                                    <m:mcs>
                                      <m:mc>
                                        <m:mcPr>
                                          <m:count m:val="1"/>
                                          <m:mcJc m:val="center"/>
                                        </m:mcPr>
                                      </m:mc>
                                    </m:mcs>
                                    <m:ctrlPr>
                                      <a:rPr lang="en-US" altLang="zh-TW" b="0" i="1" smtClean="0">
                                        <a:latin typeface="Cambria Math" panose="02040503050406030204" pitchFamily="18" charset="0"/>
                                      </a:rPr>
                                    </m:ctrlPr>
                                  </m:mPr>
                                  <m:mr>
                                    <m:e>
                                      <m:m>
                                        <m:mPr>
                                          <m:mcs>
                                            <m:mc>
                                              <m:mcPr>
                                                <m:count m:val="3"/>
                                                <m:mcJc m:val="center"/>
                                              </m:mcPr>
                                            </m:mc>
                                          </m:mcs>
                                          <m:ctrlPr>
                                            <a:rPr lang="en-US" altLang="zh-TW" b="0" i="1" smtClean="0">
                                              <a:latin typeface="Cambria Math" panose="02040503050406030204" pitchFamily="18" charset="0"/>
                                            </a:rPr>
                                          </m:ctrlPr>
                                        </m:mPr>
                                        <m:mr>
                                          <m:e/>
                                          <m:e/>
                                          <m:e>
                                            <m:m>
                                              <m:mPr>
                                                <m:mcs>
                                                  <m:mc>
                                                    <m:mcPr>
                                                      <m:count m:val="3"/>
                                                      <m:mcJc m:val="center"/>
                                                    </m:mcPr>
                                                  </m:mc>
                                                </m:mcs>
                                                <m:ctrlPr>
                                                  <a:rPr lang="en-US" altLang="zh-TW" b="0" i="1" smtClean="0">
                                                    <a:latin typeface="Cambria Math" panose="02040503050406030204" pitchFamily="18" charset="0"/>
                                                  </a:rPr>
                                                </m:ctrlPr>
                                              </m:mPr>
                                              <m:mr>
                                                <m:e/>
                                                <m:e/>
                                                <m:e/>
                                              </m:mr>
                                            </m:m>
                                          </m:e>
                                        </m:mr>
                                      </m:m>
                                    </m:e>
                                  </m:mr>
                                  <m:mr>
                                    <m:e>
                                      <m:m>
                                        <m:mPr>
                                          <m:mcs>
                                            <m:mc>
                                              <m:mcPr>
                                                <m:count m:val="3"/>
                                                <m:mcJc m:val="center"/>
                                              </m:mcPr>
                                            </m:mc>
                                          </m:mcs>
                                          <m:ctrlPr>
                                            <a:rPr lang="en-US" altLang="zh-TW" b="0" i="1" smtClean="0">
                                              <a:latin typeface="Cambria Math" panose="02040503050406030204" pitchFamily="18" charset="0"/>
                                            </a:rPr>
                                          </m:ctrlPr>
                                        </m:mPr>
                                        <m:mr>
                                          <m:e/>
                                          <m:e/>
                                          <m:e>
                                            <m:m>
                                              <m:mPr>
                                                <m:mcs>
                                                  <m:mc>
                                                    <m:mcPr>
                                                      <m:count m:val="3"/>
                                                      <m:mcJc m:val="center"/>
                                                    </m:mcPr>
                                                  </m:mc>
                                                </m:mcs>
                                                <m:ctrlPr>
                                                  <a:rPr lang="en-US" altLang="zh-TW" b="0" i="1" smtClean="0">
                                                    <a:latin typeface="Cambria Math" panose="02040503050406030204" pitchFamily="18" charset="0"/>
                                                  </a:rPr>
                                                </m:ctrlPr>
                                              </m:mPr>
                                              <m:mr>
                                                <m:e/>
                                                <m:e/>
                                                <m:e/>
                                              </m:mr>
                                            </m:m>
                                          </m:e>
                                        </m:mr>
                                      </m:m>
                                    </m:e>
                                  </m:mr>
                                  <m:mr>
                                    <m:e>
                                      <m:m>
                                        <m:mPr>
                                          <m:mcs>
                                            <m:mc>
                                              <m:mcPr>
                                                <m:count m:val="1"/>
                                                <m:mcJc m:val="center"/>
                                              </m:mcPr>
                                            </m:mc>
                                          </m:mcs>
                                          <m:ctrlPr>
                                            <a:rPr lang="en-US" altLang="zh-TW" b="0" i="1" smtClean="0">
                                              <a:latin typeface="Cambria Math" panose="02040503050406030204" pitchFamily="18" charset="0"/>
                                            </a:rPr>
                                          </m:ctrlPr>
                                        </m:mPr>
                                        <m:mr>
                                          <m:e>
                                            <m:m>
                                              <m:mPr>
                                                <m:mcs>
                                                  <m:mc>
                                                    <m:mcPr>
                                                      <m:count m:val="3"/>
                                                      <m:mcJc m:val="center"/>
                                                    </m:mcPr>
                                                  </m:mc>
                                                </m:mcs>
                                                <m:ctrlPr>
                                                  <a:rPr lang="en-US" altLang="zh-TW" b="0" i="1" smtClean="0">
                                                    <a:latin typeface="Cambria Math" panose="02040503050406030204" pitchFamily="18" charset="0"/>
                                                  </a:rPr>
                                                </m:ctrlPr>
                                              </m:mPr>
                                              <m:mr>
                                                <m:e/>
                                                <m:e/>
                                                <m:e>
                                                  <m:m>
                                                    <m:mPr>
                                                      <m:mcs>
                                                        <m:mc>
                                                          <m:mcPr>
                                                            <m:count m:val="3"/>
                                                            <m:mcJc m:val="center"/>
                                                          </m:mcPr>
                                                        </m:mc>
                                                      </m:mcs>
                                                      <m:ctrlPr>
                                                        <a:rPr lang="en-US" altLang="zh-TW" b="0" i="1" smtClean="0">
                                                          <a:latin typeface="Cambria Math" panose="02040503050406030204" pitchFamily="18" charset="0"/>
                                                        </a:rPr>
                                                      </m:ctrlPr>
                                                    </m:mPr>
                                                    <m:mr>
                                                      <m:e/>
                                                      <m:e/>
                                                      <m:e/>
                                                    </m:mr>
                                                  </m:m>
                                                </m:e>
                                              </m:mr>
                                            </m:m>
                                          </m:e>
                                        </m:mr>
                                        <m:mr>
                                          <m:e>
                                            <m:m>
                                              <m:mPr>
                                                <m:mcs>
                                                  <m:mc>
                                                    <m:mcPr>
                                                      <m:count m:val="3"/>
                                                      <m:mcJc m:val="center"/>
                                                    </m:mcPr>
                                                  </m:mc>
                                                </m:mcs>
                                                <m:ctrlPr>
                                                  <a:rPr lang="en-US" altLang="zh-TW" b="0" i="1" smtClean="0">
                                                    <a:latin typeface="Cambria Math" panose="02040503050406030204" pitchFamily="18" charset="0"/>
                                                  </a:rPr>
                                                </m:ctrlPr>
                                              </m:mPr>
                                              <m:mr>
                                                <m:e/>
                                                <m:e/>
                                                <m:e>
                                                  <m:m>
                                                    <m:mPr>
                                                      <m:mcs>
                                                        <m:mc>
                                                          <m:mcPr>
                                                            <m:count m:val="3"/>
                                                            <m:mcJc m:val="center"/>
                                                          </m:mcPr>
                                                        </m:mc>
                                                      </m:mcs>
                                                      <m:ctrlPr>
                                                        <a:rPr lang="en-US" altLang="zh-TW" b="0" i="1" smtClean="0">
                                                          <a:latin typeface="Cambria Math" panose="02040503050406030204" pitchFamily="18" charset="0"/>
                                                        </a:rPr>
                                                      </m:ctrlPr>
                                                    </m:mPr>
                                                    <m:mr>
                                                      <m:e/>
                                                      <m:e/>
                                                      <m:e/>
                                                    </m:mr>
                                                  </m:m>
                                                </m:e>
                                              </m:mr>
                                            </m:m>
                                          </m:e>
                                        </m:mr>
                                        <m:mr>
                                          <m:e>
                                            <m:m>
                                              <m:mPr>
                                                <m:mcs>
                                                  <m:mc>
                                                    <m:mcPr>
                                                      <m:count m:val="3"/>
                                                      <m:mcJc m:val="center"/>
                                                    </m:mcPr>
                                                  </m:mc>
                                                </m:mcs>
                                                <m:ctrlPr>
                                                  <a:rPr lang="en-US" altLang="zh-TW" b="0" i="1" smtClean="0">
                                                    <a:latin typeface="Cambria Math" panose="02040503050406030204" pitchFamily="18" charset="0"/>
                                                  </a:rPr>
                                                </m:ctrlPr>
                                              </m:mPr>
                                              <m:mr>
                                                <m:e/>
                                                <m:e/>
                                                <m:e>
                                                  <m:m>
                                                    <m:mPr>
                                                      <m:mcs>
                                                        <m:mc>
                                                          <m:mcPr>
                                                            <m:count m:val="3"/>
                                                            <m:mcJc m:val="center"/>
                                                          </m:mcPr>
                                                        </m:mc>
                                                      </m:mcs>
                                                      <m:ctrlPr>
                                                        <a:rPr lang="en-US" altLang="zh-TW" b="0" i="1" smtClean="0">
                                                          <a:latin typeface="Cambria Math" panose="02040503050406030204" pitchFamily="18" charset="0"/>
                                                        </a:rPr>
                                                      </m:ctrlPr>
                                                    </m:mPr>
                                                    <m:mr>
                                                      <m:e/>
                                                      <m:e/>
                                                      <m:e/>
                                                    </m:mr>
                                                  </m:m>
                                                </m:e>
                                              </m:mr>
                                            </m:m>
                                          </m:e>
                                        </m:mr>
                                      </m:m>
                                    </m:e>
                                  </m:mr>
                                </m:m>
                              </m:e>
                            </m:mr>
                          </m:m>
                        </m:e>
                      </m:d>
                    </m:oMath>
                  </m:oMathPara>
                </a14:m>
                <a:endParaRPr lang="zh-TW" altLang="en-US" dirty="0"/>
              </a:p>
            </p:txBody>
          </p:sp>
        </mc:Choice>
        <mc:Fallback>
          <p:sp>
            <p:nvSpPr>
              <p:cNvPr id="15" name="文字方塊 14">
                <a:extLst>
                  <a:ext uri="{FF2B5EF4-FFF2-40B4-BE49-F238E27FC236}">
                    <a16:creationId xmlns:a16="http://schemas.microsoft.com/office/drawing/2014/main" id="{8390B807-3DB8-4297-A126-FE7FCF645631}"/>
                  </a:ext>
                </a:extLst>
              </p:cNvPr>
              <p:cNvSpPr txBox="1">
                <a:spLocks noRot="1" noChangeAspect="1" noMove="1" noResize="1" noEditPoints="1" noAdjustHandles="1" noChangeArrowheads="1" noChangeShapeType="1" noTextEdit="1"/>
              </p:cNvSpPr>
              <p:nvPr/>
            </p:nvSpPr>
            <p:spPr>
              <a:xfrm>
                <a:off x="2963981" y="3901324"/>
                <a:ext cx="3106620" cy="166122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6" name="文字方塊 15">
                <a:extLst>
                  <a:ext uri="{FF2B5EF4-FFF2-40B4-BE49-F238E27FC236}">
                    <a16:creationId xmlns:a16="http://schemas.microsoft.com/office/drawing/2014/main" id="{9123A9EB-D307-46F4-8032-6CF50F138631}"/>
                  </a:ext>
                </a:extLst>
              </p:cNvPr>
              <p:cNvSpPr txBox="1"/>
              <p:nvPr/>
            </p:nvSpPr>
            <p:spPr>
              <a:xfrm>
                <a:off x="6088594" y="4448433"/>
                <a:ext cx="1035050" cy="39767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𝑉</m:t>
                              </m:r>
                            </m:sub>
                          </m:sSub>
                        </m:e>
                      </m:sPre>
                      <m:r>
                        <a:rPr lang="en-US" altLang="zh-TW" b="0" i="1" smtClean="0">
                          <a:latin typeface="Cambria Math" panose="02040503050406030204" pitchFamily="18" charset="0"/>
                        </a:rPr>
                        <m:t>=</m:t>
                      </m:r>
                    </m:oMath>
                  </m:oMathPara>
                </a14:m>
                <a:endParaRPr lang="zh-TW" altLang="en-US" dirty="0"/>
              </a:p>
            </p:txBody>
          </p:sp>
        </mc:Choice>
        <mc:Fallback>
          <p:sp>
            <p:nvSpPr>
              <p:cNvPr id="16" name="文字方塊 15">
                <a:extLst>
                  <a:ext uri="{FF2B5EF4-FFF2-40B4-BE49-F238E27FC236}">
                    <a16:creationId xmlns:a16="http://schemas.microsoft.com/office/drawing/2014/main" id="{9123A9EB-D307-46F4-8032-6CF50F138631}"/>
                  </a:ext>
                </a:extLst>
              </p:cNvPr>
              <p:cNvSpPr txBox="1">
                <a:spLocks noRot="1" noChangeAspect="1" noMove="1" noResize="1" noEditPoints="1" noAdjustHandles="1" noChangeArrowheads="1" noChangeShapeType="1" noTextEdit="1"/>
              </p:cNvSpPr>
              <p:nvPr/>
            </p:nvSpPr>
            <p:spPr>
              <a:xfrm>
                <a:off x="6088594" y="4448433"/>
                <a:ext cx="1035050" cy="397673"/>
              </a:xfrm>
              <a:prstGeom prst="rect">
                <a:avLst/>
              </a:prstGeom>
              <a:blipFill>
                <a:blip r:embed="rId9"/>
                <a:stretch>
                  <a:fillRect b="-4615"/>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3" name="文字方塊 12">
                <a:extLst>
                  <a:ext uri="{FF2B5EF4-FFF2-40B4-BE49-F238E27FC236}">
                    <a16:creationId xmlns:a16="http://schemas.microsoft.com/office/drawing/2014/main" id="{D188CF62-755E-4F88-9647-B53F37B6FD03}"/>
                  </a:ext>
                </a:extLst>
              </p:cNvPr>
              <p:cNvSpPr txBox="1"/>
              <p:nvPr/>
            </p:nvSpPr>
            <p:spPr>
              <a:xfrm>
                <a:off x="7123644" y="954102"/>
                <a:ext cx="4986109" cy="70660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𝑁𝑀𝐴𝐸</m:t>
                      </m:r>
                      <m:r>
                        <a:rPr lang="en-US" altLang="zh-TW" b="0" i="1" smtClean="0">
                          <a:latin typeface="Cambria Math" panose="02040503050406030204" pitchFamily="18" charset="0"/>
                        </a:rPr>
                        <m:t>=</m:t>
                      </m:r>
                      <m:f>
                        <m:fPr>
                          <m:ctrlPr>
                            <a:rPr lang="en-US" altLang="zh-TW" b="0" i="1" smtClean="0">
                              <a:latin typeface="Cambria Math" panose="02040503050406030204" pitchFamily="18" charset="0"/>
                            </a:rPr>
                          </m:ctrlPr>
                        </m:fPr>
                        <m:num>
                          <m:nary>
                            <m:naryPr>
                              <m:chr m:val="∑"/>
                              <m:supHide m:val="on"/>
                              <m:ctrlPr>
                                <a:rPr lang="en-US" altLang="zh-TW" b="0" i="1" smtClean="0">
                                  <a:latin typeface="Cambria Math" panose="02040503050406030204" pitchFamily="18" charset="0"/>
                                </a:rPr>
                              </m:ctrlPr>
                            </m:naryPr>
                            <m:sub>
                              <m:r>
                                <m:rPr>
                                  <m:brk m:alnAt="7"/>
                                </m:rPr>
                                <a:rPr lang="en-US" altLang="zh-TW" b="0" i="1" smtClean="0">
                                  <a:latin typeface="Cambria Math" panose="02040503050406030204" pitchFamily="18" charset="0"/>
                                </a:rPr>
                                <m:t>𝑗</m:t>
                              </m:r>
                            </m:sub>
                            <m:sup/>
                            <m:e>
                              <m:nary>
                                <m:naryPr>
                                  <m:chr m:val="∑"/>
                                  <m:supHide m:val="on"/>
                                  <m:ctrlPr>
                                    <a:rPr lang="en-US" altLang="zh-TW" i="1">
                                      <a:latin typeface="Cambria Math" panose="02040503050406030204" pitchFamily="18" charset="0"/>
                                    </a:rPr>
                                  </m:ctrlPr>
                                </m:naryPr>
                                <m:sub>
                                  <m:r>
                                    <m:rPr>
                                      <m:brk m:alnAt="7"/>
                                    </m:rPr>
                                    <a:rPr lang="en-US" altLang="zh-TW" i="1">
                                      <a:latin typeface="Cambria Math" panose="02040503050406030204" pitchFamily="18" charset="0"/>
                                    </a:rPr>
                                    <m:t>𝑖</m:t>
                                  </m:r>
                                </m:sub>
                                <m:sup/>
                                <m:e>
                                  <m:d>
                                    <m:dPr>
                                      <m:begChr m:val="‖"/>
                                      <m:endChr m:val="‖"/>
                                      <m:ctrlPr>
                                        <a:rPr lang="en-US" altLang="zh-TW" i="1">
                                          <a:latin typeface="Cambria Math" panose="02040503050406030204" pitchFamily="18" charset="0"/>
                                        </a:rPr>
                                      </m:ctrlPr>
                                    </m:dPr>
                                    <m:e>
                                      <m:sSub>
                                        <m:sSubPr>
                                          <m:ctrlPr>
                                            <a:rPr lang="en-US" altLang="zh-TW" i="1">
                                              <a:latin typeface="Cambria Math" panose="02040503050406030204" pitchFamily="18" charset="0"/>
                                            </a:rPr>
                                          </m:ctrlPr>
                                        </m:sSubPr>
                                        <m:e>
                                          <m:r>
                                            <a:rPr lang="en-US" altLang="zh-TW" i="1">
                                              <a:latin typeface="Cambria Math" panose="02040503050406030204" pitchFamily="18" charset="0"/>
                                            </a:rPr>
                                            <m:t>𝑏</m:t>
                                          </m:r>
                                        </m:e>
                                        <m:sub>
                                          <m:r>
                                            <a:rPr lang="en-US" altLang="zh-TW" i="1">
                                              <a:latin typeface="Cambria Math" panose="02040503050406030204" pitchFamily="18" charset="0"/>
                                            </a:rPr>
                                            <m:t>𝑖𝑗</m:t>
                                          </m:r>
                                        </m:sub>
                                      </m:sSub>
                                      <m:r>
                                        <a:rPr lang="en-US" altLang="zh-TW" i="1">
                                          <a:latin typeface="Cambria Math" panose="02040503050406030204" pitchFamily="18" charset="0"/>
                                        </a:rPr>
                                        <m:t>−</m:t>
                                      </m:r>
                                      <m:sSub>
                                        <m:sSubPr>
                                          <m:ctrlPr>
                                            <a:rPr lang="en-US" altLang="zh-TW" i="1">
                                              <a:latin typeface="Cambria Math" panose="02040503050406030204" pitchFamily="18" charset="0"/>
                                              <a:ea typeface="Cambria Math" panose="02040503050406030204" pitchFamily="18" charset="0"/>
                                            </a:rPr>
                                          </m:ctrlPr>
                                        </m:sSubPr>
                                        <m:e>
                                          <m:r>
                                            <a:rPr lang="en-US" altLang="zh-TW" i="1">
                                              <a:latin typeface="Cambria Math" panose="02040503050406030204" pitchFamily="18" charset="0"/>
                                              <a:ea typeface="Cambria Math" panose="02040503050406030204" pitchFamily="18" charset="0"/>
                                            </a:rPr>
                                            <m:t>𝑆</m:t>
                                          </m:r>
                                        </m:e>
                                        <m:sub>
                                          <m:r>
                                            <a:rPr lang="en-US" altLang="zh-TW" i="1">
                                              <a:latin typeface="Cambria Math" panose="02040503050406030204" pitchFamily="18" charset="0"/>
                                              <a:ea typeface="Cambria Math" panose="02040503050406030204" pitchFamily="18" charset="0"/>
                                            </a:rPr>
                                            <m:t>𝑖</m:t>
                                          </m:r>
                                        </m:sub>
                                      </m:sSub>
                                      <m:sPre>
                                        <m:sPrePr>
                                          <m:ctrlPr>
                                            <a:rPr lang="en-US" altLang="zh-TW" i="1">
                                              <a:latin typeface="Cambria Math" panose="02040503050406030204" pitchFamily="18" charset="0"/>
                                              <a:ea typeface="Cambria Math" panose="02040503050406030204" pitchFamily="18" charset="0"/>
                                            </a:rPr>
                                          </m:ctrlPr>
                                        </m:sPrePr>
                                        <m:sub/>
                                        <m:sup>
                                          <m:r>
                                            <a:rPr lang="en-US" altLang="zh-TW" i="1">
                                              <a:latin typeface="Cambria Math" panose="02040503050406030204" pitchFamily="18" charset="0"/>
                                            </a:rPr>
                                            <m:t>𝐵</m:t>
                                          </m:r>
                                        </m:sup>
                                        <m:e>
                                          <m:sSub>
                                            <m:sSubPr>
                                              <m:ctrlPr>
                                                <a:rPr lang="en-US" altLang="zh-TW" i="1">
                                                  <a:latin typeface="Cambria Math" panose="02040503050406030204" pitchFamily="18" charset="0"/>
                                                </a:rPr>
                                              </m:ctrlPr>
                                            </m:sSubPr>
                                            <m:e>
                                              <m:acc>
                                                <m:accPr>
                                                  <m:chr m:val="̂"/>
                                                  <m:ctrlPr>
                                                    <a:rPr lang="en-US" altLang="zh-TW" i="1">
                                                      <a:latin typeface="Cambria Math" panose="02040503050406030204" pitchFamily="18" charset="0"/>
                                                    </a:rPr>
                                                  </m:ctrlPr>
                                                </m:accPr>
                                                <m:e>
                                                  <m:r>
                                                    <a:rPr lang="en-US" altLang="zh-TW" i="1">
                                                      <a:latin typeface="Cambria Math" panose="02040503050406030204" pitchFamily="18" charset="0"/>
                                                    </a:rPr>
                                                    <m:t>𝑔</m:t>
                                                  </m:r>
                                                </m:e>
                                              </m:acc>
                                            </m:e>
                                            <m:sub>
                                              <m:r>
                                                <a:rPr lang="en-US" altLang="zh-TW" i="1">
                                                  <a:latin typeface="Cambria Math" panose="02040503050406030204" pitchFamily="18" charset="0"/>
                                                </a:rPr>
                                                <m:t>𝑉</m:t>
                                              </m:r>
                                            </m:sub>
                                          </m:sSub>
                                        </m:e>
                                      </m:sPre>
                                      <m:acc>
                                        <m:accPr>
                                          <m:chr m:val="̅"/>
                                          <m:ctrlPr>
                                            <a:rPr lang="zh-TW" altLang="en-US" i="1">
                                              <a:latin typeface="Cambria Math" panose="02040503050406030204" pitchFamily="18" charset="0"/>
                                            </a:rPr>
                                          </m:ctrlPr>
                                        </m:accPr>
                                        <m:e>
                                          <m:r>
                                            <a:rPr lang="en-US" altLang="zh-TW" i="1">
                                              <a:latin typeface="Cambria Math" panose="02040503050406030204" pitchFamily="18" charset="0"/>
                                            </a:rPr>
                                            <m:t>𝐷</m:t>
                                          </m:r>
                                        </m:e>
                                      </m:acc>
                                      <m:sSub>
                                        <m:sSubPr>
                                          <m:ctrlPr>
                                            <a:rPr lang="en-US" altLang="zh-TW" i="1">
                                              <a:latin typeface="Cambria Math" panose="02040503050406030204" pitchFamily="18" charset="0"/>
                                            </a:rPr>
                                          </m:ctrlPr>
                                        </m:sSubPr>
                                        <m:e>
                                          <m:r>
                                            <a:rPr lang="en-US" altLang="zh-TW" i="1">
                                              <a:latin typeface="Cambria Math" panose="02040503050406030204" pitchFamily="18" charset="0"/>
                                            </a:rPr>
                                            <m:t>𝑉</m:t>
                                          </m:r>
                                        </m:e>
                                        <m:sub>
                                          <m:r>
                                            <a:rPr lang="en-US" altLang="zh-TW" i="1">
                                              <a:latin typeface="Cambria Math" panose="02040503050406030204" pitchFamily="18" charset="0"/>
                                            </a:rPr>
                                            <m:t>𝑗</m:t>
                                          </m:r>
                                        </m:sub>
                                      </m:sSub>
                                    </m:e>
                                  </m:d>
                                </m:e>
                              </m:nary>
                            </m:e>
                          </m:nary>
                        </m:num>
                        <m:den>
                          <m:nary>
                            <m:naryPr>
                              <m:chr m:val="∑"/>
                              <m:supHide m:val="on"/>
                              <m:ctrlPr>
                                <a:rPr lang="en-US" altLang="zh-TW" b="0" i="1" smtClean="0">
                                  <a:latin typeface="Cambria Math" panose="02040503050406030204" pitchFamily="18" charset="0"/>
                                </a:rPr>
                              </m:ctrlPr>
                            </m:naryPr>
                            <m:sub>
                              <m:r>
                                <m:rPr>
                                  <m:brk m:alnAt="7"/>
                                </m:rPr>
                                <a:rPr lang="en-US" altLang="zh-TW" b="0" i="1" smtClean="0">
                                  <a:latin typeface="Cambria Math" panose="02040503050406030204" pitchFamily="18" charset="0"/>
                                </a:rPr>
                                <m:t>𝑗</m:t>
                              </m:r>
                            </m:sub>
                            <m:sup/>
                            <m:e>
                              <m:nary>
                                <m:naryPr>
                                  <m:chr m:val="∑"/>
                                  <m:supHide m:val="on"/>
                                  <m:ctrlPr>
                                    <a:rPr lang="en-US" altLang="zh-TW" b="0" i="1" smtClean="0">
                                      <a:latin typeface="Cambria Math" panose="02040503050406030204" pitchFamily="18" charset="0"/>
                                    </a:rPr>
                                  </m:ctrlPr>
                                </m:naryPr>
                                <m:sub>
                                  <m:r>
                                    <m:rPr>
                                      <m:brk m:alnAt="7"/>
                                    </m:rPr>
                                    <a:rPr lang="en-US" altLang="zh-TW" b="0" i="1" smtClean="0">
                                      <a:latin typeface="Cambria Math" panose="02040503050406030204" pitchFamily="18" charset="0"/>
                                    </a:rPr>
                                    <m:t>𝑖</m:t>
                                  </m:r>
                                </m:sub>
                                <m:sup/>
                                <m:e>
                                  <m:d>
                                    <m:dPr>
                                      <m:begChr m:val="‖"/>
                                      <m:endChr m:val="‖"/>
                                      <m:ctrlPr>
                                        <a:rPr lang="en-US" altLang="zh-TW" b="0" i="1" smtClean="0">
                                          <a:latin typeface="Cambria Math" panose="02040503050406030204" pitchFamily="18" charset="0"/>
                                        </a:rPr>
                                      </m:ctrlPr>
                                    </m:dPr>
                                    <m:e>
                                      <m:sSub>
                                        <m:sSubPr>
                                          <m:ctrlPr>
                                            <a:rPr lang="en-US" altLang="zh-TW" i="1">
                                              <a:latin typeface="Cambria Math" panose="02040503050406030204" pitchFamily="18" charset="0"/>
                                            </a:rPr>
                                          </m:ctrlPr>
                                        </m:sSubPr>
                                        <m:e>
                                          <m:r>
                                            <a:rPr lang="en-US" altLang="zh-TW" i="1">
                                              <a:latin typeface="Cambria Math" panose="02040503050406030204" pitchFamily="18" charset="0"/>
                                            </a:rPr>
                                            <m:t>𝑏</m:t>
                                          </m:r>
                                        </m:e>
                                        <m:sub>
                                          <m:r>
                                            <a:rPr lang="en-US" altLang="zh-TW" i="1">
                                              <a:latin typeface="Cambria Math" panose="02040503050406030204" pitchFamily="18" charset="0"/>
                                            </a:rPr>
                                            <m:t>𝑖𝑗</m:t>
                                          </m:r>
                                        </m:sub>
                                      </m:sSub>
                                    </m:e>
                                  </m:d>
                                </m:e>
                              </m:nary>
                            </m:e>
                          </m:nary>
                        </m:den>
                      </m:f>
                      <m:r>
                        <a:rPr lang="en-US" altLang="zh-TW" i="1">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rPr>
                        <m:t>100</m:t>
                      </m:r>
                      <m:r>
                        <a:rPr lang="en-US" altLang="zh-TW" b="0" i="1" smtClean="0">
                          <a:latin typeface="Cambria Math" panose="02040503050406030204" pitchFamily="18" charset="0"/>
                        </a:rPr>
                        <m:t>%=</m:t>
                      </m:r>
                      <m:r>
                        <a:rPr lang="en-US" altLang="zh-TW" b="0" i="1" smtClean="0">
                          <a:latin typeface="Cambria Math" panose="02040503050406030204" pitchFamily="18" charset="0"/>
                        </a:rPr>
                        <m:t>3</m:t>
                      </m:r>
                      <m:r>
                        <a:rPr lang="en-US" altLang="zh-TW" b="0" i="1" smtClean="0">
                          <a:latin typeface="Cambria Math" panose="02040503050406030204" pitchFamily="18" charset="0"/>
                        </a:rPr>
                        <m:t>.</m:t>
                      </m:r>
                      <m:r>
                        <a:rPr lang="en-US" altLang="zh-TW" b="0" i="1" smtClean="0">
                          <a:latin typeface="Cambria Math" panose="02040503050406030204" pitchFamily="18" charset="0"/>
                        </a:rPr>
                        <m:t>86</m:t>
                      </m:r>
                      <m:r>
                        <a:rPr lang="en-US" altLang="zh-TW" b="0" i="1" smtClean="0">
                          <a:latin typeface="Cambria Math" panose="02040503050406030204" pitchFamily="18" charset="0"/>
                        </a:rPr>
                        <m:t>%</m:t>
                      </m:r>
                    </m:oMath>
                  </m:oMathPara>
                </a14:m>
                <a:endParaRPr lang="zh-TW" altLang="en-US" dirty="0"/>
              </a:p>
            </p:txBody>
          </p:sp>
        </mc:Choice>
        <mc:Fallback>
          <p:sp>
            <p:nvSpPr>
              <p:cNvPr id="13" name="文字方塊 12">
                <a:extLst>
                  <a:ext uri="{FF2B5EF4-FFF2-40B4-BE49-F238E27FC236}">
                    <a16:creationId xmlns:a16="http://schemas.microsoft.com/office/drawing/2014/main" id="{D188CF62-755E-4F88-9647-B53F37B6FD03}"/>
                  </a:ext>
                </a:extLst>
              </p:cNvPr>
              <p:cNvSpPr txBox="1">
                <a:spLocks noRot="1" noChangeAspect="1" noMove="1" noResize="1" noEditPoints="1" noAdjustHandles="1" noChangeArrowheads="1" noChangeShapeType="1" noTextEdit="1"/>
              </p:cNvSpPr>
              <p:nvPr/>
            </p:nvSpPr>
            <p:spPr>
              <a:xfrm>
                <a:off x="7123644" y="954102"/>
                <a:ext cx="4986109" cy="706604"/>
              </a:xfrm>
              <a:prstGeom prst="rect">
                <a:avLst/>
              </a:prstGeom>
              <a:blipFill>
                <a:blip r:embed="rId10"/>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8" name="文字方塊 17">
                <a:extLst>
                  <a:ext uri="{FF2B5EF4-FFF2-40B4-BE49-F238E27FC236}">
                    <a16:creationId xmlns:a16="http://schemas.microsoft.com/office/drawing/2014/main" id="{AD2FDABD-CFEC-47A9-9C8F-86107EE887CD}"/>
                  </a:ext>
                </a:extLst>
              </p:cNvPr>
              <p:cNvSpPr txBox="1"/>
              <p:nvPr/>
            </p:nvSpPr>
            <p:spPr>
              <a:xfrm>
                <a:off x="10347681" y="1993093"/>
                <a:ext cx="1417824" cy="29123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acc>
                        <m:accPr>
                          <m:chr m:val="̂"/>
                          <m:ctrlPr>
                            <a:rPr lang="zh-TW" altLang="en-US" i="1" smtClean="0">
                              <a:latin typeface="Cambria Math" panose="02040503050406030204" pitchFamily="18" charset="0"/>
                            </a:rPr>
                          </m:ctrlPr>
                        </m:accPr>
                        <m:e>
                          <m:r>
                            <a:rPr lang="en-US" altLang="zh-TW" i="1" smtClean="0">
                              <a:latin typeface="Cambria Math" panose="02040503050406030204" pitchFamily="18" charset="0"/>
                              <a:ea typeface="Cambria Math" panose="02040503050406030204" pitchFamily="18" charset="0"/>
                            </a:rPr>
                            <m:t>ℓ</m:t>
                          </m:r>
                        </m:e>
                      </m:acc>
                      <m:r>
                        <a:rPr lang="en-US" altLang="zh-TW" b="0" i="1" smtClean="0">
                          <a:latin typeface="Cambria Math" panose="02040503050406030204" pitchFamily="18" charset="0"/>
                        </a:rPr>
                        <m:t>=</m:t>
                      </m:r>
                      <m:r>
                        <a:rPr lang="en-US" altLang="zh-TW" b="0" i="1" smtClean="0">
                          <a:latin typeface="Cambria Math" panose="02040503050406030204" pitchFamily="18" charset="0"/>
                        </a:rPr>
                        <m:t>875</m:t>
                      </m:r>
                      <m:r>
                        <a:rPr lang="en-US" altLang="zh-TW" b="0" i="1" smtClean="0">
                          <a:latin typeface="Cambria Math" panose="02040503050406030204" pitchFamily="18" charset="0"/>
                        </a:rPr>
                        <m:t>.</m:t>
                      </m:r>
                      <m:r>
                        <a:rPr lang="en-US" altLang="zh-TW" b="0" i="1" smtClean="0">
                          <a:latin typeface="Cambria Math" panose="02040503050406030204" pitchFamily="18" charset="0"/>
                        </a:rPr>
                        <m:t>1</m:t>
                      </m:r>
                      <m:r>
                        <a:rPr lang="en-US" altLang="zh-TW" b="0" i="1" smtClean="0">
                          <a:latin typeface="Cambria Math" panose="02040503050406030204" pitchFamily="18" charset="0"/>
                        </a:rPr>
                        <m:t> </m:t>
                      </m:r>
                      <m:r>
                        <a:rPr lang="en-US" altLang="zh-TW" b="0" i="1" smtClean="0">
                          <a:latin typeface="Cambria Math" panose="02040503050406030204" pitchFamily="18" charset="0"/>
                        </a:rPr>
                        <m:t>𝑢𝑚</m:t>
                      </m:r>
                    </m:oMath>
                  </m:oMathPara>
                </a14:m>
                <a:endParaRPr lang="zh-TW" altLang="en-US" dirty="0"/>
              </a:p>
            </p:txBody>
          </p:sp>
        </mc:Choice>
        <mc:Fallback>
          <p:sp>
            <p:nvSpPr>
              <p:cNvPr id="18" name="文字方塊 17">
                <a:extLst>
                  <a:ext uri="{FF2B5EF4-FFF2-40B4-BE49-F238E27FC236}">
                    <a16:creationId xmlns:a16="http://schemas.microsoft.com/office/drawing/2014/main" id="{AD2FDABD-CFEC-47A9-9C8F-86107EE887CD}"/>
                  </a:ext>
                </a:extLst>
              </p:cNvPr>
              <p:cNvSpPr txBox="1">
                <a:spLocks noRot="1" noChangeAspect="1" noMove="1" noResize="1" noEditPoints="1" noAdjustHandles="1" noChangeArrowheads="1" noChangeShapeType="1" noTextEdit="1"/>
              </p:cNvSpPr>
              <p:nvPr/>
            </p:nvSpPr>
            <p:spPr>
              <a:xfrm>
                <a:off x="10347681" y="1993093"/>
                <a:ext cx="1417824" cy="291234"/>
              </a:xfrm>
              <a:prstGeom prst="rect">
                <a:avLst/>
              </a:prstGeom>
              <a:blipFill>
                <a:blip r:embed="rId11"/>
                <a:stretch>
                  <a:fillRect l="-3863" t="-18750" r="-2146" b="-8333"/>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9" name="文字方塊 18">
                <a:extLst>
                  <a:ext uri="{FF2B5EF4-FFF2-40B4-BE49-F238E27FC236}">
                    <a16:creationId xmlns:a16="http://schemas.microsoft.com/office/drawing/2014/main" id="{9255DD05-FA01-4815-A606-46A7444B865A}"/>
                  </a:ext>
                </a:extLst>
              </p:cNvPr>
              <p:cNvSpPr txBox="1"/>
              <p:nvPr/>
            </p:nvSpPr>
            <p:spPr>
              <a:xfrm>
                <a:off x="6225733" y="5104459"/>
                <a:ext cx="1417824" cy="29123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acc>
                        <m:accPr>
                          <m:chr m:val="̂"/>
                          <m:ctrlPr>
                            <a:rPr lang="zh-TW" altLang="en-US" i="1" smtClean="0">
                              <a:latin typeface="Cambria Math" panose="02040503050406030204" pitchFamily="18" charset="0"/>
                            </a:rPr>
                          </m:ctrlPr>
                        </m:accPr>
                        <m:e>
                          <m:r>
                            <a:rPr lang="en-US" altLang="zh-TW" i="1" smtClean="0">
                              <a:latin typeface="Cambria Math" panose="02040503050406030204" pitchFamily="18" charset="0"/>
                              <a:ea typeface="Cambria Math" panose="02040503050406030204" pitchFamily="18" charset="0"/>
                            </a:rPr>
                            <m:t>ℓ</m:t>
                          </m:r>
                        </m:e>
                      </m:acc>
                      <m:r>
                        <a:rPr lang="en-US" altLang="zh-TW" b="0" i="1" smtClean="0">
                          <a:latin typeface="Cambria Math" panose="02040503050406030204" pitchFamily="18" charset="0"/>
                        </a:rPr>
                        <m:t>=</m:t>
                      </m:r>
                      <m:r>
                        <a:rPr lang="en-US" altLang="zh-TW" b="0" i="1" smtClean="0">
                          <a:latin typeface="Cambria Math" panose="02040503050406030204" pitchFamily="18" charset="0"/>
                        </a:rPr>
                        <m:t>873</m:t>
                      </m:r>
                      <m:r>
                        <a:rPr lang="en-US" altLang="zh-TW" b="0" i="1" smtClean="0">
                          <a:latin typeface="Cambria Math" panose="02040503050406030204" pitchFamily="18" charset="0"/>
                        </a:rPr>
                        <m:t>.</m:t>
                      </m:r>
                      <m:r>
                        <a:rPr lang="en-US" altLang="zh-TW" b="0" i="1" smtClean="0">
                          <a:latin typeface="Cambria Math" panose="02040503050406030204" pitchFamily="18" charset="0"/>
                        </a:rPr>
                        <m:t>5</m:t>
                      </m:r>
                      <m:r>
                        <a:rPr lang="en-US" altLang="zh-TW" b="0" i="1" smtClean="0">
                          <a:latin typeface="Cambria Math" panose="02040503050406030204" pitchFamily="18" charset="0"/>
                        </a:rPr>
                        <m:t> </m:t>
                      </m:r>
                      <m:r>
                        <a:rPr lang="en-US" altLang="zh-TW" b="0" i="1" smtClean="0">
                          <a:latin typeface="Cambria Math" panose="02040503050406030204" pitchFamily="18" charset="0"/>
                        </a:rPr>
                        <m:t>𝑢𝑚</m:t>
                      </m:r>
                    </m:oMath>
                  </m:oMathPara>
                </a14:m>
                <a:endParaRPr lang="zh-TW" altLang="en-US" dirty="0"/>
              </a:p>
            </p:txBody>
          </p:sp>
        </mc:Choice>
        <mc:Fallback>
          <p:sp>
            <p:nvSpPr>
              <p:cNvPr id="19" name="文字方塊 18">
                <a:extLst>
                  <a:ext uri="{FF2B5EF4-FFF2-40B4-BE49-F238E27FC236}">
                    <a16:creationId xmlns:a16="http://schemas.microsoft.com/office/drawing/2014/main" id="{9255DD05-FA01-4815-A606-46A7444B865A}"/>
                  </a:ext>
                </a:extLst>
              </p:cNvPr>
              <p:cNvSpPr txBox="1">
                <a:spLocks noRot="1" noChangeAspect="1" noMove="1" noResize="1" noEditPoints="1" noAdjustHandles="1" noChangeArrowheads="1" noChangeShapeType="1" noTextEdit="1"/>
              </p:cNvSpPr>
              <p:nvPr/>
            </p:nvSpPr>
            <p:spPr>
              <a:xfrm>
                <a:off x="6225733" y="5104459"/>
                <a:ext cx="1417824" cy="291234"/>
              </a:xfrm>
              <a:prstGeom prst="rect">
                <a:avLst/>
              </a:prstGeom>
              <a:blipFill>
                <a:blip r:embed="rId12"/>
                <a:stretch>
                  <a:fillRect l="-3863" t="-16667" r="-2146" b="-8333"/>
                </a:stretch>
              </a:blipFill>
            </p:spPr>
            <p:txBody>
              <a:bodyPr/>
              <a:lstStyle/>
              <a:p>
                <a:r>
                  <a:rPr lang="zh-TW" altLang="en-US">
                    <a:noFill/>
                  </a:rPr>
                  <a:t> </a:t>
                </a:r>
              </a:p>
            </p:txBody>
          </p:sp>
        </mc:Fallback>
      </mc:AlternateContent>
      <p:pic>
        <p:nvPicPr>
          <p:cNvPr id="23" name="圖片 22">
            <a:extLst>
              <a:ext uri="{FF2B5EF4-FFF2-40B4-BE49-F238E27FC236}">
                <a16:creationId xmlns:a16="http://schemas.microsoft.com/office/drawing/2014/main" id="{1D6A271A-9313-45D7-ADC7-8DBA79298580}"/>
              </a:ext>
            </a:extLst>
          </p:cNvPr>
          <p:cNvPicPr>
            <a:picLocks noChangeAspect="1"/>
          </p:cNvPicPr>
          <p:nvPr/>
        </p:nvPicPr>
        <p:blipFill>
          <a:blip r:embed="rId13"/>
          <a:stretch>
            <a:fillRect/>
          </a:stretch>
        </p:blipFill>
        <p:spPr>
          <a:xfrm>
            <a:off x="3895190" y="3034427"/>
            <a:ext cx="4505954" cy="1400370"/>
          </a:xfrm>
          <a:prstGeom prst="rect">
            <a:avLst/>
          </a:prstGeom>
        </p:spPr>
      </p:pic>
    </p:spTree>
    <p:extLst>
      <p:ext uri="{BB962C8B-B14F-4D97-AF65-F5344CB8AC3E}">
        <p14:creationId xmlns:p14="http://schemas.microsoft.com/office/powerpoint/2010/main" val="13672797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Reference</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18" name="矩形 17">
            <a:extLst>
              <a:ext uri="{FF2B5EF4-FFF2-40B4-BE49-F238E27FC236}">
                <a16:creationId xmlns:a16="http://schemas.microsoft.com/office/drawing/2014/main" id="{D626DE7A-F9C6-47BF-9503-E4D79EF03BB4}"/>
              </a:ext>
            </a:extLst>
          </p:cNvPr>
          <p:cNvSpPr/>
          <p:nvPr/>
        </p:nvSpPr>
        <p:spPr>
          <a:xfrm rot="21166399">
            <a:off x="8390467" y="5858933"/>
            <a:ext cx="1877540" cy="330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7" name="群組 6">
            <a:extLst>
              <a:ext uri="{FF2B5EF4-FFF2-40B4-BE49-F238E27FC236}">
                <a16:creationId xmlns:a16="http://schemas.microsoft.com/office/drawing/2014/main" id="{65F2A41B-725D-4691-A888-BD566828C0BF}"/>
              </a:ext>
            </a:extLst>
          </p:cNvPr>
          <p:cNvGrpSpPr/>
          <p:nvPr/>
        </p:nvGrpSpPr>
        <p:grpSpPr>
          <a:xfrm>
            <a:off x="741919" y="2866223"/>
            <a:ext cx="4015388" cy="3538797"/>
            <a:chOff x="967368" y="530752"/>
            <a:chExt cx="4015388" cy="3538797"/>
          </a:xfrm>
        </p:grpSpPr>
        <p:pic>
          <p:nvPicPr>
            <p:cNvPr id="4" name="圖片 3">
              <a:extLst>
                <a:ext uri="{FF2B5EF4-FFF2-40B4-BE49-F238E27FC236}">
                  <a16:creationId xmlns:a16="http://schemas.microsoft.com/office/drawing/2014/main" id="{1EEE4D68-B5BE-487E-BBF1-46844455BB9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27201" y="530752"/>
              <a:ext cx="3662318" cy="3429000"/>
            </a:xfrm>
            <a:prstGeom prst="rect">
              <a:avLst/>
            </a:prstGeom>
          </p:spPr>
        </p:pic>
        <p:grpSp>
          <p:nvGrpSpPr>
            <p:cNvPr id="36" name="群組 35">
              <a:extLst>
                <a:ext uri="{FF2B5EF4-FFF2-40B4-BE49-F238E27FC236}">
                  <a16:creationId xmlns:a16="http://schemas.microsoft.com/office/drawing/2014/main" id="{15E80B7E-9DD7-4929-979E-9D6BF07411DD}"/>
                </a:ext>
              </a:extLst>
            </p:cNvPr>
            <p:cNvGrpSpPr/>
            <p:nvPr/>
          </p:nvGrpSpPr>
          <p:grpSpPr>
            <a:xfrm>
              <a:off x="967368" y="1364300"/>
              <a:ext cx="4015388" cy="2705249"/>
              <a:chOff x="6274804" y="3726263"/>
              <a:chExt cx="4015388" cy="2705249"/>
            </a:xfrm>
          </p:grpSpPr>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02C2C7-99C1-4D7E-89F7-BCF75F5869AB}"/>
                      </a:ext>
                    </a:extLst>
                  </p:cNvPr>
                  <p:cNvSpPr txBox="1"/>
                  <p:nvPr/>
                </p:nvSpPr>
                <p:spPr>
                  <a:xfrm rot="2191537">
                    <a:off x="6357579" y="5987255"/>
                    <a:ext cx="143468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400" b="1" i="1" smtClean="0">
                              <a:latin typeface="Cambria Math" panose="02040503050406030204" pitchFamily="18" charset="0"/>
                            </a:rPr>
                            <m:t>𝒙</m:t>
                          </m:r>
                          <m:r>
                            <a:rPr lang="en-US" altLang="zh-TW" sz="1400" b="1" i="1" smtClean="0">
                              <a:latin typeface="Cambria Math" panose="02040503050406030204" pitchFamily="18" charset="0"/>
                            </a:rPr>
                            <m:t> </m:t>
                          </m:r>
                          <m:r>
                            <a:rPr lang="en-US" altLang="zh-TW" sz="1400" b="1" i="0" smtClean="0">
                              <a:latin typeface="Cambria Math" panose="02040503050406030204" pitchFamily="18" charset="0"/>
                            </a:rPr>
                            <m:t>(</m:t>
                          </m:r>
                          <m:r>
                            <a:rPr lang="en-US" altLang="zh-TW" sz="1400" b="1" i="1" smtClean="0">
                              <a:latin typeface="Cambria Math" panose="02040503050406030204" pitchFamily="18" charset="0"/>
                            </a:rPr>
                            <m:t>𝒎𝒊𝒄𝒓𝒐</m:t>
                          </m:r>
                          <m:r>
                            <a:rPr lang="en-US" altLang="zh-TW" sz="1400" b="1" i="1" smtClean="0">
                              <a:latin typeface="Cambria Math" panose="02040503050406030204" pitchFamily="18" charset="0"/>
                            </a:rPr>
                            <m:t> </m:t>
                          </m:r>
                          <m:r>
                            <a:rPr lang="en-US" altLang="zh-TW" sz="1400" b="1" i="1" smtClean="0">
                              <a:latin typeface="Cambria Math" panose="02040503050406030204" pitchFamily="18" charset="0"/>
                            </a:rPr>
                            <m:t>𝒎𝒆𝒕𝒆𝒓</m:t>
                          </m:r>
                          <m:r>
                            <a:rPr lang="en-US" altLang="zh-TW" sz="1400" b="1" i="0" smtClean="0">
                              <a:latin typeface="Cambria Math" panose="02040503050406030204" pitchFamily="18" charset="0"/>
                            </a:rPr>
                            <m:t>)</m:t>
                          </m:r>
                        </m:oMath>
                      </m:oMathPara>
                    </a14:m>
                    <a:endParaRPr lang="zh-TW" altLang="en-US" sz="1400" b="1" dirty="0"/>
                  </a:p>
                </p:txBody>
              </p:sp>
            </mc:Choice>
            <mc:Fallback xmlns="">
              <p:sp>
                <p:nvSpPr>
                  <p:cNvPr id="34" name="文字方塊 33">
                    <a:extLst>
                      <a:ext uri="{FF2B5EF4-FFF2-40B4-BE49-F238E27FC236}">
                        <a16:creationId xmlns:a16="http://schemas.microsoft.com/office/drawing/2014/main" id="{3702C2C7-99C1-4D7E-89F7-BCF75F5869AB}"/>
                      </a:ext>
                    </a:extLst>
                  </p:cNvPr>
                  <p:cNvSpPr txBox="1">
                    <a:spLocks noRot="1" noChangeAspect="1" noMove="1" noResize="1" noEditPoints="1" noAdjustHandles="1" noChangeArrowheads="1" noChangeShapeType="1" noTextEdit="1"/>
                  </p:cNvSpPr>
                  <p:nvPr/>
                </p:nvSpPr>
                <p:spPr>
                  <a:xfrm rot="2191537">
                    <a:off x="6357579" y="5987255"/>
                    <a:ext cx="1434688" cy="215444"/>
                  </a:xfrm>
                  <a:prstGeom prst="rect">
                    <a:avLst/>
                  </a:prstGeom>
                  <a:blipFill>
                    <a:blip r:embed="rId9"/>
                    <a:stretch>
                      <a:fillRect l="-472" r="-2830" b="-828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CB4204C0-DCA9-46A8-B644-32781D062DEC}"/>
                      </a:ext>
                    </a:extLst>
                  </p:cNvPr>
                  <p:cNvSpPr txBox="1"/>
                  <p:nvPr/>
                </p:nvSpPr>
                <p:spPr>
                  <a:xfrm rot="20909962">
                    <a:off x="8852298" y="6216068"/>
                    <a:ext cx="1437894"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400" b="1" i="1" smtClean="0">
                              <a:latin typeface="Cambria Math" panose="02040503050406030204" pitchFamily="18" charset="0"/>
                            </a:rPr>
                            <m:t>𝒚</m:t>
                          </m:r>
                          <m:r>
                            <a:rPr lang="en-US" altLang="zh-TW" sz="1400" b="1" i="1" smtClean="0">
                              <a:latin typeface="Cambria Math" panose="02040503050406030204" pitchFamily="18" charset="0"/>
                            </a:rPr>
                            <m:t> </m:t>
                          </m:r>
                          <m:r>
                            <a:rPr lang="en-US" altLang="zh-TW" sz="1400" b="1" i="0" smtClean="0">
                              <a:latin typeface="Cambria Math" panose="02040503050406030204" pitchFamily="18" charset="0"/>
                            </a:rPr>
                            <m:t>(</m:t>
                          </m:r>
                          <m:r>
                            <a:rPr lang="en-US" altLang="zh-TW" sz="1400" b="1" i="1" smtClean="0">
                              <a:latin typeface="Cambria Math" panose="02040503050406030204" pitchFamily="18" charset="0"/>
                            </a:rPr>
                            <m:t>𝒎𝒊𝒄𝒓𝒐</m:t>
                          </m:r>
                          <m:r>
                            <a:rPr lang="en-US" altLang="zh-TW" sz="1400" b="1" i="1" smtClean="0">
                              <a:latin typeface="Cambria Math" panose="02040503050406030204" pitchFamily="18" charset="0"/>
                            </a:rPr>
                            <m:t> </m:t>
                          </m:r>
                          <m:r>
                            <a:rPr lang="en-US" altLang="zh-TW" sz="1400" b="1" i="1" smtClean="0">
                              <a:latin typeface="Cambria Math" panose="02040503050406030204" pitchFamily="18" charset="0"/>
                            </a:rPr>
                            <m:t>𝒎𝒆𝒕𝒆𝒓</m:t>
                          </m:r>
                          <m:r>
                            <a:rPr lang="en-US" altLang="zh-TW" sz="1400" b="1" i="0" smtClean="0">
                              <a:latin typeface="Cambria Math" panose="02040503050406030204" pitchFamily="18" charset="0"/>
                            </a:rPr>
                            <m:t>)</m:t>
                          </m:r>
                        </m:oMath>
                      </m:oMathPara>
                    </a14:m>
                    <a:endParaRPr lang="zh-TW" altLang="en-US" sz="1400" b="1" dirty="0"/>
                  </a:p>
                </p:txBody>
              </p:sp>
            </mc:Choice>
            <mc:Fallback xmlns="">
              <p:sp>
                <p:nvSpPr>
                  <p:cNvPr id="37" name="文字方塊 36">
                    <a:extLst>
                      <a:ext uri="{FF2B5EF4-FFF2-40B4-BE49-F238E27FC236}">
                        <a16:creationId xmlns:a16="http://schemas.microsoft.com/office/drawing/2014/main" id="{CB4204C0-DCA9-46A8-B644-32781D062DEC}"/>
                      </a:ext>
                    </a:extLst>
                  </p:cNvPr>
                  <p:cNvSpPr txBox="1">
                    <a:spLocks noRot="1" noChangeAspect="1" noMove="1" noResize="1" noEditPoints="1" noAdjustHandles="1" noChangeArrowheads="1" noChangeShapeType="1" noTextEdit="1"/>
                  </p:cNvSpPr>
                  <p:nvPr/>
                </p:nvSpPr>
                <p:spPr>
                  <a:xfrm rot="20909962">
                    <a:off x="8852298" y="6216068"/>
                    <a:ext cx="1437894" cy="215444"/>
                  </a:xfrm>
                  <a:prstGeom prst="rect">
                    <a:avLst/>
                  </a:prstGeom>
                  <a:blipFill>
                    <a:blip r:embed="rId10"/>
                    <a:stretch>
                      <a:fillRect l="-1674" t="-1220" r="-4184" b="-1097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8" name="文字方塊 37">
                    <a:extLst>
                      <a:ext uri="{FF2B5EF4-FFF2-40B4-BE49-F238E27FC236}">
                        <a16:creationId xmlns:a16="http://schemas.microsoft.com/office/drawing/2014/main" id="{FCA38618-BB47-441E-9C40-E111A4916DC0}"/>
                      </a:ext>
                    </a:extLst>
                  </p:cNvPr>
                  <p:cNvSpPr txBox="1"/>
                  <p:nvPr/>
                </p:nvSpPr>
                <p:spPr>
                  <a:xfrm rot="16200000">
                    <a:off x="5670792" y="4330275"/>
                    <a:ext cx="142346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400" b="1" i="1" smtClean="0">
                              <a:latin typeface="Cambria Math" panose="02040503050406030204" pitchFamily="18" charset="0"/>
                            </a:rPr>
                            <m:t>𝒛</m:t>
                          </m:r>
                          <m:r>
                            <a:rPr lang="en-US" altLang="zh-TW" sz="1400" b="1" i="1" smtClean="0">
                              <a:latin typeface="Cambria Math" panose="02040503050406030204" pitchFamily="18" charset="0"/>
                            </a:rPr>
                            <m:t> </m:t>
                          </m:r>
                          <m:r>
                            <a:rPr lang="en-US" altLang="zh-TW" sz="1400" b="1" i="0" smtClean="0">
                              <a:latin typeface="Cambria Math" panose="02040503050406030204" pitchFamily="18" charset="0"/>
                            </a:rPr>
                            <m:t>(</m:t>
                          </m:r>
                          <m:r>
                            <a:rPr lang="en-US" altLang="zh-TW" sz="1400" b="1" i="1" smtClean="0">
                              <a:latin typeface="Cambria Math" panose="02040503050406030204" pitchFamily="18" charset="0"/>
                            </a:rPr>
                            <m:t>𝒎𝒊𝒄𝒓𝒐</m:t>
                          </m:r>
                          <m:r>
                            <a:rPr lang="en-US" altLang="zh-TW" sz="1400" b="1" i="1" smtClean="0">
                              <a:latin typeface="Cambria Math" panose="02040503050406030204" pitchFamily="18" charset="0"/>
                            </a:rPr>
                            <m:t> </m:t>
                          </m:r>
                          <m:r>
                            <a:rPr lang="en-US" altLang="zh-TW" sz="1400" b="1" i="1" smtClean="0">
                              <a:latin typeface="Cambria Math" panose="02040503050406030204" pitchFamily="18" charset="0"/>
                            </a:rPr>
                            <m:t>𝒎𝒆𝒕𝒆𝒓</m:t>
                          </m:r>
                          <m:r>
                            <a:rPr lang="en-US" altLang="zh-TW" sz="1400" b="1" i="0" smtClean="0">
                              <a:latin typeface="Cambria Math" panose="02040503050406030204" pitchFamily="18" charset="0"/>
                            </a:rPr>
                            <m:t>)</m:t>
                          </m:r>
                        </m:oMath>
                      </m:oMathPara>
                    </a14:m>
                    <a:endParaRPr lang="zh-TW" altLang="en-US" sz="1400" b="1" dirty="0"/>
                  </a:p>
                </p:txBody>
              </p:sp>
            </mc:Choice>
            <mc:Fallback xmlns="">
              <p:sp>
                <p:nvSpPr>
                  <p:cNvPr id="38" name="文字方塊 37">
                    <a:extLst>
                      <a:ext uri="{FF2B5EF4-FFF2-40B4-BE49-F238E27FC236}">
                        <a16:creationId xmlns:a16="http://schemas.microsoft.com/office/drawing/2014/main" id="{FCA38618-BB47-441E-9C40-E111A4916DC0}"/>
                      </a:ext>
                    </a:extLst>
                  </p:cNvPr>
                  <p:cNvSpPr txBox="1">
                    <a:spLocks noRot="1" noChangeAspect="1" noMove="1" noResize="1" noEditPoints="1" noAdjustHandles="1" noChangeArrowheads="1" noChangeShapeType="1" noTextEdit="1"/>
                  </p:cNvSpPr>
                  <p:nvPr/>
                </p:nvSpPr>
                <p:spPr>
                  <a:xfrm rot="16200000">
                    <a:off x="5670792" y="4330275"/>
                    <a:ext cx="1423467" cy="215444"/>
                  </a:xfrm>
                  <a:prstGeom prst="rect">
                    <a:avLst/>
                  </a:prstGeom>
                  <a:blipFill>
                    <a:blip r:embed="rId11"/>
                    <a:stretch>
                      <a:fillRect t="-3863" r="-31429" b="-1717"/>
                    </a:stretch>
                  </a:blipFill>
                </p:spPr>
                <p:txBody>
                  <a:bodyPr/>
                  <a:lstStyle/>
                  <a:p>
                    <a:r>
                      <a:rPr lang="zh-TW" altLang="en-US">
                        <a:noFill/>
                      </a:rPr>
                      <a:t> </a:t>
                    </a:r>
                  </a:p>
                </p:txBody>
              </p:sp>
            </mc:Fallback>
          </mc:AlternateContent>
        </p:grpSp>
      </p:grpSp>
      <p:grpSp>
        <p:nvGrpSpPr>
          <p:cNvPr id="10" name="群組 9">
            <a:extLst>
              <a:ext uri="{FF2B5EF4-FFF2-40B4-BE49-F238E27FC236}">
                <a16:creationId xmlns:a16="http://schemas.microsoft.com/office/drawing/2014/main" id="{A8049C67-2F5C-458C-9E5B-805BD4365486}"/>
              </a:ext>
            </a:extLst>
          </p:cNvPr>
          <p:cNvGrpSpPr/>
          <p:nvPr/>
        </p:nvGrpSpPr>
        <p:grpSpPr>
          <a:xfrm>
            <a:off x="6886486" y="2952061"/>
            <a:ext cx="4020935" cy="3492977"/>
            <a:chOff x="7047353" y="2596461"/>
            <a:chExt cx="4020935" cy="3492977"/>
          </a:xfrm>
        </p:grpSpPr>
        <p:pic>
          <p:nvPicPr>
            <p:cNvPr id="9" name="圖片 8">
              <a:extLst>
                <a:ext uri="{FF2B5EF4-FFF2-40B4-BE49-F238E27FC236}">
                  <a16:creationId xmlns:a16="http://schemas.microsoft.com/office/drawing/2014/main" id="{3F3EADE4-A8F9-4A89-AB2F-D04039759C41}"/>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7365451" y="2596461"/>
              <a:ext cx="3571891" cy="3344333"/>
            </a:xfrm>
            <a:prstGeom prst="rect">
              <a:avLst/>
            </a:prstGeom>
          </p:spPr>
        </p:pic>
        <p:grpSp>
          <p:nvGrpSpPr>
            <p:cNvPr id="39" name="群組 38">
              <a:extLst>
                <a:ext uri="{FF2B5EF4-FFF2-40B4-BE49-F238E27FC236}">
                  <a16:creationId xmlns:a16="http://schemas.microsoft.com/office/drawing/2014/main" id="{8B513186-9F34-4BD2-867D-6D8BEB64811B}"/>
                </a:ext>
              </a:extLst>
            </p:cNvPr>
            <p:cNvGrpSpPr/>
            <p:nvPr/>
          </p:nvGrpSpPr>
          <p:grpSpPr>
            <a:xfrm>
              <a:off x="7047353" y="3455826"/>
              <a:ext cx="4020935" cy="2633612"/>
              <a:chOff x="9104754" y="3705699"/>
              <a:chExt cx="4020935" cy="2633612"/>
            </a:xfrm>
          </p:grpSpPr>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B4B8D663-0DD9-4CD7-952F-C56EBF46FDE1}"/>
                      </a:ext>
                    </a:extLst>
                  </p:cNvPr>
                  <p:cNvSpPr txBox="1"/>
                  <p:nvPr/>
                </p:nvSpPr>
                <p:spPr>
                  <a:xfrm rot="20909962">
                    <a:off x="11687795" y="6123867"/>
                    <a:ext cx="1437894"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400" b="1" i="1" smtClean="0">
                              <a:latin typeface="Cambria Math" panose="02040503050406030204" pitchFamily="18" charset="0"/>
                            </a:rPr>
                            <m:t>𝒚</m:t>
                          </m:r>
                          <m:r>
                            <a:rPr lang="en-US" altLang="zh-TW" sz="1400" b="1" i="1" smtClean="0">
                              <a:latin typeface="Cambria Math" panose="02040503050406030204" pitchFamily="18" charset="0"/>
                            </a:rPr>
                            <m:t> </m:t>
                          </m:r>
                          <m:r>
                            <a:rPr lang="en-US" altLang="zh-TW" sz="1400" b="1" i="0" smtClean="0">
                              <a:latin typeface="Cambria Math" panose="02040503050406030204" pitchFamily="18" charset="0"/>
                            </a:rPr>
                            <m:t>(</m:t>
                          </m:r>
                          <m:r>
                            <a:rPr lang="en-US" altLang="zh-TW" sz="1400" b="1" i="1" smtClean="0">
                              <a:latin typeface="Cambria Math" panose="02040503050406030204" pitchFamily="18" charset="0"/>
                            </a:rPr>
                            <m:t>𝒎𝒊𝒄𝒓𝒐</m:t>
                          </m:r>
                          <m:r>
                            <a:rPr lang="en-US" altLang="zh-TW" sz="1400" b="1" i="1" smtClean="0">
                              <a:latin typeface="Cambria Math" panose="02040503050406030204" pitchFamily="18" charset="0"/>
                            </a:rPr>
                            <m:t> </m:t>
                          </m:r>
                          <m:r>
                            <a:rPr lang="en-US" altLang="zh-TW" sz="1400" b="1" i="1" smtClean="0">
                              <a:latin typeface="Cambria Math" panose="02040503050406030204" pitchFamily="18" charset="0"/>
                            </a:rPr>
                            <m:t>𝒎𝒆𝒕𝒆𝒓</m:t>
                          </m:r>
                          <m:r>
                            <a:rPr lang="en-US" altLang="zh-TW" sz="1400" b="1" i="0" smtClean="0">
                              <a:latin typeface="Cambria Math" panose="02040503050406030204" pitchFamily="18" charset="0"/>
                            </a:rPr>
                            <m:t>)</m:t>
                          </m:r>
                        </m:oMath>
                      </m:oMathPara>
                    </a14:m>
                    <a:endParaRPr lang="zh-TW" altLang="en-US" sz="1400" b="1" dirty="0"/>
                  </a:p>
                </p:txBody>
              </p:sp>
            </mc:Choice>
            <mc:Fallback xmlns="">
              <p:sp>
                <p:nvSpPr>
                  <p:cNvPr id="41" name="文字方塊 40">
                    <a:extLst>
                      <a:ext uri="{FF2B5EF4-FFF2-40B4-BE49-F238E27FC236}">
                        <a16:creationId xmlns:a16="http://schemas.microsoft.com/office/drawing/2014/main" id="{B4B8D663-0DD9-4CD7-952F-C56EBF46FDE1}"/>
                      </a:ext>
                    </a:extLst>
                  </p:cNvPr>
                  <p:cNvSpPr txBox="1">
                    <a:spLocks noRot="1" noChangeAspect="1" noMove="1" noResize="1" noEditPoints="1" noAdjustHandles="1" noChangeArrowheads="1" noChangeShapeType="1" noTextEdit="1"/>
                  </p:cNvSpPr>
                  <p:nvPr/>
                </p:nvSpPr>
                <p:spPr>
                  <a:xfrm rot="20909962">
                    <a:off x="11687795" y="6123867"/>
                    <a:ext cx="1437894" cy="215444"/>
                  </a:xfrm>
                  <a:prstGeom prst="rect">
                    <a:avLst/>
                  </a:prstGeom>
                  <a:blipFill>
                    <a:blip r:embed="rId13"/>
                    <a:stretch>
                      <a:fillRect l="-2092" t="-1205" r="-4184" b="-1084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2" name="文字方塊 41">
                    <a:extLst>
                      <a:ext uri="{FF2B5EF4-FFF2-40B4-BE49-F238E27FC236}">
                        <a16:creationId xmlns:a16="http://schemas.microsoft.com/office/drawing/2014/main" id="{5DD23914-830D-482A-9335-95AE8D0BD2AB}"/>
                      </a:ext>
                    </a:extLst>
                  </p:cNvPr>
                  <p:cNvSpPr txBox="1"/>
                  <p:nvPr/>
                </p:nvSpPr>
                <p:spPr>
                  <a:xfrm rot="2191537">
                    <a:off x="9243419" y="5934552"/>
                    <a:ext cx="143468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400" b="1" i="1" smtClean="0">
                              <a:latin typeface="Cambria Math" panose="02040503050406030204" pitchFamily="18" charset="0"/>
                            </a:rPr>
                            <m:t>𝒙</m:t>
                          </m:r>
                          <m:r>
                            <a:rPr lang="en-US" altLang="zh-TW" sz="1400" b="1" i="1" smtClean="0">
                              <a:latin typeface="Cambria Math" panose="02040503050406030204" pitchFamily="18" charset="0"/>
                            </a:rPr>
                            <m:t> </m:t>
                          </m:r>
                          <m:r>
                            <a:rPr lang="en-US" altLang="zh-TW" sz="1400" b="1" i="0" smtClean="0">
                              <a:latin typeface="Cambria Math" panose="02040503050406030204" pitchFamily="18" charset="0"/>
                            </a:rPr>
                            <m:t>(</m:t>
                          </m:r>
                          <m:r>
                            <a:rPr lang="en-US" altLang="zh-TW" sz="1400" b="1" i="1" smtClean="0">
                              <a:latin typeface="Cambria Math" panose="02040503050406030204" pitchFamily="18" charset="0"/>
                            </a:rPr>
                            <m:t>𝒎𝒊𝒄𝒓𝒐</m:t>
                          </m:r>
                          <m:r>
                            <a:rPr lang="en-US" altLang="zh-TW" sz="1400" b="1" i="1" smtClean="0">
                              <a:latin typeface="Cambria Math" panose="02040503050406030204" pitchFamily="18" charset="0"/>
                            </a:rPr>
                            <m:t> </m:t>
                          </m:r>
                          <m:r>
                            <a:rPr lang="en-US" altLang="zh-TW" sz="1400" b="1" i="1" smtClean="0">
                              <a:latin typeface="Cambria Math" panose="02040503050406030204" pitchFamily="18" charset="0"/>
                            </a:rPr>
                            <m:t>𝒎𝒆𝒕𝒆𝒓</m:t>
                          </m:r>
                          <m:r>
                            <a:rPr lang="en-US" altLang="zh-TW" sz="1400" b="1" i="0" smtClean="0">
                              <a:latin typeface="Cambria Math" panose="02040503050406030204" pitchFamily="18" charset="0"/>
                            </a:rPr>
                            <m:t>)</m:t>
                          </m:r>
                        </m:oMath>
                      </m:oMathPara>
                    </a14:m>
                    <a:endParaRPr lang="zh-TW" altLang="en-US" sz="1400" b="1" dirty="0"/>
                  </a:p>
                </p:txBody>
              </p:sp>
            </mc:Choice>
            <mc:Fallback xmlns="">
              <p:sp>
                <p:nvSpPr>
                  <p:cNvPr id="42" name="文字方塊 41">
                    <a:extLst>
                      <a:ext uri="{FF2B5EF4-FFF2-40B4-BE49-F238E27FC236}">
                        <a16:creationId xmlns:a16="http://schemas.microsoft.com/office/drawing/2014/main" id="{5DD23914-830D-482A-9335-95AE8D0BD2AB}"/>
                      </a:ext>
                    </a:extLst>
                  </p:cNvPr>
                  <p:cNvSpPr txBox="1">
                    <a:spLocks noRot="1" noChangeAspect="1" noMove="1" noResize="1" noEditPoints="1" noAdjustHandles="1" noChangeArrowheads="1" noChangeShapeType="1" noTextEdit="1"/>
                  </p:cNvSpPr>
                  <p:nvPr/>
                </p:nvSpPr>
                <p:spPr>
                  <a:xfrm rot="2191537">
                    <a:off x="9243419" y="5934552"/>
                    <a:ext cx="1434688" cy="215444"/>
                  </a:xfrm>
                  <a:prstGeom prst="rect">
                    <a:avLst/>
                  </a:prstGeom>
                  <a:blipFill>
                    <a:blip r:embed="rId14"/>
                    <a:stretch>
                      <a:fillRect l="-948" r="-2844" b="-828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3" name="文字方塊 42">
                    <a:extLst>
                      <a:ext uri="{FF2B5EF4-FFF2-40B4-BE49-F238E27FC236}">
                        <a16:creationId xmlns:a16="http://schemas.microsoft.com/office/drawing/2014/main" id="{46C1BC31-7B3E-4129-B06A-513DA35E134F}"/>
                      </a:ext>
                    </a:extLst>
                  </p:cNvPr>
                  <p:cNvSpPr txBox="1"/>
                  <p:nvPr/>
                </p:nvSpPr>
                <p:spPr>
                  <a:xfrm rot="16200000">
                    <a:off x="8500742" y="4309711"/>
                    <a:ext cx="142346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400" b="1" i="1" smtClean="0">
                              <a:latin typeface="Cambria Math" panose="02040503050406030204" pitchFamily="18" charset="0"/>
                            </a:rPr>
                            <m:t>𝒛</m:t>
                          </m:r>
                          <m:r>
                            <a:rPr lang="en-US" altLang="zh-TW" sz="1400" b="1" i="1" smtClean="0">
                              <a:latin typeface="Cambria Math" panose="02040503050406030204" pitchFamily="18" charset="0"/>
                            </a:rPr>
                            <m:t> </m:t>
                          </m:r>
                          <m:r>
                            <a:rPr lang="en-US" altLang="zh-TW" sz="1400" b="1" i="0" smtClean="0">
                              <a:latin typeface="Cambria Math" panose="02040503050406030204" pitchFamily="18" charset="0"/>
                            </a:rPr>
                            <m:t>(</m:t>
                          </m:r>
                          <m:r>
                            <a:rPr lang="en-US" altLang="zh-TW" sz="1400" b="1" i="1" smtClean="0">
                              <a:latin typeface="Cambria Math" panose="02040503050406030204" pitchFamily="18" charset="0"/>
                            </a:rPr>
                            <m:t>𝒎𝒊𝒄𝒓𝒐</m:t>
                          </m:r>
                          <m:r>
                            <a:rPr lang="en-US" altLang="zh-TW" sz="1400" b="1" i="1" smtClean="0">
                              <a:latin typeface="Cambria Math" panose="02040503050406030204" pitchFamily="18" charset="0"/>
                            </a:rPr>
                            <m:t> </m:t>
                          </m:r>
                          <m:r>
                            <a:rPr lang="en-US" altLang="zh-TW" sz="1400" b="1" i="1" smtClean="0">
                              <a:latin typeface="Cambria Math" panose="02040503050406030204" pitchFamily="18" charset="0"/>
                            </a:rPr>
                            <m:t>𝒎𝒆𝒕𝒆𝒓</m:t>
                          </m:r>
                          <m:r>
                            <a:rPr lang="en-US" altLang="zh-TW" sz="1400" b="1" i="0" smtClean="0">
                              <a:latin typeface="Cambria Math" panose="02040503050406030204" pitchFamily="18" charset="0"/>
                            </a:rPr>
                            <m:t>)</m:t>
                          </m:r>
                        </m:oMath>
                      </m:oMathPara>
                    </a14:m>
                    <a:endParaRPr lang="zh-TW" altLang="en-US" sz="1400" b="1" dirty="0"/>
                  </a:p>
                </p:txBody>
              </p:sp>
            </mc:Choice>
            <mc:Fallback xmlns="">
              <p:sp>
                <p:nvSpPr>
                  <p:cNvPr id="43" name="文字方塊 42">
                    <a:extLst>
                      <a:ext uri="{FF2B5EF4-FFF2-40B4-BE49-F238E27FC236}">
                        <a16:creationId xmlns:a16="http://schemas.microsoft.com/office/drawing/2014/main" id="{46C1BC31-7B3E-4129-B06A-513DA35E134F}"/>
                      </a:ext>
                    </a:extLst>
                  </p:cNvPr>
                  <p:cNvSpPr txBox="1">
                    <a:spLocks noRot="1" noChangeAspect="1" noMove="1" noResize="1" noEditPoints="1" noAdjustHandles="1" noChangeArrowheads="1" noChangeShapeType="1" noTextEdit="1"/>
                  </p:cNvSpPr>
                  <p:nvPr/>
                </p:nvSpPr>
                <p:spPr>
                  <a:xfrm rot="16200000">
                    <a:off x="8500742" y="4309711"/>
                    <a:ext cx="1423467" cy="215444"/>
                  </a:xfrm>
                  <a:prstGeom prst="rect">
                    <a:avLst/>
                  </a:prstGeom>
                  <a:blipFill>
                    <a:blip r:embed="rId4"/>
                    <a:stretch>
                      <a:fillRect t="-3846" r="-31429" b="-1282"/>
                    </a:stretch>
                  </a:blipFill>
                </p:spPr>
                <p:txBody>
                  <a:bodyPr/>
                  <a:lstStyle/>
                  <a:p>
                    <a:r>
                      <a:rPr lang="zh-TW" altLang="en-US">
                        <a:noFill/>
                      </a:rPr>
                      <a:t> </a:t>
                    </a:r>
                  </a:p>
                </p:txBody>
              </p:sp>
            </mc:Fallback>
          </mc:AlternateContent>
        </p:grpSp>
      </p:grpSp>
      <mc:AlternateContent xmlns:mc="http://schemas.openxmlformats.org/markup-compatibility/2006" xmlns:a14="http://schemas.microsoft.com/office/drawing/2010/main">
        <mc:Choice Requires="a14">
          <p:sp>
            <p:nvSpPr>
              <p:cNvPr id="17" name="文字方塊 16">
                <a:extLst>
                  <a:ext uri="{FF2B5EF4-FFF2-40B4-BE49-F238E27FC236}">
                    <a16:creationId xmlns:a16="http://schemas.microsoft.com/office/drawing/2014/main" id="{9E89BE06-C9DE-4E43-8EE5-11DEB7CC01E1}"/>
                  </a:ext>
                </a:extLst>
              </p:cNvPr>
              <p:cNvSpPr txBox="1"/>
              <p:nvPr/>
            </p:nvSpPr>
            <p:spPr>
              <a:xfrm>
                <a:off x="110067" y="552353"/>
                <a:ext cx="10666408" cy="369332"/>
              </a:xfrm>
              <a:prstGeom prst="rect">
                <a:avLst/>
              </a:prstGeom>
              <a:noFill/>
            </p:spPr>
            <p:txBody>
              <a:bodyPr wrap="square">
                <a:spAutoFit/>
              </a:bodyPr>
              <a:lstStyle/>
              <a:p>
                <a:pPr marL="285750" indent="-285750">
                  <a:buFont typeface="Arial" panose="020B0604020202020204" pitchFamily="34" charset="0"/>
                  <a:buChar char="•"/>
                </a:pPr>
                <a:r>
                  <a:rPr lang="zh-TW" altLang="en-US" dirty="0"/>
                  <a:t>The blue plot on the left shows the 528 points required by the single-parameter model </a:t>
                </a:r>
                <a:r>
                  <a:rPr lang="en-US" altLang="zh-TW" dirty="0"/>
                  <a:t>for </a:t>
                </a:r>
                <a14:m>
                  <m:oMath xmlns:m="http://schemas.openxmlformats.org/officeDocument/2006/math">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150</m:t>
                    </m:r>
                    <m:r>
                      <a:rPr lang="en-US" altLang="zh-TW" b="0" i="1" smtClean="0">
                        <a:latin typeface="Cambria Math" panose="02040503050406030204" pitchFamily="18" charset="0"/>
                        <a:ea typeface="Cambria Math" panose="02040503050406030204" pitchFamily="18" charset="0"/>
                      </a:rPr>
                      <m:t>𝑢𝑚</m:t>
                    </m:r>
                  </m:oMath>
                </a14:m>
                <a:endParaRPr lang="zh-TW" altLang="en-US" dirty="0"/>
              </a:p>
            </p:txBody>
          </p:sp>
        </mc:Choice>
        <mc:Fallback xmlns="">
          <p:sp>
            <p:nvSpPr>
              <p:cNvPr id="17" name="文字方塊 16">
                <a:extLst>
                  <a:ext uri="{FF2B5EF4-FFF2-40B4-BE49-F238E27FC236}">
                    <a16:creationId xmlns:a16="http://schemas.microsoft.com/office/drawing/2014/main" id="{9E89BE06-C9DE-4E43-8EE5-11DEB7CC01E1}"/>
                  </a:ext>
                </a:extLst>
              </p:cNvPr>
              <p:cNvSpPr txBox="1">
                <a:spLocks noRot="1" noChangeAspect="1" noMove="1" noResize="1" noEditPoints="1" noAdjustHandles="1" noChangeArrowheads="1" noChangeShapeType="1" noTextEdit="1"/>
              </p:cNvSpPr>
              <p:nvPr/>
            </p:nvSpPr>
            <p:spPr>
              <a:xfrm>
                <a:off x="110067" y="552353"/>
                <a:ext cx="10666408" cy="369332"/>
              </a:xfrm>
              <a:prstGeom prst="rect">
                <a:avLst/>
              </a:prstGeom>
              <a:blipFill>
                <a:blip r:embed="rId15"/>
                <a:stretch>
                  <a:fillRect l="-343" t="-10000" b="-2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9" name="文字方塊 18">
                <a:extLst>
                  <a:ext uri="{FF2B5EF4-FFF2-40B4-BE49-F238E27FC236}">
                    <a16:creationId xmlns:a16="http://schemas.microsoft.com/office/drawing/2014/main" id="{CEEF32AD-A489-447D-93AA-7071B82FF98E}"/>
                  </a:ext>
                </a:extLst>
              </p:cNvPr>
              <p:cNvSpPr txBox="1"/>
              <p:nvPr/>
            </p:nvSpPr>
            <p:spPr>
              <a:xfrm>
                <a:off x="110067" y="1238356"/>
                <a:ext cx="10666408" cy="369332"/>
              </a:xfrm>
              <a:prstGeom prst="rect">
                <a:avLst/>
              </a:prstGeom>
              <a:noFill/>
            </p:spPr>
            <p:txBody>
              <a:bodyPr wrap="square">
                <a:spAutoFit/>
              </a:bodyPr>
              <a:lstStyle/>
              <a:p>
                <a:pPr marL="285750" indent="-285750">
                  <a:buFont typeface="Arial" panose="020B0604020202020204" pitchFamily="34" charset="0"/>
                  <a:buChar char="•"/>
                </a:pPr>
                <a:r>
                  <a:rPr lang="en-US" altLang="zh-TW" dirty="0"/>
                  <a:t>The red plot on the right shows the 80 points of the eighteen-parameter model for </a:t>
                </a:r>
                <a14:m>
                  <m:oMath xmlns:m="http://schemas.openxmlformats.org/officeDocument/2006/math">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150</m:t>
                    </m:r>
                    <m:r>
                      <a:rPr lang="en-US" altLang="zh-TW" b="0" i="1" smtClean="0">
                        <a:latin typeface="Cambria Math" panose="02040503050406030204" pitchFamily="18" charset="0"/>
                        <a:ea typeface="Cambria Math" panose="02040503050406030204" pitchFamily="18" charset="0"/>
                      </a:rPr>
                      <m:t>𝑢𝑚</m:t>
                    </m:r>
                  </m:oMath>
                </a14:m>
                <a:endParaRPr lang="zh-TW" altLang="en-US" dirty="0"/>
              </a:p>
            </p:txBody>
          </p:sp>
        </mc:Choice>
        <mc:Fallback xmlns="">
          <p:sp>
            <p:nvSpPr>
              <p:cNvPr id="19" name="文字方塊 18">
                <a:extLst>
                  <a:ext uri="{FF2B5EF4-FFF2-40B4-BE49-F238E27FC236}">
                    <a16:creationId xmlns:a16="http://schemas.microsoft.com/office/drawing/2014/main" id="{CEEF32AD-A489-447D-93AA-7071B82FF98E}"/>
                  </a:ext>
                </a:extLst>
              </p:cNvPr>
              <p:cNvSpPr txBox="1">
                <a:spLocks noRot="1" noChangeAspect="1" noMove="1" noResize="1" noEditPoints="1" noAdjustHandles="1" noChangeArrowheads="1" noChangeShapeType="1" noTextEdit="1"/>
              </p:cNvSpPr>
              <p:nvPr/>
            </p:nvSpPr>
            <p:spPr>
              <a:xfrm>
                <a:off x="110067" y="1238356"/>
                <a:ext cx="10666408" cy="369332"/>
              </a:xfrm>
              <a:prstGeom prst="rect">
                <a:avLst/>
              </a:prstGeom>
              <a:blipFill>
                <a:blip r:embed="rId16"/>
                <a:stretch>
                  <a:fillRect l="-343" t="-8197" b="-24590"/>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26772108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Reference</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18" name="矩形 17">
            <a:extLst>
              <a:ext uri="{FF2B5EF4-FFF2-40B4-BE49-F238E27FC236}">
                <a16:creationId xmlns:a16="http://schemas.microsoft.com/office/drawing/2014/main" id="{D626DE7A-F9C6-47BF-9503-E4D79EF03BB4}"/>
              </a:ext>
            </a:extLst>
          </p:cNvPr>
          <p:cNvSpPr/>
          <p:nvPr/>
        </p:nvSpPr>
        <p:spPr>
          <a:xfrm rot="21166399">
            <a:off x="8390467" y="5858933"/>
            <a:ext cx="1877540" cy="330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12" name="群組 11">
            <a:extLst>
              <a:ext uri="{FF2B5EF4-FFF2-40B4-BE49-F238E27FC236}">
                <a16:creationId xmlns:a16="http://schemas.microsoft.com/office/drawing/2014/main" id="{77D535E6-AAFE-4013-B46D-9C13356FC6B2}"/>
              </a:ext>
            </a:extLst>
          </p:cNvPr>
          <p:cNvGrpSpPr/>
          <p:nvPr/>
        </p:nvGrpSpPr>
        <p:grpSpPr>
          <a:xfrm>
            <a:off x="315007" y="2262135"/>
            <a:ext cx="4900460" cy="4231798"/>
            <a:chOff x="315007" y="2262135"/>
            <a:chExt cx="4900460" cy="4231798"/>
          </a:xfrm>
        </p:grpSpPr>
        <p:grpSp>
          <p:nvGrpSpPr>
            <p:cNvPr id="6" name="群組 5">
              <a:extLst>
                <a:ext uri="{FF2B5EF4-FFF2-40B4-BE49-F238E27FC236}">
                  <a16:creationId xmlns:a16="http://schemas.microsoft.com/office/drawing/2014/main" id="{00578A4A-7171-48CC-9F30-0E10914EC1E9}"/>
                </a:ext>
              </a:extLst>
            </p:cNvPr>
            <p:cNvGrpSpPr/>
            <p:nvPr/>
          </p:nvGrpSpPr>
          <p:grpSpPr>
            <a:xfrm>
              <a:off x="315007" y="2262135"/>
              <a:ext cx="4900460" cy="4231798"/>
              <a:chOff x="315007" y="2262135"/>
              <a:chExt cx="4900460" cy="4231798"/>
            </a:xfrm>
          </p:grpSpPr>
          <p:pic>
            <p:nvPicPr>
              <p:cNvPr id="8" name="圖片 7">
                <a:extLst>
                  <a:ext uri="{FF2B5EF4-FFF2-40B4-BE49-F238E27FC236}">
                    <a16:creationId xmlns:a16="http://schemas.microsoft.com/office/drawing/2014/main" id="{2B3EB8BC-DD4C-4667-990B-280610E35A3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33536" y="2262135"/>
                <a:ext cx="4781931" cy="4138664"/>
              </a:xfrm>
              <a:prstGeom prst="rect">
                <a:avLst/>
              </a:prstGeom>
            </p:spPr>
          </p:pic>
          <p:sp>
            <p:nvSpPr>
              <p:cNvPr id="3" name="矩形 2">
                <a:extLst>
                  <a:ext uri="{FF2B5EF4-FFF2-40B4-BE49-F238E27FC236}">
                    <a16:creationId xmlns:a16="http://schemas.microsoft.com/office/drawing/2014/main" id="{EF0097E5-3183-40AD-A011-1D53B4ABCBC1}"/>
                  </a:ext>
                </a:extLst>
              </p:cNvPr>
              <p:cNvSpPr/>
              <p:nvPr/>
            </p:nvSpPr>
            <p:spPr>
              <a:xfrm>
                <a:off x="1625600" y="6180667"/>
                <a:ext cx="3014133" cy="31326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矩形 8">
                <a:extLst>
                  <a:ext uri="{FF2B5EF4-FFF2-40B4-BE49-F238E27FC236}">
                    <a16:creationId xmlns:a16="http://schemas.microsoft.com/office/drawing/2014/main" id="{1A80923D-D331-4A06-9EAF-0149AB1C73CD}"/>
                  </a:ext>
                </a:extLst>
              </p:cNvPr>
              <p:cNvSpPr/>
              <p:nvPr/>
            </p:nvSpPr>
            <p:spPr>
              <a:xfrm rot="16200000">
                <a:off x="-1035427" y="3970869"/>
                <a:ext cx="3014133" cy="31326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3" name="文字方塊 12">
                  <a:extLst>
                    <a:ext uri="{FF2B5EF4-FFF2-40B4-BE49-F238E27FC236}">
                      <a16:creationId xmlns:a16="http://schemas.microsoft.com/office/drawing/2014/main" id="{7BF57618-4A44-458F-82B7-469ABA778258}"/>
                    </a:ext>
                  </a:extLst>
                </p:cNvPr>
                <p:cNvSpPr txBox="1"/>
                <p:nvPr/>
              </p:nvSpPr>
              <p:spPr>
                <a:xfrm>
                  <a:off x="1641873" y="6091079"/>
                  <a:ext cx="2981585"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600" b="1" i="0" smtClean="0">
                            <a:latin typeface="Cambria Math" panose="02040503050406030204" pitchFamily="18" charset="0"/>
                          </a:rPr>
                          <m:t>𝐒𝐚𝐦𝐩𝐥𝐢𝐧𝐠</m:t>
                        </m:r>
                        <m:r>
                          <a:rPr lang="en-US" altLang="zh-TW" sz="1600" b="1" i="0" smtClean="0">
                            <a:latin typeface="Cambria Math" panose="02040503050406030204" pitchFamily="18" charset="0"/>
                          </a:rPr>
                          <m:t> </m:t>
                        </m:r>
                        <m:r>
                          <a:rPr lang="en-US" altLang="zh-TW" sz="1600" b="1" i="0" smtClean="0">
                            <a:latin typeface="Cambria Math" panose="02040503050406030204" pitchFamily="18" charset="0"/>
                          </a:rPr>
                          <m:t>𝐫𝐚𝐧𝐠𝐞</m:t>
                        </m:r>
                        <m:r>
                          <a:rPr lang="en-US" altLang="zh-TW" sz="1600" b="1" i="1" smtClean="0">
                            <a:latin typeface="Cambria Math" panose="02040503050406030204" pitchFamily="18" charset="0"/>
                          </a:rPr>
                          <m:t>(</m:t>
                        </m:r>
                        <m:r>
                          <a:rPr lang="en-US" altLang="zh-TW" sz="1600" b="1" i="1" smtClean="0">
                            <a:latin typeface="Cambria Math" panose="02040503050406030204" pitchFamily="18" charset="0"/>
                          </a:rPr>
                          <m:t>𝒎𝒊𝒄𝒓𝒐</m:t>
                        </m:r>
                        <m:r>
                          <a:rPr lang="en-US" altLang="zh-TW" sz="1600" b="1" i="1" smtClean="0">
                            <a:latin typeface="Cambria Math" panose="02040503050406030204" pitchFamily="18" charset="0"/>
                          </a:rPr>
                          <m:t> </m:t>
                        </m:r>
                        <m:r>
                          <a:rPr lang="en-US" altLang="zh-TW" sz="1600" b="1" i="1" smtClean="0">
                            <a:latin typeface="Cambria Math" panose="02040503050406030204" pitchFamily="18" charset="0"/>
                          </a:rPr>
                          <m:t>𝒎𝒆𝒕𝒆𝒓</m:t>
                        </m:r>
                        <m:r>
                          <a:rPr lang="en-US" altLang="zh-TW" sz="1600" b="1" i="1" smtClean="0">
                            <a:latin typeface="Cambria Math" panose="02040503050406030204" pitchFamily="18" charset="0"/>
                          </a:rPr>
                          <m:t>)</m:t>
                        </m:r>
                      </m:oMath>
                    </m:oMathPara>
                  </a14:m>
                  <a:endParaRPr lang="zh-TW" altLang="en-US" sz="2000" b="1" dirty="0"/>
                </a:p>
              </p:txBody>
            </p:sp>
          </mc:Choice>
          <mc:Fallback xmlns="">
            <p:sp>
              <p:nvSpPr>
                <p:cNvPr id="13" name="文字方塊 12">
                  <a:extLst>
                    <a:ext uri="{FF2B5EF4-FFF2-40B4-BE49-F238E27FC236}">
                      <a16:creationId xmlns:a16="http://schemas.microsoft.com/office/drawing/2014/main" id="{7BF57618-4A44-458F-82B7-469ABA778258}"/>
                    </a:ext>
                  </a:extLst>
                </p:cNvPr>
                <p:cNvSpPr txBox="1">
                  <a:spLocks noRot="1" noChangeAspect="1" noMove="1" noResize="1" noEditPoints="1" noAdjustHandles="1" noChangeArrowheads="1" noChangeShapeType="1" noTextEdit="1"/>
                </p:cNvSpPr>
                <p:nvPr/>
              </p:nvSpPr>
              <p:spPr>
                <a:xfrm>
                  <a:off x="1641873" y="6091079"/>
                  <a:ext cx="2981585" cy="246221"/>
                </a:xfrm>
                <a:prstGeom prst="rect">
                  <a:avLst/>
                </a:prstGeom>
                <a:blipFill>
                  <a:blip r:embed="rId3"/>
                  <a:stretch>
                    <a:fillRect l="-2045" t="-2439" r="-2045" b="-3170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4" name="文字方塊 13">
                  <a:extLst>
                    <a:ext uri="{FF2B5EF4-FFF2-40B4-BE49-F238E27FC236}">
                      <a16:creationId xmlns:a16="http://schemas.microsoft.com/office/drawing/2014/main" id="{C4F75ADE-E012-4E44-949F-FC9A573005A1}"/>
                    </a:ext>
                  </a:extLst>
                </p:cNvPr>
                <p:cNvSpPr txBox="1"/>
                <p:nvPr/>
              </p:nvSpPr>
              <p:spPr>
                <a:xfrm rot="16200000">
                  <a:off x="-406871" y="4004391"/>
                  <a:ext cx="1757019"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type m:val="lin"/>
                            <m:ctrlPr>
                              <a:rPr lang="en-US" altLang="zh-TW" sz="1600" b="1" i="1" smtClean="0">
                                <a:latin typeface="Cambria Math" panose="02040503050406030204" pitchFamily="18" charset="0"/>
                                <a:ea typeface="Cambria Math" panose="02040503050406030204" pitchFamily="18" charset="0"/>
                              </a:rPr>
                            </m:ctrlPr>
                          </m:fPr>
                          <m:num>
                            <m:r>
                              <a:rPr lang="en-US" altLang="zh-TW" sz="1600" b="1" i="0" smtClean="0">
                                <a:latin typeface="Cambria Math" panose="02040503050406030204" pitchFamily="18" charset="0"/>
                                <a:ea typeface="Cambria Math" panose="02040503050406030204" pitchFamily="18" charset="0"/>
                              </a:rPr>
                              <m:t>𝐍</m:t>
                            </m:r>
                          </m:num>
                          <m:den>
                            <m:sSub>
                              <m:sSubPr>
                                <m:ctrlPr>
                                  <a:rPr lang="en-US" altLang="zh-TW" sz="1600" b="1" i="1" smtClean="0">
                                    <a:latin typeface="Cambria Math" panose="02040503050406030204" pitchFamily="18" charset="0"/>
                                    <a:ea typeface="Cambria Math" panose="02040503050406030204" pitchFamily="18" charset="0"/>
                                  </a:rPr>
                                </m:ctrlPr>
                              </m:sSubPr>
                              <m:e>
                                <m:r>
                                  <a:rPr lang="en-US" altLang="zh-TW" sz="1600" b="1" i="0" smtClean="0">
                                    <a:latin typeface="Cambria Math" panose="02040503050406030204" pitchFamily="18" charset="0"/>
                                    <a:ea typeface="Cambria Math" panose="02040503050406030204" pitchFamily="18" charset="0"/>
                                  </a:rPr>
                                  <m:t>𝐍</m:t>
                                </m:r>
                              </m:e>
                              <m:sub>
                                <m:r>
                                  <a:rPr lang="en-US" altLang="zh-TW" sz="1600" b="1" i="0" smtClean="0">
                                    <a:latin typeface="Cambria Math" panose="02040503050406030204" pitchFamily="18" charset="0"/>
                                    <a:ea typeface="Cambria Math" panose="02040503050406030204" pitchFamily="18" charset="0"/>
                                  </a:rPr>
                                  <m:t>𝐭𝐨𝐭𝐚𝐥</m:t>
                                </m:r>
                              </m:sub>
                            </m:sSub>
                          </m:den>
                        </m:f>
                        <m:r>
                          <a:rPr lang="en-US" altLang="zh-TW" sz="1600" b="1" i="1" smtClean="0">
                            <a:latin typeface="Cambria Math" panose="02040503050406030204" pitchFamily="18" charset="0"/>
                            <a:ea typeface="Cambria Math" panose="02040503050406030204" pitchFamily="18" charset="0"/>
                          </a:rPr>
                          <m:t>∙</m:t>
                        </m:r>
                        <m:r>
                          <a:rPr lang="en-US" altLang="zh-TW" sz="1600" b="1" i="1" smtClean="0">
                            <a:latin typeface="Cambria Math" panose="02040503050406030204" pitchFamily="18" charset="0"/>
                            <a:ea typeface="Cambria Math" panose="02040503050406030204" pitchFamily="18" charset="0"/>
                          </a:rPr>
                          <m:t>𝟏𝟎𝟎</m:t>
                        </m:r>
                        <m:r>
                          <a:rPr lang="en-US" altLang="zh-TW" sz="1600" b="1" i="1" smtClean="0">
                            <a:latin typeface="Cambria Math" panose="02040503050406030204" pitchFamily="18" charset="0"/>
                          </a:rPr>
                          <m:t> (%)</m:t>
                        </m:r>
                      </m:oMath>
                    </m:oMathPara>
                  </a14:m>
                  <a:endParaRPr lang="zh-TW" altLang="en-US" sz="2000" b="1" dirty="0"/>
                </a:p>
              </p:txBody>
            </p:sp>
          </mc:Choice>
          <mc:Fallback xmlns="">
            <p:sp>
              <p:nvSpPr>
                <p:cNvPr id="14" name="文字方塊 13">
                  <a:extLst>
                    <a:ext uri="{FF2B5EF4-FFF2-40B4-BE49-F238E27FC236}">
                      <a16:creationId xmlns:a16="http://schemas.microsoft.com/office/drawing/2014/main" id="{C4F75ADE-E012-4E44-949F-FC9A573005A1}"/>
                    </a:ext>
                  </a:extLst>
                </p:cNvPr>
                <p:cNvSpPr txBox="1">
                  <a:spLocks noRot="1" noChangeAspect="1" noMove="1" noResize="1" noEditPoints="1" noAdjustHandles="1" noChangeArrowheads="1" noChangeShapeType="1" noTextEdit="1"/>
                </p:cNvSpPr>
                <p:nvPr/>
              </p:nvSpPr>
              <p:spPr>
                <a:xfrm rot="16200000">
                  <a:off x="-406871" y="4004391"/>
                  <a:ext cx="1757019" cy="246221"/>
                </a:xfrm>
                <a:prstGeom prst="rect">
                  <a:avLst/>
                </a:prstGeom>
                <a:blipFill>
                  <a:blip r:embed="rId4"/>
                  <a:stretch>
                    <a:fillRect l="-156098" t="-2083" r="-241463" b="-9028"/>
                  </a:stretch>
                </a:blipFill>
              </p:spPr>
              <p:txBody>
                <a:bodyPr/>
                <a:lstStyle/>
                <a:p>
                  <a:r>
                    <a:rPr lang="zh-TW" altLang="en-US">
                      <a:noFill/>
                    </a:rPr>
                    <a:t> </a:t>
                  </a:r>
                </a:p>
              </p:txBody>
            </p:sp>
          </mc:Fallback>
        </mc:AlternateContent>
      </p:grpSp>
      <p:grpSp>
        <p:nvGrpSpPr>
          <p:cNvPr id="15" name="群組 14">
            <a:extLst>
              <a:ext uri="{FF2B5EF4-FFF2-40B4-BE49-F238E27FC236}">
                <a16:creationId xmlns:a16="http://schemas.microsoft.com/office/drawing/2014/main" id="{49E3BF34-27DC-4061-992B-2E309F38657F}"/>
              </a:ext>
            </a:extLst>
          </p:cNvPr>
          <p:cNvGrpSpPr/>
          <p:nvPr/>
        </p:nvGrpSpPr>
        <p:grpSpPr>
          <a:xfrm>
            <a:off x="5782735" y="2262135"/>
            <a:ext cx="5528731" cy="4357046"/>
            <a:chOff x="5782735" y="2262135"/>
            <a:chExt cx="5528731" cy="4357046"/>
          </a:xfrm>
        </p:grpSpPr>
        <p:grpSp>
          <p:nvGrpSpPr>
            <p:cNvPr id="11" name="群組 10">
              <a:extLst>
                <a:ext uri="{FF2B5EF4-FFF2-40B4-BE49-F238E27FC236}">
                  <a16:creationId xmlns:a16="http://schemas.microsoft.com/office/drawing/2014/main" id="{96A2C0DF-5CDC-4349-AF1E-A7FD047A3BB5}"/>
                </a:ext>
              </a:extLst>
            </p:cNvPr>
            <p:cNvGrpSpPr/>
            <p:nvPr/>
          </p:nvGrpSpPr>
          <p:grpSpPr>
            <a:xfrm>
              <a:off x="5782735" y="2262135"/>
              <a:ext cx="5528731" cy="4357046"/>
              <a:chOff x="5782735" y="2262135"/>
              <a:chExt cx="5528731" cy="4357046"/>
            </a:xfrm>
          </p:grpSpPr>
          <p:pic>
            <p:nvPicPr>
              <p:cNvPr id="5" name="圖片 4">
                <a:extLst>
                  <a:ext uri="{FF2B5EF4-FFF2-40B4-BE49-F238E27FC236}">
                    <a16:creationId xmlns:a16="http://schemas.microsoft.com/office/drawing/2014/main" id="{920BAA76-F89D-4105-B5FB-419D8CD7CEB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833533" y="2262135"/>
                <a:ext cx="5477933" cy="4309533"/>
              </a:xfrm>
              <a:prstGeom prst="rect">
                <a:avLst/>
              </a:prstGeom>
            </p:spPr>
          </p:pic>
          <p:sp>
            <p:nvSpPr>
              <p:cNvPr id="7" name="矩形 6">
                <a:extLst>
                  <a:ext uri="{FF2B5EF4-FFF2-40B4-BE49-F238E27FC236}">
                    <a16:creationId xmlns:a16="http://schemas.microsoft.com/office/drawing/2014/main" id="{4E6C42D8-29CA-4611-B0D9-33563F7C1657}"/>
                  </a:ext>
                </a:extLst>
              </p:cNvPr>
              <p:cNvSpPr/>
              <p:nvPr/>
            </p:nvSpPr>
            <p:spPr>
              <a:xfrm>
                <a:off x="7179734" y="6305915"/>
                <a:ext cx="3386666" cy="31326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D49A6795-56F5-4D64-9C5E-74F53402F104}"/>
                  </a:ext>
                </a:extLst>
              </p:cNvPr>
              <p:cNvSpPr/>
              <p:nvPr/>
            </p:nvSpPr>
            <p:spPr>
              <a:xfrm rot="16200000">
                <a:off x="4432301" y="4078452"/>
                <a:ext cx="3014133" cy="31326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6" name="文字方塊 15">
                  <a:extLst>
                    <a:ext uri="{FF2B5EF4-FFF2-40B4-BE49-F238E27FC236}">
                      <a16:creationId xmlns:a16="http://schemas.microsoft.com/office/drawing/2014/main" id="{904E5CD8-98E7-4BA4-A1EF-6B3F61C2A7A5}"/>
                    </a:ext>
                  </a:extLst>
                </p:cNvPr>
                <p:cNvSpPr txBox="1"/>
                <p:nvPr/>
              </p:nvSpPr>
              <p:spPr>
                <a:xfrm rot="16200000">
                  <a:off x="5029073" y="4111974"/>
                  <a:ext cx="1757019"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type m:val="lin"/>
                            <m:ctrlPr>
                              <a:rPr lang="en-US" altLang="zh-TW" sz="1600" b="1" i="1" smtClean="0">
                                <a:latin typeface="Cambria Math" panose="02040503050406030204" pitchFamily="18" charset="0"/>
                                <a:ea typeface="Cambria Math" panose="02040503050406030204" pitchFamily="18" charset="0"/>
                              </a:rPr>
                            </m:ctrlPr>
                          </m:fPr>
                          <m:num>
                            <m:r>
                              <a:rPr lang="en-US" altLang="zh-TW" sz="1600" b="1" i="0" smtClean="0">
                                <a:latin typeface="Cambria Math" panose="02040503050406030204" pitchFamily="18" charset="0"/>
                                <a:ea typeface="Cambria Math" panose="02040503050406030204" pitchFamily="18" charset="0"/>
                              </a:rPr>
                              <m:t>𝐍</m:t>
                            </m:r>
                          </m:num>
                          <m:den>
                            <m:sSub>
                              <m:sSubPr>
                                <m:ctrlPr>
                                  <a:rPr lang="en-US" altLang="zh-TW" sz="1600" b="1" i="1" smtClean="0">
                                    <a:latin typeface="Cambria Math" panose="02040503050406030204" pitchFamily="18" charset="0"/>
                                    <a:ea typeface="Cambria Math" panose="02040503050406030204" pitchFamily="18" charset="0"/>
                                  </a:rPr>
                                </m:ctrlPr>
                              </m:sSubPr>
                              <m:e>
                                <m:r>
                                  <a:rPr lang="en-US" altLang="zh-TW" sz="1600" b="1" i="0" smtClean="0">
                                    <a:latin typeface="Cambria Math" panose="02040503050406030204" pitchFamily="18" charset="0"/>
                                    <a:ea typeface="Cambria Math" panose="02040503050406030204" pitchFamily="18" charset="0"/>
                                  </a:rPr>
                                  <m:t>𝐍</m:t>
                                </m:r>
                              </m:e>
                              <m:sub>
                                <m:r>
                                  <a:rPr lang="en-US" altLang="zh-TW" sz="1600" b="1" i="0" smtClean="0">
                                    <a:latin typeface="Cambria Math" panose="02040503050406030204" pitchFamily="18" charset="0"/>
                                    <a:ea typeface="Cambria Math" panose="02040503050406030204" pitchFamily="18" charset="0"/>
                                  </a:rPr>
                                  <m:t>𝐭𝐨𝐭𝐚𝐥</m:t>
                                </m:r>
                              </m:sub>
                            </m:sSub>
                          </m:den>
                        </m:f>
                        <m:r>
                          <a:rPr lang="en-US" altLang="zh-TW" sz="1600" b="1" i="1" smtClean="0">
                            <a:latin typeface="Cambria Math" panose="02040503050406030204" pitchFamily="18" charset="0"/>
                            <a:ea typeface="Cambria Math" panose="02040503050406030204" pitchFamily="18" charset="0"/>
                          </a:rPr>
                          <m:t>∙</m:t>
                        </m:r>
                        <m:r>
                          <a:rPr lang="en-US" altLang="zh-TW" sz="1600" b="1" i="1" smtClean="0">
                            <a:latin typeface="Cambria Math" panose="02040503050406030204" pitchFamily="18" charset="0"/>
                            <a:ea typeface="Cambria Math" panose="02040503050406030204" pitchFamily="18" charset="0"/>
                          </a:rPr>
                          <m:t>𝟏𝟎𝟎</m:t>
                        </m:r>
                        <m:r>
                          <a:rPr lang="en-US" altLang="zh-TW" sz="1600" b="1" i="1" smtClean="0">
                            <a:latin typeface="Cambria Math" panose="02040503050406030204" pitchFamily="18" charset="0"/>
                          </a:rPr>
                          <m:t> (%)</m:t>
                        </m:r>
                      </m:oMath>
                    </m:oMathPara>
                  </a14:m>
                  <a:endParaRPr lang="zh-TW" altLang="en-US" sz="2000" b="1" dirty="0"/>
                </a:p>
              </p:txBody>
            </p:sp>
          </mc:Choice>
          <mc:Fallback xmlns="">
            <p:sp>
              <p:nvSpPr>
                <p:cNvPr id="16" name="文字方塊 15">
                  <a:extLst>
                    <a:ext uri="{FF2B5EF4-FFF2-40B4-BE49-F238E27FC236}">
                      <a16:creationId xmlns:a16="http://schemas.microsoft.com/office/drawing/2014/main" id="{904E5CD8-98E7-4BA4-A1EF-6B3F61C2A7A5}"/>
                    </a:ext>
                  </a:extLst>
                </p:cNvPr>
                <p:cNvSpPr txBox="1">
                  <a:spLocks noRot="1" noChangeAspect="1" noMove="1" noResize="1" noEditPoints="1" noAdjustHandles="1" noChangeArrowheads="1" noChangeShapeType="1" noTextEdit="1"/>
                </p:cNvSpPr>
                <p:nvPr/>
              </p:nvSpPr>
              <p:spPr>
                <a:xfrm rot="16200000">
                  <a:off x="5029073" y="4111974"/>
                  <a:ext cx="1757019" cy="246221"/>
                </a:xfrm>
                <a:prstGeom prst="rect">
                  <a:avLst/>
                </a:prstGeom>
                <a:blipFill>
                  <a:blip r:embed="rId6"/>
                  <a:stretch>
                    <a:fillRect l="-162500" t="-2431" r="-247500" b="-868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7" name="文字方塊 16">
                  <a:extLst>
                    <a:ext uri="{FF2B5EF4-FFF2-40B4-BE49-F238E27FC236}">
                      <a16:creationId xmlns:a16="http://schemas.microsoft.com/office/drawing/2014/main" id="{05AF3486-E272-4BE4-BE02-43EF87A530D1}"/>
                    </a:ext>
                  </a:extLst>
                </p:cNvPr>
                <p:cNvSpPr txBox="1"/>
                <p:nvPr/>
              </p:nvSpPr>
              <p:spPr>
                <a:xfrm>
                  <a:off x="7633876" y="6211481"/>
                  <a:ext cx="2981585"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600" b="1" i="0" smtClean="0">
                            <a:latin typeface="Cambria Math" panose="02040503050406030204" pitchFamily="18" charset="0"/>
                          </a:rPr>
                          <m:t>𝐒𝐚𝐦𝐩𝐥𝐢𝐧𝐠</m:t>
                        </m:r>
                        <m:r>
                          <a:rPr lang="en-US" altLang="zh-TW" sz="1600" b="1" i="0" smtClean="0">
                            <a:latin typeface="Cambria Math" panose="02040503050406030204" pitchFamily="18" charset="0"/>
                          </a:rPr>
                          <m:t> </m:t>
                        </m:r>
                        <m:r>
                          <a:rPr lang="en-US" altLang="zh-TW" sz="1600" b="1" i="0" smtClean="0">
                            <a:latin typeface="Cambria Math" panose="02040503050406030204" pitchFamily="18" charset="0"/>
                          </a:rPr>
                          <m:t>𝐫𝐚𝐧𝐠𝐞</m:t>
                        </m:r>
                        <m:r>
                          <a:rPr lang="en-US" altLang="zh-TW" sz="1600" b="1" i="1" smtClean="0">
                            <a:latin typeface="Cambria Math" panose="02040503050406030204" pitchFamily="18" charset="0"/>
                          </a:rPr>
                          <m:t>(</m:t>
                        </m:r>
                        <m:r>
                          <a:rPr lang="en-US" altLang="zh-TW" sz="1600" b="1" i="1" smtClean="0">
                            <a:latin typeface="Cambria Math" panose="02040503050406030204" pitchFamily="18" charset="0"/>
                          </a:rPr>
                          <m:t>𝒎𝒊𝒄𝒓𝒐</m:t>
                        </m:r>
                        <m:r>
                          <a:rPr lang="en-US" altLang="zh-TW" sz="1600" b="1" i="1" smtClean="0">
                            <a:latin typeface="Cambria Math" panose="02040503050406030204" pitchFamily="18" charset="0"/>
                          </a:rPr>
                          <m:t> </m:t>
                        </m:r>
                        <m:r>
                          <a:rPr lang="en-US" altLang="zh-TW" sz="1600" b="1" i="1" smtClean="0">
                            <a:latin typeface="Cambria Math" panose="02040503050406030204" pitchFamily="18" charset="0"/>
                          </a:rPr>
                          <m:t>𝒎𝒆𝒕𝒆𝒓</m:t>
                        </m:r>
                        <m:r>
                          <a:rPr lang="en-US" altLang="zh-TW" sz="1600" b="1" i="1" smtClean="0">
                            <a:latin typeface="Cambria Math" panose="02040503050406030204" pitchFamily="18" charset="0"/>
                          </a:rPr>
                          <m:t>)</m:t>
                        </m:r>
                      </m:oMath>
                    </m:oMathPara>
                  </a14:m>
                  <a:endParaRPr lang="zh-TW" altLang="en-US" sz="2000" b="1" dirty="0"/>
                </a:p>
              </p:txBody>
            </p:sp>
          </mc:Choice>
          <mc:Fallback xmlns="">
            <p:sp>
              <p:nvSpPr>
                <p:cNvPr id="17" name="文字方塊 16">
                  <a:extLst>
                    <a:ext uri="{FF2B5EF4-FFF2-40B4-BE49-F238E27FC236}">
                      <a16:creationId xmlns:a16="http://schemas.microsoft.com/office/drawing/2014/main" id="{05AF3486-E272-4BE4-BE02-43EF87A530D1}"/>
                    </a:ext>
                  </a:extLst>
                </p:cNvPr>
                <p:cNvSpPr txBox="1">
                  <a:spLocks noRot="1" noChangeAspect="1" noMove="1" noResize="1" noEditPoints="1" noAdjustHandles="1" noChangeArrowheads="1" noChangeShapeType="1" noTextEdit="1"/>
                </p:cNvSpPr>
                <p:nvPr/>
              </p:nvSpPr>
              <p:spPr>
                <a:xfrm>
                  <a:off x="7633876" y="6211481"/>
                  <a:ext cx="2981585" cy="246221"/>
                </a:xfrm>
                <a:prstGeom prst="rect">
                  <a:avLst/>
                </a:prstGeom>
                <a:blipFill>
                  <a:blip r:embed="rId7"/>
                  <a:stretch>
                    <a:fillRect l="-2045" t="-2500" r="-2045" b="-35000"/>
                  </a:stretch>
                </a:blipFill>
              </p:spPr>
              <p:txBody>
                <a:bodyPr/>
                <a:lstStyle/>
                <a:p>
                  <a:r>
                    <a:rPr lang="zh-TW" altLang="en-US">
                      <a:noFill/>
                    </a:rPr>
                    <a:t> </a:t>
                  </a:r>
                </a:p>
              </p:txBody>
            </p:sp>
          </mc:Fallback>
        </mc:AlternateContent>
      </p:grpSp>
      <p:sp>
        <p:nvSpPr>
          <p:cNvPr id="20" name="文字方塊 19">
            <a:extLst>
              <a:ext uri="{FF2B5EF4-FFF2-40B4-BE49-F238E27FC236}">
                <a16:creationId xmlns:a16="http://schemas.microsoft.com/office/drawing/2014/main" id="{51F70BAE-D924-48C9-8036-D86345E1B99E}"/>
              </a:ext>
            </a:extLst>
          </p:cNvPr>
          <p:cNvSpPr txBox="1"/>
          <p:nvPr/>
        </p:nvSpPr>
        <p:spPr>
          <a:xfrm>
            <a:off x="110067" y="498484"/>
            <a:ext cx="11853333" cy="1754326"/>
          </a:xfrm>
          <a:prstGeom prst="rect">
            <a:avLst/>
          </a:prstGeom>
          <a:noFill/>
        </p:spPr>
        <p:txBody>
          <a:bodyPr wrap="square">
            <a:spAutoFit/>
          </a:bodyPr>
          <a:lstStyle/>
          <a:p>
            <a:pPr marL="285750" indent="-285750">
              <a:buFont typeface="Arial" panose="020B0604020202020204" pitchFamily="34" charset="0"/>
              <a:buChar char="•"/>
            </a:pPr>
            <a:r>
              <a:rPr lang="zh-TW" altLang="en-US" dirty="0"/>
              <a:t>Both models need less than 1% of the available points over the intermediate range, which is highly efficient; but both ends degrade — small R suffers from insufficient information and large R from the model itself beginning to fail, requiring large numbers of points to compensate.</a:t>
            </a:r>
            <a:r>
              <a:rPr lang="en-US" altLang="zh-TW" dirty="0"/>
              <a:t> The single-parameter curve starts at 140 µm because at smaller radii the number of points it requires exceeds the number of real grid points the region actually contains</a:t>
            </a:r>
            <a:r>
              <a:rPr lang="zh-TW" altLang="en-US" dirty="0"/>
              <a:t>，</a:t>
            </a:r>
            <a:r>
              <a:rPr lang="en-US" altLang="zh-TW" dirty="0"/>
              <a:t> since the information it needs exceeds the measurement points the region can supply, whereas the eighteen-parameter model requires less than a quarter of the available grid points over the same region and can therefore be plotted from 80 µm.</a:t>
            </a:r>
            <a:endParaRPr lang="zh-TW" altLang="en-US" dirty="0"/>
          </a:p>
        </p:txBody>
      </p:sp>
    </p:spTree>
    <p:extLst>
      <p:ext uri="{BB962C8B-B14F-4D97-AF65-F5344CB8AC3E}">
        <p14:creationId xmlns:p14="http://schemas.microsoft.com/office/powerpoint/2010/main" val="303882692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Reference</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18" name="矩形 17">
            <a:extLst>
              <a:ext uri="{FF2B5EF4-FFF2-40B4-BE49-F238E27FC236}">
                <a16:creationId xmlns:a16="http://schemas.microsoft.com/office/drawing/2014/main" id="{D626DE7A-F9C6-47BF-9503-E4D79EF03BB4}"/>
              </a:ext>
            </a:extLst>
          </p:cNvPr>
          <p:cNvSpPr/>
          <p:nvPr/>
        </p:nvSpPr>
        <p:spPr>
          <a:xfrm rot="21166399">
            <a:off x="8390467" y="5858933"/>
            <a:ext cx="1877540" cy="330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17" name="群組 16">
            <a:extLst>
              <a:ext uri="{FF2B5EF4-FFF2-40B4-BE49-F238E27FC236}">
                <a16:creationId xmlns:a16="http://schemas.microsoft.com/office/drawing/2014/main" id="{789E8715-06E5-4C54-AF2E-31A9102C0866}"/>
              </a:ext>
            </a:extLst>
          </p:cNvPr>
          <p:cNvGrpSpPr/>
          <p:nvPr/>
        </p:nvGrpSpPr>
        <p:grpSpPr>
          <a:xfrm>
            <a:off x="136324" y="1141590"/>
            <a:ext cx="5435165" cy="4381840"/>
            <a:chOff x="364924" y="2171360"/>
            <a:chExt cx="5435165" cy="4381840"/>
          </a:xfrm>
        </p:grpSpPr>
        <p:grpSp>
          <p:nvGrpSpPr>
            <p:cNvPr id="16" name="群組 15">
              <a:extLst>
                <a:ext uri="{FF2B5EF4-FFF2-40B4-BE49-F238E27FC236}">
                  <a16:creationId xmlns:a16="http://schemas.microsoft.com/office/drawing/2014/main" id="{7767643A-3691-4476-8BE9-8F4F7169A512}"/>
                </a:ext>
              </a:extLst>
            </p:cNvPr>
            <p:cNvGrpSpPr/>
            <p:nvPr/>
          </p:nvGrpSpPr>
          <p:grpSpPr>
            <a:xfrm>
              <a:off x="394809" y="2423160"/>
              <a:ext cx="4953012" cy="4130040"/>
              <a:chOff x="394809" y="2423160"/>
              <a:chExt cx="4953012" cy="4130040"/>
            </a:xfrm>
          </p:grpSpPr>
          <p:pic>
            <p:nvPicPr>
              <p:cNvPr id="4" name="圖片 3">
                <a:extLst>
                  <a:ext uri="{FF2B5EF4-FFF2-40B4-BE49-F238E27FC236}">
                    <a16:creationId xmlns:a16="http://schemas.microsoft.com/office/drawing/2014/main" id="{069B5A38-E655-4020-96BB-D6465EBAD6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4809" y="2423160"/>
                <a:ext cx="4953012" cy="4059936"/>
              </a:xfrm>
              <a:prstGeom prst="rect">
                <a:avLst/>
              </a:prstGeom>
            </p:spPr>
          </p:pic>
          <p:sp>
            <p:nvSpPr>
              <p:cNvPr id="6" name="矩形 5">
                <a:extLst>
                  <a:ext uri="{FF2B5EF4-FFF2-40B4-BE49-F238E27FC236}">
                    <a16:creationId xmlns:a16="http://schemas.microsoft.com/office/drawing/2014/main" id="{3C62A111-FBCE-4A96-AF3A-3C229299F8F1}"/>
                  </a:ext>
                </a:extLst>
              </p:cNvPr>
              <p:cNvSpPr/>
              <p:nvPr/>
            </p:nvSpPr>
            <p:spPr>
              <a:xfrm>
                <a:off x="2328333" y="6231467"/>
                <a:ext cx="1524000" cy="3217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矩形 8">
                <a:extLst>
                  <a:ext uri="{FF2B5EF4-FFF2-40B4-BE49-F238E27FC236}">
                    <a16:creationId xmlns:a16="http://schemas.microsoft.com/office/drawing/2014/main" id="{4B6FB3BF-DC73-4C39-B669-4899A765A7D1}"/>
                  </a:ext>
                </a:extLst>
              </p:cNvPr>
              <p:cNvSpPr/>
              <p:nvPr/>
            </p:nvSpPr>
            <p:spPr>
              <a:xfrm>
                <a:off x="394810" y="3826933"/>
                <a:ext cx="231724" cy="84666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44F63BD1-3D20-4341-9A13-D8BB4B110D1D}"/>
                    </a:ext>
                  </a:extLst>
                </p:cNvPr>
                <p:cNvSpPr txBox="1"/>
                <p:nvPr/>
              </p:nvSpPr>
              <p:spPr>
                <a:xfrm>
                  <a:off x="1506088" y="6141054"/>
                  <a:ext cx="2981585"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600" b="1" i="0" smtClean="0">
                            <a:latin typeface="Cambria Math" panose="02040503050406030204" pitchFamily="18" charset="0"/>
                          </a:rPr>
                          <m:t>𝐒𝐚𝐦𝐩𝐥𝐢𝐧𝐠</m:t>
                        </m:r>
                        <m:r>
                          <a:rPr lang="en-US" altLang="zh-TW" sz="1600" b="1" i="0" smtClean="0">
                            <a:latin typeface="Cambria Math" panose="02040503050406030204" pitchFamily="18" charset="0"/>
                          </a:rPr>
                          <m:t> </m:t>
                        </m:r>
                        <m:r>
                          <a:rPr lang="en-US" altLang="zh-TW" sz="1600" b="1" i="0" smtClean="0">
                            <a:latin typeface="Cambria Math" panose="02040503050406030204" pitchFamily="18" charset="0"/>
                          </a:rPr>
                          <m:t>𝐫𝐚𝐧𝐠𝐞</m:t>
                        </m:r>
                        <m:r>
                          <a:rPr lang="en-US" altLang="zh-TW" sz="1600" b="1" i="1" smtClean="0">
                            <a:latin typeface="Cambria Math" panose="02040503050406030204" pitchFamily="18" charset="0"/>
                          </a:rPr>
                          <m:t>(</m:t>
                        </m:r>
                        <m:r>
                          <a:rPr lang="en-US" altLang="zh-TW" sz="1600" b="1" i="1" smtClean="0">
                            <a:latin typeface="Cambria Math" panose="02040503050406030204" pitchFamily="18" charset="0"/>
                          </a:rPr>
                          <m:t>𝒎𝒊𝒄𝒓𝒐</m:t>
                        </m:r>
                        <m:r>
                          <a:rPr lang="en-US" altLang="zh-TW" sz="1600" b="1" i="1" smtClean="0">
                            <a:latin typeface="Cambria Math" panose="02040503050406030204" pitchFamily="18" charset="0"/>
                          </a:rPr>
                          <m:t> </m:t>
                        </m:r>
                        <m:r>
                          <a:rPr lang="en-US" altLang="zh-TW" sz="1600" b="1" i="1" smtClean="0">
                            <a:latin typeface="Cambria Math" panose="02040503050406030204" pitchFamily="18" charset="0"/>
                          </a:rPr>
                          <m:t>𝒎𝒆𝒕𝒆𝒓</m:t>
                        </m:r>
                        <m:r>
                          <a:rPr lang="en-US" altLang="zh-TW" sz="1600" b="1" i="1" smtClean="0">
                            <a:latin typeface="Cambria Math" panose="02040503050406030204" pitchFamily="18" charset="0"/>
                          </a:rPr>
                          <m:t>)</m:t>
                        </m:r>
                      </m:oMath>
                    </m:oMathPara>
                  </a14:m>
                  <a:endParaRPr lang="zh-TW" altLang="en-US" sz="2000" b="1" dirty="0"/>
                </a:p>
              </p:txBody>
            </p:sp>
          </mc:Choice>
          <mc:Fallback xmlns="">
            <p:sp>
              <p:nvSpPr>
                <p:cNvPr id="10" name="文字方塊 9">
                  <a:extLst>
                    <a:ext uri="{FF2B5EF4-FFF2-40B4-BE49-F238E27FC236}">
                      <a16:creationId xmlns:a16="http://schemas.microsoft.com/office/drawing/2014/main" id="{44F63BD1-3D20-4341-9A13-D8BB4B110D1D}"/>
                    </a:ext>
                  </a:extLst>
                </p:cNvPr>
                <p:cNvSpPr txBox="1">
                  <a:spLocks noRot="1" noChangeAspect="1" noMove="1" noResize="1" noEditPoints="1" noAdjustHandles="1" noChangeArrowheads="1" noChangeShapeType="1" noTextEdit="1"/>
                </p:cNvSpPr>
                <p:nvPr/>
              </p:nvSpPr>
              <p:spPr>
                <a:xfrm>
                  <a:off x="1506088" y="6141054"/>
                  <a:ext cx="2981585" cy="246221"/>
                </a:xfrm>
                <a:prstGeom prst="rect">
                  <a:avLst/>
                </a:prstGeom>
                <a:blipFill>
                  <a:blip r:embed="rId3"/>
                  <a:stretch>
                    <a:fillRect l="-2045" t="-2439" r="-1840" b="-3170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3" name="文字方塊 12">
                  <a:extLst>
                    <a:ext uri="{FF2B5EF4-FFF2-40B4-BE49-F238E27FC236}">
                      <a16:creationId xmlns:a16="http://schemas.microsoft.com/office/drawing/2014/main" id="{63659279-B06E-4F24-BD19-93CB504D5CE7}"/>
                    </a:ext>
                  </a:extLst>
                </p:cNvPr>
                <p:cNvSpPr txBox="1"/>
                <p:nvPr/>
              </p:nvSpPr>
              <p:spPr>
                <a:xfrm rot="16200000">
                  <a:off x="-384801" y="4211822"/>
                  <a:ext cx="1745671"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600" b="1" i="0" smtClean="0">
                            <a:latin typeface="Cambria Math" panose="02040503050406030204" pitchFamily="18" charset="0"/>
                          </a:rPr>
                          <m:t>𝐍𝐮𝐦𝐛𝐞𝐫</m:t>
                        </m:r>
                        <m:r>
                          <a:rPr lang="en-US" altLang="zh-TW" sz="1600" b="1" i="0" smtClean="0">
                            <a:latin typeface="Cambria Math" panose="02040503050406030204" pitchFamily="18" charset="0"/>
                          </a:rPr>
                          <m:t> </m:t>
                        </m:r>
                        <m:r>
                          <a:rPr lang="en-US" altLang="zh-TW" sz="1600" b="1" i="0" smtClean="0">
                            <a:latin typeface="Cambria Math" panose="02040503050406030204" pitchFamily="18" charset="0"/>
                          </a:rPr>
                          <m:t>𝐨𝐟</m:t>
                        </m:r>
                        <m:r>
                          <a:rPr lang="en-US" altLang="zh-TW" sz="1600" b="1" i="0" smtClean="0">
                            <a:latin typeface="Cambria Math" panose="02040503050406030204" pitchFamily="18" charset="0"/>
                          </a:rPr>
                          <m:t> </m:t>
                        </m:r>
                        <m:r>
                          <a:rPr lang="en-US" altLang="zh-TW" sz="1600" b="1" i="0" smtClean="0">
                            <a:latin typeface="Cambria Math" panose="02040503050406030204" pitchFamily="18" charset="0"/>
                          </a:rPr>
                          <m:t>𝐩𝐨𝐢𝐧𝐭𝐬</m:t>
                        </m:r>
                      </m:oMath>
                    </m:oMathPara>
                  </a14:m>
                  <a:endParaRPr lang="zh-TW" altLang="en-US" sz="1600" b="1" dirty="0"/>
                </a:p>
              </p:txBody>
            </p:sp>
          </mc:Choice>
          <mc:Fallback xmlns="">
            <p:sp>
              <p:nvSpPr>
                <p:cNvPr id="13" name="文字方塊 12">
                  <a:extLst>
                    <a:ext uri="{FF2B5EF4-FFF2-40B4-BE49-F238E27FC236}">
                      <a16:creationId xmlns:a16="http://schemas.microsoft.com/office/drawing/2014/main" id="{63659279-B06E-4F24-BD19-93CB504D5CE7}"/>
                    </a:ext>
                  </a:extLst>
                </p:cNvPr>
                <p:cNvSpPr txBox="1">
                  <a:spLocks noRot="1" noChangeAspect="1" noMove="1" noResize="1" noEditPoints="1" noAdjustHandles="1" noChangeArrowheads="1" noChangeShapeType="1" noTextEdit="1"/>
                </p:cNvSpPr>
                <p:nvPr/>
              </p:nvSpPr>
              <p:spPr>
                <a:xfrm rot="16200000">
                  <a:off x="-384801" y="4211822"/>
                  <a:ext cx="1745671" cy="246221"/>
                </a:xfrm>
                <a:prstGeom prst="rect">
                  <a:avLst/>
                </a:prstGeom>
                <a:blipFill>
                  <a:blip r:embed="rId4"/>
                  <a:stretch>
                    <a:fillRect t="-3147" r="-29268" b="-27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1EB4FB6D-96F5-4D84-BCF3-F4D50FB6A07F}"/>
                    </a:ext>
                  </a:extLst>
                </p:cNvPr>
                <p:cNvSpPr txBox="1"/>
                <p:nvPr/>
              </p:nvSpPr>
              <p:spPr>
                <a:xfrm>
                  <a:off x="5216981" y="5616828"/>
                  <a:ext cx="583108" cy="25064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600" b="1" i="1" smtClean="0">
                            <a:latin typeface="Cambria Math" panose="02040503050406030204" pitchFamily="18" charset="0"/>
                            <a:ea typeface="Cambria Math" panose="02040503050406030204" pitchFamily="18" charset="0"/>
                          </a:rPr>
                          <m:t>×</m:t>
                        </m:r>
                        <m:sSup>
                          <m:sSupPr>
                            <m:ctrlPr>
                              <a:rPr lang="en-US" altLang="zh-TW" sz="1600" b="1" i="1" smtClean="0">
                                <a:latin typeface="Cambria Math" panose="02040503050406030204" pitchFamily="18" charset="0"/>
                                <a:ea typeface="Cambria Math" panose="02040503050406030204" pitchFamily="18" charset="0"/>
                              </a:rPr>
                            </m:ctrlPr>
                          </m:sSupPr>
                          <m:e>
                            <m:r>
                              <a:rPr lang="en-US" altLang="zh-TW" sz="1600" b="1" i="1" smtClean="0">
                                <a:latin typeface="Cambria Math" panose="02040503050406030204" pitchFamily="18" charset="0"/>
                                <a:ea typeface="Cambria Math" panose="02040503050406030204" pitchFamily="18" charset="0"/>
                              </a:rPr>
                              <m:t>𝟏𝟎</m:t>
                            </m:r>
                          </m:e>
                          <m:sup>
                            <m:r>
                              <a:rPr lang="en-US" altLang="zh-TW" sz="1600" b="1" i="1" smtClean="0">
                                <a:latin typeface="Cambria Math" panose="02040503050406030204" pitchFamily="18" charset="0"/>
                                <a:ea typeface="Cambria Math" panose="02040503050406030204" pitchFamily="18" charset="0"/>
                              </a:rPr>
                              <m:t>𝟕</m:t>
                            </m:r>
                          </m:sup>
                        </m:sSup>
                      </m:oMath>
                    </m:oMathPara>
                  </a14:m>
                  <a:endParaRPr lang="zh-TW" altLang="en-US" sz="1600" b="1" dirty="0"/>
                </a:p>
              </p:txBody>
            </p:sp>
          </mc:Choice>
          <mc:Fallback xmlns="">
            <p:sp>
              <p:nvSpPr>
                <p:cNvPr id="11" name="文字方塊 10">
                  <a:extLst>
                    <a:ext uri="{FF2B5EF4-FFF2-40B4-BE49-F238E27FC236}">
                      <a16:creationId xmlns:a16="http://schemas.microsoft.com/office/drawing/2014/main" id="{1EB4FB6D-96F5-4D84-BCF3-F4D50FB6A07F}"/>
                    </a:ext>
                  </a:extLst>
                </p:cNvPr>
                <p:cNvSpPr txBox="1">
                  <a:spLocks noRot="1" noChangeAspect="1" noMove="1" noResize="1" noEditPoints="1" noAdjustHandles="1" noChangeArrowheads="1" noChangeShapeType="1" noTextEdit="1"/>
                </p:cNvSpPr>
                <p:nvPr/>
              </p:nvSpPr>
              <p:spPr>
                <a:xfrm>
                  <a:off x="5216981" y="5616828"/>
                  <a:ext cx="583108" cy="250646"/>
                </a:xfrm>
                <a:prstGeom prst="rect">
                  <a:avLst/>
                </a:prstGeom>
                <a:blipFill>
                  <a:blip r:embed="rId5"/>
                  <a:stretch>
                    <a:fillRect l="-5208" r="-2083" b="-4762"/>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9" name="文字方塊 18">
                  <a:extLst>
                    <a:ext uri="{FF2B5EF4-FFF2-40B4-BE49-F238E27FC236}">
                      <a16:creationId xmlns:a16="http://schemas.microsoft.com/office/drawing/2014/main" id="{271DA3D8-FE97-4605-890B-79D6B86B5163}"/>
                    </a:ext>
                  </a:extLst>
                </p:cNvPr>
                <p:cNvSpPr txBox="1"/>
                <p:nvPr/>
              </p:nvSpPr>
              <p:spPr>
                <a:xfrm>
                  <a:off x="626534" y="2171360"/>
                  <a:ext cx="583108" cy="25180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600" b="1" i="1" smtClean="0">
                            <a:latin typeface="Cambria Math" panose="02040503050406030204" pitchFamily="18" charset="0"/>
                            <a:ea typeface="Cambria Math" panose="02040503050406030204" pitchFamily="18" charset="0"/>
                          </a:rPr>
                          <m:t>×</m:t>
                        </m:r>
                        <m:sSup>
                          <m:sSupPr>
                            <m:ctrlPr>
                              <a:rPr lang="en-US" altLang="zh-TW" sz="1600" b="1" i="1" smtClean="0">
                                <a:latin typeface="Cambria Math" panose="02040503050406030204" pitchFamily="18" charset="0"/>
                                <a:ea typeface="Cambria Math" panose="02040503050406030204" pitchFamily="18" charset="0"/>
                              </a:rPr>
                            </m:ctrlPr>
                          </m:sSupPr>
                          <m:e>
                            <m:r>
                              <a:rPr lang="en-US" altLang="zh-TW" sz="1600" b="1" i="1" smtClean="0">
                                <a:latin typeface="Cambria Math" panose="02040503050406030204" pitchFamily="18" charset="0"/>
                                <a:ea typeface="Cambria Math" panose="02040503050406030204" pitchFamily="18" charset="0"/>
                              </a:rPr>
                              <m:t>𝟏𝟎</m:t>
                            </m:r>
                          </m:e>
                          <m:sup>
                            <m:r>
                              <a:rPr lang="en-US" altLang="zh-TW" sz="1600" b="1" i="1" smtClean="0">
                                <a:latin typeface="Cambria Math" panose="02040503050406030204" pitchFamily="18" charset="0"/>
                                <a:ea typeface="Cambria Math" panose="02040503050406030204" pitchFamily="18" charset="0"/>
                              </a:rPr>
                              <m:t>𝟑</m:t>
                            </m:r>
                          </m:sup>
                        </m:sSup>
                      </m:oMath>
                    </m:oMathPara>
                  </a14:m>
                  <a:endParaRPr lang="zh-TW" altLang="en-US" sz="1600" b="1" dirty="0"/>
                </a:p>
              </p:txBody>
            </p:sp>
          </mc:Choice>
          <mc:Fallback xmlns="">
            <p:sp>
              <p:nvSpPr>
                <p:cNvPr id="19" name="文字方塊 18">
                  <a:extLst>
                    <a:ext uri="{FF2B5EF4-FFF2-40B4-BE49-F238E27FC236}">
                      <a16:creationId xmlns:a16="http://schemas.microsoft.com/office/drawing/2014/main" id="{271DA3D8-FE97-4605-890B-79D6B86B5163}"/>
                    </a:ext>
                  </a:extLst>
                </p:cNvPr>
                <p:cNvSpPr txBox="1">
                  <a:spLocks noRot="1" noChangeAspect="1" noMove="1" noResize="1" noEditPoints="1" noAdjustHandles="1" noChangeArrowheads="1" noChangeShapeType="1" noTextEdit="1"/>
                </p:cNvSpPr>
                <p:nvPr/>
              </p:nvSpPr>
              <p:spPr>
                <a:xfrm>
                  <a:off x="626534" y="2171360"/>
                  <a:ext cx="583108" cy="251800"/>
                </a:xfrm>
                <a:prstGeom prst="rect">
                  <a:avLst/>
                </a:prstGeom>
                <a:blipFill>
                  <a:blip r:embed="rId6"/>
                  <a:stretch>
                    <a:fillRect l="-5208" r="-2083" b="-4762"/>
                  </a:stretch>
                </a:blipFill>
              </p:spPr>
              <p:txBody>
                <a:bodyPr/>
                <a:lstStyle/>
                <a:p>
                  <a:r>
                    <a:rPr lang="zh-TW" altLang="en-US">
                      <a:noFill/>
                    </a:rPr>
                    <a:t> </a:t>
                  </a:r>
                </a:p>
              </p:txBody>
            </p:sp>
          </mc:Fallback>
        </mc:AlternateContent>
      </p:grpSp>
      <p:sp>
        <p:nvSpPr>
          <p:cNvPr id="21" name="文字方塊 20">
            <a:extLst>
              <a:ext uri="{FF2B5EF4-FFF2-40B4-BE49-F238E27FC236}">
                <a16:creationId xmlns:a16="http://schemas.microsoft.com/office/drawing/2014/main" id="{527AD032-2BCD-42FA-94F3-08857DF7AF3A}"/>
              </a:ext>
            </a:extLst>
          </p:cNvPr>
          <p:cNvSpPr txBox="1"/>
          <p:nvPr/>
        </p:nvSpPr>
        <p:spPr>
          <a:xfrm>
            <a:off x="5279935" y="922869"/>
            <a:ext cx="6443120" cy="1200329"/>
          </a:xfrm>
          <a:prstGeom prst="rect">
            <a:avLst/>
          </a:prstGeom>
          <a:noFill/>
        </p:spPr>
        <p:txBody>
          <a:bodyPr wrap="square">
            <a:spAutoFit/>
          </a:bodyPr>
          <a:lstStyle/>
          <a:p>
            <a:pPr marL="285750" indent="-285750">
              <a:buFont typeface="Arial" panose="020B0604020202020204" pitchFamily="34" charset="0"/>
              <a:buChar char="•"/>
            </a:pPr>
            <a:r>
              <a:rPr lang="zh-TW" altLang="en-US" dirty="0"/>
              <a:t>The number of available sampling points is indeed proportional to the sphere volume,  the FEM mesh is of uniform density in this region. All the preceding discussion of "point count" can therefore be converted directly into "sampling radius"</a:t>
            </a:r>
          </a:p>
        </p:txBody>
      </p:sp>
    </p:spTree>
    <p:extLst>
      <p:ext uri="{BB962C8B-B14F-4D97-AF65-F5344CB8AC3E}">
        <p14:creationId xmlns:p14="http://schemas.microsoft.com/office/powerpoint/2010/main" val="6952328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Reference</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18" name="矩形 17">
            <a:extLst>
              <a:ext uri="{FF2B5EF4-FFF2-40B4-BE49-F238E27FC236}">
                <a16:creationId xmlns:a16="http://schemas.microsoft.com/office/drawing/2014/main" id="{D626DE7A-F9C6-47BF-9503-E4D79EF03BB4}"/>
              </a:ext>
            </a:extLst>
          </p:cNvPr>
          <p:cNvSpPr/>
          <p:nvPr/>
        </p:nvSpPr>
        <p:spPr>
          <a:xfrm rot="21166399">
            <a:off x="8390467" y="5858933"/>
            <a:ext cx="1877540" cy="330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mc:AlternateContent xmlns:mc="http://schemas.openxmlformats.org/markup-compatibility/2006">
        <mc:Choice xmlns:a14="http://schemas.microsoft.com/office/drawing/2010/main" Requires="a14">
          <p:sp>
            <p:nvSpPr>
              <p:cNvPr id="21" name="文字方塊 20">
                <a:extLst>
                  <a:ext uri="{FF2B5EF4-FFF2-40B4-BE49-F238E27FC236}">
                    <a16:creationId xmlns:a16="http://schemas.microsoft.com/office/drawing/2014/main" id="{527AD032-2BCD-42FA-94F3-08857DF7AF3A}"/>
                  </a:ext>
                </a:extLst>
              </p:cNvPr>
              <p:cNvSpPr txBox="1"/>
              <p:nvPr/>
            </p:nvSpPr>
            <p:spPr>
              <a:xfrm>
                <a:off x="110067" y="552085"/>
                <a:ext cx="11763465" cy="383567"/>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a:rPr lang="en-US" altLang="zh-TW" b="0" i="1" smtClean="0">
                        <a:latin typeface="Cambria Math" panose="02040503050406030204" pitchFamily="18" charset="0"/>
                      </a:rPr>
                      <m:t>𝑊𝑜𝑟𝑘𝑠𝑝𝑎𝑐𝑒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𝑟𝑎𝑑𝑖𝑢𝑠</m:t>
                    </m:r>
                    <m:r>
                      <a:rPr lang="en-US" altLang="zh-TW" b="0" i="1" smtClean="0">
                        <a:latin typeface="Cambria Math" panose="02040503050406030204" pitchFamily="18" charset="0"/>
                      </a:rPr>
                      <m:t>=</m:t>
                    </m:r>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ea typeface="Cambria Math" panose="02040503050406030204" pitchFamily="18" charset="0"/>
                          </a:rPr>
                          <m:t>ℓ</m:t>
                        </m:r>
                      </m:e>
                    </m:acc>
                  </m:oMath>
                </a14:m>
                <a:endParaRPr lang="zh-TW" altLang="en-US" dirty="0"/>
              </a:p>
            </p:txBody>
          </p:sp>
        </mc:Choice>
        <mc:Fallback>
          <p:sp>
            <p:nvSpPr>
              <p:cNvPr id="21" name="文字方塊 20">
                <a:extLst>
                  <a:ext uri="{FF2B5EF4-FFF2-40B4-BE49-F238E27FC236}">
                    <a16:creationId xmlns:a16="http://schemas.microsoft.com/office/drawing/2014/main" id="{527AD032-2BCD-42FA-94F3-08857DF7AF3A}"/>
                  </a:ext>
                </a:extLst>
              </p:cNvPr>
              <p:cNvSpPr txBox="1">
                <a:spLocks noRot="1" noChangeAspect="1" noMove="1" noResize="1" noEditPoints="1" noAdjustHandles="1" noChangeArrowheads="1" noChangeShapeType="1" noTextEdit="1"/>
              </p:cNvSpPr>
              <p:nvPr/>
            </p:nvSpPr>
            <p:spPr>
              <a:xfrm>
                <a:off x="110067" y="552085"/>
                <a:ext cx="11763465" cy="383567"/>
              </a:xfrm>
              <a:prstGeom prst="rect">
                <a:avLst/>
              </a:prstGeom>
              <a:blipFill>
                <a:blip r:embed="rId2"/>
                <a:stretch>
                  <a:fillRect l="-311" t="-1613" b="-20968"/>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4" name="文字方塊 13">
                <a:extLst>
                  <a:ext uri="{FF2B5EF4-FFF2-40B4-BE49-F238E27FC236}">
                    <a16:creationId xmlns:a16="http://schemas.microsoft.com/office/drawing/2014/main" id="{2DEABB3D-9062-4DA4-A120-2766352A3F4C}"/>
                  </a:ext>
                </a:extLst>
              </p:cNvPr>
              <p:cNvSpPr txBox="1"/>
              <p:nvPr/>
            </p:nvSpPr>
            <p:spPr>
              <a:xfrm>
                <a:off x="110067" y="1103976"/>
                <a:ext cx="4258733" cy="369332"/>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a:rPr lang="en-US" altLang="zh-TW" b="0" i="1" smtClean="0">
                        <a:latin typeface="Cambria Math" panose="02040503050406030204" pitchFamily="18" charset="0"/>
                        <a:ea typeface="Cambria Math" panose="02040503050406030204" pitchFamily="18" charset="0"/>
                      </a:rPr>
                      <m:t>𝐹𝑙𝑢𝑥</m:t>
                    </m:r>
                    <m:r>
                      <a:rPr lang="en-US" altLang="zh-TW" b="0" i="1" smtClean="0">
                        <a:latin typeface="Cambria Math" panose="02040503050406030204" pitchFamily="18" charset="0"/>
                        <a:ea typeface="Cambria Math" panose="02040503050406030204" pitchFamily="18" charset="0"/>
                      </a:rPr>
                      <m:t> </m:t>
                    </m:r>
                    <m:r>
                      <a:rPr lang="en-US" altLang="zh-TW" b="0" i="1" smtClean="0">
                        <a:latin typeface="Cambria Math" panose="02040503050406030204" pitchFamily="18" charset="0"/>
                        <a:ea typeface="Cambria Math" panose="02040503050406030204" pitchFamily="18" charset="0"/>
                      </a:rPr>
                      <m:t>𝑑𝑖𝑠𝑡𝑟𝑖𝑏𝑢𝑡𝑖𝑜𝑛</m:t>
                    </m:r>
                    <m:r>
                      <a:rPr lang="en-US" altLang="zh-TW" b="0" i="1" smtClean="0">
                        <a:latin typeface="Cambria Math" panose="02040503050406030204" pitchFamily="18" charset="0"/>
                        <a:ea typeface="Cambria Math" panose="02040503050406030204" pitchFamily="18" charset="0"/>
                      </a:rPr>
                      <m:t> </m:t>
                    </m:r>
                    <m:r>
                      <a:rPr lang="en-US" altLang="zh-TW" b="0" i="1" smtClean="0">
                        <a:latin typeface="Cambria Math" panose="02040503050406030204" pitchFamily="18" charset="0"/>
                        <a:ea typeface="Cambria Math" panose="02040503050406030204" pitchFamily="18" charset="0"/>
                      </a:rPr>
                      <m:t>𝑚𝑎𝑡𝑟𝑖𝑥</m:t>
                    </m:r>
                    <m:r>
                      <a:rPr lang="en-US" altLang="zh-TW" b="0" i="1" smtClean="0">
                        <a:latin typeface="Cambria Math" panose="02040503050406030204" pitchFamily="18" charset="0"/>
                        <a:ea typeface="Cambria Math" panose="02040503050406030204" pitchFamily="18" charset="0"/>
                      </a:rPr>
                      <m:t>=</m:t>
                    </m:r>
                    <m:sSub>
                      <m:sSubPr>
                        <m:ctrlPr>
                          <a:rPr lang="en-US" altLang="zh-TW" i="1" smtClean="0">
                            <a:latin typeface="Cambria Math" panose="02040503050406030204" pitchFamily="18" charset="0"/>
                          </a:rPr>
                        </m:ctrlPr>
                      </m:sSubPr>
                      <m:e>
                        <m:acc>
                          <m:accPr>
                            <m:chr m:val="̅"/>
                            <m:ctrlPr>
                              <a:rPr lang="en-US" altLang="zh-TW" i="1" smtClean="0">
                                <a:latin typeface="Cambria Math" panose="02040503050406030204" pitchFamily="18" charset="0"/>
                              </a:rPr>
                            </m:ctrlPr>
                          </m:accPr>
                          <m:e>
                            <m:r>
                              <a:rPr lang="en-US" altLang="zh-TW" b="0" i="1" smtClean="0">
                                <a:latin typeface="Cambria Math" panose="02040503050406030204" pitchFamily="18" charset="0"/>
                              </a:rPr>
                              <m:t>𝐾</m:t>
                            </m:r>
                          </m:e>
                        </m:acc>
                      </m:e>
                      <m:sub>
                        <m:r>
                          <a:rPr lang="en-US" altLang="zh-TW" b="0" i="1" smtClean="0">
                            <a:latin typeface="Cambria Math" panose="02040503050406030204" pitchFamily="18" charset="0"/>
                          </a:rPr>
                          <m:t>𝐼</m:t>
                        </m:r>
                      </m:sub>
                    </m:sSub>
                  </m:oMath>
                </a14:m>
                <a:endParaRPr lang="zh-TW" altLang="en-US" dirty="0"/>
              </a:p>
            </p:txBody>
          </p:sp>
        </mc:Choice>
        <mc:Fallback>
          <p:sp>
            <p:nvSpPr>
              <p:cNvPr id="14" name="文字方塊 13">
                <a:extLst>
                  <a:ext uri="{FF2B5EF4-FFF2-40B4-BE49-F238E27FC236}">
                    <a16:creationId xmlns:a16="http://schemas.microsoft.com/office/drawing/2014/main" id="{2DEABB3D-9062-4DA4-A120-2766352A3F4C}"/>
                  </a:ext>
                </a:extLst>
              </p:cNvPr>
              <p:cNvSpPr txBox="1">
                <a:spLocks noRot="1" noChangeAspect="1" noMove="1" noResize="1" noEditPoints="1" noAdjustHandles="1" noChangeArrowheads="1" noChangeShapeType="1" noTextEdit="1"/>
              </p:cNvSpPr>
              <p:nvPr/>
            </p:nvSpPr>
            <p:spPr>
              <a:xfrm>
                <a:off x="110067" y="1103976"/>
                <a:ext cx="4258733" cy="369332"/>
              </a:xfrm>
              <a:prstGeom prst="rect">
                <a:avLst/>
              </a:prstGeom>
              <a:blipFill>
                <a:blip r:embed="rId3"/>
                <a:stretch>
                  <a:fillRect l="-858" t="-3279" b="-18033"/>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5" name="文字方塊 14">
                <a:extLst>
                  <a:ext uri="{FF2B5EF4-FFF2-40B4-BE49-F238E27FC236}">
                    <a16:creationId xmlns:a16="http://schemas.microsoft.com/office/drawing/2014/main" id="{7423A256-C166-4717-91CD-2EEEBEC6306E}"/>
                  </a:ext>
                </a:extLst>
              </p:cNvPr>
              <p:cNvSpPr txBox="1"/>
              <p:nvPr/>
            </p:nvSpPr>
            <p:spPr>
              <a:xfrm>
                <a:off x="110067" y="1641632"/>
                <a:ext cx="4258733" cy="397673"/>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a:rPr lang="en-US" altLang="zh-TW" b="0" i="1" smtClean="0">
                        <a:latin typeface="Cambria Math" panose="02040503050406030204" pitchFamily="18" charset="0"/>
                      </a:rPr>
                      <m:t>𝐶𝑢𝑟𝑟𝑒𝑛𝑡</m:t>
                    </m:r>
                    <m:r>
                      <a:rPr lang="en-US" altLang="zh-TW" b="0" i="1" smtClean="0">
                        <a:latin typeface="Cambria Math" panose="02040503050406030204" pitchFamily="18" charset="0"/>
                      </a:rPr>
                      <m:t> </m:t>
                    </m:r>
                    <m:r>
                      <a:rPr lang="en-US" altLang="zh-TW" b="0" i="1" smtClean="0">
                        <a:latin typeface="Cambria Math" panose="02040503050406030204" pitchFamily="18" charset="0"/>
                      </a:rPr>
                      <m:t>𝑡𝑜</m:t>
                    </m:r>
                    <m:r>
                      <a:rPr lang="en-US" altLang="zh-TW" b="0" i="1" smtClean="0">
                        <a:latin typeface="Cambria Math" panose="02040503050406030204" pitchFamily="18" charset="0"/>
                      </a:rPr>
                      <m:t> </m:t>
                    </m:r>
                    <m:r>
                      <a:rPr lang="en-US" altLang="zh-TW" b="0" i="1" smtClean="0">
                        <a:latin typeface="Cambria Math" panose="02040503050406030204" pitchFamily="18" charset="0"/>
                      </a:rPr>
                      <m:t>𝑓𝑖𝑒𝑙𝑑</m:t>
                    </m:r>
                    <m:r>
                      <a:rPr lang="en-US" altLang="zh-TW" b="0" i="1" smtClean="0">
                        <a:latin typeface="Cambria Math" panose="02040503050406030204" pitchFamily="18" charset="0"/>
                      </a:rPr>
                      <m:t> </m:t>
                    </m:r>
                    <m:r>
                      <a:rPr lang="en-US" altLang="zh-TW" b="0" i="1" smtClean="0">
                        <a:latin typeface="Cambria Math" panose="02040503050406030204" pitchFamily="18" charset="0"/>
                      </a:rPr>
                      <m:t>𝑔𝑎𝑖𝑛</m:t>
                    </m:r>
                    <m:r>
                      <a:rPr lang="en-US" altLang="zh-TW" b="0" i="1" smtClean="0">
                        <a:latin typeface="Cambria Math" panose="02040503050406030204" pitchFamily="18" charset="0"/>
                        <a:ea typeface="Cambria Math" panose="02040503050406030204" pitchFamily="18" charset="0"/>
                      </a:rPr>
                      <m:t>=</m:t>
                    </m:r>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oMath>
                </a14:m>
                <a:endParaRPr lang="zh-TW" altLang="en-US" dirty="0"/>
              </a:p>
            </p:txBody>
          </p:sp>
        </mc:Choice>
        <mc:Fallback>
          <p:sp>
            <p:nvSpPr>
              <p:cNvPr id="15" name="文字方塊 14">
                <a:extLst>
                  <a:ext uri="{FF2B5EF4-FFF2-40B4-BE49-F238E27FC236}">
                    <a16:creationId xmlns:a16="http://schemas.microsoft.com/office/drawing/2014/main" id="{7423A256-C166-4717-91CD-2EEEBEC6306E}"/>
                  </a:ext>
                </a:extLst>
              </p:cNvPr>
              <p:cNvSpPr txBox="1">
                <a:spLocks noRot="1" noChangeAspect="1" noMove="1" noResize="1" noEditPoints="1" noAdjustHandles="1" noChangeArrowheads="1" noChangeShapeType="1" noTextEdit="1"/>
              </p:cNvSpPr>
              <p:nvPr/>
            </p:nvSpPr>
            <p:spPr>
              <a:xfrm>
                <a:off x="110067" y="1641632"/>
                <a:ext cx="4258733" cy="397673"/>
              </a:xfrm>
              <a:prstGeom prst="rect">
                <a:avLst/>
              </a:prstGeom>
              <a:blipFill>
                <a:blip r:embed="rId4"/>
                <a:stretch>
                  <a:fillRect l="-858" b="-15152"/>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20" name="文字方塊 19">
                <a:extLst>
                  <a:ext uri="{FF2B5EF4-FFF2-40B4-BE49-F238E27FC236}">
                    <a16:creationId xmlns:a16="http://schemas.microsoft.com/office/drawing/2014/main" id="{594BBAD5-0B9C-40E7-A139-CD14DD1A069D}"/>
                  </a:ext>
                </a:extLst>
              </p:cNvPr>
              <p:cNvSpPr txBox="1"/>
              <p:nvPr/>
            </p:nvSpPr>
            <p:spPr>
              <a:xfrm>
                <a:off x="110066" y="2276632"/>
                <a:ext cx="4258733" cy="656013"/>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a:rPr lang="en-US" altLang="zh-TW" b="0" i="1" smtClean="0">
                        <a:latin typeface="Cambria Math" panose="02040503050406030204" pitchFamily="18" charset="0"/>
                        <a:ea typeface="Cambria Math" panose="02040503050406030204" pitchFamily="18" charset="0"/>
                      </a:rPr>
                      <m:t>𝑅𝑒𝑠𝑖𝑑𝑢𝑎𝑙</m:t>
                    </m:r>
                    <m:r>
                      <a:rPr lang="en-US" altLang="zh-TW" b="0" i="1" smtClean="0">
                        <a:latin typeface="Cambria Math" panose="02040503050406030204" pitchFamily="18" charset="0"/>
                        <a:ea typeface="Cambria Math" panose="02040503050406030204" pitchFamily="18" charset="0"/>
                      </a:rPr>
                      <m:t> </m:t>
                    </m:r>
                    <m:r>
                      <a:rPr lang="en-US" altLang="zh-TW" b="0" i="1" smtClean="0">
                        <a:latin typeface="Cambria Math" panose="02040503050406030204" pitchFamily="18" charset="0"/>
                        <a:ea typeface="Cambria Math" panose="02040503050406030204" pitchFamily="18" charset="0"/>
                      </a:rPr>
                      <m:t>𝑓𝑖𝑒𝑙𝑑</m:t>
                    </m:r>
                    <m:r>
                      <a:rPr lang="en-US" altLang="zh-TW" b="0" i="1" smtClean="0">
                        <a:latin typeface="Cambria Math" panose="02040503050406030204" pitchFamily="18" charset="0"/>
                        <a:ea typeface="Cambria Math" panose="02040503050406030204" pitchFamily="18" charset="0"/>
                      </a:rPr>
                      <m:t>=</m:t>
                    </m:r>
                    <m:rad>
                      <m:radPr>
                        <m:degHide m:val="on"/>
                        <m:ctrlPr>
                          <a:rPr lang="en-US" altLang="zh-TW" b="0" i="1" smtClean="0">
                            <a:latin typeface="Cambria Math" panose="02040503050406030204" pitchFamily="18" charset="0"/>
                            <a:ea typeface="Cambria Math" panose="02040503050406030204" pitchFamily="18" charset="0"/>
                          </a:rPr>
                        </m:ctrlPr>
                      </m:radPr>
                      <m:deg/>
                      <m:e>
                        <m:f>
                          <m:fPr>
                            <m:ctrlPr>
                              <a:rPr lang="en-US" altLang="zh-TW" b="0" i="1" smtClean="0">
                                <a:latin typeface="Cambria Math" panose="02040503050406030204" pitchFamily="18" charset="0"/>
                                <a:ea typeface="Cambria Math" panose="02040503050406030204" pitchFamily="18" charset="0"/>
                              </a:rPr>
                            </m:ctrlPr>
                          </m:fPr>
                          <m:num>
                            <m:r>
                              <a:rPr lang="en-US" altLang="zh-TW" b="0" i="1" smtClean="0">
                                <a:latin typeface="Cambria Math" panose="02040503050406030204" pitchFamily="18" charset="0"/>
                                <a:ea typeface="Cambria Math" panose="02040503050406030204" pitchFamily="18" charset="0"/>
                              </a:rPr>
                              <m:t>𝑚𝑖𝑛𝐽</m:t>
                            </m:r>
                          </m:num>
                          <m:den>
                            <m:r>
                              <a:rPr lang="en-US" altLang="zh-TW" b="0" i="1" smtClean="0">
                                <a:latin typeface="Cambria Math" panose="02040503050406030204" pitchFamily="18" charset="0"/>
                                <a:ea typeface="Cambria Math" panose="02040503050406030204" pitchFamily="18" charset="0"/>
                              </a:rPr>
                              <m:t>𝑁</m:t>
                            </m:r>
                          </m:den>
                        </m:f>
                      </m:e>
                    </m:rad>
                  </m:oMath>
                </a14:m>
                <a:endParaRPr lang="zh-TW" altLang="en-US" dirty="0"/>
              </a:p>
            </p:txBody>
          </p:sp>
        </mc:Choice>
        <mc:Fallback>
          <p:sp>
            <p:nvSpPr>
              <p:cNvPr id="20" name="文字方塊 19">
                <a:extLst>
                  <a:ext uri="{FF2B5EF4-FFF2-40B4-BE49-F238E27FC236}">
                    <a16:creationId xmlns:a16="http://schemas.microsoft.com/office/drawing/2014/main" id="{594BBAD5-0B9C-40E7-A139-CD14DD1A069D}"/>
                  </a:ext>
                </a:extLst>
              </p:cNvPr>
              <p:cNvSpPr txBox="1">
                <a:spLocks noRot="1" noChangeAspect="1" noMove="1" noResize="1" noEditPoints="1" noAdjustHandles="1" noChangeArrowheads="1" noChangeShapeType="1" noTextEdit="1"/>
              </p:cNvSpPr>
              <p:nvPr/>
            </p:nvSpPr>
            <p:spPr>
              <a:xfrm>
                <a:off x="110066" y="2276632"/>
                <a:ext cx="4258733" cy="656013"/>
              </a:xfrm>
              <a:prstGeom prst="rect">
                <a:avLst/>
              </a:prstGeom>
              <a:blipFill>
                <a:blip r:embed="rId5"/>
                <a:stretch>
                  <a:fillRect/>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1119403427"/>
      </p:ext>
    </p:extLst>
  </p:cSld>
  <p:clrMapOvr>
    <a:masterClrMapping/>
  </p:clrMapOvr>
</p:sld>
</file>

<file path=ppt/theme/theme1.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18520</TotalTime>
  <Words>1849</Words>
  <Application>Microsoft Office PowerPoint</Application>
  <PresentationFormat>寬螢幕</PresentationFormat>
  <Paragraphs>137</Paragraphs>
  <Slides>16</Slides>
  <Notes>0</Notes>
  <HiddenSlides>0</HiddenSlides>
  <MMClips>0</MMClips>
  <ScaleCrop>false</ScaleCrop>
  <HeadingPairs>
    <vt:vector size="6" baseType="variant">
      <vt:variant>
        <vt:lpstr>使用字型</vt:lpstr>
      </vt:variant>
      <vt:variant>
        <vt:i4>7</vt:i4>
      </vt:variant>
      <vt:variant>
        <vt:lpstr>佈景主題</vt:lpstr>
      </vt:variant>
      <vt:variant>
        <vt:i4>1</vt:i4>
      </vt:variant>
      <vt:variant>
        <vt:lpstr>投影片標題</vt:lpstr>
      </vt:variant>
      <vt:variant>
        <vt:i4>16</vt:i4>
      </vt:variant>
    </vt:vector>
  </HeadingPairs>
  <TitlesOfParts>
    <vt:vector size="24" baseType="lpstr">
      <vt:lpstr>Aptos</vt:lpstr>
      <vt:lpstr>Arial</vt:lpstr>
      <vt:lpstr>Calibri</vt:lpstr>
      <vt:lpstr>Calibri Light</vt:lpstr>
      <vt:lpstr>Cambria Math</vt:lpstr>
      <vt:lpstr>Times New Roman</vt:lpstr>
      <vt:lpstr>Wingdings</vt:lpstr>
      <vt:lpstr>Office 佈景主題</vt:lpstr>
      <vt:lpstr>A Lumped-Parameter Modeling, Calibration, and Capacity-Measure Framework for Flux Generation in Symmetric Multipole Electromagnetic Actuators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Hall-sensor-voltage-based lumped-parameter modeling and calibration </vt:lpstr>
      <vt:lpstr>Hall-sensor-voltage-based lumped-parameter modeling and calibration </vt:lpstr>
      <vt:lpstr>Reference </vt:lpstr>
      <vt:lpstr>Reference </vt:lpstr>
      <vt:lpstr>Reference </vt:lpstr>
      <vt:lpstr>Reference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Lumped-Parameter Modeling, Calibration, and Capacity-Measure Framework for Flux Generation in Symmetric Multipole Electromagnetic Actuators</dc:title>
  <dc:creator>郭建棋</dc:creator>
  <cp:lastModifiedBy>郭建棋</cp:lastModifiedBy>
  <cp:revision>212</cp:revision>
  <dcterms:created xsi:type="dcterms:W3CDTF">2026-07-23T11:39:15Z</dcterms:created>
  <dcterms:modified xsi:type="dcterms:W3CDTF">2026-08-14T16:59:50Z</dcterms:modified>
</cp:coreProperties>
</file>