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84" r:id="rId4"/>
    <p:sldId id="287" r:id="rId5"/>
    <p:sldId id="285" r:id="rId6"/>
    <p:sldId id="269" r:id="rId7"/>
    <p:sldId id="290" r:id="rId8"/>
    <p:sldId id="283" r:id="rId9"/>
    <p:sldId id="291" r:id="rId10"/>
    <p:sldId id="272" r:id="rId11"/>
    <p:sldId id="273" r:id="rId12"/>
    <p:sldId id="286" r:id="rId13"/>
    <p:sldId id="288" r:id="rId14"/>
    <p:sldId id="289"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2026/8/14</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2026/8/14</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7" Type="http://schemas.openxmlformats.org/officeDocument/2006/relationships/image" Target="../media/image201.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90.png"/><Relationship Id="rId10" Type="http://schemas.openxmlformats.org/officeDocument/2006/relationships/image" Target="../media/image38.png"/><Relationship Id="rId9" Type="http://schemas.openxmlformats.org/officeDocument/2006/relationships/image" Target="../media/image37.png"/><Relationship Id="rId4" Type="http://schemas.openxmlformats.org/officeDocument/2006/relationships/image" Target="../media/image170.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5.png"/><Relationship Id="rId7" Type="http://schemas.openxmlformats.org/officeDocument/2006/relationships/image" Target="../media/image4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2.png"/><Relationship Id="rId4" Type="http://schemas.openxmlformats.org/officeDocument/2006/relationships/image" Target="../media/image46.png"/><Relationship Id="rId9"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0.png"/><Relationship Id="rId7" Type="http://schemas.openxmlformats.org/officeDocument/2006/relationships/image" Target="../media/image23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2.xml.rels><?xml version="1.0" encoding="UTF-8" standalone="yes"?>
<Relationships xmlns="http://schemas.openxmlformats.org/package/2006/relationships"><Relationship Id="rId13" Type="http://schemas.openxmlformats.org/officeDocument/2006/relationships/image" Target="../media/image440.png"/><Relationship Id="rId12" Type="http://schemas.openxmlformats.org/officeDocument/2006/relationships/image" Target="../media/image53.png"/><Relationship Id="rId2" Type="http://schemas.openxmlformats.org/officeDocument/2006/relationships/image" Target="../media/image51.png"/><Relationship Id="rId16" Type="http://schemas.openxmlformats.org/officeDocument/2006/relationships/image" Target="../media/image56.png"/><Relationship Id="rId1" Type="http://schemas.openxmlformats.org/officeDocument/2006/relationships/slideLayout" Target="../slideLayouts/slideLayout2.xml"/><Relationship Id="rId11" Type="http://schemas.openxmlformats.org/officeDocument/2006/relationships/image" Target="../media/image420.png"/><Relationship Id="rId15" Type="http://schemas.openxmlformats.org/officeDocument/2006/relationships/image" Target="../media/image59.png"/><Relationship Id="rId10" Type="http://schemas.openxmlformats.org/officeDocument/2006/relationships/image" Target="../media/image410.png"/><Relationship Id="rId9" Type="http://schemas.openxmlformats.org/officeDocument/2006/relationships/image" Target="../media/image400.png"/><Relationship Id="rId14" Type="http://schemas.openxmlformats.org/officeDocument/2006/relationships/image" Target="../media/image450.png"/><Relationship Id="rId4" Type="http://schemas.openxmlformats.org/officeDocument/2006/relationships/image" Target="../media/image310.png"/></Relationships>
</file>

<file path=ppt/slides/_rels/slide13.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58.png"/><Relationship Id="rId4" Type="http://schemas.openxmlformats.org/officeDocument/2006/relationships/image" Target="../media/image63.png"/></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5232404" cy="5784019"/>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0" smtClean="0">
                        <a:latin typeface="Cambria Math" panose="02040503050406030204" pitchFamily="18" charset="0"/>
                      </a:rPr>
                      <m:t>,</m:t>
                    </m:r>
                    <m:r>
                      <a:rPr lang="en-US" altLang="zh-TW" b="0" i="1" smtClean="0">
                        <a:latin typeface="Cambria Math" panose="02040503050406030204" pitchFamily="18" charset="0"/>
                      </a:rPr>
                      <m:t>𝑅</m:t>
                    </m:r>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m:t>
                        </m:r>
                        <m:r>
                          <a:rPr lang="en-US" altLang="zh-TW" b="0" i="1" smtClean="0">
                            <a:latin typeface="Cambria Math" panose="02040503050406030204" pitchFamily="18" charset="0"/>
                          </a:rPr>
                          <m:t>  </m:t>
                        </m:r>
                        <m:r>
                          <a:rPr lang="en-US" altLang="zh-TW" b="0" i="1" smtClean="0">
                            <a:latin typeface="Cambria Math" panose="02040503050406030204" pitchFamily="18" charset="0"/>
                          </a:rPr>
                          <m:t>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𝜙</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𝑐𝑜𝑠</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1</m:t>
                          </m:r>
                        </m:sup>
                      </m:sSup>
                      <m:d>
                        <m:dPr>
                          <m:begChr m:val="["/>
                          <m:endChr m:val="]"/>
                          <m:ctrlPr>
                            <a:rPr lang="en-US" altLang="zh-TW" b="0" i="1" smtClean="0">
                              <a:latin typeface="Cambria Math" panose="02040503050406030204" pitchFamily="18" charset="0"/>
                            </a:rPr>
                          </m:ctrlPr>
                        </m:dPr>
                        <m:e>
                          <m:r>
                            <a:rPr lang="en-US" altLang="zh-TW" i="1">
                              <a:latin typeface="Cambria Math" panose="02040503050406030204" pitchFamily="18" charset="0"/>
                            </a:rPr>
                            <m:t>1</m:t>
                          </m:r>
                          <m:r>
                            <a:rPr lang="en-US" altLang="zh-TW" i="1">
                              <a:latin typeface="Cambria Math" panose="02040503050406030204" pitchFamily="18" charset="0"/>
                            </a:rPr>
                            <m:t>−</m:t>
                          </m:r>
                          <m:f>
                            <m:fPr>
                              <m:ctrlPr>
                                <a:rPr lang="en-US" altLang="zh-TW" i="1">
                                  <a:latin typeface="Cambria Math" panose="02040503050406030204" pitchFamily="18" charset="0"/>
                                </a:rPr>
                              </m:ctrlPr>
                            </m:fPr>
                            <m:num>
                              <m:d>
                                <m:dPr>
                                  <m:ctrlPr>
                                    <a:rPr lang="en-US" altLang="zh-TW" i="1">
                                      <a:latin typeface="Cambria Math" panose="02040503050406030204" pitchFamily="18" charset="0"/>
                                    </a:rPr>
                                  </m:ctrlPr>
                                </m:dPr>
                                <m:e>
                                  <m:r>
                                    <a:rPr lang="en-US" altLang="zh-TW" i="1">
                                      <a:latin typeface="Cambria Math" panose="02040503050406030204" pitchFamily="18" charset="0"/>
                                    </a:rPr>
                                    <m:t>2</m:t>
                                  </m:r>
                                  <m:r>
                                    <a:rPr lang="en-US" altLang="zh-TW" b="0" i="1" smtClean="0">
                                      <a:latin typeface="Cambria Math" panose="02040503050406030204" pitchFamily="18" charset="0"/>
                                    </a:rPr>
                                    <m:t>𝑗</m:t>
                                  </m:r>
                                  <m:r>
                                    <a:rPr lang="en-US" altLang="zh-TW" i="1">
                                      <a:latin typeface="Cambria Math" panose="02040503050406030204" pitchFamily="18" charset="0"/>
                                    </a:rPr>
                                    <m:t>−</m:t>
                                  </m:r>
                                  <m:r>
                                    <a:rPr lang="en-US" altLang="zh-TW" i="1">
                                      <a:latin typeface="Cambria Math" panose="02040503050406030204" pitchFamily="18" charset="0"/>
                                    </a:rPr>
                                    <m:t>1</m:t>
                                  </m:r>
                                </m:e>
                              </m:d>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l-GR" altLang="zh-TW" i="1">
                                      <a:latin typeface="Cambria Math" panose="02040503050406030204" pitchFamily="18" charset="0"/>
                                      <a:ea typeface="Cambria Math" panose="02040503050406030204" pitchFamily="18" charset="0"/>
                                    </a:rPr>
                                    <m:t>𝜙</m:t>
                                  </m:r>
                                </m:sub>
                              </m:sSub>
                            </m:den>
                          </m:f>
                        </m:e>
                      </m:d>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1</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2</m:t>
                      </m:r>
                      <m:r>
                        <a:rPr lang="zh-TW" altLang="en-US" b="0" i="1" smtClean="0">
                          <a:latin typeface="Cambria Math" panose="02040503050406030204" pitchFamily="18" charset="0"/>
                        </a:rPr>
                        <m:t>𝜋</m:t>
                      </m:r>
                      <m:r>
                        <a:rPr lang="en-US" altLang="zh-TW" i="1">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5</m:t>
                          </m:r>
                        </m:num>
                        <m:den>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i="1" smtClean="0">
                                  <a:latin typeface="Cambria Math" panose="02040503050406030204" pitchFamily="18" charset="0"/>
                                  <a:ea typeface="Cambria Math" panose="02040503050406030204" pitchFamily="18" charset="0"/>
                                </a:rPr>
                                <m:t>𝜃</m:t>
                              </m:r>
                            </m:sub>
                          </m:sSub>
                        </m:den>
                      </m:f>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m:t>
                      </m:r>
                      <m:r>
                        <a:rPr lang="en-US" altLang="zh-TW" b="0" i="0" smtClean="0">
                          <a:latin typeface="Cambria Math" panose="02040503050406030204" pitchFamily="18" charset="0"/>
                          <a:ea typeface="Cambria Math" panose="02040503050406030204" pitchFamily="18" charset="0"/>
                        </a:rPr>
                        <m:t>1</m:t>
                      </m:r>
                      <m:r>
                        <a:rPr lang="en-US" altLang="zh-TW" b="0" i="0"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b="0" i="1" smtClean="0">
                              <a:latin typeface="Cambria Math" panose="02040503050406030204" pitchFamily="18" charset="0"/>
                              <a:ea typeface="Cambria Math" panose="02040503050406030204" pitchFamily="18" charset="0"/>
                            </a:rPr>
                            <m:t>𝜃</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5232404" cy="5784019"/>
              </a:xfrm>
              <a:prstGeom prst="rect">
                <a:avLst/>
              </a:prstGeom>
              <a:blipFill>
                <a:blip r:embed="rId2"/>
                <a:stretch>
                  <a:fillRect l="-931" t="-5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BAC94394-2803-4407-90C8-1813E84CFAF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17" name="文字方塊 16">
                <a:extLst>
                  <a:ext uri="{FF2B5EF4-FFF2-40B4-BE49-F238E27FC236}">
                    <a16:creationId xmlns:a16="http://schemas.microsoft.com/office/drawing/2014/main" id="{BAC94394-2803-4407-90C8-1813E84CFAF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C0E707CC-394C-449D-AA24-F6E85B3C8C59}"/>
                  </a:ext>
                </a:extLst>
              </p:cNvPr>
              <p:cNvSpPr txBox="1"/>
              <p:nvPr/>
            </p:nvSpPr>
            <p:spPr>
              <a:xfrm>
                <a:off x="5367871" y="5215467"/>
                <a:ext cx="6578596"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Ex:</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2</m:t>
                    </m:r>
                  </m:oMath>
                </a14:m>
                <a:endParaRPr lang="en-US" altLang="zh-TW" b="0" dirty="0"/>
              </a:p>
              <a:p>
                <a:r>
                  <a:rPr lang="en-US" altLang="zh-TW" dirty="0"/>
                  <a:t>	</a:t>
                </a:r>
                <a:endParaRPr lang="zh-TW" altLang="en-US" dirty="0"/>
              </a:p>
            </p:txBody>
          </p:sp>
        </mc:Choice>
        <mc:Fallback xmlns="">
          <p:sp>
            <p:nvSpPr>
              <p:cNvPr id="28" name="文字方塊 27">
                <a:extLst>
                  <a:ext uri="{FF2B5EF4-FFF2-40B4-BE49-F238E27FC236}">
                    <a16:creationId xmlns:a16="http://schemas.microsoft.com/office/drawing/2014/main" id="{C0E707CC-394C-449D-AA24-F6E85B3C8C59}"/>
                  </a:ext>
                </a:extLst>
              </p:cNvPr>
              <p:cNvSpPr txBox="1">
                <a:spLocks noRot="1" noChangeAspect="1" noMove="1" noResize="1" noEditPoints="1" noAdjustHandles="1" noChangeArrowheads="1" noChangeShapeType="1" noTextEdit="1"/>
              </p:cNvSpPr>
              <p:nvPr/>
            </p:nvSpPr>
            <p:spPr>
              <a:xfrm>
                <a:off x="5367871" y="5215467"/>
                <a:ext cx="6578596" cy="646331"/>
              </a:xfrm>
              <a:prstGeom prst="rect">
                <a:avLst/>
              </a:prstGeom>
              <a:blipFill>
                <a:blip r:embed="rId4"/>
                <a:stretch>
                  <a:fillRect l="-649" t="-5660"/>
                </a:stretch>
              </a:blipFill>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26E08411-0E10-498E-B632-44320EB42710}"/>
              </a:ext>
            </a:extLst>
          </p:cNvPr>
          <p:cNvCxnSpPr/>
          <p:nvPr/>
        </p:nvCxnSpPr>
        <p:spPr>
          <a:xfrm>
            <a:off x="6096000" y="5689600"/>
            <a:ext cx="53424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394DFB9A-EE1F-4ECE-B4C3-64D9170AAD25}"/>
              </a:ext>
            </a:extLst>
          </p:cNvPr>
          <p:cNvSpPr/>
          <p:nvPr/>
        </p:nvSpPr>
        <p:spPr>
          <a:xfrm>
            <a:off x="5981700" y="5569635"/>
            <a:ext cx="228600" cy="23992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id="{6E4001B8-D496-4EB8-A427-29F8F6CD681F}"/>
              </a:ext>
            </a:extLst>
          </p:cNvPr>
          <p:cNvSpPr txBox="1"/>
          <p:nvPr/>
        </p:nvSpPr>
        <p:spPr>
          <a:xfrm>
            <a:off x="5668433" y="5770582"/>
            <a:ext cx="855133" cy="369332"/>
          </a:xfrm>
          <a:prstGeom prst="rect">
            <a:avLst/>
          </a:prstGeom>
          <a:noFill/>
        </p:spPr>
        <p:txBody>
          <a:bodyPr wrap="square" rtlCol="0">
            <a:spAutoFit/>
          </a:bodyPr>
          <a:lstStyle/>
          <a:p>
            <a:r>
              <a:rPr lang="en-US" altLang="zh-TW" dirty="0"/>
              <a:t>Center</a:t>
            </a:r>
            <a:endParaRPr lang="zh-TW" altLang="en-US" dirty="0"/>
          </a:p>
        </p:txBody>
      </p:sp>
      <p:cxnSp>
        <p:nvCxnSpPr>
          <p:cNvPr id="34" name="直線接點 33">
            <a:extLst>
              <a:ext uri="{FF2B5EF4-FFF2-40B4-BE49-F238E27FC236}">
                <a16:creationId xmlns:a16="http://schemas.microsoft.com/office/drawing/2014/main" id="{11B9BCAE-16E0-4EA9-9AC3-71AC94AE5DDD}"/>
              </a:ext>
            </a:extLst>
          </p:cNvPr>
          <p:cNvCxnSpPr/>
          <p:nvPr/>
        </p:nvCxnSpPr>
        <p:spPr>
          <a:xfrm>
            <a:off x="8767233" y="5393267"/>
            <a:ext cx="0" cy="6434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橢圓 34">
            <a:extLst>
              <a:ext uri="{FF2B5EF4-FFF2-40B4-BE49-F238E27FC236}">
                <a16:creationId xmlns:a16="http://schemas.microsoft.com/office/drawing/2014/main" id="{E4972A8D-69DC-47C0-9A60-93F8D71F6348}"/>
              </a:ext>
            </a:extLst>
          </p:cNvPr>
          <p:cNvSpPr/>
          <p:nvPr/>
        </p:nvSpPr>
        <p:spPr>
          <a:xfrm>
            <a:off x="7552267" y="5569635"/>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F6BE17E4-2DD2-4A20-A697-5728CEAF5814}"/>
              </a:ext>
            </a:extLst>
          </p:cNvPr>
          <p:cNvSpPr/>
          <p:nvPr/>
        </p:nvSpPr>
        <p:spPr>
          <a:xfrm>
            <a:off x="10024533" y="5575303"/>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C7DE772D-91AB-4873-BA84-0850F2D64CCD}"/>
              </a:ext>
            </a:extLst>
          </p:cNvPr>
          <p:cNvSpPr txBox="1"/>
          <p:nvPr/>
        </p:nvSpPr>
        <p:spPr>
          <a:xfrm>
            <a:off x="7289799" y="5799729"/>
            <a:ext cx="1126066" cy="646331"/>
          </a:xfrm>
          <a:prstGeom prst="rect">
            <a:avLst/>
          </a:prstGeom>
          <a:noFill/>
        </p:spPr>
        <p:txBody>
          <a:bodyPr wrap="square" rtlCol="0">
            <a:spAutoFit/>
          </a:bodyPr>
          <a:lstStyle/>
          <a:p>
            <a:r>
              <a:rPr lang="en-US" altLang="zh-TW" dirty="0"/>
              <a:t>Sample point</a:t>
            </a:r>
            <a:endParaRPr lang="zh-TW" altLang="en-US" dirty="0"/>
          </a:p>
        </p:txBody>
      </p:sp>
      <p:sp>
        <p:nvSpPr>
          <p:cNvPr id="39" name="文字方塊 38">
            <a:extLst>
              <a:ext uri="{FF2B5EF4-FFF2-40B4-BE49-F238E27FC236}">
                <a16:creationId xmlns:a16="http://schemas.microsoft.com/office/drawing/2014/main" id="{383C0C6E-8646-44C1-8A4F-0CEE72F7AF79}"/>
              </a:ext>
            </a:extLst>
          </p:cNvPr>
          <p:cNvSpPr txBox="1"/>
          <p:nvPr/>
        </p:nvSpPr>
        <p:spPr>
          <a:xfrm>
            <a:off x="9751484" y="5770582"/>
            <a:ext cx="1126066" cy="646331"/>
          </a:xfrm>
          <a:prstGeom prst="rect">
            <a:avLst/>
          </a:prstGeom>
          <a:noFill/>
        </p:spPr>
        <p:txBody>
          <a:bodyPr wrap="square" rtlCol="0">
            <a:spAutoFit/>
          </a:bodyPr>
          <a:lstStyle/>
          <a:p>
            <a:r>
              <a:rPr lang="en-US" altLang="zh-TW" dirty="0"/>
              <a:t>Sample point</a:t>
            </a:r>
            <a:endParaRPr lang="zh-TW" altLang="en-US" dirty="0"/>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FE617669-674F-499C-B4B5-705FFEAAF284}"/>
                  </a:ext>
                </a:extLst>
              </p:cNvPr>
              <p:cNvSpPr txBox="1"/>
              <p:nvPr/>
            </p:nvSpPr>
            <p:spPr>
              <a:xfrm>
                <a:off x="11500222" y="551542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𝑟</m:t>
                      </m:r>
                    </m:oMath>
                  </m:oMathPara>
                </a14:m>
                <a:endParaRPr lang="zh-TW" altLang="en-US" dirty="0"/>
              </a:p>
            </p:txBody>
          </p:sp>
        </mc:Choice>
        <mc:Fallback xmlns="">
          <p:sp>
            <p:nvSpPr>
              <p:cNvPr id="36" name="文字方塊 35">
                <a:extLst>
                  <a:ext uri="{FF2B5EF4-FFF2-40B4-BE49-F238E27FC236}">
                    <a16:creationId xmlns:a16="http://schemas.microsoft.com/office/drawing/2014/main" id="{FE617669-674F-499C-B4B5-705FFEAAF284}"/>
                  </a:ext>
                </a:extLst>
              </p:cNvPr>
              <p:cNvSpPr txBox="1">
                <a:spLocks noRot="1" noChangeAspect="1" noMove="1" noResize="1" noEditPoints="1" noAdjustHandles="1" noChangeArrowheads="1" noChangeShapeType="1" noTextEdit="1"/>
              </p:cNvSpPr>
              <p:nvPr/>
            </p:nvSpPr>
            <p:spPr>
              <a:xfrm>
                <a:off x="11500222" y="5515423"/>
                <a:ext cx="166969" cy="276999"/>
              </a:xfrm>
              <a:prstGeom prst="rect">
                <a:avLst/>
              </a:prstGeom>
              <a:blipFill>
                <a:blip r:embed="rId5"/>
                <a:stretch>
                  <a:fillRect l="-22222" r="-18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FBD9F285-E19C-4465-9425-57DFB03A945C}"/>
                  </a:ext>
                </a:extLst>
              </p:cNvPr>
              <p:cNvSpPr txBox="1"/>
              <p:nvPr/>
            </p:nvSpPr>
            <p:spPr>
              <a:xfrm>
                <a:off x="27458" y="869041"/>
                <a:ext cx="4529667" cy="1244828"/>
              </a:xfrm>
              <a:prstGeom prst="rect">
                <a:avLst/>
              </a:prstGeom>
              <a:noFill/>
            </p:spPr>
            <p:txBody>
              <a:bodyPr wrap="square" rtlCol="0">
                <a:spAutoFit/>
              </a:bodyPr>
              <a:lstStyle/>
              <a:p>
                <a:pPr marL="342900" indent="-342900">
                  <a:buFont typeface="+mj-lt"/>
                  <a:buAutoNum type="arabicPeriod"/>
                </a:pPr>
                <a:r>
                  <a:rPr lang="en-US" altLang="zh-TW" b="1" dirty="0"/>
                  <a:t>Initial Setup:</a:t>
                </a:r>
              </a:p>
              <a:p>
                <a:pPr lvl="1"/>
                <a:r>
                  <a:rPr lang="en-US" altLang="zh-TW" dirty="0">
                    <a:latin typeface="Times New Roman" panose="02020603050405020304" pitchFamily="18" charset="0"/>
                    <a:cs typeface="Times New Roman" panose="02020603050405020304" pitchFamily="18" charset="0"/>
                  </a:rPr>
                  <a:t>Initialize </a:t>
                </a:r>
                <a14:m>
                  <m:oMath xmlns:m="http://schemas.openxmlformats.org/officeDocument/2006/math">
                    <m:d>
                      <m:dPr>
                        <m:begChr m:val="["/>
                        <m:endChr m:val="]"/>
                        <m:ctrlPr>
                          <a:rPr lang="en-US" altLang="zh-TW"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e>
                    </m:d>
                  </m:oMath>
                </a14:m>
                <a:r>
                  <a:rPr lang="en-US" altLang="zh-TW" dirty="0">
                    <a:latin typeface="Times New Roman" panose="02020603050405020304" pitchFamily="18" charset="0"/>
                    <a:cs typeface="Times New Roman" panose="02020603050405020304" pitchFamily="18" charset="0"/>
                  </a:rPr>
                  <a:t> as [1 2 3]</a:t>
                </a:r>
              </a:p>
              <a:p>
                <a:pPr marL="342900" indent="-342900">
                  <a:buFont typeface="+mj-lt"/>
                  <a:buAutoNum type="arabicPeriod"/>
                </a:pPr>
                <a:r>
                  <a:rPr lang="en-US" altLang="zh-TW" dirty="0"/>
                  <a:t> </a:t>
                </a:r>
                <a:endParaRPr lang="zh-TW" altLang="en-US" dirty="0"/>
              </a:p>
              <a:p>
                <a:pPr lvl="1"/>
                <a:endParaRPr lang="en-US" altLang="zh-TW" dirty="0"/>
              </a:p>
            </p:txBody>
          </p:sp>
        </mc:Choice>
        <mc:Fallback xmlns="">
          <p:sp>
            <p:nvSpPr>
              <p:cNvPr id="12" name="文字方塊 11">
                <a:extLst>
                  <a:ext uri="{FF2B5EF4-FFF2-40B4-BE49-F238E27FC236}">
                    <a16:creationId xmlns:a16="http://schemas.microsoft.com/office/drawing/2014/main" id="{FBD9F285-E19C-4465-9425-57DFB03A945C}"/>
                  </a:ext>
                </a:extLst>
              </p:cNvPr>
              <p:cNvSpPr txBox="1">
                <a:spLocks noRot="1" noChangeAspect="1" noMove="1" noResize="1" noEditPoints="1" noAdjustHandles="1" noChangeArrowheads="1" noChangeShapeType="1" noTextEdit="1"/>
              </p:cNvSpPr>
              <p:nvPr/>
            </p:nvSpPr>
            <p:spPr>
              <a:xfrm>
                <a:off x="27458" y="869041"/>
                <a:ext cx="4529667" cy="1244828"/>
              </a:xfrm>
              <a:prstGeom prst="rect">
                <a:avLst/>
              </a:prstGeom>
              <a:blipFill>
                <a:blip r:embed="rId2"/>
                <a:stretch>
                  <a:fillRect l="-1211" t="-29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FD4AE21D-3CDB-4A88-AE53-727E7FB23C2D}"/>
                  </a:ext>
                </a:extLst>
              </p:cNvPr>
              <p:cNvSpPr txBox="1"/>
              <p:nvPr/>
            </p:nvSpPr>
            <p:spPr>
              <a:xfrm>
                <a:off x="73031" y="1722513"/>
                <a:ext cx="6988169" cy="2075825"/>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The parameters are allocated according to the ratio</a:t>
                </a:r>
                <a14:m>
                  <m:oMath xmlns:m="http://schemas.openxmlformats.org/officeDocument/2006/math">
                    <m:d>
                      <m:dPr>
                        <m:begChr m:val="["/>
                        <m:endChr m:val="]"/>
                        <m:ctrlPr>
                          <a:rPr lang="en-US" altLang="zh-TW"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e>
                    </m:d>
                    <m:r>
                      <a:rPr lang="en-US" altLang="zh-TW" b="0" i="1" smtClean="0">
                        <a:latin typeface="Cambria Math" panose="02040503050406030204" pitchFamily="18" charset="0"/>
                      </a:rPr>
                      <m:t>=[</m:t>
                    </m:r>
                    <m:r>
                      <a:rPr lang="en-US" altLang="zh-TW" b="0" i="1" smtClean="0">
                        <a:latin typeface="Cambria Math" panose="02040503050406030204" pitchFamily="18" charset="0"/>
                      </a:rPr>
                      <m:t>1</m:t>
                    </m:r>
                    <m:r>
                      <a:rPr lang="en-US" altLang="zh-TW" b="0" i="1" smtClean="0">
                        <a:latin typeface="Cambria Math" panose="02040503050406030204" pitchFamily="18" charset="0"/>
                      </a:rPr>
                      <m:t>:</m:t>
                    </m:r>
                    <m:r>
                      <a:rPr lang="en-US" altLang="zh-TW" b="0" i="1" smtClean="0">
                        <a:latin typeface="Cambria Math" panose="02040503050406030204" pitchFamily="18" charset="0"/>
                      </a:rPr>
                      <m:t>3</m:t>
                    </m:r>
                    <m:r>
                      <a:rPr lang="zh-TW" altLang="en-US" b="0" i="1" smtClean="0">
                        <a:latin typeface="Cambria Math" panose="02040503050406030204" pitchFamily="18" charset="0"/>
                      </a:rPr>
                      <m:t>𝜋</m:t>
                    </m:r>
                    <m:r>
                      <a:rPr lang="en-US" altLang="zh-TW" b="0" i="1" smtClean="0">
                        <a:latin typeface="Cambria Math" panose="02040503050406030204" pitchFamily="18" charset="0"/>
                      </a:rPr>
                      <m:t>:</m:t>
                    </m:r>
                    <m:r>
                      <a:rPr lang="en-US" altLang="zh-TW" b="0" i="1" smtClean="0">
                        <a:latin typeface="Cambria Math" panose="02040503050406030204" pitchFamily="18" charset="0"/>
                      </a:rPr>
                      <m:t>3</m:t>
                    </m:r>
                    <m:r>
                      <a:rPr lang="en-US" altLang="zh-TW" b="0" i="1" smtClean="0">
                        <a:latin typeface="Cambria Math" panose="02040503050406030204" pitchFamily="18" charset="0"/>
                      </a:rPr>
                      <m:t>]</m:t>
                    </m:r>
                  </m:oMath>
                </a14:m>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which is derived from the assumption that the three side lengths of an infinitesimal volume element in the sphere are equal. For each adjustment step, each parameter is divided by its corresponding ratio value, and the parameter with the smallest quotient is incremented by 1. This procedure is repeated for a total of 200 steps. After 200 iterations, the final parameter values are [16 46 143]</a:t>
                </a:r>
                <a:endParaRPr lang="zh-TW" altLang="en-US"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FD4AE21D-3CDB-4A88-AE53-727E7FB23C2D}"/>
                  </a:ext>
                </a:extLst>
              </p:cNvPr>
              <p:cNvSpPr txBox="1">
                <a:spLocks noRot="1" noChangeAspect="1" noMove="1" noResize="1" noEditPoints="1" noAdjustHandles="1" noChangeArrowheads="1" noChangeShapeType="1" noTextEdit="1"/>
              </p:cNvSpPr>
              <p:nvPr/>
            </p:nvSpPr>
            <p:spPr>
              <a:xfrm>
                <a:off x="73031" y="1722513"/>
                <a:ext cx="6988169" cy="2075825"/>
              </a:xfrm>
              <a:prstGeom prst="rect">
                <a:avLst/>
              </a:prstGeom>
              <a:blipFill>
                <a:blip r:embed="rId3"/>
                <a:stretch>
                  <a:fillRect l="-785" t="-882" r="-960" b="-38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4CC4A7E9-E06B-49A0-AC45-B9C557A9A3FE}"/>
                  </a:ext>
                </a:extLst>
              </p:cNvPr>
              <p:cNvSpPr txBox="1"/>
              <p:nvPr/>
            </p:nvSpPr>
            <p:spPr>
              <a:xfrm>
                <a:off x="27458" y="3784784"/>
                <a:ext cx="6466475" cy="2600264"/>
              </a:xfrm>
              <a:prstGeom prst="rect">
                <a:avLst/>
              </a:prstGeom>
              <a:noFill/>
            </p:spPr>
            <p:txBody>
              <a:bodyPr wrap="square" rtlCol="0">
                <a:spAutoFit/>
              </a:bodyPr>
              <a:lstStyle/>
              <a:p>
                <a:pPr marL="342900" indent="-342900">
                  <a:buFont typeface="+mj-lt"/>
                  <a:buAutoNum type="arabicPeriod" startAt="3"/>
                </a:pPr>
                <a:r>
                  <a:rPr lang="en-US" altLang="zh-TW" b="1" dirty="0"/>
                  <a:t>Check for the convergence point:</a:t>
                </a:r>
              </a:p>
              <a:p>
                <a:pPr lvl="1"/>
                <a:r>
                  <a:rPr lang="en-US" altLang="zh-TW" dirty="0"/>
                  <a:t>The convergence criterion is evaluated sequentially over the 201 points by checking whether the relative errors of the following ten points with respect to their respective preceding points are all less than 0.5%. The intersection of the corresponding point counts is then taken. However, if both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and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are required to satisfy the above criterion simultaneously, the single-parameter model requires approximately 1,200 points, which is clearly excessive.</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0" name="文字方塊 29">
                <a:extLst>
                  <a:ext uri="{FF2B5EF4-FFF2-40B4-BE49-F238E27FC236}">
                    <a16:creationId xmlns:a16="http://schemas.microsoft.com/office/drawing/2014/main" id="{4CC4A7E9-E06B-49A0-AC45-B9C557A9A3FE}"/>
                  </a:ext>
                </a:extLst>
              </p:cNvPr>
              <p:cNvSpPr txBox="1">
                <a:spLocks noRot="1" noChangeAspect="1" noMove="1" noResize="1" noEditPoints="1" noAdjustHandles="1" noChangeArrowheads="1" noChangeShapeType="1" noTextEdit="1"/>
              </p:cNvSpPr>
              <p:nvPr/>
            </p:nvSpPr>
            <p:spPr>
              <a:xfrm>
                <a:off x="27458" y="3784784"/>
                <a:ext cx="6466475" cy="2600264"/>
              </a:xfrm>
              <a:prstGeom prst="rect">
                <a:avLst/>
              </a:prstGeom>
              <a:blipFill>
                <a:blip r:embed="rId4"/>
                <a:stretch>
                  <a:fillRect l="-849" t="-1408" r="-849" b="-3052"/>
                </a:stretch>
              </a:blipFill>
            </p:spPr>
            <p:txBody>
              <a:bodyPr/>
              <a:lstStyle/>
              <a:p>
                <a:r>
                  <a:rPr lang="zh-TW" altLang="en-US">
                    <a:noFill/>
                  </a:rPr>
                  <a:t> </a:t>
                </a:r>
              </a:p>
            </p:txBody>
          </p:sp>
        </mc:Fallback>
      </mc:AlternateContent>
      <p:grpSp>
        <p:nvGrpSpPr>
          <p:cNvPr id="53" name="群組 52">
            <a:extLst>
              <a:ext uri="{FF2B5EF4-FFF2-40B4-BE49-F238E27FC236}">
                <a16:creationId xmlns:a16="http://schemas.microsoft.com/office/drawing/2014/main" id="{90089333-9545-48FE-A763-D5276313E314}"/>
              </a:ext>
            </a:extLst>
          </p:cNvPr>
          <p:cNvGrpSpPr/>
          <p:nvPr/>
        </p:nvGrpSpPr>
        <p:grpSpPr>
          <a:xfrm>
            <a:off x="7061199" y="453383"/>
            <a:ext cx="3752796" cy="2821272"/>
            <a:chOff x="7279134" y="453000"/>
            <a:chExt cx="3752796" cy="2821272"/>
          </a:xfrm>
        </p:grpSpPr>
        <p:grpSp>
          <p:nvGrpSpPr>
            <p:cNvPr id="46" name="群組 45">
              <a:extLst>
                <a:ext uri="{FF2B5EF4-FFF2-40B4-BE49-F238E27FC236}">
                  <a16:creationId xmlns:a16="http://schemas.microsoft.com/office/drawing/2014/main" id="{AAD5BB74-9F31-45EB-B3BB-05EC36C283E9}"/>
                </a:ext>
              </a:extLst>
            </p:cNvPr>
            <p:cNvGrpSpPr/>
            <p:nvPr/>
          </p:nvGrpSpPr>
          <p:grpSpPr>
            <a:xfrm>
              <a:off x="7374603" y="453000"/>
              <a:ext cx="3657327" cy="2821272"/>
              <a:chOff x="7499940" y="470906"/>
              <a:chExt cx="3657327" cy="2821272"/>
            </a:xfrm>
          </p:grpSpPr>
          <p:pic>
            <p:nvPicPr>
              <p:cNvPr id="5" name="圖片 4">
                <a:extLst>
                  <a:ext uri="{FF2B5EF4-FFF2-40B4-BE49-F238E27FC236}">
                    <a16:creationId xmlns:a16="http://schemas.microsoft.com/office/drawing/2014/main" id="{2F81E38F-BA60-4B8E-A90F-D9A1775C5A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55334" y="470906"/>
                <a:ext cx="3601933" cy="2780186"/>
              </a:xfrm>
              <a:prstGeom prst="rect">
                <a:avLst/>
              </a:prstGeom>
            </p:spPr>
          </p:pic>
          <p:sp>
            <p:nvSpPr>
              <p:cNvPr id="44" name="矩形 43">
                <a:extLst>
                  <a:ext uri="{FF2B5EF4-FFF2-40B4-BE49-F238E27FC236}">
                    <a16:creationId xmlns:a16="http://schemas.microsoft.com/office/drawing/2014/main" id="{39838954-D293-4C5C-A3C5-C7591F2EFD41}"/>
                  </a:ext>
                </a:extLst>
              </p:cNvPr>
              <p:cNvSpPr/>
              <p:nvPr/>
            </p:nvSpPr>
            <p:spPr>
              <a:xfrm>
                <a:off x="8805333" y="3064933"/>
                <a:ext cx="1475986" cy="227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91875951-A295-46E4-B140-9B75281F07AF}"/>
                  </a:ext>
                </a:extLst>
              </p:cNvPr>
              <p:cNvSpPr/>
              <p:nvPr/>
            </p:nvSpPr>
            <p:spPr>
              <a:xfrm rot="16200000">
                <a:off x="6875570" y="1644292"/>
                <a:ext cx="1475986" cy="227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A3DE0965-3BE2-4B8E-8D7D-0B28BA713C14}"/>
                    </a:ext>
                  </a:extLst>
                </p:cNvPr>
                <p:cNvSpPr txBox="1"/>
                <p:nvPr/>
              </p:nvSpPr>
              <p:spPr>
                <a:xfrm>
                  <a:off x="8436149" y="2994811"/>
                  <a:ext cx="19636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𝐍𝐮𝐦𝐛𝐞𝐫</m:t>
                        </m:r>
                        <m:r>
                          <a:rPr lang="en-US" altLang="zh-TW" b="1" i="0" smtClean="0">
                            <a:latin typeface="Cambria Math" panose="02040503050406030204" pitchFamily="18" charset="0"/>
                          </a:rPr>
                          <m:t> </m:t>
                        </m:r>
                        <m:r>
                          <a:rPr lang="en-US" altLang="zh-TW" b="1" i="0" smtClean="0">
                            <a:latin typeface="Cambria Math" panose="02040503050406030204" pitchFamily="18" charset="0"/>
                          </a:rPr>
                          <m:t>𝐨𝐟</m:t>
                        </m:r>
                        <m:r>
                          <a:rPr lang="en-US" altLang="zh-TW" b="1" i="0" smtClean="0">
                            <a:latin typeface="Cambria Math" panose="02040503050406030204" pitchFamily="18" charset="0"/>
                          </a:rPr>
                          <m:t> </m:t>
                        </m:r>
                        <m:r>
                          <a:rPr lang="en-US" altLang="zh-TW" b="1" i="0" smtClean="0">
                            <a:latin typeface="Cambria Math" panose="02040503050406030204" pitchFamily="18" charset="0"/>
                          </a:rPr>
                          <m:t>𝐩𝐨𝐢𝐧𝐭𝐬</m:t>
                        </m:r>
                      </m:oMath>
                    </m:oMathPara>
                  </a14:m>
                  <a:endParaRPr lang="zh-TW" altLang="en-US" b="1" dirty="0"/>
                </a:p>
              </p:txBody>
            </p:sp>
          </mc:Choice>
          <mc:Fallback xmlns="">
            <p:sp>
              <p:nvSpPr>
                <p:cNvPr id="51" name="文字方塊 50">
                  <a:extLst>
                    <a:ext uri="{FF2B5EF4-FFF2-40B4-BE49-F238E27FC236}">
                      <a16:creationId xmlns:a16="http://schemas.microsoft.com/office/drawing/2014/main" id="{A3DE0965-3BE2-4B8E-8D7D-0B28BA713C14}"/>
                    </a:ext>
                  </a:extLst>
                </p:cNvPr>
                <p:cNvSpPr txBox="1">
                  <a:spLocks noRot="1" noChangeAspect="1" noMove="1" noResize="1" noEditPoints="1" noAdjustHandles="1" noChangeArrowheads="1" noChangeShapeType="1" noTextEdit="1"/>
                </p:cNvSpPr>
                <p:nvPr/>
              </p:nvSpPr>
              <p:spPr>
                <a:xfrm>
                  <a:off x="8436149" y="2994811"/>
                  <a:ext cx="1963679" cy="276999"/>
                </a:xfrm>
                <a:prstGeom prst="rect">
                  <a:avLst/>
                </a:prstGeom>
                <a:blipFill>
                  <a:blip r:embed="rId6"/>
                  <a:stretch>
                    <a:fillRect l="-2484" r="-4037" b="-3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C5111A3B-BF71-4D7A-A217-43FB916BB9F0}"/>
                    </a:ext>
                  </a:extLst>
                </p:cNvPr>
                <p:cNvSpPr txBox="1"/>
                <p:nvPr/>
              </p:nvSpPr>
              <p:spPr>
                <a:xfrm rot="16200000">
                  <a:off x="6350960" y="1533200"/>
                  <a:ext cx="2147581" cy="291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zh-TW" altLang="en-US" b="1" i="1" smtClean="0">
                                <a:latin typeface="Cambria Math" panose="02040503050406030204" pitchFamily="18" charset="0"/>
                              </a:rPr>
                              <m:t>𝓵</m:t>
                            </m:r>
                          </m:e>
                        </m:acc>
                        <m:r>
                          <a:rPr lang="en-US" altLang="zh-TW" b="1" i="1" smtClean="0">
                            <a:latin typeface="Cambria Math" panose="02040503050406030204" pitchFamily="18" charset="0"/>
                          </a:rPr>
                          <m:t>(</m:t>
                        </m:r>
                        <m:r>
                          <a:rPr lang="en-US" altLang="zh-TW" b="1" i="1" smtClean="0">
                            <a:latin typeface="Cambria Math" panose="02040503050406030204" pitchFamily="18" charset="0"/>
                          </a:rPr>
                          <m:t>𝒎𝒊𝒄𝒓𝒐</m:t>
                        </m:r>
                        <m:r>
                          <a:rPr lang="en-US" altLang="zh-TW" b="1" i="1" smtClean="0">
                            <a:latin typeface="Cambria Math" panose="02040503050406030204" pitchFamily="18" charset="0"/>
                          </a:rPr>
                          <m:t> </m:t>
                        </m:r>
                        <m:r>
                          <a:rPr lang="en-US" altLang="zh-TW" b="1" i="1" smtClean="0">
                            <a:latin typeface="Cambria Math" panose="02040503050406030204" pitchFamily="18" charset="0"/>
                          </a:rPr>
                          <m:t>𝒎𝒆𝒕𝒆𝒓</m:t>
                        </m:r>
                        <m:r>
                          <a:rPr lang="en-US" altLang="zh-TW" b="1" i="1" smtClean="0">
                            <a:latin typeface="Cambria Math" panose="02040503050406030204" pitchFamily="18" charset="0"/>
                          </a:rPr>
                          <m:t>)</m:t>
                        </m:r>
                      </m:oMath>
                    </m:oMathPara>
                  </a14:m>
                  <a:endParaRPr lang="zh-TW" altLang="en-US" b="1" dirty="0"/>
                </a:p>
              </p:txBody>
            </p:sp>
          </mc:Choice>
          <mc:Fallback xmlns="">
            <p:sp>
              <p:nvSpPr>
                <p:cNvPr id="52" name="文字方塊 51">
                  <a:extLst>
                    <a:ext uri="{FF2B5EF4-FFF2-40B4-BE49-F238E27FC236}">
                      <a16:creationId xmlns:a16="http://schemas.microsoft.com/office/drawing/2014/main" id="{C5111A3B-BF71-4D7A-A217-43FB916BB9F0}"/>
                    </a:ext>
                  </a:extLst>
                </p:cNvPr>
                <p:cNvSpPr txBox="1">
                  <a:spLocks noRot="1" noChangeAspect="1" noMove="1" noResize="1" noEditPoints="1" noAdjustHandles="1" noChangeArrowheads="1" noChangeShapeType="1" noTextEdit="1"/>
                </p:cNvSpPr>
                <p:nvPr/>
              </p:nvSpPr>
              <p:spPr>
                <a:xfrm rot="16200000">
                  <a:off x="6350960" y="1533200"/>
                  <a:ext cx="2147581" cy="291234"/>
                </a:xfrm>
                <a:prstGeom prst="rect">
                  <a:avLst/>
                </a:prstGeom>
                <a:blipFill>
                  <a:blip r:embed="rId7"/>
                  <a:stretch>
                    <a:fillRect l="-16667" r="-33333"/>
                  </a:stretch>
                </a:blipFill>
              </p:spPr>
              <p:txBody>
                <a:bodyPr/>
                <a:lstStyle/>
                <a:p>
                  <a:r>
                    <a:rPr lang="zh-TW" altLang="en-US">
                      <a:noFill/>
                    </a:rPr>
                    <a:t> </a:t>
                  </a:r>
                </a:p>
              </p:txBody>
            </p:sp>
          </mc:Fallback>
        </mc:AlternateContent>
      </p:grpSp>
      <p:grpSp>
        <p:nvGrpSpPr>
          <p:cNvPr id="66" name="群組 65">
            <a:extLst>
              <a:ext uri="{FF2B5EF4-FFF2-40B4-BE49-F238E27FC236}">
                <a16:creationId xmlns:a16="http://schemas.microsoft.com/office/drawing/2014/main" id="{CC0D3744-0084-4074-B5C3-C4F462806A28}"/>
              </a:ext>
            </a:extLst>
          </p:cNvPr>
          <p:cNvGrpSpPr/>
          <p:nvPr/>
        </p:nvGrpSpPr>
        <p:grpSpPr>
          <a:xfrm>
            <a:off x="7061198" y="3429000"/>
            <a:ext cx="4304643" cy="3142200"/>
            <a:chOff x="6689569" y="3385595"/>
            <a:chExt cx="4304643" cy="3142200"/>
          </a:xfrm>
        </p:grpSpPr>
        <p:grpSp>
          <p:nvGrpSpPr>
            <p:cNvPr id="65" name="群組 64">
              <a:extLst>
                <a:ext uri="{FF2B5EF4-FFF2-40B4-BE49-F238E27FC236}">
                  <a16:creationId xmlns:a16="http://schemas.microsoft.com/office/drawing/2014/main" id="{2A438D31-4646-4874-B77A-CE088298B9DB}"/>
                </a:ext>
              </a:extLst>
            </p:cNvPr>
            <p:cNvGrpSpPr/>
            <p:nvPr/>
          </p:nvGrpSpPr>
          <p:grpSpPr>
            <a:xfrm>
              <a:off x="6993467" y="3385595"/>
              <a:ext cx="4000745" cy="3142200"/>
              <a:chOff x="6993467" y="3385595"/>
              <a:chExt cx="4000745" cy="3142200"/>
            </a:xfrm>
          </p:grpSpPr>
          <p:pic>
            <p:nvPicPr>
              <p:cNvPr id="59" name="圖片 58">
                <a:extLst>
                  <a:ext uri="{FF2B5EF4-FFF2-40B4-BE49-F238E27FC236}">
                    <a16:creationId xmlns:a16="http://schemas.microsoft.com/office/drawing/2014/main" id="{BDE19A6C-B5A5-48A7-B8A9-A410B14064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4334" y="3385595"/>
                <a:ext cx="3899878" cy="3031260"/>
              </a:xfrm>
              <a:prstGeom prst="rect">
                <a:avLst/>
              </a:prstGeom>
            </p:spPr>
          </p:pic>
          <p:sp>
            <p:nvSpPr>
              <p:cNvPr id="60" name="矩形 59">
                <a:extLst>
                  <a:ext uri="{FF2B5EF4-FFF2-40B4-BE49-F238E27FC236}">
                    <a16:creationId xmlns:a16="http://schemas.microsoft.com/office/drawing/2014/main" id="{CE577D1F-AAB4-44FB-98D6-926D5C6431D7}"/>
                  </a:ext>
                </a:extLst>
              </p:cNvPr>
              <p:cNvSpPr/>
              <p:nvPr/>
            </p:nvSpPr>
            <p:spPr>
              <a:xfrm>
                <a:off x="8462061" y="6189133"/>
                <a:ext cx="1562472" cy="338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a:extLst>
                  <a:ext uri="{FF2B5EF4-FFF2-40B4-BE49-F238E27FC236}">
                    <a16:creationId xmlns:a16="http://schemas.microsoft.com/office/drawing/2014/main" id="{55408719-868D-4D32-A577-3D641E2B97B1}"/>
                  </a:ext>
                </a:extLst>
              </p:cNvPr>
              <p:cNvSpPr/>
              <p:nvPr/>
            </p:nvSpPr>
            <p:spPr>
              <a:xfrm>
                <a:off x="6993467" y="3996267"/>
                <a:ext cx="358966" cy="17000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A1AD7E3C-CC6E-45B2-9B82-F056B4532434}"/>
                    </a:ext>
                  </a:extLst>
                </p:cNvPr>
                <p:cNvSpPr txBox="1"/>
                <p:nvPr/>
              </p:nvSpPr>
              <p:spPr>
                <a:xfrm>
                  <a:off x="8315337" y="6195326"/>
                  <a:ext cx="19636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𝐍𝐮𝐦𝐛𝐞𝐫</m:t>
                        </m:r>
                        <m:r>
                          <a:rPr lang="en-US" altLang="zh-TW" b="1" i="0" smtClean="0">
                            <a:latin typeface="Cambria Math" panose="02040503050406030204" pitchFamily="18" charset="0"/>
                          </a:rPr>
                          <m:t> </m:t>
                        </m:r>
                        <m:r>
                          <a:rPr lang="en-US" altLang="zh-TW" b="1" i="0" smtClean="0">
                            <a:latin typeface="Cambria Math" panose="02040503050406030204" pitchFamily="18" charset="0"/>
                          </a:rPr>
                          <m:t>𝐨𝐟</m:t>
                        </m:r>
                        <m:r>
                          <a:rPr lang="en-US" altLang="zh-TW" b="1" i="0" smtClean="0">
                            <a:latin typeface="Cambria Math" panose="02040503050406030204" pitchFamily="18" charset="0"/>
                          </a:rPr>
                          <m:t> </m:t>
                        </m:r>
                        <m:r>
                          <a:rPr lang="en-US" altLang="zh-TW" b="1" i="0" smtClean="0">
                            <a:latin typeface="Cambria Math" panose="02040503050406030204" pitchFamily="18" charset="0"/>
                          </a:rPr>
                          <m:t>𝐩𝐨𝐢𝐧𝐭𝐬</m:t>
                        </m:r>
                      </m:oMath>
                    </m:oMathPara>
                  </a14:m>
                  <a:endParaRPr lang="zh-TW" altLang="en-US" b="1" dirty="0"/>
                </a:p>
              </p:txBody>
            </p:sp>
          </mc:Choice>
          <mc:Fallback xmlns="">
            <p:sp>
              <p:nvSpPr>
                <p:cNvPr id="62" name="文字方塊 61">
                  <a:extLst>
                    <a:ext uri="{FF2B5EF4-FFF2-40B4-BE49-F238E27FC236}">
                      <a16:creationId xmlns:a16="http://schemas.microsoft.com/office/drawing/2014/main" id="{A1AD7E3C-CC6E-45B2-9B82-F056B4532434}"/>
                    </a:ext>
                  </a:extLst>
                </p:cNvPr>
                <p:cNvSpPr txBox="1">
                  <a:spLocks noRot="1" noChangeAspect="1" noMove="1" noResize="1" noEditPoints="1" noAdjustHandles="1" noChangeArrowheads="1" noChangeShapeType="1" noTextEdit="1"/>
                </p:cNvSpPr>
                <p:nvPr/>
              </p:nvSpPr>
              <p:spPr>
                <a:xfrm>
                  <a:off x="8315337" y="6195326"/>
                  <a:ext cx="1963679" cy="276999"/>
                </a:xfrm>
                <a:prstGeom prst="rect">
                  <a:avLst/>
                </a:prstGeom>
                <a:blipFill>
                  <a:blip r:embed="rId9"/>
                  <a:stretch>
                    <a:fillRect l="-2484" r="-4037" b="-3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A9C1ADB8-C9E9-48CF-A25C-DBD23DA83BE4}"/>
                    </a:ext>
                  </a:extLst>
                </p:cNvPr>
                <p:cNvSpPr txBox="1"/>
                <p:nvPr/>
              </p:nvSpPr>
              <p:spPr>
                <a:xfrm rot="16200000">
                  <a:off x="6097998" y="4492502"/>
                  <a:ext cx="1790938" cy="6077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b="1" i="1" smtClean="0">
                                <a:latin typeface="Cambria Math" panose="02040503050406030204" pitchFamily="18" charset="0"/>
                              </a:rPr>
                            </m:ctrlPr>
                          </m:fPr>
                          <m:num>
                            <m:sSub>
                              <m:sSubPr>
                                <m:ctrlPr>
                                  <a:rPr lang="en-US" altLang="zh-TW" b="1" i="1" smtClean="0">
                                    <a:latin typeface="Cambria Math" panose="02040503050406030204" pitchFamily="18" charset="0"/>
                                  </a:rPr>
                                </m:ctrlPr>
                              </m:sSubPr>
                              <m:e>
                                <m:d>
                                  <m:dPr>
                                    <m:begChr m:val="‖"/>
                                    <m:endChr m:val="‖"/>
                                    <m:ctrlPr>
                                      <a:rPr lang="en-US" altLang="zh-TW" b="1" i="1">
                                        <a:latin typeface="Cambria Math" panose="02040503050406030204" pitchFamily="18" charset="0"/>
                                      </a:rPr>
                                    </m:ctrlPr>
                                  </m:dPr>
                                  <m:e>
                                    <m:sSub>
                                      <m:sSubPr>
                                        <m:ctrlPr>
                                          <a:rPr lang="en-US" altLang="zh-TW" b="1" i="1">
                                            <a:latin typeface="Cambria Math" panose="02040503050406030204" pitchFamily="18" charset="0"/>
                                          </a:rPr>
                                        </m:ctrlPr>
                                      </m:sSubPr>
                                      <m:e>
                                        <m:r>
                                          <a:rPr lang="en-US" altLang="zh-TW" b="1" i="1">
                                            <a:latin typeface="Cambria Math" panose="02040503050406030204" pitchFamily="18" charset="0"/>
                                            <a:ea typeface="Cambria Math" panose="02040503050406030204" pitchFamily="18" charset="0"/>
                                          </a:rPr>
                                          <m:t>∆</m:t>
                                        </m:r>
                                        <m:acc>
                                          <m:accPr>
                                            <m:chr m:val="̅"/>
                                            <m:ctrlPr>
                                              <a:rPr lang="en-US" altLang="zh-TW" b="1" i="1">
                                                <a:latin typeface="Cambria Math" panose="02040503050406030204" pitchFamily="18" charset="0"/>
                                              </a:rPr>
                                            </m:ctrlPr>
                                          </m:accPr>
                                          <m:e>
                                            <m:r>
                                              <a:rPr lang="en-US" altLang="zh-TW" b="1" i="1">
                                                <a:latin typeface="Cambria Math" panose="02040503050406030204" pitchFamily="18" charset="0"/>
                                              </a:rPr>
                                              <m:t>𝑲</m:t>
                                            </m:r>
                                          </m:e>
                                        </m:acc>
                                      </m:e>
                                      <m:sub>
                                        <m:r>
                                          <a:rPr lang="en-US" altLang="zh-TW" b="1" i="1">
                                            <a:latin typeface="Cambria Math" panose="02040503050406030204" pitchFamily="18" charset="0"/>
                                          </a:rPr>
                                          <m:t>𝑰</m:t>
                                        </m:r>
                                      </m:sub>
                                    </m:sSub>
                                  </m:e>
                                </m:d>
                              </m:e>
                              <m:sub>
                                <m:r>
                                  <a:rPr lang="en-US" altLang="zh-TW" b="1" i="1" smtClean="0">
                                    <a:latin typeface="Cambria Math" panose="02040503050406030204" pitchFamily="18" charset="0"/>
                                  </a:rPr>
                                  <m:t>𝑭</m:t>
                                </m:r>
                              </m:sub>
                            </m:sSub>
                          </m:num>
                          <m:den>
                            <m:sSub>
                              <m:sSubPr>
                                <m:ctrlPr>
                                  <a:rPr lang="en-US" altLang="zh-TW" b="1" i="1" smtClean="0">
                                    <a:latin typeface="Cambria Math" panose="02040503050406030204" pitchFamily="18" charset="0"/>
                                  </a:rPr>
                                </m:ctrlPr>
                              </m:sSubPr>
                              <m:e>
                                <m:d>
                                  <m:dPr>
                                    <m:begChr m:val="‖"/>
                                    <m:endChr m:val="‖"/>
                                    <m:ctrlPr>
                                      <a:rPr lang="en-US" altLang="zh-TW" b="1" i="1" smtClean="0">
                                        <a:latin typeface="Cambria Math" panose="02040503050406030204" pitchFamily="18" charset="0"/>
                                      </a:rPr>
                                    </m:ctrlPr>
                                  </m:dPr>
                                  <m:e>
                                    <m:sSub>
                                      <m:sSubPr>
                                        <m:ctrlPr>
                                          <a:rPr lang="en-US" altLang="zh-TW" b="1" i="1" smtClean="0">
                                            <a:latin typeface="Cambria Math" panose="02040503050406030204" pitchFamily="18" charset="0"/>
                                          </a:rPr>
                                        </m:ctrlPr>
                                      </m:sSubPr>
                                      <m:e>
                                        <m:acc>
                                          <m:accPr>
                                            <m:chr m:val="̅"/>
                                            <m:ctrlPr>
                                              <a:rPr lang="en-US" altLang="zh-TW" b="1" i="1" smtClean="0">
                                                <a:latin typeface="Cambria Math" panose="02040503050406030204" pitchFamily="18" charset="0"/>
                                              </a:rPr>
                                            </m:ctrlPr>
                                          </m:accPr>
                                          <m:e>
                                            <m:r>
                                              <a:rPr lang="en-US" altLang="zh-TW" b="1" i="1" smtClean="0">
                                                <a:latin typeface="Cambria Math" panose="02040503050406030204" pitchFamily="18" charset="0"/>
                                              </a:rPr>
                                              <m:t>𝑲</m:t>
                                            </m:r>
                                          </m:e>
                                        </m:acc>
                                      </m:e>
                                      <m:sub>
                                        <m:r>
                                          <a:rPr lang="en-US" altLang="zh-TW" b="1" i="1" smtClean="0">
                                            <a:latin typeface="Cambria Math" panose="02040503050406030204" pitchFamily="18" charset="0"/>
                                          </a:rPr>
                                          <m:t>𝑰</m:t>
                                        </m:r>
                                      </m:sub>
                                    </m:sSub>
                                  </m:e>
                                </m:d>
                              </m:e>
                              <m:sub>
                                <m:r>
                                  <a:rPr lang="en-US" altLang="zh-TW" b="1" i="1" smtClean="0">
                                    <a:latin typeface="Cambria Math" panose="02040503050406030204" pitchFamily="18" charset="0"/>
                                  </a:rPr>
                                  <m:t>𝑭</m:t>
                                </m:r>
                              </m:sub>
                            </m:sSub>
                          </m:den>
                        </m:f>
                        <m:r>
                          <a:rPr lang="en-US" altLang="zh-TW" b="1" i="1">
                            <a:latin typeface="Cambria Math" panose="02040503050406030204" pitchFamily="18" charset="0"/>
                            <a:ea typeface="Cambria Math" panose="02040503050406030204" pitchFamily="18" charset="0"/>
                          </a:rPr>
                          <m:t>∙</m:t>
                        </m:r>
                        <m:r>
                          <a:rPr lang="en-US" altLang="zh-TW" b="1" i="1" smtClean="0">
                            <a:latin typeface="Cambria Math" panose="02040503050406030204" pitchFamily="18" charset="0"/>
                            <a:ea typeface="Cambria Math" panose="02040503050406030204" pitchFamily="18" charset="0"/>
                          </a:rPr>
                          <m:t>𝟏𝟎𝟎</m:t>
                        </m:r>
                        <m:r>
                          <a:rPr lang="en-US" altLang="zh-TW" b="1" i="1" smtClean="0">
                            <a:latin typeface="Cambria Math" panose="02040503050406030204" pitchFamily="18" charset="0"/>
                            <a:ea typeface="Cambria Math" panose="02040503050406030204" pitchFamily="18" charset="0"/>
                          </a:rPr>
                          <m:t>(%)</m:t>
                        </m:r>
                      </m:oMath>
                    </m:oMathPara>
                  </a14:m>
                  <a:endParaRPr lang="zh-TW" altLang="en-US" b="1" dirty="0"/>
                </a:p>
              </p:txBody>
            </p:sp>
          </mc:Choice>
          <mc:Fallback xmlns="">
            <p:sp>
              <p:nvSpPr>
                <p:cNvPr id="63" name="文字方塊 62">
                  <a:extLst>
                    <a:ext uri="{FF2B5EF4-FFF2-40B4-BE49-F238E27FC236}">
                      <a16:creationId xmlns:a16="http://schemas.microsoft.com/office/drawing/2014/main" id="{A9C1ADB8-C9E9-48CF-A25C-DBD23DA83BE4}"/>
                    </a:ext>
                  </a:extLst>
                </p:cNvPr>
                <p:cNvSpPr txBox="1">
                  <a:spLocks noRot="1" noChangeAspect="1" noMove="1" noResize="1" noEditPoints="1" noAdjustHandles="1" noChangeArrowheads="1" noChangeShapeType="1" noTextEdit="1"/>
                </p:cNvSpPr>
                <p:nvPr/>
              </p:nvSpPr>
              <p:spPr>
                <a:xfrm rot="16200000">
                  <a:off x="6097998" y="4492502"/>
                  <a:ext cx="1790938" cy="607795"/>
                </a:xfrm>
                <a:prstGeom prst="rect">
                  <a:avLst/>
                </a:prstGeom>
                <a:blipFill>
                  <a:blip r:embed="rId10"/>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55148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2" name="群組 11">
            <a:extLst>
              <a:ext uri="{FF2B5EF4-FFF2-40B4-BE49-F238E27FC236}">
                <a16:creationId xmlns:a16="http://schemas.microsoft.com/office/drawing/2014/main" id="{8C914496-CCAB-4FB2-8F62-8FF430665AC4}"/>
              </a:ext>
            </a:extLst>
          </p:cNvPr>
          <p:cNvGrpSpPr/>
          <p:nvPr/>
        </p:nvGrpSpPr>
        <p:grpSpPr>
          <a:xfrm>
            <a:off x="309641" y="4328480"/>
            <a:ext cx="3124197" cy="2443793"/>
            <a:chOff x="305925" y="2594967"/>
            <a:chExt cx="4781728" cy="3718124"/>
          </a:xfrm>
        </p:grpSpPr>
        <p:grpSp>
          <p:nvGrpSpPr>
            <p:cNvPr id="5" name="群組 4">
              <a:extLst>
                <a:ext uri="{FF2B5EF4-FFF2-40B4-BE49-F238E27FC236}">
                  <a16:creationId xmlns:a16="http://schemas.microsoft.com/office/drawing/2014/main" id="{4C4C9969-1B44-4A59-A7E0-FC50AC2A4271}"/>
                </a:ext>
              </a:extLst>
            </p:cNvPr>
            <p:cNvGrpSpPr/>
            <p:nvPr/>
          </p:nvGrpSpPr>
          <p:grpSpPr>
            <a:xfrm>
              <a:off x="328724" y="2594967"/>
              <a:ext cx="4758929" cy="3718124"/>
              <a:chOff x="318690" y="2587163"/>
              <a:chExt cx="4758929" cy="3718124"/>
            </a:xfrm>
          </p:grpSpPr>
          <p:pic>
            <p:nvPicPr>
              <p:cNvPr id="4" name="圖片 3">
                <a:extLst>
                  <a:ext uri="{FF2B5EF4-FFF2-40B4-BE49-F238E27FC236}">
                    <a16:creationId xmlns:a16="http://schemas.microsoft.com/office/drawing/2014/main" id="{2501BE3D-094B-4B99-A71B-067B5CBE0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671" y="2587163"/>
                <a:ext cx="4687948" cy="3632200"/>
              </a:xfrm>
              <a:prstGeom prst="rect">
                <a:avLst/>
              </a:prstGeom>
            </p:spPr>
          </p:pic>
          <p:sp>
            <p:nvSpPr>
              <p:cNvPr id="3" name="矩形 2">
                <a:extLst>
                  <a:ext uri="{FF2B5EF4-FFF2-40B4-BE49-F238E27FC236}">
                    <a16:creationId xmlns:a16="http://schemas.microsoft.com/office/drawing/2014/main" id="{68A97F66-D40E-4AE5-9BB8-EB697B953184}"/>
                  </a:ext>
                </a:extLst>
              </p:cNvPr>
              <p:cNvSpPr/>
              <p:nvPr/>
            </p:nvSpPr>
            <p:spPr>
              <a:xfrm>
                <a:off x="2048933" y="5985933"/>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CA362B68-8F37-4BBB-9784-37CA0CAA23D0}"/>
                  </a:ext>
                </a:extLst>
              </p:cNvPr>
              <p:cNvSpPr/>
              <p:nvPr/>
            </p:nvSpPr>
            <p:spPr>
              <a:xfrm rot="16200000">
                <a:off x="-508000" y="4129914"/>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1910681" y="5984697"/>
                  <a:ext cx="2136102" cy="2945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𝐍𝐮𝐦𝐛𝐞𝐫</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𝐨𝐟</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𝐩𝐨𝐢𝐧𝐭𝐬</m:t>
                        </m:r>
                      </m:oMath>
                    </m:oMathPara>
                  </a14:m>
                  <a:endParaRPr lang="zh-TW" altLang="en-US" sz="1400" b="1"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1910681" y="5984697"/>
                  <a:ext cx="2136102" cy="294529"/>
                </a:xfrm>
                <a:prstGeom prst="rect">
                  <a:avLst/>
                </a:prstGeom>
                <a:blipFill>
                  <a:blip r:embed="rId3"/>
                  <a:stretch>
                    <a:fillRect l="-4803" r="-11354" b="-4838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405239" y="4110509"/>
                  <a:ext cx="1739091" cy="3167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zh-TW" altLang="en-US" sz="1400" b="1" i="1" smtClean="0">
                                <a:latin typeface="Cambria Math" panose="02040503050406030204" pitchFamily="18" charset="0"/>
                              </a:rPr>
                              <m:t>𝓵</m:t>
                            </m:r>
                          </m:e>
                        </m:acc>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405239" y="4110509"/>
                  <a:ext cx="1739091" cy="316763"/>
                </a:xfrm>
                <a:prstGeom prst="rect">
                  <a:avLst/>
                </a:prstGeom>
                <a:blipFill>
                  <a:blip r:embed="rId4"/>
                  <a:stretch>
                    <a:fillRect l="-29412" t="-24599" r="-41176" b="-5882"/>
                  </a:stretch>
                </a:blipFill>
              </p:spPr>
              <p:txBody>
                <a:bodyPr/>
                <a:lstStyle/>
                <a:p>
                  <a:r>
                    <a:rPr lang="zh-TW" altLang="en-US">
                      <a:noFill/>
                    </a:rPr>
                    <a:t> </a:t>
                  </a:r>
                </a:p>
              </p:txBody>
            </p:sp>
          </mc:Fallback>
        </mc:AlternateContent>
      </p:grpSp>
      <p:grpSp>
        <p:nvGrpSpPr>
          <p:cNvPr id="14" name="群組 13">
            <a:extLst>
              <a:ext uri="{FF2B5EF4-FFF2-40B4-BE49-F238E27FC236}">
                <a16:creationId xmlns:a16="http://schemas.microsoft.com/office/drawing/2014/main" id="{D4CB6650-1443-452F-9315-DFDD73AD96D5}"/>
              </a:ext>
            </a:extLst>
          </p:cNvPr>
          <p:cNvGrpSpPr/>
          <p:nvPr/>
        </p:nvGrpSpPr>
        <p:grpSpPr>
          <a:xfrm>
            <a:off x="8421423" y="4100019"/>
            <a:ext cx="3356422" cy="2672254"/>
            <a:chOff x="5939963" y="2478091"/>
            <a:chExt cx="5333654" cy="4168241"/>
          </a:xfrm>
        </p:grpSpPr>
        <p:grpSp>
          <p:nvGrpSpPr>
            <p:cNvPr id="9" name="群組 8">
              <a:extLst>
                <a:ext uri="{FF2B5EF4-FFF2-40B4-BE49-F238E27FC236}">
                  <a16:creationId xmlns:a16="http://schemas.microsoft.com/office/drawing/2014/main" id="{AA3F5F84-1444-494D-8D44-216931AD5A57}"/>
                </a:ext>
              </a:extLst>
            </p:cNvPr>
            <p:cNvGrpSpPr/>
            <p:nvPr/>
          </p:nvGrpSpPr>
          <p:grpSpPr>
            <a:xfrm>
              <a:off x="5939963" y="2478091"/>
              <a:ext cx="5333654" cy="4168241"/>
              <a:chOff x="5939963" y="2478091"/>
              <a:chExt cx="5333654" cy="4168241"/>
            </a:xfrm>
          </p:grpSpPr>
          <p:pic>
            <p:nvPicPr>
              <p:cNvPr id="10" name="圖片 9">
                <a:extLst>
                  <a:ext uri="{FF2B5EF4-FFF2-40B4-BE49-F238E27FC236}">
                    <a16:creationId xmlns:a16="http://schemas.microsoft.com/office/drawing/2014/main" id="{458A9FD1-D9FB-4C69-9F87-E32119C1C8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6680" y="2478091"/>
                <a:ext cx="5276937" cy="4097867"/>
              </a:xfrm>
              <a:prstGeom prst="rect">
                <a:avLst/>
              </a:prstGeom>
            </p:spPr>
          </p:pic>
          <p:sp>
            <p:nvSpPr>
              <p:cNvPr id="8" name="矩形 7">
                <a:extLst>
                  <a:ext uri="{FF2B5EF4-FFF2-40B4-BE49-F238E27FC236}">
                    <a16:creationId xmlns:a16="http://schemas.microsoft.com/office/drawing/2014/main" id="{56C0BFE7-A5BB-426F-9180-8F82E781550F}"/>
                  </a:ext>
                </a:extLst>
              </p:cNvPr>
              <p:cNvSpPr/>
              <p:nvPr/>
            </p:nvSpPr>
            <p:spPr>
              <a:xfrm>
                <a:off x="7814733" y="6261695"/>
                <a:ext cx="2074334" cy="384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5F81307C-AB9D-4B6F-B027-165A822A90C6}"/>
                  </a:ext>
                </a:extLst>
              </p:cNvPr>
              <p:cNvSpPr/>
              <p:nvPr/>
            </p:nvSpPr>
            <p:spPr>
              <a:xfrm rot="16200000">
                <a:off x="5095115" y="4155876"/>
                <a:ext cx="2074334" cy="384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19880BE8-4D40-4D20-9534-6F027AAC3C1C}"/>
                    </a:ext>
                  </a:extLst>
                </p:cNvPr>
                <p:cNvSpPr txBox="1"/>
                <p:nvPr/>
              </p:nvSpPr>
              <p:spPr>
                <a:xfrm>
                  <a:off x="7648658" y="6261695"/>
                  <a:ext cx="2427590" cy="3360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𝐍𝐮𝐦𝐛𝐞𝐫</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𝐨𝐟</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𝐩𝐨𝐢𝐧𝐭𝐬</m:t>
                        </m:r>
                      </m:oMath>
                    </m:oMathPara>
                  </a14:m>
                  <a:endParaRPr lang="zh-TW" altLang="en-US" sz="1400" b="1" dirty="0"/>
                </a:p>
              </p:txBody>
            </p:sp>
          </mc:Choice>
          <mc:Fallback xmlns="">
            <p:sp>
              <p:nvSpPr>
                <p:cNvPr id="17" name="文字方塊 16">
                  <a:extLst>
                    <a:ext uri="{FF2B5EF4-FFF2-40B4-BE49-F238E27FC236}">
                      <a16:creationId xmlns:a16="http://schemas.microsoft.com/office/drawing/2014/main" id="{19880BE8-4D40-4D20-9534-6F027AAC3C1C}"/>
                    </a:ext>
                  </a:extLst>
                </p:cNvPr>
                <p:cNvSpPr txBox="1">
                  <a:spLocks noRot="1" noChangeAspect="1" noMove="1" noResize="1" noEditPoints="1" noAdjustHandles="1" noChangeArrowheads="1" noChangeShapeType="1" noTextEdit="1"/>
                </p:cNvSpPr>
                <p:nvPr/>
              </p:nvSpPr>
              <p:spPr>
                <a:xfrm>
                  <a:off x="7648658" y="6261695"/>
                  <a:ext cx="2427590" cy="336054"/>
                </a:xfrm>
                <a:prstGeom prst="rect">
                  <a:avLst/>
                </a:prstGeom>
                <a:blipFill>
                  <a:blip r:embed="rId6"/>
                  <a:stretch>
                    <a:fillRect l="-2800" r="-4000" b="-30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4A1F18E2-7492-48A4-86B6-87DFB0303CC9}"/>
                    </a:ext>
                  </a:extLst>
                </p:cNvPr>
                <p:cNvSpPr txBox="1"/>
                <p:nvPr/>
              </p:nvSpPr>
              <p:spPr>
                <a:xfrm rot="16200000">
                  <a:off x="5372947" y="4100849"/>
                  <a:ext cx="1558450" cy="38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b="1" i="1" smtClean="0">
                                <a:latin typeface="Cambria Math" panose="02040503050406030204" pitchFamily="18" charset="0"/>
                              </a:rPr>
                            </m:ctrlPr>
                          </m:sPrePr>
                          <m:sub/>
                          <m:sup>
                            <m:r>
                              <a:rPr lang="en-US" altLang="zh-TW" sz="1400" b="1" i="1" smtClean="0">
                                <a:latin typeface="Cambria Math" panose="02040503050406030204" pitchFamily="18" charset="0"/>
                              </a:rPr>
                              <m:t>𝑩</m:t>
                            </m:r>
                          </m:sup>
                          <m:e>
                            <m:sSub>
                              <m:sSubPr>
                                <m:ctrlPr>
                                  <a:rPr lang="en-US" altLang="zh-TW" sz="1400" b="1" i="1" smtClean="0">
                                    <a:latin typeface="Cambria Math" panose="02040503050406030204" pitchFamily="18" charset="0"/>
                                  </a:rPr>
                                </m:ctrlPr>
                              </m:sSubPr>
                              <m:e>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rPr>
                                      <m:t>𝒈</m:t>
                                    </m:r>
                                  </m:e>
                                </m:acc>
                              </m:e>
                              <m:sub>
                                <m:r>
                                  <a:rPr lang="en-US" altLang="zh-TW" sz="1400" b="1" i="1" smtClean="0">
                                    <a:latin typeface="Cambria Math" panose="02040503050406030204" pitchFamily="18" charset="0"/>
                                  </a:rPr>
                                  <m:t>𝑰</m:t>
                                </m:r>
                              </m:sub>
                            </m:sSub>
                          </m:e>
                        </m:sPre>
                        <m:r>
                          <a:rPr lang="en-US" altLang="zh-TW" sz="1400" b="1" i="1" smtClean="0">
                            <a:latin typeface="Cambria Math" panose="02040503050406030204" pitchFamily="18" charset="0"/>
                          </a:rPr>
                          <m:t>(</m:t>
                        </m:r>
                        <m:f>
                          <m:fPr>
                            <m:type m:val="lin"/>
                            <m:ctrlPr>
                              <a:rPr lang="en-US" altLang="zh-TW" sz="1400" b="1" i="1" smtClean="0">
                                <a:latin typeface="Cambria Math" panose="02040503050406030204" pitchFamily="18" charset="0"/>
                              </a:rPr>
                            </m:ctrlPr>
                          </m:fPr>
                          <m:num>
                            <m:r>
                              <a:rPr lang="en-US" altLang="zh-TW" sz="1400" b="1" i="1" smtClean="0">
                                <a:latin typeface="Cambria Math" panose="02040503050406030204" pitchFamily="18" charset="0"/>
                              </a:rPr>
                              <m:t>𝒎𝑻</m:t>
                            </m:r>
                          </m:num>
                          <m:den>
                            <m:r>
                              <a:rPr lang="en-US" altLang="zh-TW" sz="1400" b="1" i="1" smtClean="0">
                                <a:latin typeface="Cambria Math" panose="02040503050406030204" pitchFamily="18" charset="0"/>
                              </a:rPr>
                              <m:t>𝑨</m:t>
                            </m:r>
                          </m:den>
                        </m:f>
                        <m:r>
                          <a:rPr lang="en-US" altLang="zh-TW" sz="1400" b="1" i="1" smtClean="0">
                            <a:latin typeface="Cambria Math" panose="02040503050406030204" pitchFamily="18" charset="0"/>
                          </a:rPr>
                          <m:t>)</m:t>
                        </m:r>
                      </m:oMath>
                    </m:oMathPara>
                  </a14:m>
                  <a:endParaRPr lang="zh-TW" altLang="en-US" b="1" dirty="0"/>
                </a:p>
              </p:txBody>
            </p:sp>
          </mc:Choice>
          <mc:Fallback xmlns="">
            <p:sp>
              <p:nvSpPr>
                <p:cNvPr id="19" name="文字方塊 18">
                  <a:extLst>
                    <a:ext uri="{FF2B5EF4-FFF2-40B4-BE49-F238E27FC236}">
                      <a16:creationId xmlns:a16="http://schemas.microsoft.com/office/drawing/2014/main" id="{4A1F18E2-7492-48A4-86B6-87DFB0303CC9}"/>
                    </a:ext>
                  </a:extLst>
                </p:cNvPr>
                <p:cNvSpPr txBox="1">
                  <a:spLocks noRot="1" noChangeAspect="1" noMove="1" noResize="1" noEditPoints="1" noAdjustHandles="1" noChangeArrowheads="1" noChangeShapeType="1" noTextEdit="1"/>
                </p:cNvSpPr>
                <p:nvPr/>
              </p:nvSpPr>
              <p:spPr>
                <a:xfrm rot="16200000">
                  <a:off x="5372947" y="4100849"/>
                  <a:ext cx="1558450" cy="384339"/>
                </a:xfrm>
                <a:prstGeom prst="rect">
                  <a:avLst/>
                </a:prstGeom>
                <a:blipFill>
                  <a:blip r:embed="rId7"/>
                  <a:stretch>
                    <a:fillRect l="-133333" t="-32927" r="-217949"/>
                  </a:stretch>
                </a:blipFill>
              </p:spPr>
              <p:txBody>
                <a:bodyPr/>
                <a:lstStyle/>
                <a:p>
                  <a:r>
                    <a:rPr lang="zh-TW" altLang="en-US">
                      <a:noFill/>
                    </a:rPr>
                    <a:t> </a:t>
                  </a:r>
                </a:p>
              </p:txBody>
            </p:sp>
          </mc:Fallback>
        </mc:AlternateContent>
      </p:grpSp>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680649BF-43EB-4D87-A80C-5D9C6A6A8C91}"/>
                  </a:ext>
                </a:extLst>
              </p:cNvPr>
              <p:cNvSpPr txBox="1"/>
              <p:nvPr/>
            </p:nvSpPr>
            <p:spPr>
              <a:xfrm>
                <a:off x="0" y="829602"/>
                <a:ext cx="11882359" cy="321023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Therefore, the evaluation criteria are revised as follows: the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and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must be stable, with the relative errors of the following ten points with respect to their respective preceding points being less than 0.5%, and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must exhibit a physically consistent distribution, i.e., diagonal dominance.</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first actual design is N = 6, where the blue curve (single parameter) jumps to 931 µm and the red curve (eighteen parameters) to 873.5 µm; both then flatten almost immediately, blue settling at 877 and red at 872. The two vertical dashed lines mark the convergence points of the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criterion (relative change below 0.5% for ten consecutive designs): red at </a:t>
                </a:r>
                <a:r>
                  <a:rPr lang="en-US" altLang="zh-TW" b="1" dirty="0"/>
                  <a:t>6 points </a:t>
                </a:r>
                <a:r>
                  <a:rPr lang="en-US" altLang="zh-TW" dirty="0"/>
                  <a:t>and blue at </a:t>
                </a:r>
                <a:r>
                  <a:rPr lang="en-US" altLang="zh-TW" b="1" dirty="0"/>
                  <a:t>8 points</a:t>
                </a:r>
                <a:r>
                  <a:rPr lang="en-US" altLang="zh-TW" dirty="0"/>
                  <a:t>.</a:t>
                </a:r>
              </a:p>
              <a:p>
                <a:pPr marL="285750" indent="-285750">
                  <a:buFont typeface="Arial" panose="020B0604020202020204" pitchFamily="34" charset="0"/>
                  <a:buChar char="•"/>
                </a:pPr>
                <a:r>
                  <a:rPr lang="en-US" altLang="zh-TW" dirty="0"/>
                  <a:t>The two dashed lines mark the convergence points of the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oMath>
                </a14:m>
                <a:r>
                  <a:rPr lang="en-US" altLang="zh-TW" dirty="0"/>
                  <a:t>criterion: red at </a:t>
                </a:r>
                <a:r>
                  <a:rPr lang="en-US" altLang="zh-TW" b="1" dirty="0"/>
                  <a:t>80 points </a:t>
                </a:r>
                <a:r>
                  <a:rPr lang="en-US" altLang="zh-TW" dirty="0"/>
                  <a:t>and blue at </a:t>
                </a:r>
                <a:r>
                  <a:rPr lang="en-US" altLang="zh-TW" b="1" dirty="0"/>
                  <a:t>528 points</a:t>
                </a:r>
                <a:r>
                  <a:rPr lang="en-US" altLang="zh-TW" dirty="0"/>
                  <a:t>. Therefore, by taking the intersection of these criteria, the required number of points is determined to be 528 for the single-parameter model and 80 for the eighteen-parameter model.</a:t>
                </a:r>
                <a:endParaRPr lang="zh-TW" altLang="en-US" dirty="0"/>
              </a:p>
            </p:txBody>
          </p:sp>
        </mc:Choice>
        <mc:Fallback>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829602"/>
                <a:ext cx="11882359" cy="3210238"/>
              </a:xfrm>
              <a:prstGeom prst="rect">
                <a:avLst/>
              </a:prstGeom>
              <a:blipFill>
                <a:blip r:embed="rId8"/>
                <a:stretch>
                  <a:fillRect l="-308" t="-190" r="-718" b="-2087"/>
                </a:stretch>
              </a:blipFill>
            </p:spPr>
            <p:txBody>
              <a:bodyPr/>
              <a:lstStyle/>
              <a:p>
                <a:r>
                  <a:rPr lang="zh-TW" altLang="en-US">
                    <a:noFill/>
                  </a:rPr>
                  <a:t> </a:t>
                </a:r>
              </a:p>
            </p:txBody>
          </p:sp>
        </mc:Fallback>
      </mc:AlternateContent>
      <p:sp>
        <p:nvSpPr>
          <p:cNvPr id="28" name="文字方塊 27">
            <a:extLst>
              <a:ext uri="{FF2B5EF4-FFF2-40B4-BE49-F238E27FC236}">
                <a16:creationId xmlns:a16="http://schemas.microsoft.com/office/drawing/2014/main" id="{215B1C10-4A8D-4F5C-BA12-89D80FC3EC4E}"/>
              </a:ext>
            </a:extLst>
          </p:cNvPr>
          <p:cNvSpPr txBox="1"/>
          <p:nvPr/>
        </p:nvSpPr>
        <p:spPr>
          <a:xfrm>
            <a:off x="0" y="2339706"/>
            <a:ext cx="11978275" cy="369332"/>
          </a:xfrm>
          <a:prstGeom prst="rect">
            <a:avLst/>
          </a:prstGeom>
          <a:noFill/>
        </p:spPr>
        <p:txBody>
          <a:bodyPr wrap="square">
            <a:spAutoFit/>
          </a:bodyPr>
          <a:lstStyle/>
          <a:p>
            <a:pPr marL="285750" indent="-285750">
              <a:buFont typeface="Arial" panose="020B0604020202020204" pitchFamily="34" charset="0"/>
              <a:buChar char="•"/>
            </a:pPr>
            <a:endParaRPr lang="zh-TW" altLang="en-US" dirty="0"/>
          </a:p>
        </p:txBody>
      </p:sp>
    </p:spTree>
    <p:extLst>
      <p:ext uri="{BB962C8B-B14F-4D97-AF65-F5344CB8AC3E}">
        <p14:creationId xmlns:p14="http://schemas.microsoft.com/office/powerpoint/2010/main" val="284302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1818330"/>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parameter(528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3886867"/>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parameters(80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923330"/>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923330"/>
              </a:xfrm>
              <a:prstGeom prst="rect">
                <a:avLst/>
              </a:prstGeom>
              <a:blipFill>
                <a:blip r:embed="rId9"/>
                <a:stretch>
                  <a:fillRect l="-519" t="-1987" r="-865" b="-99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D533DBBD-FF5B-4992-BB28-0C81D697BDEB}"/>
                  </a:ext>
                </a:extLst>
              </p:cNvPr>
              <p:cNvSpPr txBox="1"/>
              <p:nvPr/>
            </p:nvSpPr>
            <p:spPr>
              <a:xfrm>
                <a:off x="-30118" y="2170138"/>
                <a:ext cx="7411480" cy="16090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0.0843</m:t>
                                      </m:r>
                                    </m:e>
                                    <m:e>
                                      <m:r>
                                        <a:rPr lang="en-US" altLang="zh-TW" b="0" i="1" smtClean="0">
                                          <a:latin typeface="Cambria Math" panose="02040503050406030204" pitchFamily="18" charset="0"/>
                                          <a:ea typeface="Cambria Math" panose="02040503050406030204" pitchFamily="18" charset="0"/>
                                        </a:rPr>
                                        <m:t>−0.2135</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0.1559</m:t>
                                            </m:r>
                                          </m:e>
                                          <m:e>
                                            <m:r>
                                              <a:rPr lang="en-US" altLang="zh-TW" b="0" i="1" smtClean="0">
                                                <a:latin typeface="Cambria Math" panose="02040503050406030204" pitchFamily="18" charset="0"/>
                                                <a:ea typeface="Cambria Math" panose="02040503050406030204" pitchFamily="18" charset="0"/>
                                              </a:rPr>
                                              <m:t>−0.1564</m:t>
                                            </m:r>
                                          </m:e>
                                          <m:e>
                                            <m:r>
                                              <a:rPr lang="en-US" altLang="zh-TW" b="0" i="1" smtClean="0">
                                                <a:latin typeface="Cambria Math" panose="02040503050406030204" pitchFamily="18" charset="0"/>
                                                <a:ea typeface="Cambria Math" panose="02040503050406030204" pitchFamily="18" charset="0"/>
                                              </a:rPr>
                                              <m:t>−0.2138</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0.2397</m:t>
                                      </m:r>
                                    </m:e>
                                  </m:mr>
                                  <m:mr>
                                    <m:e>
                                      <m:r>
                                        <a:rPr lang="en-US" altLang="zh-TW" b="0" i="1" smtClean="0">
                                          <a:latin typeface="Cambria Math" panose="02040503050406030204" pitchFamily="18" charset="0"/>
                                          <a:ea typeface="Cambria Math" panose="02040503050406030204" pitchFamily="18" charset="0"/>
                                        </a:rPr>
                                        <m:t>−0.2129</m:t>
                                      </m:r>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0.2301</m:t>
                                            </m:r>
                                          </m:e>
                                        </m:mr>
                                        <m:mr>
                                          <m:e>
                                            <m:r>
                                              <a:rPr lang="en-US" altLang="zh-TW" b="0" i="1" smtClean="0">
                                                <a:latin typeface="Cambria Math" panose="02040503050406030204" pitchFamily="18" charset="0"/>
                                                <a:ea typeface="Cambria Math" panose="02040503050406030204" pitchFamily="18" charset="0"/>
                                              </a:rPr>
                                              <m:t>−0.2308</m:t>
                                            </m:r>
                                          </m:e>
                                        </m:mr>
                                        <m:mr>
                                          <m:e>
                                            <m:r>
                                              <a:rPr lang="en-US" altLang="zh-TW" b="0" i="1" smtClean="0">
                                                <a:latin typeface="Cambria Math" panose="02040503050406030204" pitchFamily="18" charset="0"/>
                                                <a:ea typeface="Cambria Math" panose="02040503050406030204" pitchFamily="18" charset="0"/>
                                              </a:rPr>
                                              <m:t>−0.2129</m:t>
                                            </m:r>
                                          </m:e>
                                        </m:mr>
                                      </m:m>
                                    </m:e>
                                  </m:mr>
                                </m:m>
                              </m:e>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.9973</m:t>
                                            </m:r>
                                          </m:e>
                                          <m:e>
                                            <m:r>
                                              <a:rPr lang="en-US" altLang="zh-TW" b="0" i="1" smtClean="0">
                                                <a:latin typeface="Cambria Math" panose="02040503050406030204" pitchFamily="18" charset="0"/>
                                                <a:ea typeface="Cambria Math" panose="02040503050406030204" pitchFamily="18" charset="0"/>
                                              </a:rPr>
                                              <m:t>−0.2316</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0.1398</m:t>
                                                  </m:r>
                                                </m:e>
                                                <m:e>
                                                  <m:r>
                                                    <a:rPr lang="en-US" altLang="zh-TW" b="0" i="1" smtClean="0">
                                                      <a:latin typeface="Cambria Math" panose="02040503050406030204" pitchFamily="18" charset="0"/>
                                                      <a:ea typeface="Cambria Math" panose="02040503050406030204" pitchFamily="18" charset="0"/>
                                                    </a:rPr>
                                                    <m:t>−0.1399</m:t>
                                                  </m:r>
                                                </m:e>
                                                <m:e>
                                                  <m:r>
                                                    <a:rPr lang="en-US" altLang="zh-TW" b="0" i="1" smtClean="0">
                                                      <a:latin typeface="Cambria Math" panose="02040503050406030204" pitchFamily="18" charset="0"/>
                                                      <a:ea typeface="Cambria Math" panose="02040503050406030204" pitchFamily="18" charset="0"/>
                                                    </a:rPr>
                                                    <m:t>−0.2317</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0.1559</m:t>
                                            </m:r>
                                          </m:e>
                                          <m:e>
                                            <m:r>
                                              <a:rPr lang="en-US" altLang="zh-TW" b="0" i="1" smtClean="0">
                                                <a:latin typeface="Cambria Math" panose="02040503050406030204" pitchFamily="18" charset="0"/>
                                                <a:ea typeface="Cambria Math" panose="02040503050406030204" pitchFamily="18" charset="0"/>
                                              </a:rPr>
                                              <m:t>0.8360</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0.0866</m:t>
                                                  </m:r>
                                                </m:e>
                                                <m:e>
                                                  <m:r>
                                                    <a:rPr lang="en-US" altLang="zh-TW" b="0" i="1" smtClean="0">
                                                      <a:latin typeface="Cambria Math" panose="02040503050406030204" pitchFamily="18" charset="0"/>
                                                      <a:ea typeface="Cambria Math" panose="02040503050406030204" pitchFamily="18" charset="0"/>
                                                    </a:rPr>
                                                    <m:t>−0.1568</m:t>
                                                  </m:r>
                                                </m:e>
                                                <m:e>
                                                  <m:r>
                                                    <a:rPr lang="en-US" altLang="zh-TW" b="0" i="1" smtClean="0">
                                                      <a:latin typeface="Cambria Math" panose="02040503050406030204" pitchFamily="18" charset="0"/>
                                                      <a:ea typeface="Cambria Math" panose="02040503050406030204" pitchFamily="18" charset="0"/>
                                                    </a:rPr>
                                                    <m:t>−0.2138</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0.1389</m:t>
                                                  </m:r>
                                                </m:e>
                                                <m:e>
                                                  <m:r>
                                                    <a:rPr lang="en-US" altLang="zh-TW" b="0" i="1" smtClean="0">
                                                      <a:latin typeface="Cambria Math" panose="02040503050406030204" pitchFamily="18" charset="0"/>
                                                      <a:ea typeface="Cambria Math" panose="02040503050406030204" pitchFamily="18" charset="0"/>
                                                    </a:rPr>
                                                    <m:t>−0.2388</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.9918</m:t>
                                                        </m:r>
                                                      </m:e>
                                                      <m:e>
                                                        <m:r>
                                                          <a:rPr lang="en-US" altLang="zh-TW" b="0" i="1" smtClean="0">
                                                            <a:latin typeface="Cambria Math" panose="02040503050406030204" pitchFamily="18" charset="0"/>
                                                            <a:ea typeface="Cambria Math" panose="02040503050406030204" pitchFamily="18" charset="0"/>
                                                          </a:rPr>
                                                          <m:t>−0.1392</m:t>
                                                        </m:r>
                                                      </m:e>
                                                      <m:e>
                                                        <m:r>
                                                          <a:rPr lang="en-US" altLang="zh-TW" b="0" i="1" smtClean="0">
                                                            <a:latin typeface="Cambria Math" panose="02040503050406030204" pitchFamily="18" charset="0"/>
                                                            <a:ea typeface="Cambria Math" panose="02040503050406030204" pitchFamily="18" charset="0"/>
                                                          </a:rPr>
                                                          <m:t>−0.2308</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0.1391</m:t>
                                                  </m:r>
                                                </m:e>
                                                <m:e>
                                                  <m:r>
                                                    <a:rPr lang="en-US" altLang="zh-TW" b="0" i="1" smtClean="0">
                                                      <a:latin typeface="Cambria Math" panose="02040503050406030204" pitchFamily="18" charset="0"/>
                                                      <a:ea typeface="Cambria Math" panose="02040503050406030204" pitchFamily="18" charset="0"/>
                                                    </a:rPr>
                                                    <m:t>−0.2313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0.1399</m:t>
                                                        </m:r>
                                                      </m:e>
                                                      <m:e>
                                                        <m:r>
                                                          <a:rPr lang="en-US" altLang="zh-TW" b="0" i="1" smtClean="0">
                                                            <a:latin typeface="Cambria Math" panose="02040503050406030204" pitchFamily="18" charset="0"/>
                                                            <a:ea typeface="Cambria Math" panose="02040503050406030204" pitchFamily="18" charset="0"/>
                                                          </a:rPr>
                                                          <m:t>0.9964</m:t>
                                                        </m:r>
                                                      </m:e>
                                                      <m:e>
                                                        <m:r>
                                                          <a:rPr lang="en-US" altLang="zh-TW" b="0" i="1" smtClean="0">
                                                            <a:latin typeface="Cambria Math" panose="02040503050406030204" pitchFamily="18" charset="0"/>
                                                            <a:ea typeface="Cambria Math" panose="02040503050406030204" pitchFamily="18" charset="0"/>
                                                          </a:rPr>
                                                          <m:t>−0.2403</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0.1556</m:t>
                                                  </m:r>
                                                </m:e>
                                                <m:e>
                                                  <m:r>
                                                    <a:rPr lang="en-US" altLang="zh-TW" b="0" i="1" smtClean="0">
                                                      <a:latin typeface="Cambria Math" panose="02040503050406030204" pitchFamily="18" charset="0"/>
                                                      <a:ea typeface="Cambria Math" panose="02040503050406030204" pitchFamily="18" charset="0"/>
                                                    </a:rPr>
                                                    <m:t>−0.2129</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0.1560</m:t>
                                                        </m:r>
                                                      </m:e>
                                                      <m:e>
                                                        <m:r>
                                                          <a:rPr lang="en-US" altLang="zh-TW" b="0" i="1" smtClean="0">
                                                            <a:latin typeface="Cambria Math" panose="02040503050406030204" pitchFamily="18" charset="0"/>
                                                            <a:ea typeface="Cambria Math" panose="02040503050406030204" pitchFamily="18" charset="0"/>
                                                          </a:rPr>
                                                          <m:t>−0.0857</m:t>
                                                        </m:r>
                                                      </m:e>
                                                      <m:e>
                                                        <m:r>
                                                          <a:rPr lang="en-US" altLang="zh-TW" b="0" i="1" smtClean="0">
                                                            <a:latin typeface="Cambria Math" panose="02040503050406030204" pitchFamily="18" charset="0"/>
                                                            <a:ea typeface="Cambria Math" panose="02040503050406030204" pitchFamily="18" charset="0"/>
                                                          </a:rPr>
                                                          <m:t>0.8329</m:t>
                                                        </m:r>
                                                      </m:e>
                                                    </m:mr>
                                                  </m:m>
                                                </m:e>
                                              </m:mr>
                                            </m:m>
                                          </m:e>
                                        </m:mr>
                                      </m:m>
                                    </m:e>
                                  </m:mr>
                                </m:m>
                              </m:e>
                            </m:mr>
                          </m:m>
                        </m:e>
                      </m:d>
                    </m:oMath>
                  </m:oMathPara>
                </a14:m>
                <a:endParaRPr lang="zh-TW" altLang="en-US" dirty="0"/>
              </a:p>
            </p:txBody>
          </p:sp>
        </mc:Choice>
        <mc:Fallback xmlns="">
          <p:sp>
            <p:nvSpPr>
              <p:cNvPr id="48" name="文字方塊 47">
                <a:extLst>
                  <a:ext uri="{FF2B5EF4-FFF2-40B4-BE49-F238E27FC236}">
                    <a16:creationId xmlns:a16="http://schemas.microsoft.com/office/drawing/2014/main" id="{D533DBBD-FF5B-4992-BB28-0C81D697BDEB}"/>
                  </a:ext>
                </a:extLst>
              </p:cNvPr>
              <p:cNvSpPr txBox="1">
                <a:spLocks noRot="1" noChangeAspect="1" noMove="1" noResize="1" noEditPoints="1" noAdjustHandles="1" noChangeArrowheads="1" noChangeShapeType="1" noTextEdit="1"/>
              </p:cNvSpPr>
              <p:nvPr/>
            </p:nvSpPr>
            <p:spPr>
              <a:xfrm>
                <a:off x="-30118" y="2170138"/>
                <a:ext cx="7411480" cy="160903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8F3A1AD7-F709-40B5-9313-5750A7D3CE62}"/>
                  </a:ext>
                </a:extLst>
              </p:cNvPr>
              <p:cNvSpPr txBox="1"/>
              <p:nvPr/>
            </p:nvSpPr>
            <p:spPr>
              <a:xfrm>
                <a:off x="7438938" y="2789767"/>
                <a:ext cx="2137124"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=9.4451</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e>
                      </m:sPre>
                    </m:oMath>
                  </m:oMathPara>
                </a14:m>
                <a:endParaRPr lang="zh-TW" altLang="en-US" dirty="0"/>
              </a:p>
            </p:txBody>
          </p:sp>
        </mc:Choice>
        <mc:Fallback xmlns="">
          <p:sp>
            <p:nvSpPr>
              <p:cNvPr id="28" name="文字方塊 27">
                <a:extLst>
                  <a:ext uri="{FF2B5EF4-FFF2-40B4-BE49-F238E27FC236}">
                    <a16:creationId xmlns:a16="http://schemas.microsoft.com/office/drawing/2014/main" id="{8F3A1AD7-F709-40B5-9313-5750A7D3CE62}"/>
                  </a:ext>
                </a:extLst>
              </p:cNvPr>
              <p:cNvSpPr txBox="1">
                <a:spLocks noRot="1" noChangeAspect="1" noMove="1" noResize="1" noEditPoints="1" noAdjustHandles="1" noChangeArrowheads="1" noChangeShapeType="1" noTextEdit="1"/>
              </p:cNvSpPr>
              <p:nvPr/>
            </p:nvSpPr>
            <p:spPr>
              <a:xfrm>
                <a:off x="7438938" y="2789767"/>
                <a:ext cx="2137124" cy="305340"/>
              </a:xfrm>
              <a:prstGeom prst="rect">
                <a:avLst/>
              </a:prstGeom>
              <a:blipFill>
                <a:blip r:embed="rId10"/>
                <a:stretch>
                  <a:fillRect t="-150000" r="-24217" b="-228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829DF120-4837-4A57-9491-C63B8C6EBE9C}"/>
                  </a:ext>
                </a:extLst>
              </p:cNvPr>
              <p:cNvSpPr txBox="1"/>
              <p:nvPr/>
            </p:nvSpPr>
            <p:spPr>
              <a:xfrm>
                <a:off x="27458" y="4230851"/>
                <a:ext cx="7411480" cy="16090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0.1378</m:t>
                                      </m:r>
                                    </m:e>
                                    <m:e>
                                      <m:r>
                                        <a:rPr lang="en-US" altLang="zh-TW" b="0" i="1" smtClean="0">
                                          <a:latin typeface="Cambria Math" panose="02040503050406030204" pitchFamily="18" charset="0"/>
                                          <a:ea typeface="Cambria Math" panose="02040503050406030204" pitchFamily="18" charset="0"/>
                                        </a:rPr>
                                        <m:t>−0.1286</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0.1919</m:t>
                                            </m:r>
                                          </m:e>
                                          <m:e>
                                            <m:r>
                                              <a:rPr lang="en-US" altLang="zh-TW" b="0" i="1" smtClean="0">
                                                <a:latin typeface="Cambria Math" panose="02040503050406030204" pitchFamily="18" charset="0"/>
                                                <a:ea typeface="Cambria Math" panose="02040503050406030204" pitchFamily="18" charset="0"/>
                                              </a:rPr>
                                              <m:t>−0.1932</m:t>
                                            </m:r>
                                          </m:e>
                                          <m:e>
                                            <m:r>
                                              <a:rPr lang="en-US" altLang="zh-TW" b="0" i="1" smtClean="0">
                                                <a:latin typeface="Cambria Math" panose="02040503050406030204" pitchFamily="18" charset="0"/>
                                                <a:ea typeface="Cambria Math" panose="02040503050406030204" pitchFamily="18" charset="0"/>
                                              </a:rPr>
                                              <m:t>−0.1293</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0.1386</m:t>
                                      </m:r>
                                    </m:e>
                                  </m:mr>
                                  <m:mr>
                                    <m:e>
                                      <m:r>
                                        <a:rPr lang="en-US" altLang="zh-TW" b="0" i="1" smtClean="0">
                                          <a:latin typeface="Cambria Math" panose="02040503050406030204" pitchFamily="18" charset="0"/>
                                          <a:ea typeface="Cambria Math" panose="02040503050406030204" pitchFamily="18" charset="0"/>
                                        </a:rPr>
                                        <m:t>−0.1290</m:t>
                                      </m:r>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0.2053</m:t>
                                            </m:r>
                                          </m:e>
                                        </m:mr>
                                        <m:mr>
                                          <m:e>
                                            <m:r>
                                              <a:rPr lang="en-US" altLang="zh-TW" b="0" i="1" smtClean="0">
                                                <a:latin typeface="Cambria Math" panose="02040503050406030204" pitchFamily="18" charset="0"/>
                                                <a:ea typeface="Cambria Math" panose="02040503050406030204" pitchFamily="18" charset="0"/>
                                              </a:rPr>
                                              <m:t>−0.2046</m:t>
                                            </m:r>
                                          </m:e>
                                        </m:mr>
                                        <m:mr>
                                          <m:e>
                                            <m:r>
                                              <a:rPr lang="en-US" altLang="zh-TW" b="0" i="1" smtClean="0">
                                                <a:latin typeface="Cambria Math" panose="02040503050406030204" pitchFamily="18" charset="0"/>
                                                <a:ea typeface="Cambria Math" panose="02040503050406030204" pitchFamily="18" charset="0"/>
                                              </a:rPr>
                                              <m:t>−0.1298</m:t>
                                            </m:r>
                                          </m:e>
                                        </m:mr>
                                      </m:m>
                                    </m:e>
                                  </m:mr>
                                </m:m>
                              </m:e>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.8285</m:t>
                                            </m:r>
                                          </m:e>
                                          <m:e>
                                            <m:r>
                                              <a:rPr lang="en-US" altLang="zh-TW" b="0" i="1" smtClean="0">
                                                <a:latin typeface="Cambria Math" panose="02040503050406030204" pitchFamily="18" charset="0"/>
                                                <a:ea typeface="Cambria Math" panose="02040503050406030204" pitchFamily="18" charset="0"/>
                                              </a:rPr>
                                              <m:t>−0.2022</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0.1216</m:t>
                                                  </m:r>
                                                </m:e>
                                                <m:e>
                                                  <m:r>
                                                    <a:rPr lang="en-US" altLang="zh-TW" b="0" i="1" smtClean="0">
                                                      <a:latin typeface="Cambria Math" panose="02040503050406030204" pitchFamily="18" charset="0"/>
                                                      <a:ea typeface="Cambria Math" panose="02040503050406030204" pitchFamily="18" charset="0"/>
                                                    </a:rPr>
                                                    <m:t>−0.1224</m:t>
                                                  </m:r>
                                                </m:e>
                                                <m:e>
                                                  <m:r>
                                                    <a:rPr lang="en-US" altLang="zh-TW" b="0" i="1" smtClean="0">
                                                      <a:latin typeface="Cambria Math" panose="02040503050406030204" pitchFamily="18" charset="0"/>
                                                      <a:ea typeface="Cambria Math" panose="02040503050406030204" pitchFamily="18" charset="0"/>
                                                    </a:rPr>
                                                    <m:t>−0.2033</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0.1927</m:t>
                                            </m:r>
                                          </m:e>
                                          <m:e>
                                            <m:r>
                                              <a:rPr lang="en-US" altLang="zh-TW" b="0" i="1" smtClean="0">
                                                <a:latin typeface="Cambria Math" panose="02040503050406030204" pitchFamily="18" charset="0"/>
                                                <a:ea typeface="Cambria Math" panose="02040503050406030204" pitchFamily="18" charset="0"/>
                                              </a:rPr>
                                              <m:t>0.8302</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0.1347</m:t>
                                                  </m:r>
                                                </m:e>
                                                <m:e>
                                                  <m:r>
                                                    <a:rPr lang="en-US" altLang="zh-TW" b="0" i="1" smtClean="0">
                                                      <a:latin typeface="Cambria Math" panose="02040503050406030204" pitchFamily="18" charset="0"/>
                                                      <a:ea typeface="Cambria Math" panose="02040503050406030204" pitchFamily="18" charset="0"/>
                                                    </a:rPr>
                                                    <m:t>−0.1922</m:t>
                                                  </m:r>
                                                </m:e>
                                                <m:e>
                                                  <m:r>
                                                    <a:rPr lang="en-US" altLang="zh-TW" b="0" i="1" smtClean="0">
                                                      <a:latin typeface="Cambria Math" panose="02040503050406030204" pitchFamily="18" charset="0"/>
                                                      <a:ea typeface="Cambria Math" panose="02040503050406030204" pitchFamily="18" charset="0"/>
                                                    </a:rPr>
                                                    <m:t>−0.1286</m:t>
                                                  </m:r>
                                                </m:e>
                                              </m:mr>
                                            </m:m>
                                          </m:e>
                                        </m:mr>
                                      </m:m>
                                    </m:e>
                                  </m:mr>
                                  <m:mr>
                                    <m:e>
                                      <m:m>
                                        <m:mPr>
                                          <m:mcs>
                                            <m:mc>
                                              <m:mcPr>
                                                <m:count m:val="1"/>
                                                <m:mcJc m:val="center"/>
                                              </m:mcPr>
                                            </m:mc>
                                          </m:mcs>
                                          <m:ctrlPr>
                                            <a:rPr lang="en-US" altLang="zh-TW" b="0" i="1" smtClean="0">
                                              <a:latin typeface="Cambria Math" panose="02040503050406030204" pitchFamily="18" charset="0"/>
                                              <a:ea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0.1228</m:t>
                                                  </m:r>
                                                </m:e>
                                                <m:e>
                                                  <m:r>
                                                    <a:rPr lang="en-US" altLang="zh-TW" b="0" i="1" smtClean="0">
                                                      <a:latin typeface="Cambria Math" panose="02040503050406030204" pitchFamily="18" charset="0"/>
                                                      <a:ea typeface="Cambria Math" panose="02040503050406030204" pitchFamily="18" charset="0"/>
                                                    </a:rPr>
                                                    <m:t>−0.1393</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.8357</m:t>
                                                        </m:r>
                                                      </m:e>
                                                      <m:e>
                                                        <m:r>
                                                          <a:rPr lang="en-US" altLang="zh-TW" b="0" i="1" smtClean="0">
                                                            <a:latin typeface="Cambria Math" panose="02040503050406030204" pitchFamily="18" charset="0"/>
                                                            <a:ea typeface="Cambria Math" panose="02040503050406030204" pitchFamily="18" charset="0"/>
                                                          </a:rPr>
                                                          <m:t>−0.1231</m:t>
                                                        </m:r>
                                                      </m:e>
                                                      <m:e>
                                                        <m:r>
                                                          <a:rPr lang="en-US" altLang="zh-TW" b="0" i="1" smtClean="0">
                                                            <a:latin typeface="Cambria Math" panose="02040503050406030204" pitchFamily="18" charset="0"/>
                                                            <a:ea typeface="Cambria Math" panose="02040503050406030204" pitchFamily="18" charset="0"/>
                                                          </a:rPr>
                                                          <m:t>−0.2050</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0.1228</m:t>
                                                  </m:r>
                                                </m:e>
                                                <m:e>
                                                  <m:r>
                                                    <a:rPr lang="en-US" altLang="zh-TW" b="0" i="1" smtClean="0">
                                                      <a:latin typeface="Cambria Math" panose="02040503050406030204" pitchFamily="18" charset="0"/>
                                                      <a:ea typeface="Cambria Math" panose="02040503050406030204" pitchFamily="18" charset="0"/>
                                                    </a:rPr>
                                                    <m:t>−0.2029</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0.1223</m:t>
                                                        </m:r>
                                                      </m:e>
                                                      <m:e>
                                                        <m:r>
                                                          <a:rPr lang="en-US" altLang="zh-TW" b="0" i="1" smtClean="0">
                                                            <a:latin typeface="Cambria Math" panose="02040503050406030204" pitchFamily="18" charset="0"/>
                                                            <a:ea typeface="Cambria Math" panose="02040503050406030204" pitchFamily="18" charset="0"/>
                                                          </a:rPr>
                                                          <m:t>0.8327</m:t>
                                                        </m:r>
                                                      </m:e>
                                                      <m:e>
                                                        <m:r>
                                                          <a:rPr lang="en-US" altLang="zh-TW" b="0" i="1" smtClean="0">
                                                            <a:latin typeface="Cambria Math" panose="02040503050406030204" pitchFamily="18" charset="0"/>
                                                            <a:ea typeface="Cambria Math" panose="02040503050406030204" pitchFamily="18" charset="0"/>
                                                          </a:rPr>
                                                          <m:t>−0.1386</m:t>
                                                        </m:r>
                                                      </m:e>
                                                    </m:mr>
                                                  </m:m>
                                                </m:e>
                                              </m:mr>
                                            </m:m>
                                          </m:e>
                                        </m:mr>
                                        <m:mr>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0.1941</m:t>
                                                  </m:r>
                                                </m:e>
                                                <m:e>
                                                  <m:r>
                                                    <a:rPr lang="en-US" altLang="zh-TW" b="0" i="1" smtClean="0">
                                                      <a:latin typeface="Cambria Math" panose="02040503050406030204" pitchFamily="18" charset="0"/>
                                                      <a:ea typeface="Cambria Math" panose="02040503050406030204" pitchFamily="18" charset="0"/>
                                                    </a:rPr>
                                                    <m:t>−0.1286</m:t>
                                                  </m:r>
                                                </m:e>
                                                <m:e>
                                                  <m:m>
                                                    <m:mPr>
                                                      <m:mcs>
                                                        <m:mc>
                                                          <m:mcPr>
                                                            <m:count m:val="3"/>
                                                            <m:mcJc m:val="center"/>
                                                          </m:mcPr>
                                                        </m:mc>
                                                      </m:mcs>
                                                      <m:ctrlPr>
                                                        <a:rPr lang="en-US" altLang="zh-TW" b="0" i="1" smtClean="0">
                                                          <a:latin typeface="Cambria Math" panose="02040503050406030204" pitchFamily="18" charset="0"/>
                                                          <a:ea typeface="Cambria Math" panose="02040503050406030204" pitchFamily="18" charset="0"/>
                                                        </a:rPr>
                                                      </m:ctrlPr>
                                                    </m:mPr>
                                                    <m:mr>
                                                      <m:e>
                                                        <m:r>
                                                          <m:rPr>
                                                            <m:brk m:alnAt="7"/>
                                                          </m:rP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0.1926</m:t>
                                                        </m:r>
                                                      </m:e>
                                                      <m:e>
                                                        <m:r>
                                                          <a:rPr lang="en-US" altLang="zh-TW" b="0" i="1" smtClean="0">
                                                            <a:latin typeface="Cambria Math" panose="02040503050406030204" pitchFamily="18" charset="0"/>
                                                            <a:ea typeface="Cambria Math" panose="02040503050406030204" pitchFamily="18" charset="0"/>
                                                          </a:rPr>
                                                          <m:t>−0.1376</m:t>
                                                        </m:r>
                                                      </m:e>
                                                      <m:e>
                                                        <m:r>
                                                          <a:rPr lang="en-US" altLang="zh-TW" b="0" i="1" smtClean="0">
                                                            <a:latin typeface="Cambria Math" panose="02040503050406030204" pitchFamily="18" charset="0"/>
                                                            <a:ea typeface="Cambria Math" panose="02040503050406030204" pitchFamily="18" charset="0"/>
                                                          </a:rPr>
                                                          <m:t>0.8363</m:t>
                                                        </m:r>
                                                      </m:e>
                                                    </m:mr>
                                                  </m:m>
                                                </m:e>
                                              </m:mr>
                                            </m:m>
                                          </m:e>
                                        </m:mr>
                                      </m:m>
                                    </m:e>
                                  </m:mr>
                                </m:m>
                              </m:e>
                            </m:mr>
                          </m:m>
                        </m:e>
                      </m:d>
                    </m:oMath>
                  </m:oMathPara>
                </a14:m>
                <a:endParaRPr lang="zh-TW" altLang="en-US" dirty="0"/>
              </a:p>
            </p:txBody>
          </p:sp>
        </mc:Choice>
        <mc:Fallback xmlns="">
          <p:sp>
            <p:nvSpPr>
              <p:cNvPr id="49" name="文字方塊 48">
                <a:extLst>
                  <a:ext uri="{FF2B5EF4-FFF2-40B4-BE49-F238E27FC236}">
                    <a16:creationId xmlns:a16="http://schemas.microsoft.com/office/drawing/2014/main" id="{829DF120-4837-4A57-9491-C63B8C6EBE9C}"/>
                  </a:ext>
                </a:extLst>
              </p:cNvPr>
              <p:cNvSpPr txBox="1">
                <a:spLocks noRot="1" noChangeAspect="1" noMove="1" noResize="1" noEditPoints="1" noAdjustHandles="1" noChangeArrowheads="1" noChangeShapeType="1" noTextEdit="1"/>
              </p:cNvSpPr>
              <p:nvPr/>
            </p:nvSpPr>
            <p:spPr>
              <a:xfrm>
                <a:off x="27458" y="4230851"/>
                <a:ext cx="7411480" cy="1609030"/>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446BBB46-E171-4E6A-982D-DD19FF4414CF}"/>
                  </a:ext>
                </a:extLst>
              </p:cNvPr>
              <p:cNvSpPr txBox="1"/>
              <p:nvPr/>
            </p:nvSpPr>
            <p:spPr>
              <a:xfrm>
                <a:off x="154577" y="5970064"/>
                <a:ext cx="2201885"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=10.7514</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e>
                      </m:sPre>
                    </m:oMath>
                  </m:oMathPara>
                </a14:m>
                <a:endParaRPr lang="zh-TW" altLang="en-US" dirty="0"/>
              </a:p>
            </p:txBody>
          </p:sp>
        </mc:Choice>
        <mc:Fallback xmlns="">
          <p:sp>
            <p:nvSpPr>
              <p:cNvPr id="50" name="文字方塊 49">
                <a:extLst>
                  <a:ext uri="{FF2B5EF4-FFF2-40B4-BE49-F238E27FC236}">
                    <a16:creationId xmlns:a16="http://schemas.microsoft.com/office/drawing/2014/main" id="{446BBB46-E171-4E6A-982D-DD19FF4414CF}"/>
                  </a:ext>
                </a:extLst>
              </p:cNvPr>
              <p:cNvSpPr txBox="1">
                <a:spLocks noRot="1" noChangeAspect="1" noMove="1" noResize="1" noEditPoints="1" noAdjustHandles="1" noChangeArrowheads="1" noChangeShapeType="1" noTextEdit="1"/>
              </p:cNvSpPr>
              <p:nvPr/>
            </p:nvSpPr>
            <p:spPr>
              <a:xfrm>
                <a:off x="154577" y="5970064"/>
                <a:ext cx="2201885" cy="305340"/>
              </a:xfrm>
              <a:prstGeom prst="rect">
                <a:avLst/>
              </a:prstGeom>
              <a:blipFill>
                <a:blip r:embed="rId7"/>
                <a:stretch>
                  <a:fillRect t="-148000" r="-24862" b="-23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B10B31CD-8B64-4A8F-A2F7-B3F6A0CEFA0B}"/>
                  </a:ext>
                </a:extLst>
              </p:cNvPr>
              <p:cNvSpPr txBox="1"/>
              <p:nvPr/>
            </p:nvSpPr>
            <p:spPr>
              <a:xfrm>
                <a:off x="3162300" y="5911618"/>
                <a:ext cx="6812827" cy="7275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b="0" i="1" smtClean="0">
                              <a:latin typeface="Cambria Math" panose="02040503050406030204" pitchFamily="18" charset="0"/>
                            </a:rPr>
                            <m:t>𝑒</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.0190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.0205</m:t>
                                      </m:r>
                                    </m:e>
                                    <m:e>
                                      <m:r>
                                        <a:rPr lang="en-US" altLang="zh-TW" b="0" i="1" smtClean="0">
                                          <a:latin typeface="Cambria Math" panose="02040503050406030204" pitchFamily="18" charset="0"/>
                                        </a:rPr>
                                        <m:t>−0.1172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.0022</m:t>
                                            </m:r>
                                          </m:e>
                                          <m:e>
                                            <m:r>
                                              <a:rPr lang="en-US" altLang="zh-TW" b="0" i="1" smtClean="0">
                                                <a:latin typeface="Cambria Math" panose="02040503050406030204" pitchFamily="18" charset="0"/>
                                              </a:rPr>
                                              <m:t>0.0017</m:t>
                                            </m:r>
                                          </m:e>
                                          <m:e>
                                            <m:r>
                                              <a:rPr lang="en-US" altLang="zh-TW" b="0" i="1" smtClean="0">
                                                <a:latin typeface="Cambria Math" panose="02040503050406030204" pitchFamily="18" charset="0"/>
                                              </a:rPr>
                                              <m:t>−0.1186</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0.1185</m:t>
                                      </m:r>
                                    </m:e>
                                  </m:mr>
                                  <m:mr>
                                    <m:e>
                                      <m:r>
                                        <a:rPr lang="en-US" altLang="zh-TW" b="0" i="1" smtClean="0">
                                          <a:latin typeface="Cambria Math" panose="02040503050406030204" pitchFamily="18" charset="0"/>
                                        </a:rPr>
                                        <m:t>0.1184</m:t>
                                      </m:r>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.0028</m:t>
                                            </m:r>
                                          </m:e>
                                          <m:e>
                                            <m:r>
                                              <a:rPr lang="en-US" altLang="zh-TW" b="0" i="1" smtClean="0">
                                                <a:latin typeface="Cambria Math" panose="02040503050406030204" pitchFamily="18" charset="0"/>
                                              </a:rPr>
                                              <m:t>0.0156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.0156</m:t>
                                                  </m:r>
                                                </m:e>
                                                <m:e>
                                                  <m:r>
                                                    <a:rPr lang="en-US" altLang="zh-TW" b="0" i="1" smtClean="0">
                                                      <a:latin typeface="Cambria Math" panose="02040503050406030204" pitchFamily="18" charset="0"/>
                                                    </a:rPr>
                                                    <m:t>0.0019</m:t>
                                                  </m:r>
                                                </m:e>
                                                <m:e>
                                                  <m:r>
                                                    <a:rPr lang="en-US" altLang="zh-TW" b="0" i="1" smtClean="0">
                                                      <a:latin typeface="Cambria Math" panose="02040503050406030204" pitchFamily="18" charset="0"/>
                                                    </a:rPr>
                                                    <m:t>−0.1187</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0.0027</m:t>
                                            </m:r>
                                          </m:e>
                                          <m:e>
                                            <m:r>
                                              <a:rPr lang="en-US" altLang="zh-TW" b="0" i="1" smtClean="0">
                                                <a:latin typeface="Cambria Math" panose="02040503050406030204" pitchFamily="18" charset="0"/>
                                              </a:rPr>
                                              <m:t>0.1164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0.0027</m:t>
                                                  </m:r>
                                                </m:e>
                                                <m:e>
                                                  <m:r>
                                                    <a:rPr lang="en-US" altLang="zh-TW" b="0" i="1" smtClean="0">
                                                      <a:latin typeface="Cambria Math" panose="02040503050406030204" pitchFamily="18" charset="0"/>
                                                    </a:rPr>
                                                    <m:t>−0.0183</m:t>
                                                  </m:r>
                                                </m:e>
                                                <m:e>
                                                  <m:r>
                                                    <a:rPr lang="en-US" altLang="zh-TW" b="0" i="1" smtClean="0">
                                                      <a:latin typeface="Cambria Math" panose="02040503050406030204" pitchFamily="18" charset="0"/>
                                                    </a:rPr>
                                                    <m:t>−0.0198</m:t>
                                                  </m:r>
                                                </m:e>
                                              </m:mr>
                                            </m:m>
                                          </m:e>
                                        </m:mr>
                                      </m:m>
                                    </m:e>
                                  </m:mr>
                                </m:m>
                              </m:e>
                            </m:mr>
                          </m:m>
                        </m:e>
                      </m:d>
                    </m:oMath>
                  </m:oMathPara>
                </a14:m>
                <a:endParaRPr lang="zh-TW" altLang="en-US" dirty="0"/>
              </a:p>
            </p:txBody>
          </p:sp>
        </mc:Choice>
        <mc:Fallback xmlns="">
          <p:sp>
            <p:nvSpPr>
              <p:cNvPr id="33" name="文字方塊 32">
                <a:extLst>
                  <a:ext uri="{FF2B5EF4-FFF2-40B4-BE49-F238E27FC236}">
                    <a16:creationId xmlns:a16="http://schemas.microsoft.com/office/drawing/2014/main" id="{B10B31CD-8B64-4A8F-A2F7-B3F6A0CEFA0B}"/>
                  </a:ext>
                </a:extLst>
              </p:cNvPr>
              <p:cNvSpPr txBox="1">
                <a:spLocks noRot="1" noChangeAspect="1" noMove="1" noResize="1" noEditPoints="1" noAdjustHandles="1" noChangeArrowheads="1" noChangeShapeType="1" noTextEdit="1"/>
              </p:cNvSpPr>
              <p:nvPr/>
            </p:nvSpPr>
            <p:spPr>
              <a:xfrm>
                <a:off x="3162300" y="5911618"/>
                <a:ext cx="6812827" cy="727571"/>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EBA17566-B42C-4B02-B869-9832F66C8C0A}"/>
                  </a:ext>
                </a:extLst>
              </p:cNvPr>
              <p:cNvSpPr txBox="1"/>
              <p:nvPr/>
            </p:nvSpPr>
            <p:spPr>
              <a:xfrm>
                <a:off x="0" y="528770"/>
                <a:ext cx="12192000" cy="2656240"/>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 left figure is for the single-parameter model. Two stacked panels share the horizontal axis (sampling range, 80–500 µm), with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on top and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below. Black denotes all grid points and blue the reduced point set, with the legend giving the overall discrepancy directly: 0.63% for ℓ̂ and 1.91% for the gain. The two </a:t>
                </a:r>
                <a14:m>
                  <m:oMath xmlns:m="http://schemas.openxmlformats.org/officeDocument/2006/math">
                    <m:acc>
                      <m:accPr>
                        <m:chr m:val="̂"/>
                        <m:ctrlPr>
                          <a:rPr lang="en-US" altLang="zh-TW" i="1">
                            <a:latin typeface="Cambria Math" panose="02040503050406030204" pitchFamily="18" charset="0"/>
                          </a:rPr>
                        </m:ctrlPr>
                      </m:accPr>
                      <m:e>
                        <m:r>
                          <a:rPr lang="en-US" altLang="zh-TW" i="1">
                            <a:latin typeface="Cambria Math" panose="02040503050406030204" pitchFamily="18" charset="0"/>
                            <a:ea typeface="Cambria Math" panose="02040503050406030204" pitchFamily="18" charset="0"/>
                          </a:rPr>
                          <m:t>ℓ</m:t>
                        </m:r>
                      </m:e>
                    </m:acc>
                  </m:oMath>
                </a14:m>
                <a:r>
                  <a:rPr lang="en-US" altLang="zh-TW" dirty="0"/>
                  <a:t> curves nearly coincide, diverging only slightly near 400 µm; for the gain, the blue curve lies clearly below the black one for R below 200 µm, and this region is the main source of the 1.91%. The error concentrates in the gain at small sampling ranges — the gain is the first quantity to degrade when points are scarce.</a:t>
                </a:r>
              </a:p>
              <a:p>
                <a:pPr marL="285750" indent="-285750">
                  <a:buFont typeface="Arial" panose="020B0604020202020204" pitchFamily="34" charset="0"/>
                  <a:buChar char="•"/>
                </a:pPr>
                <a:r>
                  <a:rPr lang="en-US" altLang="zh-TW" dirty="0"/>
                  <a:t>The right figure is the same comparison for the eighteen-parameter model, with red denoting the reduced result; the discrepancies drop to 0.33% for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and 0.75% for the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The curves essentially overlap, The additional degrees of freedom make the fit less sensitive to the sampling distribution.</a:t>
                </a:r>
                <a:endParaRPr lang="zh-TW" altLang="en-US" dirty="0"/>
              </a:p>
            </p:txBody>
          </p:sp>
        </mc:Choice>
        <mc:Fallback xmlns="">
          <p:sp>
            <p:nvSpPr>
              <p:cNvPr id="19" name="文字方塊 18">
                <a:extLst>
                  <a:ext uri="{FF2B5EF4-FFF2-40B4-BE49-F238E27FC236}">
                    <a16:creationId xmlns:a16="http://schemas.microsoft.com/office/drawing/2014/main" id="{EBA17566-B42C-4B02-B869-9832F66C8C0A}"/>
                  </a:ext>
                </a:extLst>
              </p:cNvPr>
              <p:cNvSpPr txBox="1">
                <a:spLocks noRot="1" noChangeAspect="1" noMove="1" noResize="1" noEditPoints="1" noAdjustHandles="1" noChangeArrowheads="1" noChangeShapeType="1" noTextEdit="1"/>
              </p:cNvSpPr>
              <p:nvPr/>
            </p:nvSpPr>
            <p:spPr>
              <a:xfrm>
                <a:off x="0" y="528770"/>
                <a:ext cx="12192000" cy="2656240"/>
              </a:xfrm>
              <a:prstGeom prst="rect">
                <a:avLst/>
              </a:prstGeom>
              <a:blipFill>
                <a:blip r:embed="rId2"/>
                <a:stretch>
                  <a:fillRect l="-300" t="-1379" r="-550" b="-2989"/>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ECD365A4-911A-4D64-BA8E-D90F69A0A89D}"/>
              </a:ext>
            </a:extLst>
          </p:cNvPr>
          <p:cNvGrpSpPr/>
          <p:nvPr/>
        </p:nvGrpSpPr>
        <p:grpSpPr>
          <a:xfrm>
            <a:off x="264802" y="3124200"/>
            <a:ext cx="3816131" cy="3648073"/>
            <a:chOff x="204859" y="2527945"/>
            <a:chExt cx="3587367" cy="4244328"/>
          </a:xfrm>
        </p:grpSpPr>
        <p:grpSp>
          <p:nvGrpSpPr>
            <p:cNvPr id="6" name="群組 5">
              <a:extLst>
                <a:ext uri="{FF2B5EF4-FFF2-40B4-BE49-F238E27FC236}">
                  <a16:creationId xmlns:a16="http://schemas.microsoft.com/office/drawing/2014/main" id="{DD4A3E22-1409-444B-B80C-70145B86FD40}"/>
                </a:ext>
              </a:extLst>
            </p:cNvPr>
            <p:cNvGrpSpPr/>
            <p:nvPr/>
          </p:nvGrpSpPr>
          <p:grpSpPr>
            <a:xfrm>
              <a:off x="290559" y="2691628"/>
              <a:ext cx="3501667" cy="4080645"/>
              <a:chOff x="290559" y="2691628"/>
              <a:chExt cx="3501667" cy="4080645"/>
            </a:xfrm>
          </p:grpSpPr>
          <p:pic>
            <p:nvPicPr>
              <p:cNvPr id="27" name="圖片 26">
                <a:extLst>
                  <a:ext uri="{FF2B5EF4-FFF2-40B4-BE49-F238E27FC236}">
                    <a16:creationId xmlns:a16="http://schemas.microsoft.com/office/drawing/2014/main" id="{B9C071E9-1DE8-42A7-B568-DA7321CDB8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559" y="2691628"/>
                <a:ext cx="3501667" cy="4080645"/>
              </a:xfrm>
              <a:prstGeom prst="rect">
                <a:avLst/>
              </a:prstGeom>
            </p:spPr>
          </p:pic>
          <p:sp>
            <p:nvSpPr>
              <p:cNvPr id="3" name="矩形 2">
                <a:extLst>
                  <a:ext uri="{FF2B5EF4-FFF2-40B4-BE49-F238E27FC236}">
                    <a16:creationId xmlns:a16="http://schemas.microsoft.com/office/drawing/2014/main" id="{801B1BC1-097F-43B3-BCDA-D9E8148D0CA4}"/>
                  </a:ext>
                </a:extLst>
              </p:cNvPr>
              <p:cNvSpPr/>
              <p:nvPr/>
            </p:nvSpPr>
            <p:spPr>
              <a:xfrm>
                <a:off x="1236133" y="6620933"/>
                <a:ext cx="2032000" cy="151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a:extLst>
                  <a:ext uri="{FF2B5EF4-FFF2-40B4-BE49-F238E27FC236}">
                    <a16:creationId xmlns:a16="http://schemas.microsoft.com/office/drawing/2014/main" id="{6C0A5DD3-4BE8-4858-8468-D218B8735B82}"/>
                  </a:ext>
                </a:extLst>
              </p:cNvPr>
              <p:cNvSpPr/>
              <p:nvPr/>
            </p:nvSpPr>
            <p:spPr>
              <a:xfrm>
                <a:off x="290559" y="3003138"/>
                <a:ext cx="166641" cy="1170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94C3DD64-3CFA-4C76-8A08-ECD2BDE51E0B}"/>
                  </a:ext>
                </a:extLst>
              </p:cNvPr>
              <p:cNvSpPr/>
              <p:nvPr/>
            </p:nvSpPr>
            <p:spPr>
              <a:xfrm>
                <a:off x="290559" y="5035926"/>
                <a:ext cx="249961" cy="1170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5268F89A-A8F7-4137-9288-799EB1E87247}"/>
                    </a:ext>
                  </a:extLst>
                </p:cNvPr>
                <p:cNvSpPr txBox="1"/>
                <p:nvPr/>
              </p:nvSpPr>
              <p:spPr>
                <a:xfrm rot="16200000">
                  <a:off x="-755663" y="3488467"/>
                  <a:ext cx="2147581"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zh-TW" altLang="en-US" sz="1400" b="1" i="1" smtClean="0">
                                <a:latin typeface="Cambria Math" panose="02040503050406030204" pitchFamily="18" charset="0"/>
                              </a:rPr>
                              <m:t>𝓵</m:t>
                            </m:r>
                          </m:e>
                        </m:acc>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1" smtClean="0">
                            <a:latin typeface="Cambria Math" panose="02040503050406030204" pitchFamily="18" charset="0"/>
                          </a:rPr>
                          <m:t>)</m:t>
                        </m:r>
                      </m:oMath>
                    </m:oMathPara>
                  </a14:m>
                  <a:endParaRPr lang="zh-TW" altLang="en-US" sz="1400" b="1" dirty="0"/>
                </a:p>
              </p:txBody>
            </p:sp>
          </mc:Choice>
          <mc:Fallback xmlns="">
            <p:sp>
              <p:nvSpPr>
                <p:cNvPr id="22" name="文字方塊 21">
                  <a:extLst>
                    <a:ext uri="{FF2B5EF4-FFF2-40B4-BE49-F238E27FC236}">
                      <a16:creationId xmlns:a16="http://schemas.microsoft.com/office/drawing/2014/main" id="{5268F89A-A8F7-4137-9288-799EB1E87247}"/>
                    </a:ext>
                  </a:extLst>
                </p:cNvPr>
                <p:cNvSpPr txBox="1">
                  <a:spLocks noRot="1" noChangeAspect="1" noMove="1" noResize="1" noEditPoints="1" noAdjustHandles="1" noChangeArrowheads="1" noChangeShapeType="1" noTextEdit="1"/>
                </p:cNvSpPr>
                <p:nvPr/>
              </p:nvSpPr>
              <p:spPr>
                <a:xfrm rot="16200000">
                  <a:off x="-755663" y="3488467"/>
                  <a:ext cx="2147581" cy="226537"/>
                </a:xfrm>
                <a:prstGeom prst="rect">
                  <a:avLst/>
                </a:prstGeom>
                <a:blipFill>
                  <a:blip r:embed="rId4"/>
                  <a:stretch>
                    <a:fillRect l="-29032" r="-580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3DEFBC27-74C3-492E-8BC4-A43908473690}"/>
                    </a:ext>
                  </a:extLst>
                </p:cNvPr>
                <p:cNvSpPr txBox="1"/>
                <p:nvPr/>
              </p:nvSpPr>
              <p:spPr>
                <a:xfrm rot="16200000">
                  <a:off x="-125680" y="5586365"/>
                  <a:ext cx="999120" cy="241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b="1" i="1" smtClean="0">
                                <a:latin typeface="Cambria Math" panose="02040503050406030204" pitchFamily="18" charset="0"/>
                              </a:rPr>
                            </m:ctrlPr>
                          </m:sPrePr>
                          <m:sub/>
                          <m:sup>
                            <m:r>
                              <a:rPr lang="en-US" altLang="zh-TW" sz="1400" b="1" i="1" smtClean="0">
                                <a:latin typeface="Cambria Math" panose="02040503050406030204" pitchFamily="18" charset="0"/>
                              </a:rPr>
                              <m:t>𝑩</m:t>
                            </m:r>
                          </m:sup>
                          <m:e>
                            <m:sSub>
                              <m:sSubPr>
                                <m:ctrlPr>
                                  <a:rPr lang="en-US" altLang="zh-TW" sz="1400" b="1" i="1" smtClean="0">
                                    <a:latin typeface="Cambria Math" panose="02040503050406030204" pitchFamily="18" charset="0"/>
                                  </a:rPr>
                                </m:ctrlPr>
                              </m:sSubPr>
                              <m:e>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rPr>
                                      <m:t>𝒈</m:t>
                                    </m:r>
                                  </m:e>
                                </m:acc>
                              </m:e>
                              <m:sub>
                                <m:r>
                                  <a:rPr lang="en-US" altLang="zh-TW" sz="1400" b="1" i="1" smtClean="0">
                                    <a:latin typeface="Cambria Math" panose="02040503050406030204" pitchFamily="18" charset="0"/>
                                  </a:rPr>
                                  <m:t>𝑰</m:t>
                                </m:r>
                              </m:sub>
                            </m:sSub>
                          </m:e>
                        </m:sPre>
                        <m:r>
                          <a:rPr lang="en-US" altLang="zh-TW" sz="1400" b="1" i="1" smtClean="0">
                            <a:latin typeface="Cambria Math" panose="02040503050406030204" pitchFamily="18" charset="0"/>
                          </a:rPr>
                          <m:t>(</m:t>
                        </m:r>
                        <m:f>
                          <m:fPr>
                            <m:type m:val="lin"/>
                            <m:ctrlPr>
                              <a:rPr lang="en-US" altLang="zh-TW" sz="1400" b="1" i="1" smtClean="0">
                                <a:latin typeface="Cambria Math" panose="02040503050406030204" pitchFamily="18" charset="0"/>
                              </a:rPr>
                            </m:ctrlPr>
                          </m:fPr>
                          <m:num>
                            <m:r>
                              <a:rPr lang="en-US" altLang="zh-TW" sz="1400" b="1" i="1" smtClean="0">
                                <a:latin typeface="Cambria Math" panose="02040503050406030204" pitchFamily="18" charset="0"/>
                              </a:rPr>
                              <m:t>𝒎𝑻</m:t>
                            </m:r>
                          </m:num>
                          <m:den>
                            <m:r>
                              <a:rPr lang="en-US" altLang="zh-TW" sz="1400" b="1" i="1" smtClean="0">
                                <a:latin typeface="Cambria Math" panose="02040503050406030204" pitchFamily="18" charset="0"/>
                              </a:rPr>
                              <m:t>𝑨</m:t>
                            </m:r>
                          </m:den>
                        </m:f>
                        <m:r>
                          <a:rPr lang="en-US" altLang="zh-TW" sz="1400" b="1" i="1" smtClean="0">
                            <a:latin typeface="Cambria Math" panose="02040503050406030204" pitchFamily="18" charset="0"/>
                          </a:rPr>
                          <m:t>)</m:t>
                        </m:r>
                      </m:oMath>
                    </m:oMathPara>
                  </a14:m>
                  <a:endParaRPr lang="zh-TW" altLang="en-US" b="1" dirty="0"/>
                </a:p>
              </p:txBody>
            </p:sp>
          </mc:Choice>
          <mc:Fallback xmlns="">
            <p:sp>
              <p:nvSpPr>
                <p:cNvPr id="24" name="文字方塊 23">
                  <a:extLst>
                    <a:ext uri="{FF2B5EF4-FFF2-40B4-BE49-F238E27FC236}">
                      <a16:creationId xmlns:a16="http://schemas.microsoft.com/office/drawing/2014/main" id="{3DEFBC27-74C3-492E-8BC4-A43908473690}"/>
                    </a:ext>
                  </a:extLst>
                </p:cNvPr>
                <p:cNvSpPr txBox="1">
                  <a:spLocks noRot="1" noChangeAspect="1" noMove="1" noResize="1" noEditPoints="1" noAdjustHandles="1" noChangeArrowheads="1" noChangeShapeType="1" noTextEdit="1"/>
                </p:cNvSpPr>
                <p:nvPr/>
              </p:nvSpPr>
              <p:spPr>
                <a:xfrm rot="16200000">
                  <a:off x="-125680" y="5586365"/>
                  <a:ext cx="999120" cy="241861"/>
                </a:xfrm>
                <a:prstGeom prst="rect">
                  <a:avLst/>
                </a:prstGeom>
                <a:blipFill>
                  <a:blip r:embed="rId5"/>
                  <a:stretch>
                    <a:fillRect l="-157576" t="-66667" r="-275758" b="-7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533AA0D9-34F7-4BA9-B784-B1DE9CD2B4E7}"/>
                    </a:ext>
                  </a:extLst>
                </p:cNvPr>
                <p:cNvSpPr txBox="1"/>
                <p:nvPr/>
              </p:nvSpPr>
              <p:spPr>
                <a:xfrm>
                  <a:off x="924645" y="6549044"/>
                  <a:ext cx="26096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𝐒𝐚𝐦𝐩𝐥𝐢𝐧𝐠</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𝐫𝐚𝐧𝐠𝐞</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1" smtClean="0">
                            <a:latin typeface="Cambria Math" panose="02040503050406030204" pitchFamily="18" charset="0"/>
                          </a:rPr>
                          <m:t>)</m:t>
                        </m:r>
                      </m:oMath>
                    </m:oMathPara>
                  </a14:m>
                  <a:endParaRPr lang="zh-TW" altLang="en-US" b="1" dirty="0"/>
                </a:p>
              </p:txBody>
            </p:sp>
          </mc:Choice>
          <mc:Fallback xmlns="">
            <p:sp>
              <p:nvSpPr>
                <p:cNvPr id="26" name="文字方塊 25">
                  <a:extLst>
                    <a:ext uri="{FF2B5EF4-FFF2-40B4-BE49-F238E27FC236}">
                      <a16:creationId xmlns:a16="http://schemas.microsoft.com/office/drawing/2014/main" id="{533AA0D9-34F7-4BA9-B784-B1DE9CD2B4E7}"/>
                    </a:ext>
                  </a:extLst>
                </p:cNvPr>
                <p:cNvSpPr txBox="1">
                  <a:spLocks noRot="1" noChangeAspect="1" noMove="1" noResize="1" noEditPoints="1" noAdjustHandles="1" noChangeArrowheads="1" noChangeShapeType="1" noTextEdit="1"/>
                </p:cNvSpPr>
                <p:nvPr/>
              </p:nvSpPr>
              <p:spPr>
                <a:xfrm>
                  <a:off x="924645" y="6549044"/>
                  <a:ext cx="2609689" cy="215444"/>
                </a:xfrm>
                <a:prstGeom prst="rect">
                  <a:avLst/>
                </a:prstGeom>
                <a:blipFill>
                  <a:blip r:embed="rId6"/>
                  <a:stretch>
                    <a:fillRect l="-3977" t="-3571" r="-22727" b="-67857"/>
                  </a:stretch>
                </a:blipFill>
              </p:spPr>
              <p:txBody>
                <a:bodyPr/>
                <a:lstStyle/>
                <a:p>
                  <a:r>
                    <a:rPr lang="zh-TW" altLang="en-US">
                      <a:noFill/>
                    </a:rPr>
                    <a:t> </a:t>
                  </a:r>
                </a:p>
              </p:txBody>
            </p:sp>
          </mc:Fallback>
        </mc:AlternateContent>
      </p:grpSp>
      <p:grpSp>
        <p:nvGrpSpPr>
          <p:cNvPr id="34" name="群組 33">
            <a:extLst>
              <a:ext uri="{FF2B5EF4-FFF2-40B4-BE49-F238E27FC236}">
                <a16:creationId xmlns:a16="http://schemas.microsoft.com/office/drawing/2014/main" id="{F44B777C-CC96-4BA5-818E-F6602C923290}"/>
              </a:ext>
            </a:extLst>
          </p:cNvPr>
          <p:cNvGrpSpPr/>
          <p:nvPr/>
        </p:nvGrpSpPr>
        <p:grpSpPr>
          <a:xfrm>
            <a:off x="6741720" y="3083982"/>
            <a:ext cx="3724966" cy="3681600"/>
            <a:chOff x="4045652" y="2420938"/>
            <a:chExt cx="3666337" cy="4336060"/>
          </a:xfrm>
        </p:grpSpPr>
        <p:grpSp>
          <p:nvGrpSpPr>
            <p:cNvPr id="32" name="群組 31">
              <a:extLst>
                <a:ext uri="{FF2B5EF4-FFF2-40B4-BE49-F238E27FC236}">
                  <a16:creationId xmlns:a16="http://schemas.microsoft.com/office/drawing/2014/main" id="{943C1BB5-B922-484E-8AD6-9FF86608B7F8}"/>
                </a:ext>
              </a:extLst>
            </p:cNvPr>
            <p:cNvGrpSpPr/>
            <p:nvPr/>
          </p:nvGrpSpPr>
          <p:grpSpPr>
            <a:xfrm>
              <a:off x="4136119" y="2632362"/>
              <a:ext cx="3575870" cy="4092584"/>
              <a:chOff x="4136119" y="2632362"/>
              <a:chExt cx="3575870" cy="4092584"/>
            </a:xfrm>
          </p:grpSpPr>
          <p:grpSp>
            <p:nvGrpSpPr>
              <p:cNvPr id="11" name="群組 10">
                <a:extLst>
                  <a:ext uri="{FF2B5EF4-FFF2-40B4-BE49-F238E27FC236}">
                    <a16:creationId xmlns:a16="http://schemas.microsoft.com/office/drawing/2014/main" id="{073381D3-E18E-47A4-BC59-F62CD127CA40}"/>
                  </a:ext>
                </a:extLst>
              </p:cNvPr>
              <p:cNvGrpSpPr/>
              <p:nvPr/>
            </p:nvGrpSpPr>
            <p:grpSpPr>
              <a:xfrm>
                <a:off x="4136119" y="2632362"/>
                <a:ext cx="3575870" cy="4092584"/>
                <a:chOff x="4136119" y="2632362"/>
                <a:chExt cx="3575870" cy="4092584"/>
              </a:xfrm>
            </p:grpSpPr>
            <p:pic>
              <p:nvPicPr>
                <p:cNvPr id="29" name="圖片 28">
                  <a:extLst>
                    <a:ext uri="{FF2B5EF4-FFF2-40B4-BE49-F238E27FC236}">
                      <a16:creationId xmlns:a16="http://schemas.microsoft.com/office/drawing/2014/main" id="{75137590-3790-4EF4-B802-108F69E3F2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36119" y="2632362"/>
                  <a:ext cx="3575870" cy="4080645"/>
                </a:xfrm>
                <a:prstGeom prst="rect">
                  <a:avLst/>
                </a:prstGeom>
              </p:spPr>
            </p:pic>
            <p:sp>
              <p:nvSpPr>
                <p:cNvPr id="10" name="矩形 9">
                  <a:extLst>
                    <a:ext uri="{FF2B5EF4-FFF2-40B4-BE49-F238E27FC236}">
                      <a16:creationId xmlns:a16="http://schemas.microsoft.com/office/drawing/2014/main" id="{435813D7-925A-4829-8AB2-41E7E2C6C770}"/>
                    </a:ext>
                  </a:extLst>
                </p:cNvPr>
                <p:cNvSpPr/>
                <p:nvPr/>
              </p:nvSpPr>
              <p:spPr>
                <a:xfrm>
                  <a:off x="5080000" y="6573606"/>
                  <a:ext cx="2032000" cy="151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3" name="矩形 12">
                <a:extLst>
                  <a:ext uri="{FF2B5EF4-FFF2-40B4-BE49-F238E27FC236}">
                    <a16:creationId xmlns:a16="http://schemas.microsoft.com/office/drawing/2014/main" id="{B442BEB2-7250-4817-8338-317CBFDD8A5D}"/>
                  </a:ext>
                </a:extLst>
              </p:cNvPr>
              <p:cNvSpPr/>
              <p:nvPr/>
            </p:nvSpPr>
            <p:spPr>
              <a:xfrm>
                <a:off x="4136119" y="3003137"/>
                <a:ext cx="190348" cy="1170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3355E3DA-A619-4C5E-9139-FBB0010B62E4}"/>
                  </a:ext>
                </a:extLst>
              </p:cNvPr>
              <p:cNvSpPr/>
              <p:nvPr/>
            </p:nvSpPr>
            <p:spPr>
              <a:xfrm>
                <a:off x="4136119" y="5035926"/>
                <a:ext cx="285522" cy="11709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2F808E38-38A8-40A9-BD43-23EA481746A7}"/>
                    </a:ext>
                  </a:extLst>
                </p:cNvPr>
                <p:cNvSpPr txBox="1"/>
                <p:nvPr/>
              </p:nvSpPr>
              <p:spPr>
                <a:xfrm rot="16200000">
                  <a:off x="3085130" y="3381460"/>
                  <a:ext cx="2147581"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zh-TW" altLang="en-US" sz="1400" b="1" i="1" smtClean="0">
                                <a:latin typeface="Cambria Math" panose="02040503050406030204" pitchFamily="18" charset="0"/>
                              </a:rPr>
                              <m:t>𝓵</m:t>
                            </m:r>
                          </m:e>
                        </m:acc>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1" smtClean="0">
                            <a:latin typeface="Cambria Math" panose="02040503050406030204" pitchFamily="18" charset="0"/>
                          </a:rPr>
                          <m:t>)</m:t>
                        </m:r>
                      </m:oMath>
                    </m:oMathPara>
                  </a14:m>
                  <a:endParaRPr lang="zh-TW" altLang="en-US" sz="1400" b="1" dirty="0"/>
                </a:p>
              </p:txBody>
            </p:sp>
          </mc:Choice>
          <mc:Fallback xmlns="">
            <p:sp>
              <p:nvSpPr>
                <p:cNvPr id="23" name="文字方塊 22">
                  <a:extLst>
                    <a:ext uri="{FF2B5EF4-FFF2-40B4-BE49-F238E27FC236}">
                      <a16:creationId xmlns:a16="http://schemas.microsoft.com/office/drawing/2014/main" id="{2F808E38-38A8-40A9-BD43-23EA481746A7}"/>
                    </a:ext>
                  </a:extLst>
                </p:cNvPr>
                <p:cNvSpPr txBox="1">
                  <a:spLocks noRot="1" noChangeAspect="1" noMove="1" noResize="1" noEditPoints="1" noAdjustHandles="1" noChangeArrowheads="1" noChangeShapeType="1" noTextEdit="1"/>
                </p:cNvSpPr>
                <p:nvPr/>
              </p:nvSpPr>
              <p:spPr>
                <a:xfrm rot="16200000">
                  <a:off x="3085130" y="3381460"/>
                  <a:ext cx="2147581" cy="226537"/>
                </a:xfrm>
                <a:prstGeom prst="rect">
                  <a:avLst/>
                </a:prstGeom>
                <a:blipFill>
                  <a:blip r:embed="rId8"/>
                  <a:stretch>
                    <a:fillRect l="-28125" r="-531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1AF1854F-B6F5-454C-8A7D-1FCC648416E3}"/>
                    </a:ext>
                  </a:extLst>
                </p:cNvPr>
                <p:cNvSpPr txBox="1"/>
                <p:nvPr/>
              </p:nvSpPr>
              <p:spPr>
                <a:xfrm rot="16200000">
                  <a:off x="3731732" y="5497594"/>
                  <a:ext cx="999120" cy="241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b="1" i="1" smtClean="0">
                                <a:latin typeface="Cambria Math" panose="02040503050406030204" pitchFamily="18" charset="0"/>
                              </a:rPr>
                            </m:ctrlPr>
                          </m:sPrePr>
                          <m:sub/>
                          <m:sup>
                            <m:r>
                              <a:rPr lang="en-US" altLang="zh-TW" sz="1400" b="1" i="1" smtClean="0">
                                <a:latin typeface="Cambria Math" panose="02040503050406030204" pitchFamily="18" charset="0"/>
                              </a:rPr>
                              <m:t>𝑩</m:t>
                            </m:r>
                          </m:sup>
                          <m:e>
                            <m:sSub>
                              <m:sSubPr>
                                <m:ctrlPr>
                                  <a:rPr lang="en-US" altLang="zh-TW" sz="1400" b="1" i="1" smtClean="0">
                                    <a:latin typeface="Cambria Math" panose="02040503050406030204" pitchFamily="18" charset="0"/>
                                  </a:rPr>
                                </m:ctrlPr>
                              </m:sSubPr>
                              <m:e>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rPr>
                                      <m:t>𝒈</m:t>
                                    </m:r>
                                  </m:e>
                                </m:acc>
                              </m:e>
                              <m:sub>
                                <m:r>
                                  <a:rPr lang="en-US" altLang="zh-TW" sz="1400" b="1" i="1" smtClean="0">
                                    <a:latin typeface="Cambria Math" panose="02040503050406030204" pitchFamily="18" charset="0"/>
                                  </a:rPr>
                                  <m:t>𝑰</m:t>
                                </m:r>
                              </m:sub>
                            </m:sSub>
                          </m:e>
                        </m:sPre>
                        <m:r>
                          <a:rPr lang="en-US" altLang="zh-TW" sz="1400" b="1" i="1" smtClean="0">
                            <a:latin typeface="Cambria Math" panose="02040503050406030204" pitchFamily="18" charset="0"/>
                          </a:rPr>
                          <m:t>(</m:t>
                        </m:r>
                        <m:f>
                          <m:fPr>
                            <m:type m:val="lin"/>
                            <m:ctrlPr>
                              <a:rPr lang="en-US" altLang="zh-TW" sz="1400" b="1" i="1" smtClean="0">
                                <a:latin typeface="Cambria Math" panose="02040503050406030204" pitchFamily="18" charset="0"/>
                              </a:rPr>
                            </m:ctrlPr>
                          </m:fPr>
                          <m:num>
                            <m:r>
                              <a:rPr lang="en-US" altLang="zh-TW" sz="1400" b="1" i="1" smtClean="0">
                                <a:latin typeface="Cambria Math" panose="02040503050406030204" pitchFamily="18" charset="0"/>
                              </a:rPr>
                              <m:t>𝒎𝑻</m:t>
                            </m:r>
                          </m:num>
                          <m:den>
                            <m:r>
                              <a:rPr lang="en-US" altLang="zh-TW" sz="1400" b="1" i="1" smtClean="0">
                                <a:latin typeface="Cambria Math" panose="02040503050406030204" pitchFamily="18" charset="0"/>
                              </a:rPr>
                              <m:t>𝑨</m:t>
                            </m:r>
                          </m:den>
                        </m:f>
                        <m:r>
                          <a:rPr lang="en-US" altLang="zh-TW" sz="1400" b="1" i="1" smtClean="0">
                            <a:latin typeface="Cambria Math" panose="02040503050406030204" pitchFamily="18" charset="0"/>
                          </a:rPr>
                          <m:t>)</m:t>
                        </m:r>
                      </m:oMath>
                    </m:oMathPara>
                  </a14:m>
                  <a:endParaRPr lang="zh-TW" altLang="en-US" b="1" dirty="0"/>
                </a:p>
              </p:txBody>
            </p:sp>
          </mc:Choice>
          <mc:Fallback xmlns="">
            <p:sp>
              <p:nvSpPr>
                <p:cNvPr id="25" name="文字方塊 24">
                  <a:extLst>
                    <a:ext uri="{FF2B5EF4-FFF2-40B4-BE49-F238E27FC236}">
                      <a16:creationId xmlns:a16="http://schemas.microsoft.com/office/drawing/2014/main" id="{1AF1854F-B6F5-454C-8A7D-1FCC648416E3}"/>
                    </a:ext>
                  </a:extLst>
                </p:cNvPr>
                <p:cNvSpPr txBox="1">
                  <a:spLocks noRot="1" noChangeAspect="1" noMove="1" noResize="1" noEditPoints="1" noAdjustHandles="1" noChangeArrowheads="1" noChangeShapeType="1" noTextEdit="1"/>
                </p:cNvSpPr>
                <p:nvPr/>
              </p:nvSpPr>
              <p:spPr>
                <a:xfrm rot="16200000">
                  <a:off x="3731732" y="5497594"/>
                  <a:ext cx="999120" cy="241861"/>
                </a:xfrm>
                <a:prstGeom prst="rect">
                  <a:avLst/>
                </a:prstGeom>
                <a:blipFill>
                  <a:blip r:embed="rId9"/>
                  <a:stretch>
                    <a:fillRect l="-150000" t="-70635" r="-267647" b="-7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3C7FAB5-1D58-4BEF-B3C9-C1B89A9D97B6}"/>
                    </a:ext>
                  </a:extLst>
                </p:cNvPr>
                <p:cNvSpPr txBox="1"/>
                <p:nvPr/>
              </p:nvSpPr>
              <p:spPr>
                <a:xfrm>
                  <a:off x="4737800" y="6541554"/>
                  <a:ext cx="26096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𝐒𝐚𝐦𝐩𝐥𝐢𝐧𝐠</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𝐫𝐚𝐧𝐠𝐞</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1" smtClean="0">
                            <a:latin typeface="Cambria Math" panose="02040503050406030204" pitchFamily="18" charset="0"/>
                          </a:rPr>
                          <m:t>)</m:t>
                        </m:r>
                      </m:oMath>
                    </m:oMathPara>
                  </a14:m>
                  <a:endParaRPr lang="zh-TW" altLang="en-US" b="1" dirty="0"/>
                </a:p>
              </p:txBody>
            </p:sp>
          </mc:Choice>
          <mc:Fallback xmlns="">
            <p:sp>
              <p:nvSpPr>
                <p:cNvPr id="28" name="文字方塊 27">
                  <a:extLst>
                    <a:ext uri="{FF2B5EF4-FFF2-40B4-BE49-F238E27FC236}">
                      <a16:creationId xmlns:a16="http://schemas.microsoft.com/office/drawing/2014/main" id="{A3C7FAB5-1D58-4BEF-B3C9-C1B89A9D97B6}"/>
                    </a:ext>
                  </a:extLst>
                </p:cNvPr>
                <p:cNvSpPr txBox="1">
                  <a:spLocks noRot="1" noChangeAspect="1" noMove="1" noResize="1" noEditPoints="1" noAdjustHandles="1" noChangeArrowheads="1" noChangeShapeType="1" noTextEdit="1"/>
                </p:cNvSpPr>
                <p:nvPr/>
              </p:nvSpPr>
              <p:spPr>
                <a:xfrm>
                  <a:off x="4737800" y="6541554"/>
                  <a:ext cx="2609689" cy="215444"/>
                </a:xfrm>
                <a:prstGeom prst="rect">
                  <a:avLst/>
                </a:prstGeom>
                <a:blipFill>
                  <a:blip r:embed="rId10"/>
                  <a:stretch>
                    <a:fillRect l="-3846" t="-3704" r="-18407" b="-7407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27831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38" name="群組 37">
            <a:extLst>
              <a:ext uri="{FF2B5EF4-FFF2-40B4-BE49-F238E27FC236}">
                <a16:creationId xmlns:a16="http://schemas.microsoft.com/office/drawing/2014/main" id="{3874877E-0AA1-440A-9A1F-03620FCB0310}"/>
              </a:ext>
            </a:extLst>
          </p:cNvPr>
          <p:cNvGrpSpPr/>
          <p:nvPr/>
        </p:nvGrpSpPr>
        <p:grpSpPr>
          <a:xfrm>
            <a:off x="7145868" y="2218267"/>
            <a:ext cx="4651232" cy="3701095"/>
            <a:chOff x="7787491" y="3003138"/>
            <a:chExt cx="4113950" cy="3249143"/>
          </a:xfrm>
        </p:grpSpPr>
        <p:grpSp>
          <p:nvGrpSpPr>
            <p:cNvPr id="36" name="群組 35">
              <a:extLst>
                <a:ext uri="{FF2B5EF4-FFF2-40B4-BE49-F238E27FC236}">
                  <a16:creationId xmlns:a16="http://schemas.microsoft.com/office/drawing/2014/main" id="{7A0B4308-FA8F-46D0-9A8E-DBE2FACE41A0}"/>
                </a:ext>
              </a:extLst>
            </p:cNvPr>
            <p:cNvGrpSpPr/>
            <p:nvPr/>
          </p:nvGrpSpPr>
          <p:grpSpPr>
            <a:xfrm>
              <a:off x="7787491" y="3003138"/>
              <a:ext cx="4113950" cy="3249143"/>
              <a:chOff x="7787491" y="3003138"/>
              <a:chExt cx="4113950" cy="3249143"/>
            </a:xfrm>
          </p:grpSpPr>
          <p:pic>
            <p:nvPicPr>
              <p:cNvPr id="33" name="圖片 32">
                <a:extLst>
                  <a:ext uri="{FF2B5EF4-FFF2-40B4-BE49-F238E27FC236}">
                    <a16:creationId xmlns:a16="http://schemas.microsoft.com/office/drawing/2014/main" id="{299646E5-4CA1-4FA2-86F1-FEA8B6CD0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7491" y="3003138"/>
                <a:ext cx="4113950" cy="3203717"/>
              </a:xfrm>
              <a:prstGeom prst="rect">
                <a:avLst/>
              </a:prstGeom>
            </p:spPr>
          </p:pic>
          <p:sp>
            <p:nvSpPr>
              <p:cNvPr id="35" name="矩形 34">
                <a:extLst>
                  <a:ext uri="{FF2B5EF4-FFF2-40B4-BE49-F238E27FC236}">
                    <a16:creationId xmlns:a16="http://schemas.microsoft.com/office/drawing/2014/main" id="{25D82242-E60F-4083-908C-C8C82764401E}"/>
                  </a:ext>
                </a:extLst>
              </p:cNvPr>
              <p:cNvSpPr/>
              <p:nvPr/>
            </p:nvSpPr>
            <p:spPr>
              <a:xfrm>
                <a:off x="7787491" y="3886200"/>
                <a:ext cx="268391" cy="1149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4908FE3E-193C-4699-AF79-D57D1FDFC263}"/>
                  </a:ext>
                </a:extLst>
              </p:cNvPr>
              <p:cNvSpPr/>
              <p:nvPr/>
            </p:nvSpPr>
            <p:spPr>
              <a:xfrm rot="5400000">
                <a:off x="9944672" y="5308821"/>
                <a:ext cx="268391" cy="16185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D1C12E4A-D805-4D2B-A70F-93200BA02D53}"/>
                    </a:ext>
                  </a:extLst>
                </p:cNvPr>
                <p:cNvSpPr txBox="1"/>
                <p:nvPr/>
              </p:nvSpPr>
              <p:spPr>
                <a:xfrm>
                  <a:off x="8869966" y="5983890"/>
                  <a:ext cx="26096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𝐒𝐚𝐦𝐩𝐥𝐢𝐧𝐠</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𝐫𝐚𝐧𝐠𝐞</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1" smtClean="0">
                            <a:latin typeface="Cambria Math" panose="02040503050406030204" pitchFamily="18" charset="0"/>
                          </a:rPr>
                          <m:t>)</m:t>
                        </m:r>
                      </m:oMath>
                    </m:oMathPara>
                  </a14:m>
                  <a:endParaRPr lang="zh-TW" altLang="en-US" b="1" dirty="0"/>
                </a:p>
              </p:txBody>
            </p:sp>
          </mc:Choice>
          <mc:Fallback xmlns="">
            <p:sp>
              <p:nvSpPr>
                <p:cNvPr id="39" name="文字方塊 38">
                  <a:extLst>
                    <a:ext uri="{FF2B5EF4-FFF2-40B4-BE49-F238E27FC236}">
                      <a16:creationId xmlns:a16="http://schemas.microsoft.com/office/drawing/2014/main" id="{D1C12E4A-D805-4D2B-A70F-93200BA02D53}"/>
                    </a:ext>
                  </a:extLst>
                </p:cNvPr>
                <p:cNvSpPr txBox="1">
                  <a:spLocks noRot="1" noChangeAspect="1" noMove="1" noResize="1" noEditPoints="1" noAdjustHandles="1" noChangeArrowheads="1" noChangeShapeType="1" noTextEdit="1"/>
                </p:cNvSpPr>
                <p:nvPr/>
              </p:nvSpPr>
              <p:spPr>
                <a:xfrm>
                  <a:off x="8869966" y="5983890"/>
                  <a:ext cx="2609689" cy="215444"/>
                </a:xfrm>
                <a:prstGeom prst="rect">
                  <a:avLst/>
                </a:prstGeom>
                <a:blipFill>
                  <a:blip r:embed="rId3"/>
                  <a:stretch>
                    <a:fillRect t="-2500"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617E5C8-EE4F-46B2-AF28-6FD73D2B21D3}"/>
                    </a:ext>
                  </a:extLst>
                </p:cNvPr>
                <p:cNvSpPr txBox="1"/>
                <p:nvPr/>
              </p:nvSpPr>
              <p:spPr>
                <a:xfrm rot="16200000">
                  <a:off x="7455076" y="4226101"/>
                  <a:ext cx="940707" cy="260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zh-TW" altLang="en-US" sz="1400" b="1" i="1" smtClean="0">
                                <a:latin typeface="Cambria Math" panose="02040503050406030204" pitchFamily="18" charset="0"/>
                              </a:rPr>
                            </m:ctrlPr>
                          </m:radPr>
                          <m:deg/>
                          <m:e>
                            <m:f>
                              <m:fPr>
                                <m:type m:val="lin"/>
                                <m:ctrlPr>
                                  <a:rPr lang="zh-TW" altLang="en-US" sz="1400" b="1" i="1" smtClean="0">
                                    <a:latin typeface="Cambria Math" panose="02040503050406030204" pitchFamily="18" charset="0"/>
                                  </a:rPr>
                                </m:ctrlPr>
                              </m:fPr>
                              <m:num>
                                <m:r>
                                  <a:rPr lang="en-US" altLang="zh-TW" sz="1400" b="1" i="0" smtClean="0">
                                    <a:latin typeface="Cambria Math" panose="02040503050406030204" pitchFamily="18" charset="0"/>
                                  </a:rPr>
                                  <m:t>𝐉</m:t>
                                </m:r>
                              </m:num>
                              <m:den>
                                <m:r>
                                  <a:rPr lang="en-US" altLang="zh-TW" sz="1400" b="1" i="0" smtClean="0">
                                    <a:latin typeface="Cambria Math" panose="02040503050406030204" pitchFamily="18" charset="0"/>
                                  </a:rPr>
                                  <m:t>𝐍</m:t>
                                </m:r>
                              </m:den>
                            </m:f>
                          </m:e>
                        </m:rad>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𝒎𝑻</m:t>
                        </m:r>
                        <m:r>
                          <a:rPr lang="en-US" altLang="zh-TW" sz="1400" b="1" i="1" smtClean="0">
                            <a:latin typeface="Cambria Math" panose="02040503050406030204" pitchFamily="18" charset="0"/>
                          </a:rPr>
                          <m:t>)</m:t>
                        </m:r>
                      </m:oMath>
                    </m:oMathPara>
                  </a14:m>
                  <a:endParaRPr lang="zh-TW" altLang="en-US" sz="1400" b="1" dirty="0"/>
                </a:p>
              </p:txBody>
            </p:sp>
          </mc:Choice>
          <mc:Fallback xmlns="">
            <p:sp>
              <p:nvSpPr>
                <p:cNvPr id="41" name="文字方塊 40">
                  <a:extLst>
                    <a:ext uri="{FF2B5EF4-FFF2-40B4-BE49-F238E27FC236}">
                      <a16:creationId xmlns:a16="http://schemas.microsoft.com/office/drawing/2014/main" id="{5617E5C8-EE4F-46B2-AF28-6FD73D2B21D3}"/>
                    </a:ext>
                  </a:extLst>
                </p:cNvPr>
                <p:cNvSpPr txBox="1">
                  <a:spLocks noRot="1" noChangeAspect="1" noMove="1" noResize="1" noEditPoints="1" noAdjustHandles="1" noChangeArrowheads="1" noChangeShapeType="1" noTextEdit="1"/>
                </p:cNvSpPr>
                <p:nvPr/>
              </p:nvSpPr>
              <p:spPr>
                <a:xfrm rot="16200000">
                  <a:off x="7455076" y="4226101"/>
                  <a:ext cx="940707" cy="260905"/>
                </a:xfrm>
                <a:prstGeom prst="rect">
                  <a:avLst/>
                </a:prstGeom>
                <a:blipFill>
                  <a:blip r:embed="rId4"/>
                  <a:stretch>
                    <a:fillRect l="-100000" r="-166667" b="-113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3E8BD2E0-D5C2-4510-B916-42163123D019}"/>
                  </a:ext>
                </a:extLst>
              </p:cNvPr>
              <p:cNvSpPr txBox="1"/>
              <p:nvPr/>
            </p:nvSpPr>
            <p:spPr>
              <a:xfrm>
                <a:off x="0" y="753536"/>
                <a:ext cx="6968066" cy="5117555"/>
              </a:xfrm>
              <a:prstGeom prst="rect">
                <a:avLst/>
              </a:prstGeom>
              <a:noFill/>
            </p:spPr>
            <p:txBody>
              <a:bodyPr wrap="square">
                <a:spAutoFit/>
              </a:bodyPr>
              <a:lstStyle/>
              <a:p>
                <a:pPr marL="285750" indent="-285750">
                  <a:lnSpc>
                    <a:spcPct val="200000"/>
                  </a:lnSpc>
                  <a:buFont typeface="Arial" panose="020B0604020202020204" pitchFamily="34" charset="0"/>
                  <a:buChar char="•"/>
                </a:pPr>
                <a:r>
                  <a:rPr lang="zh-TW" altLang="en-US" dirty="0"/>
                  <a:t> The right figure plots</a:t>
                </a:r>
                <a14:m>
                  <m:oMath xmlns:m="http://schemas.openxmlformats.org/officeDocument/2006/math">
                    <m:rad>
                      <m:radPr>
                        <m:degHide m:val="on"/>
                        <m:ctrlPr>
                          <a:rPr lang="zh-TW" altLang="en-US" i="1" smtClean="0">
                            <a:latin typeface="Cambria Math" panose="02040503050406030204" pitchFamily="18" charset="0"/>
                          </a:rPr>
                        </m:ctrlPr>
                      </m:radPr>
                      <m:deg/>
                      <m:e>
                        <m:f>
                          <m:fPr>
                            <m:type m:val="lin"/>
                            <m:ctrlPr>
                              <a:rPr lang="zh-TW" altLang="en-US" i="1" smtClean="0">
                                <a:latin typeface="Cambria Math" panose="02040503050406030204" pitchFamily="18" charset="0"/>
                              </a:rPr>
                            </m:ctrlPr>
                          </m:fPr>
                          <m:num>
                            <m:r>
                              <a:rPr lang="en-US" altLang="zh-TW" b="0" i="1" smtClean="0">
                                <a:latin typeface="Cambria Math" panose="02040503050406030204" pitchFamily="18" charset="0"/>
                              </a:rPr>
                              <m:t>𝐽</m:t>
                            </m:r>
                          </m:num>
                          <m:den>
                            <m:r>
                              <a:rPr lang="en-US" altLang="zh-TW" b="0" i="1" smtClean="0">
                                <a:latin typeface="Cambria Math" panose="02040503050406030204" pitchFamily="18" charset="0"/>
                              </a:rPr>
                              <m:t>𝑁</m:t>
                            </m:r>
                          </m:den>
                        </m:f>
                      </m:e>
                    </m:rad>
                  </m:oMath>
                </a14:m>
                <a:r>
                  <a:rPr lang="zh-TW" altLang="en-US" dirty="0"/>
                  <a:t> (mT) against R — the residual obtained by calibrating each sampling range with its own point count and then fitting the field within that range. The blue curve (single parameter) rises monotonically from </a:t>
                </a:r>
                <a:r>
                  <a:rPr lang="zh-TW" altLang="en-US" b="1" dirty="0"/>
                  <a:t>0.10 to 1.30 </a:t>
                </a:r>
                <a:r>
                  <a:rPr lang="zh-TW" altLang="en-US" dirty="0"/>
                  <a:t>and the red curve (eighteen parameters) from nearly </a:t>
                </a:r>
                <a:r>
                  <a:rPr lang="zh-TW" altLang="en-US" b="1" dirty="0"/>
                  <a:t>0 to 0.95</a:t>
                </a:r>
                <a:r>
                  <a:rPr lang="zh-TW" altLang="en-US" dirty="0"/>
                  <a:t>; red stays below blue throughout, with the gap widening as R increases.</a:t>
                </a:r>
                <a:r>
                  <a:rPr lang="en-US" altLang="zh-TW" dirty="0"/>
                  <a:t> Regardless of sampling range, the eighteen-parameter model yields a lower field-fitting residual. Both degrade as R grows, indicating that the far field is where the point-charge model breaks down.</a:t>
                </a:r>
                <a:endParaRPr lang="zh-TW" altLang="en-US" dirty="0"/>
              </a:p>
            </p:txBody>
          </p:sp>
        </mc:Choice>
        <mc:Fallback xmlns="">
          <p:sp>
            <p:nvSpPr>
              <p:cNvPr id="42" name="文字方塊 41">
                <a:extLst>
                  <a:ext uri="{FF2B5EF4-FFF2-40B4-BE49-F238E27FC236}">
                    <a16:creationId xmlns:a16="http://schemas.microsoft.com/office/drawing/2014/main" id="{3E8BD2E0-D5C2-4510-B916-42163123D019}"/>
                  </a:ext>
                </a:extLst>
              </p:cNvPr>
              <p:cNvSpPr txBox="1">
                <a:spLocks noRot="1" noChangeAspect="1" noMove="1" noResize="1" noEditPoints="1" noAdjustHandles="1" noChangeArrowheads="1" noChangeShapeType="1" noTextEdit="1"/>
              </p:cNvSpPr>
              <p:nvPr/>
            </p:nvSpPr>
            <p:spPr>
              <a:xfrm>
                <a:off x="0" y="753536"/>
                <a:ext cx="6968066" cy="5117555"/>
              </a:xfrm>
              <a:prstGeom prst="rect">
                <a:avLst/>
              </a:prstGeom>
              <a:blipFill>
                <a:blip r:embed="rId5"/>
                <a:stretch>
                  <a:fillRect l="-525" t="-2861" r="-1400" b="-95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86442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16" name="群組 15">
            <a:extLst>
              <a:ext uri="{FF2B5EF4-FFF2-40B4-BE49-F238E27FC236}">
                <a16:creationId xmlns:a16="http://schemas.microsoft.com/office/drawing/2014/main" id="{41066563-D6A4-43FE-9CE0-2BCCFBE3221F}"/>
              </a:ext>
            </a:extLst>
          </p:cNvPr>
          <p:cNvGrpSpPr/>
          <p:nvPr/>
        </p:nvGrpSpPr>
        <p:grpSpPr>
          <a:xfrm>
            <a:off x="8614076" y="922869"/>
            <a:ext cx="3298941" cy="2688167"/>
            <a:chOff x="8614076" y="922869"/>
            <a:chExt cx="3298941" cy="2688167"/>
          </a:xfrm>
        </p:grpSpPr>
        <p:grpSp>
          <p:nvGrpSpPr>
            <p:cNvPr id="5" name="群組 4">
              <a:extLst>
                <a:ext uri="{FF2B5EF4-FFF2-40B4-BE49-F238E27FC236}">
                  <a16:creationId xmlns:a16="http://schemas.microsoft.com/office/drawing/2014/main" id="{2552A979-D820-46C1-A317-ABD6EF43C936}"/>
                </a:ext>
              </a:extLst>
            </p:cNvPr>
            <p:cNvGrpSpPr/>
            <p:nvPr/>
          </p:nvGrpSpPr>
          <p:grpSpPr>
            <a:xfrm>
              <a:off x="8660413" y="922869"/>
              <a:ext cx="3252604" cy="2688167"/>
              <a:chOff x="8660413" y="922869"/>
              <a:chExt cx="3252604" cy="2688167"/>
            </a:xfrm>
          </p:grpSpPr>
          <p:pic>
            <p:nvPicPr>
              <p:cNvPr id="10" name="圖片 9">
                <a:extLst>
                  <a:ext uri="{FF2B5EF4-FFF2-40B4-BE49-F238E27FC236}">
                    <a16:creationId xmlns:a16="http://schemas.microsoft.com/office/drawing/2014/main" id="{0E18C566-84D5-404B-B45D-1D4A4DD44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1798" y="922869"/>
                <a:ext cx="3191219" cy="2643185"/>
              </a:xfrm>
              <a:prstGeom prst="rect">
                <a:avLst/>
              </a:prstGeom>
            </p:spPr>
          </p:pic>
          <p:sp>
            <p:nvSpPr>
              <p:cNvPr id="14" name="矩形 13">
                <a:extLst>
                  <a:ext uri="{FF2B5EF4-FFF2-40B4-BE49-F238E27FC236}">
                    <a16:creationId xmlns:a16="http://schemas.microsoft.com/office/drawing/2014/main" id="{62C14CF9-BADB-4786-B3C4-7A30D82FA28B}"/>
                  </a:ext>
                </a:extLst>
              </p:cNvPr>
              <p:cNvSpPr/>
              <p:nvPr/>
            </p:nvSpPr>
            <p:spPr>
              <a:xfrm>
                <a:off x="9818649" y="3403599"/>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1D9B10AE-E02B-445B-857F-2CDD163AC207}"/>
                  </a:ext>
                </a:extLst>
              </p:cNvPr>
              <p:cNvSpPr/>
              <p:nvPr/>
            </p:nvSpPr>
            <p:spPr>
              <a:xfrm rot="16200000">
                <a:off x="8162998" y="2067977"/>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37CD99C8-6485-4B8F-BA2E-20289075C06D}"/>
                    </a:ext>
                  </a:extLst>
                </p:cNvPr>
                <p:cNvSpPr txBox="1"/>
                <p:nvPr/>
              </p:nvSpPr>
              <p:spPr>
                <a:xfrm>
                  <a:off x="9594740" y="3367842"/>
                  <a:ext cx="17857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𝐑𝐞𝐬𝐢𝐝𝐮𝐚𝐥</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𝐞𝐫𝐫𝐨𝐫</m:t>
                        </m:r>
                        <m:r>
                          <a:rPr lang="en-US" altLang="zh-TW" sz="1400" b="1" i="0" smtClean="0">
                            <a:latin typeface="Cambria Math" panose="02040503050406030204" pitchFamily="18" charset="0"/>
                          </a:rPr>
                          <m:t> </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𝒎𝑻</m:t>
                        </m:r>
                        <m:r>
                          <a:rPr lang="en-US" altLang="zh-TW" sz="1400" b="1" i="1" smtClean="0">
                            <a:latin typeface="Cambria Math" panose="02040503050406030204" pitchFamily="18" charset="0"/>
                          </a:rPr>
                          <m:t>) </m:t>
                        </m:r>
                      </m:oMath>
                    </m:oMathPara>
                  </a14:m>
                  <a:endParaRPr lang="zh-TW" altLang="en-US" b="1" dirty="0"/>
                </a:p>
              </p:txBody>
            </p:sp>
          </mc:Choice>
          <mc:Fallback xmlns="">
            <p:sp>
              <p:nvSpPr>
                <p:cNvPr id="18" name="文字方塊 17">
                  <a:extLst>
                    <a:ext uri="{FF2B5EF4-FFF2-40B4-BE49-F238E27FC236}">
                      <a16:creationId xmlns:a16="http://schemas.microsoft.com/office/drawing/2014/main" id="{37CD99C8-6485-4B8F-BA2E-20289075C06D}"/>
                    </a:ext>
                  </a:extLst>
                </p:cNvPr>
                <p:cNvSpPr txBox="1">
                  <a:spLocks noRot="1" noChangeAspect="1" noMove="1" noResize="1" noEditPoints="1" noAdjustHandles="1" noChangeArrowheads="1" noChangeShapeType="1" noTextEdit="1"/>
                </p:cNvSpPr>
                <p:nvPr/>
              </p:nvSpPr>
              <p:spPr>
                <a:xfrm>
                  <a:off x="9594740" y="3367842"/>
                  <a:ext cx="1785745" cy="215444"/>
                </a:xfrm>
                <a:prstGeom prst="rect">
                  <a:avLst/>
                </a:prstGeom>
                <a:blipFill>
                  <a:blip r:embed="rId3"/>
                  <a:stretch>
                    <a:fillRect l="-2048" r="-683" b="-30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3A1C1C9C-CA79-4B5F-BAC3-E19FDF9575B5}"/>
                    </a:ext>
                  </a:extLst>
                </p:cNvPr>
                <p:cNvSpPr txBox="1"/>
                <p:nvPr/>
              </p:nvSpPr>
              <p:spPr>
                <a:xfrm rot="16200000">
                  <a:off x="8071780" y="2053795"/>
                  <a:ext cx="13000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𝐏𝐞𝐫𝐜𝐞𝐧𝐭𝐚𝐠𝐞</m:t>
                        </m:r>
                        <m:r>
                          <a:rPr lang="en-US" altLang="zh-TW" sz="1400" b="0" i="1" smtClean="0">
                            <a:latin typeface="Cambria Math" panose="02040503050406030204" pitchFamily="18" charset="0"/>
                          </a:rPr>
                          <m:t>(%)</m:t>
                        </m:r>
                      </m:oMath>
                    </m:oMathPara>
                  </a14:m>
                  <a:endParaRPr lang="zh-TW" altLang="en-US" dirty="0"/>
                </a:p>
              </p:txBody>
            </p:sp>
          </mc:Choice>
          <mc:Fallback xmlns="">
            <p:sp>
              <p:nvSpPr>
                <p:cNvPr id="22" name="文字方塊 21">
                  <a:extLst>
                    <a:ext uri="{FF2B5EF4-FFF2-40B4-BE49-F238E27FC236}">
                      <a16:creationId xmlns:a16="http://schemas.microsoft.com/office/drawing/2014/main" id="{3A1C1C9C-CA79-4B5F-BAC3-E19FDF9575B5}"/>
                    </a:ext>
                  </a:extLst>
                </p:cNvPr>
                <p:cNvSpPr txBox="1">
                  <a:spLocks noRot="1" noChangeAspect="1" noMove="1" noResize="1" noEditPoints="1" noAdjustHandles="1" noChangeArrowheads="1" noChangeShapeType="1" noTextEdit="1"/>
                </p:cNvSpPr>
                <p:nvPr/>
              </p:nvSpPr>
              <p:spPr>
                <a:xfrm rot="16200000">
                  <a:off x="8071780" y="2053795"/>
                  <a:ext cx="1300036" cy="215444"/>
                </a:xfrm>
                <a:prstGeom prst="rect">
                  <a:avLst/>
                </a:prstGeom>
                <a:blipFill>
                  <a:blip r:embed="rId4"/>
                  <a:stretch>
                    <a:fillRect t="-4225" r="-34286" b="-4225"/>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id="{60F45BDE-800E-4F2D-841D-4DC4C7AB79F6}"/>
              </a:ext>
            </a:extLst>
          </p:cNvPr>
          <p:cNvGrpSpPr/>
          <p:nvPr/>
        </p:nvGrpSpPr>
        <p:grpSpPr>
          <a:xfrm>
            <a:off x="5219654" y="3904419"/>
            <a:ext cx="3424416" cy="2760132"/>
            <a:chOff x="4779272" y="3924306"/>
            <a:chExt cx="3424416" cy="2760132"/>
          </a:xfrm>
        </p:grpSpPr>
        <p:grpSp>
          <p:nvGrpSpPr>
            <p:cNvPr id="6" name="群組 5">
              <a:extLst>
                <a:ext uri="{FF2B5EF4-FFF2-40B4-BE49-F238E27FC236}">
                  <a16:creationId xmlns:a16="http://schemas.microsoft.com/office/drawing/2014/main" id="{4CE0797A-E010-4111-80DB-2826DA0ABDBA}"/>
                </a:ext>
              </a:extLst>
            </p:cNvPr>
            <p:cNvGrpSpPr/>
            <p:nvPr/>
          </p:nvGrpSpPr>
          <p:grpSpPr>
            <a:xfrm>
              <a:off x="4803769" y="3924306"/>
              <a:ext cx="3399919" cy="2760132"/>
              <a:chOff x="4803769" y="3924306"/>
              <a:chExt cx="3399919" cy="2760132"/>
            </a:xfrm>
          </p:grpSpPr>
          <p:pic>
            <p:nvPicPr>
              <p:cNvPr id="12" name="圖片 11">
                <a:extLst>
                  <a:ext uri="{FF2B5EF4-FFF2-40B4-BE49-F238E27FC236}">
                    <a16:creationId xmlns:a16="http://schemas.microsoft.com/office/drawing/2014/main" id="{E9B21441-1968-4E1B-9435-BC16DDA0D7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6571" y="3924306"/>
                <a:ext cx="3347117" cy="2743198"/>
              </a:xfrm>
              <a:prstGeom prst="rect">
                <a:avLst/>
              </a:prstGeom>
            </p:spPr>
          </p:pic>
          <p:sp>
            <p:nvSpPr>
              <p:cNvPr id="3" name="矩形 2">
                <a:extLst>
                  <a:ext uri="{FF2B5EF4-FFF2-40B4-BE49-F238E27FC236}">
                    <a16:creationId xmlns:a16="http://schemas.microsoft.com/office/drawing/2014/main" id="{68BA344A-01FE-461D-8434-4FD40C32096E}"/>
                  </a:ext>
                </a:extLst>
              </p:cNvPr>
              <p:cNvSpPr/>
              <p:nvPr/>
            </p:nvSpPr>
            <p:spPr>
              <a:xfrm>
                <a:off x="6096000" y="6477001"/>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FFA65239-E03B-417D-BAE3-1CAE28B8006C}"/>
                  </a:ext>
                </a:extLst>
              </p:cNvPr>
              <p:cNvSpPr/>
              <p:nvPr/>
            </p:nvSpPr>
            <p:spPr>
              <a:xfrm rot="16200000">
                <a:off x="4306354" y="5175252"/>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0363925-8F2A-444A-B30E-D46FA0E9EDBF}"/>
                    </a:ext>
                  </a:extLst>
                </p:cNvPr>
                <p:cNvSpPr txBox="1"/>
                <p:nvPr/>
              </p:nvSpPr>
              <p:spPr>
                <a:xfrm>
                  <a:off x="5916155" y="6452060"/>
                  <a:ext cx="17857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𝐑𝐞𝐬𝐢𝐝𝐮𝐚𝐥</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𝐞𝐫𝐫𝐨𝐫</m:t>
                        </m:r>
                        <m:r>
                          <a:rPr lang="en-US" altLang="zh-TW" sz="1400" b="1" i="0" smtClean="0">
                            <a:latin typeface="Cambria Math" panose="02040503050406030204" pitchFamily="18" charset="0"/>
                          </a:rPr>
                          <m:t> </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𝒎𝑻</m:t>
                        </m:r>
                        <m:r>
                          <a:rPr lang="en-US" altLang="zh-TW" sz="1400" b="1" i="1" smtClean="0">
                            <a:latin typeface="Cambria Math" panose="02040503050406030204" pitchFamily="18" charset="0"/>
                          </a:rPr>
                          <m:t>) </m:t>
                        </m:r>
                      </m:oMath>
                    </m:oMathPara>
                  </a14:m>
                  <a:endParaRPr lang="zh-TW" altLang="en-US" b="1" dirty="0"/>
                </a:p>
              </p:txBody>
            </p:sp>
          </mc:Choice>
          <mc:Fallback xmlns="">
            <p:sp>
              <p:nvSpPr>
                <p:cNvPr id="20" name="文字方塊 19">
                  <a:extLst>
                    <a:ext uri="{FF2B5EF4-FFF2-40B4-BE49-F238E27FC236}">
                      <a16:creationId xmlns:a16="http://schemas.microsoft.com/office/drawing/2014/main" id="{50363925-8F2A-444A-B30E-D46FA0E9EDBF}"/>
                    </a:ext>
                  </a:extLst>
                </p:cNvPr>
                <p:cNvSpPr txBox="1">
                  <a:spLocks noRot="1" noChangeAspect="1" noMove="1" noResize="1" noEditPoints="1" noAdjustHandles="1" noChangeArrowheads="1" noChangeShapeType="1" noTextEdit="1"/>
                </p:cNvSpPr>
                <p:nvPr/>
              </p:nvSpPr>
              <p:spPr>
                <a:xfrm>
                  <a:off x="5916155" y="6452060"/>
                  <a:ext cx="1785745" cy="215444"/>
                </a:xfrm>
                <a:prstGeom prst="rect">
                  <a:avLst/>
                </a:prstGeom>
                <a:blipFill>
                  <a:blip r:embed="rId3"/>
                  <a:stretch>
                    <a:fillRect l="-2048" r="-683" b="-342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DD7F9B13-5874-474F-A23B-79E8F5C832AD}"/>
                    </a:ext>
                  </a:extLst>
                </p:cNvPr>
                <p:cNvSpPr txBox="1"/>
                <p:nvPr/>
              </p:nvSpPr>
              <p:spPr>
                <a:xfrm rot="16200000">
                  <a:off x="4236976" y="5089955"/>
                  <a:ext cx="13000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𝐏𝐞𝐫𝐜𝐞𝐧𝐭𝐚𝐠𝐞</m:t>
                        </m:r>
                        <m:r>
                          <a:rPr lang="en-US" altLang="zh-TW" sz="1400" b="0" i="1" smtClean="0">
                            <a:latin typeface="Cambria Math" panose="02040503050406030204" pitchFamily="18" charset="0"/>
                          </a:rPr>
                          <m:t>(%)</m:t>
                        </m:r>
                      </m:oMath>
                    </m:oMathPara>
                  </a14:m>
                  <a:endParaRPr lang="zh-TW" altLang="en-US" dirty="0"/>
                </a:p>
              </p:txBody>
            </p:sp>
          </mc:Choice>
          <mc:Fallback xmlns="">
            <p:sp>
              <p:nvSpPr>
                <p:cNvPr id="23" name="文字方塊 22">
                  <a:extLst>
                    <a:ext uri="{FF2B5EF4-FFF2-40B4-BE49-F238E27FC236}">
                      <a16:creationId xmlns:a16="http://schemas.microsoft.com/office/drawing/2014/main" id="{DD7F9B13-5874-474F-A23B-79E8F5C832AD}"/>
                    </a:ext>
                  </a:extLst>
                </p:cNvPr>
                <p:cNvSpPr txBox="1">
                  <a:spLocks noRot="1" noChangeAspect="1" noMove="1" noResize="1" noEditPoints="1" noAdjustHandles="1" noChangeArrowheads="1" noChangeShapeType="1" noTextEdit="1"/>
                </p:cNvSpPr>
                <p:nvPr/>
              </p:nvSpPr>
              <p:spPr>
                <a:xfrm rot="16200000">
                  <a:off x="4236976" y="5089955"/>
                  <a:ext cx="1300036" cy="215444"/>
                </a:xfrm>
                <a:prstGeom prst="rect">
                  <a:avLst/>
                </a:prstGeom>
                <a:blipFill>
                  <a:blip r:embed="rId4"/>
                  <a:stretch>
                    <a:fillRect t="-4225" r="-30556" b="-4225"/>
                  </a:stretch>
                </a:blipFill>
              </p:spPr>
              <p:txBody>
                <a:bodyPr/>
                <a:lstStyle/>
                <a:p>
                  <a:r>
                    <a:rPr lang="zh-TW" altLang="en-US">
                      <a:noFill/>
                    </a:rPr>
                    <a:t> </a:t>
                  </a:r>
                </a:p>
              </p:txBody>
            </p:sp>
          </mc:Fallback>
        </mc:AlternateContent>
      </p:grpSp>
      <p:grpSp>
        <p:nvGrpSpPr>
          <p:cNvPr id="17" name="群組 16">
            <a:extLst>
              <a:ext uri="{FF2B5EF4-FFF2-40B4-BE49-F238E27FC236}">
                <a16:creationId xmlns:a16="http://schemas.microsoft.com/office/drawing/2014/main" id="{A2A49265-CCBE-42F5-94A2-2F2C0C0FD46D}"/>
              </a:ext>
            </a:extLst>
          </p:cNvPr>
          <p:cNvGrpSpPr/>
          <p:nvPr/>
        </p:nvGrpSpPr>
        <p:grpSpPr>
          <a:xfrm>
            <a:off x="8648679" y="3887485"/>
            <a:ext cx="3422124" cy="2760132"/>
            <a:chOff x="8644843" y="3924306"/>
            <a:chExt cx="3422124" cy="2760132"/>
          </a:xfrm>
        </p:grpSpPr>
        <p:grpSp>
          <p:nvGrpSpPr>
            <p:cNvPr id="7" name="群組 6">
              <a:extLst>
                <a:ext uri="{FF2B5EF4-FFF2-40B4-BE49-F238E27FC236}">
                  <a16:creationId xmlns:a16="http://schemas.microsoft.com/office/drawing/2014/main" id="{0ECCE327-2724-4E25-BF80-605FD643F830}"/>
                </a:ext>
              </a:extLst>
            </p:cNvPr>
            <p:cNvGrpSpPr/>
            <p:nvPr/>
          </p:nvGrpSpPr>
          <p:grpSpPr>
            <a:xfrm>
              <a:off x="8660414" y="3924306"/>
              <a:ext cx="3406553" cy="2760132"/>
              <a:chOff x="8660414" y="3924306"/>
              <a:chExt cx="3406553" cy="2760132"/>
            </a:xfrm>
          </p:grpSpPr>
          <p:pic>
            <p:nvPicPr>
              <p:cNvPr id="8" name="圖片 7">
                <a:extLst>
                  <a:ext uri="{FF2B5EF4-FFF2-40B4-BE49-F238E27FC236}">
                    <a16:creationId xmlns:a16="http://schemas.microsoft.com/office/drawing/2014/main" id="{2576B27F-EF52-495F-A2BA-CE9D0D2FED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21798" y="3924306"/>
                <a:ext cx="3345169" cy="2743198"/>
              </a:xfrm>
              <a:prstGeom prst="rect">
                <a:avLst/>
              </a:prstGeom>
            </p:spPr>
          </p:pic>
          <p:sp>
            <p:nvSpPr>
              <p:cNvPr id="11" name="矩形 10">
                <a:extLst>
                  <a:ext uri="{FF2B5EF4-FFF2-40B4-BE49-F238E27FC236}">
                    <a16:creationId xmlns:a16="http://schemas.microsoft.com/office/drawing/2014/main" id="{69107882-E127-40F7-8D6C-6C5B6E90429E}"/>
                  </a:ext>
                </a:extLst>
              </p:cNvPr>
              <p:cNvSpPr/>
              <p:nvPr/>
            </p:nvSpPr>
            <p:spPr>
              <a:xfrm>
                <a:off x="9928158" y="6477001"/>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F63B150F-2E04-41E7-951A-2C5EECDD47FB}"/>
                  </a:ext>
                </a:extLst>
              </p:cNvPr>
              <p:cNvSpPr/>
              <p:nvPr/>
            </p:nvSpPr>
            <p:spPr>
              <a:xfrm rot="16200000">
                <a:off x="8162999" y="5183719"/>
                <a:ext cx="1202267" cy="2074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03A1A6E4-9935-40CF-AF4B-1908840637BD}"/>
                    </a:ext>
                  </a:extLst>
                </p:cNvPr>
                <p:cNvSpPr txBox="1"/>
                <p:nvPr/>
              </p:nvSpPr>
              <p:spPr>
                <a:xfrm>
                  <a:off x="9759382" y="6447831"/>
                  <a:ext cx="17857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𝐑𝐞𝐬𝐢𝐝𝐮𝐚𝐥</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𝐞𝐫𝐫𝐨𝐫</m:t>
                        </m:r>
                        <m:r>
                          <a:rPr lang="en-US" altLang="zh-TW" sz="1400" b="1" i="0" smtClean="0">
                            <a:latin typeface="Cambria Math" panose="02040503050406030204" pitchFamily="18" charset="0"/>
                          </a:rPr>
                          <m:t> </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𝒎𝑻</m:t>
                        </m:r>
                        <m:r>
                          <a:rPr lang="en-US" altLang="zh-TW" sz="1400" b="1" i="1" smtClean="0">
                            <a:latin typeface="Cambria Math" panose="02040503050406030204" pitchFamily="18" charset="0"/>
                          </a:rPr>
                          <m:t>) </m:t>
                        </m:r>
                      </m:oMath>
                    </m:oMathPara>
                  </a14:m>
                  <a:endParaRPr lang="zh-TW" altLang="en-US" b="1" dirty="0"/>
                </a:p>
              </p:txBody>
            </p:sp>
          </mc:Choice>
          <mc:Fallback xmlns="">
            <p:sp>
              <p:nvSpPr>
                <p:cNvPr id="21" name="文字方塊 20">
                  <a:extLst>
                    <a:ext uri="{FF2B5EF4-FFF2-40B4-BE49-F238E27FC236}">
                      <a16:creationId xmlns:a16="http://schemas.microsoft.com/office/drawing/2014/main" id="{03A1A6E4-9935-40CF-AF4B-1908840637BD}"/>
                    </a:ext>
                  </a:extLst>
                </p:cNvPr>
                <p:cNvSpPr txBox="1">
                  <a:spLocks noRot="1" noChangeAspect="1" noMove="1" noResize="1" noEditPoints="1" noAdjustHandles="1" noChangeArrowheads="1" noChangeShapeType="1" noTextEdit="1"/>
                </p:cNvSpPr>
                <p:nvPr/>
              </p:nvSpPr>
              <p:spPr>
                <a:xfrm>
                  <a:off x="9759382" y="6447831"/>
                  <a:ext cx="1785745" cy="215444"/>
                </a:xfrm>
                <a:prstGeom prst="rect">
                  <a:avLst/>
                </a:prstGeom>
                <a:blipFill>
                  <a:blip r:embed="rId7"/>
                  <a:stretch>
                    <a:fillRect l="-2048" r="-683" b="-3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6EE44BE7-4A95-4DD0-B6D7-F1D3F5FB0237}"/>
                    </a:ext>
                  </a:extLst>
                </p:cNvPr>
                <p:cNvSpPr txBox="1"/>
                <p:nvPr/>
              </p:nvSpPr>
              <p:spPr>
                <a:xfrm rot="16200000">
                  <a:off x="8102547" y="5169526"/>
                  <a:ext cx="13000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𝐏𝐞𝐫𝐜𝐞𝐧𝐭𝐚𝐠𝐞</m:t>
                        </m:r>
                        <m:r>
                          <a:rPr lang="en-US" altLang="zh-TW" sz="1400" b="0" i="1" smtClean="0">
                            <a:latin typeface="Cambria Math" panose="02040503050406030204" pitchFamily="18" charset="0"/>
                          </a:rPr>
                          <m:t>(%)</m:t>
                        </m:r>
                      </m:oMath>
                    </m:oMathPara>
                  </a14:m>
                  <a:endParaRPr lang="zh-TW" altLang="en-US" dirty="0"/>
                </a:p>
              </p:txBody>
            </p:sp>
          </mc:Choice>
          <mc:Fallback xmlns="">
            <p:sp>
              <p:nvSpPr>
                <p:cNvPr id="24" name="文字方塊 23">
                  <a:extLst>
                    <a:ext uri="{FF2B5EF4-FFF2-40B4-BE49-F238E27FC236}">
                      <a16:creationId xmlns:a16="http://schemas.microsoft.com/office/drawing/2014/main" id="{6EE44BE7-4A95-4DD0-B6D7-F1D3F5FB0237}"/>
                    </a:ext>
                  </a:extLst>
                </p:cNvPr>
                <p:cNvSpPr txBox="1">
                  <a:spLocks noRot="1" noChangeAspect="1" noMove="1" noResize="1" noEditPoints="1" noAdjustHandles="1" noChangeArrowheads="1" noChangeShapeType="1" noTextEdit="1"/>
                </p:cNvSpPr>
                <p:nvPr/>
              </p:nvSpPr>
              <p:spPr>
                <a:xfrm rot="16200000">
                  <a:off x="8102547" y="5169526"/>
                  <a:ext cx="1300036" cy="215444"/>
                </a:xfrm>
                <a:prstGeom prst="rect">
                  <a:avLst/>
                </a:prstGeom>
                <a:blipFill>
                  <a:blip r:embed="rId8"/>
                  <a:stretch>
                    <a:fillRect t="-4225" r="-31429" b="-4225"/>
                  </a:stretch>
                </a:blipFill>
              </p:spPr>
              <p:txBody>
                <a:bodyPr/>
                <a:lstStyle/>
                <a:p>
                  <a:r>
                    <a:rPr lang="zh-TW" altLang="en-US">
                      <a:noFill/>
                    </a:rPr>
                    <a:t> </a:t>
                  </a:r>
                </a:p>
              </p:txBody>
            </p:sp>
          </mc:Fallback>
        </mc:AlternateContent>
      </p:grpSp>
      <p:sp>
        <p:nvSpPr>
          <p:cNvPr id="38" name="文字方塊 37">
            <a:extLst>
              <a:ext uri="{FF2B5EF4-FFF2-40B4-BE49-F238E27FC236}">
                <a16:creationId xmlns:a16="http://schemas.microsoft.com/office/drawing/2014/main" id="{242ADC16-0937-45C1-A99F-F4B63E7FB005}"/>
              </a:ext>
            </a:extLst>
          </p:cNvPr>
          <p:cNvSpPr txBox="1"/>
          <p:nvPr/>
        </p:nvSpPr>
        <p:spPr>
          <a:xfrm>
            <a:off x="33373" y="555957"/>
            <a:ext cx="5291161" cy="6186309"/>
          </a:xfrm>
          <a:prstGeom prst="rect">
            <a:avLst/>
          </a:prstGeom>
          <a:noFill/>
        </p:spPr>
        <p:txBody>
          <a:bodyPr wrap="square">
            <a:spAutoFit/>
          </a:bodyPr>
          <a:lstStyle/>
          <a:p>
            <a:pPr marL="285750" indent="-285750">
              <a:buFont typeface="Arial" panose="020B0604020202020204" pitchFamily="34" charset="0"/>
              <a:buChar char="•"/>
            </a:pPr>
            <a:r>
              <a:rPr lang="zh-TW" altLang="en-US" dirty="0"/>
              <a:t>Calibrated with </a:t>
            </a:r>
            <a:r>
              <a:rPr lang="en-US" altLang="zh-TW" dirty="0"/>
              <a:t>528</a:t>
            </a:r>
            <a:r>
              <a:rPr lang="zh-TW" altLang="en-US" dirty="0"/>
              <a:t> sampling points，</a:t>
            </a:r>
            <a:r>
              <a:rPr lang="en-US" altLang="zh-TW" dirty="0"/>
              <a:t> and evaluated against the 1771 real  points inside the radius</a:t>
            </a:r>
            <a:r>
              <a:rPr lang="zh-TW" altLang="en-US" dirty="0"/>
              <a:t>(percentage on the vertical axis, residual in mT on the horizontal axis). The first is restricted to R ≤ 150 µm; the main peak falls between 0.15 and 0.30 with a right tail extending to 0.9, and the mean is 0.288 mT.</a:t>
            </a:r>
            <a:endParaRPr lang="en-US" altLang="zh-TW" dirty="0"/>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second histogram extends to R ≤ 300 µm; the main peak shifts right to about 0.5 with a long tail reaching 3 </a:t>
            </a:r>
            <a:r>
              <a:rPr lang="en-US" altLang="zh-TW" dirty="0" err="1"/>
              <a:t>mT</a:t>
            </a:r>
            <a:r>
              <a:rPr lang="en-US" altLang="zh-TW" dirty="0"/>
              <a:t>, and the mean is 0.632 </a:t>
            </a:r>
            <a:r>
              <a:rPr lang="en-US" altLang="zh-TW" dirty="0" err="1"/>
              <a:t>mT.</a:t>
            </a:r>
            <a:endParaRPr lang="en-US" altLang="zh-TW" dirty="0"/>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third histogram separates the two shells and overlays them: blue for R ≤ 150 µm (inner mean 0.286 </a:t>
            </a:r>
            <a:r>
              <a:rPr lang="en-US" altLang="zh-TW" dirty="0" err="1"/>
              <a:t>mT</a:t>
            </a:r>
            <a:r>
              <a:rPr lang="en-US" altLang="zh-TW" dirty="0"/>
              <a:t>) and red for 150 &lt; R ≤ 300 µm (outer mean 0.682 </a:t>
            </a:r>
            <a:r>
              <a:rPr lang="en-US" altLang="zh-TW" dirty="0" err="1"/>
              <a:t>mT</a:t>
            </a:r>
            <a:r>
              <a:rPr lang="en-US" altLang="zh-TW" dirty="0"/>
              <a:t>), with two dashed lines marking the respective means. The outer shell is not only shifted right as a whole but also noticeably broader. The large mean for R ≤ 300 µm is driven up by the outer shell; the inner region itself remains near 0.29, confirming that the error grows rapidly from the inside outward.</a:t>
            </a:r>
            <a:endParaRPr lang="zh-TW" altLang="en-US" dirty="0"/>
          </a:p>
        </p:txBody>
      </p:sp>
    </p:spTree>
    <p:extLst>
      <p:ext uri="{BB962C8B-B14F-4D97-AF65-F5344CB8AC3E}">
        <p14:creationId xmlns:p14="http://schemas.microsoft.com/office/powerpoint/2010/main" val="339775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31" name="群組 30">
            <a:extLst>
              <a:ext uri="{FF2B5EF4-FFF2-40B4-BE49-F238E27FC236}">
                <a16:creationId xmlns:a16="http://schemas.microsoft.com/office/drawing/2014/main" id="{BBADE46F-E69F-4BD4-A2EC-5F04304A1B7F}"/>
              </a:ext>
            </a:extLst>
          </p:cNvPr>
          <p:cNvGrpSpPr/>
          <p:nvPr/>
        </p:nvGrpSpPr>
        <p:grpSpPr>
          <a:xfrm>
            <a:off x="8411739" y="621620"/>
            <a:ext cx="3537300" cy="2835423"/>
            <a:chOff x="8411739" y="621620"/>
            <a:chExt cx="3537300" cy="2835423"/>
          </a:xfrm>
        </p:grpSpPr>
        <p:grpSp>
          <p:nvGrpSpPr>
            <p:cNvPr id="30" name="群組 29">
              <a:extLst>
                <a:ext uri="{FF2B5EF4-FFF2-40B4-BE49-F238E27FC236}">
                  <a16:creationId xmlns:a16="http://schemas.microsoft.com/office/drawing/2014/main" id="{EF58CD53-80A6-4556-B225-77D80C744D23}"/>
                </a:ext>
              </a:extLst>
            </p:cNvPr>
            <p:cNvGrpSpPr/>
            <p:nvPr/>
          </p:nvGrpSpPr>
          <p:grpSpPr>
            <a:xfrm>
              <a:off x="8460492" y="621620"/>
              <a:ext cx="3488547" cy="2789391"/>
              <a:chOff x="8460492" y="621620"/>
              <a:chExt cx="3488547" cy="2789391"/>
            </a:xfrm>
          </p:grpSpPr>
          <p:pic>
            <p:nvPicPr>
              <p:cNvPr id="28" name="圖片 27">
                <a:extLst>
                  <a:ext uri="{FF2B5EF4-FFF2-40B4-BE49-F238E27FC236}">
                    <a16:creationId xmlns:a16="http://schemas.microsoft.com/office/drawing/2014/main" id="{042D52C6-B225-4DF9-B212-4A23941EF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5704" y="621620"/>
                <a:ext cx="3473335" cy="2789391"/>
              </a:xfrm>
              <a:prstGeom prst="rect">
                <a:avLst/>
              </a:prstGeom>
            </p:spPr>
          </p:pic>
          <p:sp>
            <p:nvSpPr>
              <p:cNvPr id="34" name="矩形 33">
                <a:extLst>
                  <a:ext uri="{FF2B5EF4-FFF2-40B4-BE49-F238E27FC236}">
                    <a16:creationId xmlns:a16="http://schemas.microsoft.com/office/drawing/2014/main" id="{8659A643-E450-4CA6-88EB-0AE5D5F0627F}"/>
                  </a:ext>
                </a:extLst>
              </p:cNvPr>
              <p:cNvSpPr/>
              <p:nvPr/>
            </p:nvSpPr>
            <p:spPr>
              <a:xfrm>
                <a:off x="9702800" y="3234267"/>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CC076215-4C1E-4750-B734-07194AED0FD8}"/>
                  </a:ext>
                </a:extLst>
              </p:cNvPr>
              <p:cNvSpPr/>
              <p:nvPr/>
            </p:nvSpPr>
            <p:spPr>
              <a:xfrm rot="16200000">
                <a:off x="7955404" y="1829993"/>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02867522-04A5-42D3-BB4F-47F0FF031376}"/>
                    </a:ext>
                  </a:extLst>
                </p:cNvPr>
                <p:cNvSpPr txBox="1"/>
                <p:nvPr/>
              </p:nvSpPr>
              <p:spPr>
                <a:xfrm>
                  <a:off x="9618493" y="3241599"/>
                  <a:ext cx="17857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𝐑𝐞𝐬𝐢𝐝𝐮𝐚𝐥</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𝐞𝐫𝐫𝐨𝐫</m:t>
                        </m:r>
                        <m:r>
                          <a:rPr lang="en-US" altLang="zh-TW" sz="1400" b="1" i="0" smtClean="0">
                            <a:latin typeface="Cambria Math" panose="02040503050406030204" pitchFamily="18" charset="0"/>
                          </a:rPr>
                          <m:t> </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𝒎𝑻</m:t>
                        </m:r>
                        <m:r>
                          <a:rPr lang="en-US" altLang="zh-TW" sz="1400" b="1" i="1" smtClean="0">
                            <a:latin typeface="Cambria Math" panose="02040503050406030204" pitchFamily="18" charset="0"/>
                          </a:rPr>
                          <m:t>) </m:t>
                        </m:r>
                      </m:oMath>
                    </m:oMathPara>
                  </a14:m>
                  <a:endParaRPr lang="zh-TW" altLang="en-US" b="1" dirty="0"/>
                </a:p>
              </p:txBody>
            </p:sp>
          </mc:Choice>
          <mc:Fallback xmlns="">
            <p:sp>
              <p:nvSpPr>
                <p:cNvPr id="41" name="文字方塊 40">
                  <a:extLst>
                    <a:ext uri="{FF2B5EF4-FFF2-40B4-BE49-F238E27FC236}">
                      <a16:creationId xmlns:a16="http://schemas.microsoft.com/office/drawing/2014/main" id="{02867522-04A5-42D3-BB4F-47F0FF031376}"/>
                    </a:ext>
                  </a:extLst>
                </p:cNvPr>
                <p:cNvSpPr txBox="1">
                  <a:spLocks noRot="1" noChangeAspect="1" noMove="1" noResize="1" noEditPoints="1" noAdjustHandles="1" noChangeArrowheads="1" noChangeShapeType="1" noTextEdit="1"/>
                </p:cNvSpPr>
                <p:nvPr/>
              </p:nvSpPr>
              <p:spPr>
                <a:xfrm>
                  <a:off x="9618493" y="3241599"/>
                  <a:ext cx="1785745" cy="215444"/>
                </a:xfrm>
                <a:prstGeom prst="rect">
                  <a:avLst/>
                </a:prstGeom>
                <a:blipFill>
                  <a:blip r:embed="rId3"/>
                  <a:stretch>
                    <a:fillRect l="-2048" r="-683" b="-3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A1AA19C0-C7B6-479A-972F-14B3CD2E3BDD}"/>
                    </a:ext>
                  </a:extLst>
                </p:cNvPr>
                <p:cNvSpPr txBox="1"/>
                <p:nvPr/>
              </p:nvSpPr>
              <p:spPr>
                <a:xfrm rot="16200000">
                  <a:off x="7869443" y="1805616"/>
                  <a:ext cx="13000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𝐏𝐞𝐫𝐜𝐞𝐧𝐭𝐚𝐠𝐞</m:t>
                        </m:r>
                        <m:r>
                          <a:rPr lang="en-US" altLang="zh-TW" sz="1400" b="0" i="1" smtClean="0">
                            <a:latin typeface="Cambria Math" panose="02040503050406030204" pitchFamily="18" charset="0"/>
                          </a:rPr>
                          <m:t>(%)</m:t>
                        </m:r>
                      </m:oMath>
                    </m:oMathPara>
                  </a14:m>
                  <a:endParaRPr lang="zh-TW" altLang="en-US" dirty="0"/>
                </a:p>
              </p:txBody>
            </p:sp>
          </mc:Choice>
          <mc:Fallback xmlns="">
            <p:sp>
              <p:nvSpPr>
                <p:cNvPr id="45" name="文字方塊 44">
                  <a:extLst>
                    <a:ext uri="{FF2B5EF4-FFF2-40B4-BE49-F238E27FC236}">
                      <a16:creationId xmlns:a16="http://schemas.microsoft.com/office/drawing/2014/main" id="{A1AA19C0-C7B6-479A-972F-14B3CD2E3BDD}"/>
                    </a:ext>
                  </a:extLst>
                </p:cNvPr>
                <p:cNvSpPr txBox="1">
                  <a:spLocks noRot="1" noChangeAspect="1" noMove="1" noResize="1" noEditPoints="1" noAdjustHandles="1" noChangeArrowheads="1" noChangeShapeType="1" noTextEdit="1"/>
                </p:cNvSpPr>
                <p:nvPr/>
              </p:nvSpPr>
              <p:spPr>
                <a:xfrm rot="16200000">
                  <a:off x="7869443" y="1805616"/>
                  <a:ext cx="1300036" cy="215444"/>
                </a:xfrm>
                <a:prstGeom prst="rect">
                  <a:avLst/>
                </a:prstGeom>
                <a:blipFill>
                  <a:blip r:embed="rId4"/>
                  <a:stretch>
                    <a:fillRect t="-4225" r="-31429" b="-4225"/>
                  </a:stretch>
                </a:blipFill>
              </p:spPr>
              <p:txBody>
                <a:bodyPr/>
                <a:lstStyle/>
                <a:p>
                  <a:r>
                    <a:rPr lang="zh-TW" altLang="en-US">
                      <a:noFill/>
                    </a:rPr>
                    <a:t> </a:t>
                  </a:r>
                </a:p>
              </p:txBody>
            </p:sp>
          </mc:Fallback>
        </mc:AlternateContent>
      </p:grpSp>
      <p:grpSp>
        <p:nvGrpSpPr>
          <p:cNvPr id="51" name="群組 50">
            <a:extLst>
              <a:ext uri="{FF2B5EF4-FFF2-40B4-BE49-F238E27FC236}">
                <a16:creationId xmlns:a16="http://schemas.microsoft.com/office/drawing/2014/main" id="{379C03A4-7CEA-46A1-9C47-5550EE55B831}"/>
              </a:ext>
            </a:extLst>
          </p:cNvPr>
          <p:cNvGrpSpPr/>
          <p:nvPr/>
        </p:nvGrpSpPr>
        <p:grpSpPr>
          <a:xfrm>
            <a:off x="5169038" y="3514930"/>
            <a:ext cx="3492672" cy="2802467"/>
            <a:chOff x="5051166" y="3765024"/>
            <a:chExt cx="3492672" cy="2802467"/>
          </a:xfrm>
        </p:grpSpPr>
        <p:grpSp>
          <p:nvGrpSpPr>
            <p:cNvPr id="48" name="群組 47">
              <a:extLst>
                <a:ext uri="{FF2B5EF4-FFF2-40B4-BE49-F238E27FC236}">
                  <a16:creationId xmlns:a16="http://schemas.microsoft.com/office/drawing/2014/main" id="{5ACB6960-FC45-4114-864E-278EC737EDA5}"/>
                </a:ext>
              </a:extLst>
            </p:cNvPr>
            <p:cNvGrpSpPr/>
            <p:nvPr/>
          </p:nvGrpSpPr>
          <p:grpSpPr>
            <a:xfrm>
              <a:off x="5081661" y="3765024"/>
              <a:ext cx="3462177" cy="2802467"/>
              <a:chOff x="5081661" y="3765024"/>
              <a:chExt cx="3462177" cy="2802467"/>
            </a:xfrm>
          </p:grpSpPr>
          <p:pic>
            <p:nvPicPr>
              <p:cNvPr id="19" name="圖片 18">
                <a:extLst>
                  <a:ext uri="{FF2B5EF4-FFF2-40B4-BE49-F238E27FC236}">
                    <a16:creationId xmlns:a16="http://schemas.microsoft.com/office/drawing/2014/main" id="{4872F312-8655-4A90-B8BB-5B190AD322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90128" y="3765024"/>
                <a:ext cx="3453710" cy="2802467"/>
              </a:xfrm>
              <a:prstGeom prst="rect">
                <a:avLst/>
              </a:prstGeom>
            </p:spPr>
          </p:pic>
          <p:sp>
            <p:nvSpPr>
              <p:cNvPr id="29" name="矩形 28">
                <a:extLst>
                  <a:ext uri="{FF2B5EF4-FFF2-40B4-BE49-F238E27FC236}">
                    <a16:creationId xmlns:a16="http://schemas.microsoft.com/office/drawing/2014/main" id="{92A31668-FB28-4C95-812C-DB7F1EB8BE57}"/>
                  </a:ext>
                </a:extLst>
              </p:cNvPr>
              <p:cNvSpPr/>
              <p:nvPr/>
            </p:nvSpPr>
            <p:spPr>
              <a:xfrm>
                <a:off x="6392333" y="6400800"/>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682A9A06-9735-454E-86DD-BA02EE11262A}"/>
                  </a:ext>
                </a:extLst>
              </p:cNvPr>
              <p:cNvSpPr/>
              <p:nvPr/>
            </p:nvSpPr>
            <p:spPr>
              <a:xfrm rot="16200000">
                <a:off x="4576573" y="5020733"/>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52A71B24-4408-480B-9D9B-F10E29451427}"/>
                    </a:ext>
                  </a:extLst>
                </p:cNvPr>
                <p:cNvSpPr txBox="1"/>
                <p:nvPr/>
              </p:nvSpPr>
              <p:spPr>
                <a:xfrm>
                  <a:off x="6297145" y="6330610"/>
                  <a:ext cx="17857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𝐑𝐞𝐬𝐢𝐝𝐮𝐚𝐥</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𝐞𝐫𝐫𝐨𝐫</m:t>
                        </m:r>
                        <m:r>
                          <a:rPr lang="en-US" altLang="zh-TW" sz="1400" b="1" i="0" smtClean="0">
                            <a:latin typeface="Cambria Math" panose="02040503050406030204" pitchFamily="18" charset="0"/>
                          </a:rPr>
                          <m:t> </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𝒎𝑻</m:t>
                        </m:r>
                        <m:r>
                          <a:rPr lang="en-US" altLang="zh-TW" sz="1400" b="1" i="1" smtClean="0">
                            <a:latin typeface="Cambria Math" panose="02040503050406030204" pitchFamily="18" charset="0"/>
                          </a:rPr>
                          <m:t>) </m:t>
                        </m:r>
                      </m:oMath>
                    </m:oMathPara>
                  </a14:m>
                  <a:endParaRPr lang="zh-TW" altLang="en-US" b="1" dirty="0"/>
                </a:p>
              </p:txBody>
            </p:sp>
          </mc:Choice>
          <mc:Fallback xmlns="">
            <p:sp>
              <p:nvSpPr>
                <p:cNvPr id="43" name="文字方塊 42">
                  <a:extLst>
                    <a:ext uri="{FF2B5EF4-FFF2-40B4-BE49-F238E27FC236}">
                      <a16:creationId xmlns:a16="http://schemas.microsoft.com/office/drawing/2014/main" id="{52A71B24-4408-480B-9D9B-F10E29451427}"/>
                    </a:ext>
                  </a:extLst>
                </p:cNvPr>
                <p:cNvSpPr txBox="1">
                  <a:spLocks noRot="1" noChangeAspect="1" noMove="1" noResize="1" noEditPoints="1" noAdjustHandles="1" noChangeArrowheads="1" noChangeShapeType="1" noTextEdit="1"/>
                </p:cNvSpPr>
                <p:nvPr/>
              </p:nvSpPr>
              <p:spPr>
                <a:xfrm>
                  <a:off x="6297145" y="6330610"/>
                  <a:ext cx="1785745" cy="215444"/>
                </a:xfrm>
                <a:prstGeom prst="rect">
                  <a:avLst/>
                </a:prstGeom>
                <a:blipFill>
                  <a:blip r:embed="rId6"/>
                  <a:stretch>
                    <a:fillRect l="-2048" r="-683" b="-3055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6" name="文字方塊 45">
                  <a:extLst>
                    <a:ext uri="{FF2B5EF4-FFF2-40B4-BE49-F238E27FC236}">
                      <a16:creationId xmlns:a16="http://schemas.microsoft.com/office/drawing/2014/main" id="{B447251C-E5FE-4084-9E4B-A8D9F46ECEDC}"/>
                    </a:ext>
                  </a:extLst>
                </p:cNvPr>
                <p:cNvSpPr txBox="1"/>
                <p:nvPr/>
              </p:nvSpPr>
              <p:spPr>
                <a:xfrm rot="16200000">
                  <a:off x="4508870" y="4934772"/>
                  <a:ext cx="13000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𝐏𝐞𝐫𝐜𝐞𝐧𝐭𝐚𝐠𝐞</m:t>
                        </m:r>
                        <m:r>
                          <a:rPr lang="en-US" altLang="zh-TW" sz="1400" b="0" i="1" smtClean="0">
                            <a:latin typeface="Cambria Math" panose="02040503050406030204" pitchFamily="18" charset="0"/>
                          </a:rPr>
                          <m:t>(%)</m:t>
                        </m:r>
                      </m:oMath>
                    </m:oMathPara>
                  </a14:m>
                  <a:endParaRPr lang="zh-TW" altLang="en-US" dirty="0"/>
                </a:p>
              </p:txBody>
            </p:sp>
          </mc:Choice>
          <mc:Fallback>
            <p:sp>
              <p:nvSpPr>
                <p:cNvPr id="46" name="文字方塊 45">
                  <a:extLst>
                    <a:ext uri="{FF2B5EF4-FFF2-40B4-BE49-F238E27FC236}">
                      <a16:creationId xmlns:a16="http://schemas.microsoft.com/office/drawing/2014/main" id="{B447251C-E5FE-4084-9E4B-A8D9F46ECEDC}"/>
                    </a:ext>
                  </a:extLst>
                </p:cNvPr>
                <p:cNvSpPr txBox="1">
                  <a:spLocks noRot="1" noChangeAspect="1" noMove="1" noResize="1" noEditPoints="1" noAdjustHandles="1" noChangeArrowheads="1" noChangeShapeType="1" noTextEdit="1"/>
                </p:cNvSpPr>
                <p:nvPr/>
              </p:nvSpPr>
              <p:spPr>
                <a:xfrm rot="16200000">
                  <a:off x="4508870" y="4934772"/>
                  <a:ext cx="1300036" cy="215444"/>
                </a:xfrm>
                <a:prstGeom prst="rect">
                  <a:avLst/>
                </a:prstGeom>
                <a:blipFill>
                  <a:blip r:embed="rId7"/>
                  <a:stretch>
                    <a:fillRect t="-4695" r="-31429" b="-4225"/>
                  </a:stretch>
                </a:blipFill>
              </p:spPr>
              <p:txBody>
                <a:bodyPr/>
                <a:lstStyle/>
                <a:p>
                  <a:r>
                    <a:rPr lang="zh-TW" altLang="en-US">
                      <a:noFill/>
                    </a:rPr>
                    <a:t> </a:t>
                  </a:r>
                </a:p>
              </p:txBody>
            </p:sp>
          </mc:Fallback>
        </mc:AlternateContent>
      </p:grpSp>
      <p:grpSp>
        <p:nvGrpSpPr>
          <p:cNvPr id="50" name="群組 49">
            <a:extLst>
              <a:ext uri="{FF2B5EF4-FFF2-40B4-BE49-F238E27FC236}">
                <a16:creationId xmlns:a16="http://schemas.microsoft.com/office/drawing/2014/main" id="{C43A2045-BB8A-42DC-B707-F46A9D9BF585}"/>
              </a:ext>
            </a:extLst>
          </p:cNvPr>
          <p:cNvGrpSpPr/>
          <p:nvPr/>
        </p:nvGrpSpPr>
        <p:grpSpPr>
          <a:xfrm>
            <a:off x="8671738" y="3514930"/>
            <a:ext cx="3386509" cy="2864376"/>
            <a:chOff x="8627183" y="3765024"/>
            <a:chExt cx="3386509" cy="2864376"/>
          </a:xfrm>
        </p:grpSpPr>
        <p:grpSp>
          <p:nvGrpSpPr>
            <p:cNvPr id="49" name="群組 48">
              <a:extLst>
                <a:ext uri="{FF2B5EF4-FFF2-40B4-BE49-F238E27FC236}">
                  <a16:creationId xmlns:a16="http://schemas.microsoft.com/office/drawing/2014/main" id="{02B5EDF8-4D75-478E-A7CD-C639DE642D17}"/>
                </a:ext>
              </a:extLst>
            </p:cNvPr>
            <p:cNvGrpSpPr/>
            <p:nvPr/>
          </p:nvGrpSpPr>
          <p:grpSpPr>
            <a:xfrm>
              <a:off x="8696238" y="3765024"/>
              <a:ext cx="3317454" cy="2864376"/>
              <a:chOff x="8696238" y="3765024"/>
              <a:chExt cx="3317454" cy="2864376"/>
            </a:xfrm>
          </p:grpSpPr>
          <p:pic>
            <p:nvPicPr>
              <p:cNvPr id="26" name="圖片 25">
                <a:extLst>
                  <a:ext uri="{FF2B5EF4-FFF2-40B4-BE49-F238E27FC236}">
                    <a16:creationId xmlns:a16="http://schemas.microsoft.com/office/drawing/2014/main" id="{A7F7C205-46BC-48B4-948E-F3ECE1487C6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96238" y="3765024"/>
                <a:ext cx="3317454" cy="2864376"/>
              </a:xfrm>
              <a:prstGeom prst="rect">
                <a:avLst/>
              </a:prstGeom>
            </p:spPr>
          </p:pic>
          <p:sp>
            <p:nvSpPr>
              <p:cNvPr id="33" name="矩形 32">
                <a:extLst>
                  <a:ext uri="{FF2B5EF4-FFF2-40B4-BE49-F238E27FC236}">
                    <a16:creationId xmlns:a16="http://schemas.microsoft.com/office/drawing/2014/main" id="{D5719D09-5563-4A49-BA71-C93BB1D49C48}"/>
                  </a:ext>
                </a:extLst>
              </p:cNvPr>
              <p:cNvSpPr/>
              <p:nvPr/>
            </p:nvSpPr>
            <p:spPr>
              <a:xfrm>
                <a:off x="9922933" y="6462709"/>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a:extLst>
                  <a:ext uri="{FF2B5EF4-FFF2-40B4-BE49-F238E27FC236}">
                    <a16:creationId xmlns:a16="http://schemas.microsoft.com/office/drawing/2014/main" id="{0D2E7FEC-AE8C-43C2-887D-07FD31527366}"/>
                  </a:ext>
                </a:extLst>
              </p:cNvPr>
              <p:cNvSpPr/>
              <p:nvPr/>
            </p:nvSpPr>
            <p:spPr>
              <a:xfrm rot="16200000">
                <a:off x="8191150" y="5082911"/>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CED52F66-641C-49B7-B5EF-3ADC2EAD8FE7}"/>
                    </a:ext>
                  </a:extLst>
                </p:cNvPr>
                <p:cNvSpPr txBox="1"/>
                <p:nvPr/>
              </p:nvSpPr>
              <p:spPr>
                <a:xfrm>
                  <a:off x="9846043" y="6400800"/>
                  <a:ext cx="17857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𝐑𝐞𝐬𝐢𝐝𝐮𝐚𝐥</m:t>
                        </m:r>
                        <m:r>
                          <a:rPr lang="en-US" altLang="zh-TW" sz="1400" b="1" i="0" smtClean="0">
                            <a:latin typeface="Cambria Math" panose="02040503050406030204" pitchFamily="18" charset="0"/>
                          </a:rPr>
                          <m:t> </m:t>
                        </m:r>
                        <m:r>
                          <a:rPr lang="en-US" altLang="zh-TW" sz="1400" b="1" i="0" smtClean="0">
                            <a:latin typeface="Cambria Math" panose="02040503050406030204" pitchFamily="18" charset="0"/>
                          </a:rPr>
                          <m:t>𝐞𝐫𝐫𝐨𝐫</m:t>
                        </m:r>
                        <m:r>
                          <a:rPr lang="en-US" altLang="zh-TW" sz="1400" b="1" i="0" smtClean="0">
                            <a:latin typeface="Cambria Math" panose="02040503050406030204" pitchFamily="18" charset="0"/>
                          </a:rPr>
                          <m:t> </m:t>
                        </m:r>
                        <m:r>
                          <a:rPr lang="en-US" altLang="zh-TW" sz="1400" b="1" i="1" smtClean="0">
                            <a:latin typeface="Cambria Math" panose="02040503050406030204" pitchFamily="18" charset="0"/>
                          </a:rPr>
                          <m:t>(</m:t>
                        </m:r>
                        <m:r>
                          <a:rPr lang="en-US" altLang="zh-TW" sz="1400" b="1" i="1" smtClean="0">
                            <a:latin typeface="Cambria Math" panose="02040503050406030204" pitchFamily="18" charset="0"/>
                          </a:rPr>
                          <m:t>𝒎𝑻</m:t>
                        </m:r>
                        <m:r>
                          <a:rPr lang="en-US" altLang="zh-TW" sz="1400" b="1" i="1" smtClean="0">
                            <a:latin typeface="Cambria Math" panose="02040503050406030204" pitchFamily="18" charset="0"/>
                          </a:rPr>
                          <m:t>) </m:t>
                        </m:r>
                      </m:oMath>
                    </m:oMathPara>
                  </a14:m>
                  <a:endParaRPr lang="zh-TW" altLang="en-US" b="1" dirty="0"/>
                </a:p>
              </p:txBody>
            </p:sp>
          </mc:Choice>
          <mc:Fallback xmlns="">
            <p:sp>
              <p:nvSpPr>
                <p:cNvPr id="42" name="文字方塊 41">
                  <a:extLst>
                    <a:ext uri="{FF2B5EF4-FFF2-40B4-BE49-F238E27FC236}">
                      <a16:creationId xmlns:a16="http://schemas.microsoft.com/office/drawing/2014/main" id="{CED52F66-641C-49B7-B5EF-3ADC2EAD8FE7}"/>
                    </a:ext>
                  </a:extLst>
                </p:cNvPr>
                <p:cNvSpPr txBox="1">
                  <a:spLocks noRot="1" noChangeAspect="1" noMove="1" noResize="1" noEditPoints="1" noAdjustHandles="1" noChangeArrowheads="1" noChangeShapeType="1" noTextEdit="1"/>
                </p:cNvSpPr>
                <p:nvPr/>
              </p:nvSpPr>
              <p:spPr>
                <a:xfrm>
                  <a:off x="9846043" y="6400800"/>
                  <a:ext cx="1785745" cy="215444"/>
                </a:xfrm>
                <a:prstGeom prst="rect">
                  <a:avLst/>
                </a:prstGeom>
                <a:blipFill>
                  <a:blip r:embed="rId9"/>
                  <a:stretch>
                    <a:fillRect l="-2048" r="-1024" b="-3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A1A56FDF-7B32-4CF2-B541-989670EEDBF8}"/>
                    </a:ext>
                  </a:extLst>
                </p:cNvPr>
                <p:cNvSpPr txBox="1"/>
                <p:nvPr/>
              </p:nvSpPr>
              <p:spPr>
                <a:xfrm rot="16200000">
                  <a:off x="8084887" y="5005418"/>
                  <a:ext cx="13000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0" smtClean="0">
                            <a:latin typeface="Cambria Math" panose="02040503050406030204" pitchFamily="18" charset="0"/>
                          </a:rPr>
                          <m:t>𝐏𝐞𝐫𝐜𝐞𝐧𝐭𝐚𝐠𝐞</m:t>
                        </m:r>
                        <m:r>
                          <a:rPr lang="en-US" altLang="zh-TW" sz="1400" b="0" i="1" smtClean="0">
                            <a:latin typeface="Cambria Math" panose="02040503050406030204" pitchFamily="18" charset="0"/>
                          </a:rPr>
                          <m:t>(%)</m:t>
                        </m:r>
                      </m:oMath>
                    </m:oMathPara>
                  </a14:m>
                  <a:endParaRPr lang="zh-TW" altLang="en-US" dirty="0"/>
                </a:p>
              </p:txBody>
            </p:sp>
          </mc:Choice>
          <mc:Fallback xmlns="">
            <p:sp>
              <p:nvSpPr>
                <p:cNvPr id="47" name="文字方塊 46">
                  <a:extLst>
                    <a:ext uri="{FF2B5EF4-FFF2-40B4-BE49-F238E27FC236}">
                      <a16:creationId xmlns:a16="http://schemas.microsoft.com/office/drawing/2014/main" id="{A1A56FDF-7B32-4CF2-B541-989670EEDBF8}"/>
                    </a:ext>
                  </a:extLst>
                </p:cNvPr>
                <p:cNvSpPr txBox="1">
                  <a:spLocks noRot="1" noChangeAspect="1" noMove="1" noResize="1" noEditPoints="1" noAdjustHandles="1" noChangeArrowheads="1" noChangeShapeType="1" noTextEdit="1"/>
                </p:cNvSpPr>
                <p:nvPr/>
              </p:nvSpPr>
              <p:spPr>
                <a:xfrm rot="16200000">
                  <a:off x="8084887" y="5005418"/>
                  <a:ext cx="1300036" cy="215444"/>
                </a:xfrm>
                <a:prstGeom prst="rect">
                  <a:avLst/>
                </a:prstGeom>
                <a:blipFill>
                  <a:blip r:embed="rId10"/>
                  <a:stretch>
                    <a:fillRect t="-4225" r="-30556" b="-4225"/>
                  </a:stretch>
                </a:blipFill>
              </p:spPr>
              <p:txBody>
                <a:bodyPr/>
                <a:lstStyle/>
                <a:p>
                  <a:r>
                    <a:rPr lang="zh-TW" altLang="en-US">
                      <a:noFill/>
                    </a:rPr>
                    <a:t> </a:t>
                  </a:r>
                </a:p>
              </p:txBody>
            </p:sp>
          </mc:Fallback>
        </mc:AlternateContent>
      </p:grpSp>
      <p:sp>
        <p:nvSpPr>
          <p:cNvPr id="27" name="文字方塊 26">
            <a:extLst>
              <a:ext uri="{FF2B5EF4-FFF2-40B4-BE49-F238E27FC236}">
                <a16:creationId xmlns:a16="http://schemas.microsoft.com/office/drawing/2014/main" id="{FE54FCE1-819D-4E48-BB7F-611A7003CB69}"/>
              </a:ext>
            </a:extLst>
          </p:cNvPr>
          <p:cNvSpPr txBox="1"/>
          <p:nvPr/>
        </p:nvSpPr>
        <p:spPr>
          <a:xfrm>
            <a:off x="82953" y="676706"/>
            <a:ext cx="5221686" cy="5909310"/>
          </a:xfrm>
          <a:prstGeom prst="rect">
            <a:avLst/>
          </a:prstGeom>
          <a:noFill/>
        </p:spPr>
        <p:txBody>
          <a:bodyPr wrap="square">
            <a:spAutoFit/>
          </a:bodyPr>
          <a:lstStyle/>
          <a:p>
            <a:pPr marL="285750" indent="-285750">
              <a:buFont typeface="Arial" panose="020B0604020202020204" pitchFamily="34" charset="0"/>
              <a:buChar char="•"/>
            </a:pPr>
            <a:r>
              <a:rPr lang="zh-TW" altLang="en-US" dirty="0"/>
              <a:t>Calibrated with 80 sampling points，</a:t>
            </a:r>
            <a:r>
              <a:rPr lang="en-US" altLang="zh-TW" dirty="0"/>
              <a:t> and evaluated against the 1771 real  points inside the radius, The distribution peaks near 0.02 </a:t>
            </a:r>
            <a:r>
              <a:rPr lang="en-US" altLang="zh-TW" dirty="0" err="1"/>
              <a:t>mT</a:t>
            </a:r>
            <a:r>
              <a:rPr lang="en-US" altLang="zh-TW" dirty="0"/>
              <a:t> with a tail reaching 0.11 </a:t>
            </a:r>
            <a:r>
              <a:rPr lang="en-US" altLang="zh-TW" dirty="0" err="1"/>
              <a:t>mT</a:t>
            </a:r>
            <a:r>
              <a:rPr lang="en-US" altLang="zh-TW" dirty="0"/>
              <a:t>, and the mean is 0.028 </a:t>
            </a:r>
            <a:r>
              <a:rPr lang="en-US" altLang="zh-TW" dirty="0" err="1"/>
              <a:t>mT.</a:t>
            </a:r>
            <a:endParaRPr lang="en-US" altLang="zh-TW" dirty="0"/>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When the calibration radius is enlarged to 300 µm</a:t>
            </a:r>
            <a:r>
              <a:rPr lang="zh-TW" altLang="en-US" dirty="0"/>
              <a:t>，</a:t>
            </a:r>
            <a:r>
              <a:rPr lang="en-US" altLang="zh-TW" dirty="0"/>
              <a:t> evaluated against 14082 real grid points The distribution peaks near 0.07 </a:t>
            </a:r>
            <a:r>
              <a:rPr lang="en-US" altLang="zh-TW" dirty="0" err="1"/>
              <a:t>mT</a:t>
            </a:r>
            <a:r>
              <a:rPr lang="en-US" altLang="zh-TW" dirty="0"/>
              <a:t> with a long tail out to 1.90 </a:t>
            </a:r>
            <a:r>
              <a:rPr lang="en-US" altLang="zh-TW" dirty="0" err="1"/>
              <a:t>mT</a:t>
            </a:r>
            <a:r>
              <a:rPr lang="en-US" altLang="zh-TW" dirty="0"/>
              <a:t>, and the mean is 0.181 </a:t>
            </a:r>
            <a:r>
              <a:rPr lang="en-US" altLang="zh-TW" dirty="0" err="1"/>
              <a:t>mT.</a:t>
            </a:r>
            <a:endParaRPr lang="en-US" altLang="zh-TW" dirty="0"/>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residuals of the previous figure are split by grid-point radius into two overlaid</a:t>
            </a:r>
            <a:r>
              <a:rPr lang="zh-TW" altLang="en-US" dirty="0"/>
              <a:t>，</a:t>
            </a:r>
            <a:r>
              <a:rPr lang="en-US" altLang="zh-TW" dirty="0"/>
              <a:t> The outer shell mean is 4.6 times the inner one, so the 0.181 </a:t>
            </a:r>
            <a:r>
              <a:rPr lang="en-US" altLang="zh-TW" dirty="0" err="1"/>
              <a:t>mT</a:t>
            </a:r>
            <a:r>
              <a:rPr lang="en-US" altLang="zh-TW" dirty="0"/>
              <a:t> of the previous figure is almost entirely set </a:t>
            </a:r>
            <a:r>
              <a:rPr lang="en-US" altLang="zh-TW" dirty="0" err="1"/>
              <a:t>bythe</a:t>
            </a:r>
            <a:r>
              <a:rPr lang="en-US" altLang="zh-TW" dirty="0"/>
              <a:t> outer shell. More importantly, for the very  same inner region the mean residual rises from 0.028 </a:t>
            </a:r>
            <a:r>
              <a:rPr lang="en-US" altLang="zh-TW" dirty="0" err="1"/>
              <a:t>mT</a:t>
            </a:r>
            <a:r>
              <a:rPr lang="en-US" altLang="zh-TW" dirty="0"/>
              <a:t> when calibrating at 150 µm to 0.044 </a:t>
            </a:r>
            <a:r>
              <a:rPr lang="en-US" altLang="zh-TW" dirty="0" err="1"/>
              <a:t>mT</a:t>
            </a:r>
            <a:r>
              <a:rPr lang="en-US" altLang="zh-TW" dirty="0"/>
              <a:t> when calibrating at 300 µm, an increase of 57%  enlarging the calibration range costs accuracy in the inner region, because the fit is pulled by the large residuals of the outer shell.</a:t>
            </a:r>
            <a:endParaRPr lang="zh-TW" altLang="en-US" dirty="0"/>
          </a:p>
        </p:txBody>
      </p:sp>
    </p:spTree>
    <p:extLst>
      <p:ext uri="{BB962C8B-B14F-4D97-AF65-F5344CB8AC3E}">
        <p14:creationId xmlns:p14="http://schemas.microsoft.com/office/powerpoint/2010/main" val="3056572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5420171" y="1337731"/>
                <a:ext cx="6585562" cy="25416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Sampling range:</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5420171" y="1337731"/>
                <a:ext cx="6585562" cy="2541658"/>
              </a:xfrm>
              <a:prstGeom prst="rect">
                <a:avLst/>
              </a:prstGeom>
              <a:blipFill>
                <a:blip r:embed="rId3"/>
                <a:stretch>
                  <a:fillRect l="-556" b="-2878"/>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885538DE-B8FD-40A3-B3DF-94CECE0AE005}"/>
              </a:ext>
            </a:extLst>
          </p:cNvPr>
          <p:cNvGrpSpPr/>
          <p:nvPr/>
        </p:nvGrpSpPr>
        <p:grpSpPr>
          <a:xfrm>
            <a:off x="412046" y="922869"/>
            <a:ext cx="4758497" cy="3897469"/>
            <a:chOff x="412046" y="922869"/>
            <a:chExt cx="4758497" cy="3897469"/>
          </a:xfrm>
        </p:grpSpPr>
        <p:grpSp>
          <p:nvGrpSpPr>
            <p:cNvPr id="6" name="群組 5">
              <a:extLst>
                <a:ext uri="{FF2B5EF4-FFF2-40B4-BE49-F238E27FC236}">
                  <a16:creationId xmlns:a16="http://schemas.microsoft.com/office/drawing/2014/main" id="{204A2E2A-E217-4B63-B9CE-16D46BBE2CC3}"/>
                </a:ext>
              </a:extLst>
            </p:cNvPr>
            <p:cNvGrpSpPr/>
            <p:nvPr/>
          </p:nvGrpSpPr>
          <p:grpSpPr>
            <a:xfrm>
              <a:off x="427436" y="922869"/>
              <a:ext cx="4743107" cy="3897469"/>
              <a:chOff x="427436" y="922869"/>
              <a:chExt cx="4743107" cy="3897469"/>
            </a:xfrm>
          </p:grpSpPr>
          <p:pic>
            <p:nvPicPr>
              <p:cNvPr id="5" name="圖片 4">
                <a:extLst>
                  <a:ext uri="{FF2B5EF4-FFF2-40B4-BE49-F238E27FC236}">
                    <a16:creationId xmlns:a16="http://schemas.microsoft.com/office/drawing/2014/main" id="{11351E0C-FB52-4996-A6E6-F633A5155A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718" y="922869"/>
                <a:ext cx="4702825" cy="3897469"/>
              </a:xfrm>
              <a:prstGeom prst="rect">
                <a:avLst/>
              </a:prstGeom>
            </p:spPr>
          </p:pic>
          <p:sp>
            <p:nvSpPr>
              <p:cNvPr id="4" name="矩形 3">
                <a:extLst>
                  <a:ext uri="{FF2B5EF4-FFF2-40B4-BE49-F238E27FC236}">
                    <a16:creationId xmlns:a16="http://schemas.microsoft.com/office/drawing/2014/main" id="{52A329CE-7079-4033-9D3B-A4C731D28382}"/>
                  </a:ext>
                </a:extLst>
              </p:cNvPr>
              <p:cNvSpPr/>
              <p:nvPr/>
            </p:nvSpPr>
            <p:spPr>
              <a:xfrm>
                <a:off x="2353733" y="4546600"/>
                <a:ext cx="1540934" cy="27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E7D1ED05-08C1-4440-8C7B-332D3E92975C}"/>
                  </a:ext>
                </a:extLst>
              </p:cNvPr>
              <p:cNvSpPr/>
              <p:nvPr/>
            </p:nvSpPr>
            <p:spPr>
              <a:xfrm rot="16200000">
                <a:off x="-206162" y="2734734"/>
                <a:ext cx="1540934" cy="27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6818569-D395-4F66-8618-ED26C17D8C4B}"/>
                    </a:ext>
                  </a:extLst>
                </p:cNvPr>
                <p:cNvSpPr txBox="1"/>
                <p:nvPr/>
              </p:nvSpPr>
              <p:spPr>
                <a:xfrm>
                  <a:off x="2056600" y="4521200"/>
                  <a:ext cx="204062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𝐑𝐞𝐬𝐢𝐝𝐮𝐚𝐥</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𝐞𝐫𝐫𝐨𝐫</m:t>
                        </m:r>
                        <m:r>
                          <a:rPr lang="en-US" altLang="zh-TW" sz="1600" b="1" i="0" smtClean="0">
                            <a:latin typeface="Cambria Math" panose="02040503050406030204" pitchFamily="18" charset="0"/>
                          </a:rPr>
                          <m:t> </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𝒎𝑻</m:t>
                        </m:r>
                        <m:r>
                          <a:rPr lang="en-US" altLang="zh-TW" sz="1600" b="1" i="1" smtClean="0">
                            <a:latin typeface="Cambria Math" panose="02040503050406030204" pitchFamily="18" charset="0"/>
                          </a:rPr>
                          <m:t>) </m:t>
                        </m:r>
                      </m:oMath>
                    </m:oMathPara>
                  </a14:m>
                  <a:endParaRPr lang="zh-TW" altLang="en-US" sz="2000" b="1" dirty="0"/>
                </a:p>
              </p:txBody>
            </p:sp>
          </mc:Choice>
          <mc:Fallback xmlns="">
            <p:sp>
              <p:nvSpPr>
                <p:cNvPr id="12" name="文字方塊 11">
                  <a:extLst>
                    <a:ext uri="{FF2B5EF4-FFF2-40B4-BE49-F238E27FC236}">
                      <a16:creationId xmlns:a16="http://schemas.microsoft.com/office/drawing/2014/main" id="{C6818569-D395-4F66-8618-ED26C17D8C4B}"/>
                    </a:ext>
                  </a:extLst>
                </p:cNvPr>
                <p:cNvSpPr txBox="1">
                  <a:spLocks noRot="1" noChangeAspect="1" noMove="1" noResize="1" noEditPoints="1" noAdjustHandles="1" noChangeArrowheads="1" noChangeShapeType="1" noTextEdit="1"/>
                </p:cNvSpPr>
                <p:nvPr/>
              </p:nvSpPr>
              <p:spPr>
                <a:xfrm>
                  <a:off x="2056600" y="4521200"/>
                  <a:ext cx="2040623" cy="246221"/>
                </a:xfrm>
                <a:prstGeom prst="rect">
                  <a:avLst/>
                </a:prstGeom>
                <a:blipFill>
                  <a:blip r:embed="rId5"/>
                  <a:stretch>
                    <a:fillRect l="-2090" r="-1194" b="-3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00C082E8-A392-4B92-8E0E-834FE15234DA}"/>
                    </a:ext>
                  </a:extLst>
                </p:cNvPr>
                <p:cNvSpPr txBox="1"/>
                <p:nvPr/>
              </p:nvSpPr>
              <p:spPr>
                <a:xfrm rot="16200000">
                  <a:off x="-209438" y="2726305"/>
                  <a:ext cx="148918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𝐏𝐞𝐫𝐜𝐞𝐧𝐭𝐚𝐠𝐞</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13" name="文字方塊 12">
                  <a:extLst>
                    <a:ext uri="{FF2B5EF4-FFF2-40B4-BE49-F238E27FC236}">
                      <a16:creationId xmlns:a16="http://schemas.microsoft.com/office/drawing/2014/main" id="{00C082E8-A392-4B92-8E0E-834FE15234DA}"/>
                    </a:ext>
                  </a:extLst>
                </p:cNvPr>
                <p:cNvSpPr txBox="1">
                  <a:spLocks noRot="1" noChangeAspect="1" noMove="1" noResize="1" noEditPoints="1" noAdjustHandles="1" noChangeArrowheads="1" noChangeShapeType="1" noTextEdit="1"/>
                </p:cNvSpPr>
                <p:nvPr/>
              </p:nvSpPr>
              <p:spPr>
                <a:xfrm rot="16200000">
                  <a:off x="-209438" y="2726305"/>
                  <a:ext cx="1489189" cy="246221"/>
                </a:xfrm>
                <a:prstGeom prst="rect">
                  <a:avLst/>
                </a:prstGeom>
                <a:blipFill>
                  <a:blip r:embed="rId6"/>
                  <a:stretch>
                    <a:fillRect t="-4490" r="-32500" b="-408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963438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808899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6">
            <a:extLst>
              <a:ext uri="{FF2B5EF4-FFF2-40B4-BE49-F238E27FC236}">
                <a16:creationId xmlns:a16="http://schemas.microsoft.com/office/drawing/2014/main" id="{65F2A41B-725D-4691-A888-BD566828C0BF}"/>
              </a:ext>
            </a:extLst>
          </p:cNvPr>
          <p:cNvGrpSpPr/>
          <p:nvPr/>
        </p:nvGrpSpPr>
        <p:grpSpPr>
          <a:xfrm>
            <a:off x="741919" y="2866223"/>
            <a:ext cx="4015388" cy="3538797"/>
            <a:chOff x="967368" y="530752"/>
            <a:chExt cx="4015388" cy="3538797"/>
          </a:xfrm>
        </p:grpSpPr>
        <p:pic>
          <p:nvPicPr>
            <p:cNvPr id="4" name="圖片 3">
              <a:extLst>
                <a:ext uri="{FF2B5EF4-FFF2-40B4-BE49-F238E27FC236}">
                  <a16:creationId xmlns:a16="http://schemas.microsoft.com/office/drawing/2014/main" id="{1EEE4D68-B5BE-487E-BBF1-46844455B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201" y="530752"/>
              <a:ext cx="3662318" cy="3429000"/>
            </a:xfrm>
            <a:prstGeom prst="rect">
              <a:avLst/>
            </a:prstGeom>
          </p:spPr>
        </p:pic>
        <p:grpSp>
          <p:nvGrpSpPr>
            <p:cNvPr id="36" name="群組 35">
              <a:extLst>
                <a:ext uri="{FF2B5EF4-FFF2-40B4-BE49-F238E27FC236}">
                  <a16:creationId xmlns:a16="http://schemas.microsoft.com/office/drawing/2014/main" id="{15E80B7E-9DD7-4929-979E-9D6BF07411DD}"/>
                </a:ext>
              </a:extLst>
            </p:cNvPr>
            <p:cNvGrpSpPr/>
            <p:nvPr/>
          </p:nvGrpSpPr>
          <p:grpSpPr>
            <a:xfrm>
              <a:off x="967368" y="1364300"/>
              <a:ext cx="4015388" cy="2705249"/>
              <a:chOff x="6274804" y="3726263"/>
              <a:chExt cx="4015388" cy="2705249"/>
            </a:xfrm>
          </p:grpSpPr>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3702C2C7-99C1-4D7E-89F7-BCF75F5869AB}"/>
                      </a:ext>
                    </a:extLst>
                  </p:cNvPr>
                  <p:cNvSpPr txBox="1"/>
                  <p:nvPr/>
                </p:nvSpPr>
                <p:spPr>
                  <a:xfrm rot="2191537">
                    <a:off x="6357579" y="5987255"/>
                    <a:ext cx="143468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4" name="文字方塊 33">
                    <a:extLst>
                      <a:ext uri="{FF2B5EF4-FFF2-40B4-BE49-F238E27FC236}">
                        <a16:creationId xmlns:a16="http://schemas.microsoft.com/office/drawing/2014/main" id="{3702C2C7-99C1-4D7E-89F7-BCF75F5869AB}"/>
                      </a:ext>
                    </a:extLst>
                  </p:cNvPr>
                  <p:cNvSpPr txBox="1">
                    <a:spLocks noRot="1" noChangeAspect="1" noMove="1" noResize="1" noEditPoints="1" noAdjustHandles="1" noChangeArrowheads="1" noChangeShapeType="1" noTextEdit="1"/>
                  </p:cNvSpPr>
                  <p:nvPr/>
                </p:nvSpPr>
                <p:spPr>
                  <a:xfrm rot="2191537">
                    <a:off x="6357579" y="5987255"/>
                    <a:ext cx="1434688" cy="215444"/>
                  </a:xfrm>
                  <a:prstGeom prst="rect">
                    <a:avLst/>
                  </a:prstGeom>
                  <a:blipFill>
                    <a:blip r:embed="rId9"/>
                    <a:stretch>
                      <a:fillRect l="-472" r="-2830" b="-82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CB4204C0-DCA9-46A8-B644-32781D062DEC}"/>
                      </a:ext>
                    </a:extLst>
                  </p:cNvPr>
                  <p:cNvSpPr txBox="1"/>
                  <p:nvPr/>
                </p:nvSpPr>
                <p:spPr>
                  <a:xfrm rot="20909962">
                    <a:off x="8852298" y="6216068"/>
                    <a:ext cx="1437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7" name="文字方塊 36">
                    <a:extLst>
                      <a:ext uri="{FF2B5EF4-FFF2-40B4-BE49-F238E27FC236}">
                        <a16:creationId xmlns:a16="http://schemas.microsoft.com/office/drawing/2014/main" id="{CB4204C0-DCA9-46A8-B644-32781D062DEC}"/>
                      </a:ext>
                    </a:extLst>
                  </p:cNvPr>
                  <p:cNvSpPr txBox="1">
                    <a:spLocks noRot="1" noChangeAspect="1" noMove="1" noResize="1" noEditPoints="1" noAdjustHandles="1" noChangeArrowheads="1" noChangeShapeType="1" noTextEdit="1"/>
                  </p:cNvSpPr>
                  <p:nvPr/>
                </p:nvSpPr>
                <p:spPr>
                  <a:xfrm rot="20909962">
                    <a:off x="8852298" y="6216068"/>
                    <a:ext cx="1437894" cy="215444"/>
                  </a:xfrm>
                  <a:prstGeom prst="rect">
                    <a:avLst/>
                  </a:prstGeom>
                  <a:blipFill>
                    <a:blip r:embed="rId10"/>
                    <a:stretch>
                      <a:fillRect l="-1674" t="-1220" r="-4184" b="-109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FCA38618-BB47-441E-9C40-E111A4916DC0}"/>
                      </a:ext>
                    </a:extLst>
                  </p:cNvPr>
                  <p:cNvSpPr txBox="1"/>
                  <p:nvPr/>
                </p:nvSpPr>
                <p:spPr>
                  <a:xfrm rot="16200000">
                    <a:off x="5670792" y="4330275"/>
                    <a:ext cx="142346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8" name="文字方塊 37">
                    <a:extLst>
                      <a:ext uri="{FF2B5EF4-FFF2-40B4-BE49-F238E27FC236}">
                        <a16:creationId xmlns:a16="http://schemas.microsoft.com/office/drawing/2014/main" id="{FCA38618-BB47-441E-9C40-E111A4916DC0}"/>
                      </a:ext>
                    </a:extLst>
                  </p:cNvPr>
                  <p:cNvSpPr txBox="1">
                    <a:spLocks noRot="1" noChangeAspect="1" noMove="1" noResize="1" noEditPoints="1" noAdjustHandles="1" noChangeArrowheads="1" noChangeShapeType="1" noTextEdit="1"/>
                  </p:cNvSpPr>
                  <p:nvPr/>
                </p:nvSpPr>
                <p:spPr>
                  <a:xfrm rot="16200000">
                    <a:off x="5670792" y="4330275"/>
                    <a:ext cx="1423467" cy="215444"/>
                  </a:xfrm>
                  <a:prstGeom prst="rect">
                    <a:avLst/>
                  </a:prstGeom>
                  <a:blipFill>
                    <a:blip r:embed="rId11"/>
                    <a:stretch>
                      <a:fillRect t="-3863" r="-31429" b="-1717"/>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A8049C67-2F5C-458C-9E5B-805BD4365486}"/>
              </a:ext>
            </a:extLst>
          </p:cNvPr>
          <p:cNvGrpSpPr/>
          <p:nvPr/>
        </p:nvGrpSpPr>
        <p:grpSpPr>
          <a:xfrm>
            <a:off x="6886486" y="2952061"/>
            <a:ext cx="4020935" cy="3492977"/>
            <a:chOff x="7047353" y="2596461"/>
            <a:chExt cx="4020935" cy="3492977"/>
          </a:xfrm>
        </p:grpSpPr>
        <p:pic>
          <p:nvPicPr>
            <p:cNvPr id="9" name="圖片 8">
              <a:extLst>
                <a:ext uri="{FF2B5EF4-FFF2-40B4-BE49-F238E27FC236}">
                  <a16:creationId xmlns:a16="http://schemas.microsoft.com/office/drawing/2014/main" id="{3F3EADE4-A8F9-4A89-AB2F-D04039759C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365451" y="2596461"/>
              <a:ext cx="3571891" cy="3344333"/>
            </a:xfrm>
            <a:prstGeom prst="rect">
              <a:avLst/>
            </a:prstGeom>
          </p:spPr>
        </p:pic>
        <p:grpSp>
          <p:nvGrpSpPr>
            <p:cNvPr id="39" name="群組 38">
              <a:extLst>
                <a:ext uri="{FF2B5EF4-FFF2-40B4-BE49-F238E27FC236}">
                  <a16:creationId xmlns:a16="http://schemas.microsoft.com/office/drawing/2014/main" id="{8B513186-9F34-4BD2-867D-6D8BEB64811B}"/>
                </a:ext>
              </a:extLst>
            </p:cNvPr>
            <p:cNvGrpSpPr/>
            <p:nvPr/>
          </p:nvGrpSpPr>
          <p:grpSpPr>
            <a:xfrm>
              <a:off x="7047353" y="3455826"/>
              <a:ext cx="4020935" cy="2633612"/>
              <a:chOff x="9104754" y="3705699"/>
              <a:chExt cx="4020935" cy="2633612"/>
            </a:xfrm>
          </p:grpSpPr>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B4B8D663-0DD9-4CD7-952F-C56EBF46FDE1}"/>
                      </a:ext>
                    </a:extLst>
                  </p:cNvPr>
                  <p:cNvSpPr txBox="1"/>
                  <p:nvPr/>
                </p:nvSpPr>
                <p:spPr>
                  <a:xfrm rot="20909962">
                    <a:off x="11687795" y="6123867"/>
                    <a:ext cx="1437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1" name="文字方塊 40">
                    <a:extLst>
                      <a:ext uri="{FF2B5EF4-FFF2-40B4-BE49-F238E27FC236}">
                        <a16:creationId xmlns:a16="http://schemas.microsoft.com/office/drawing/2014/main" id="{B4B8D663-0DD9-4CD7-952F-C56EBF46FDE1}"/>
                      </a:ext>
                    </a:extLst>
                  </p:cNvPr>
                  <p:cNvSpPr txBox="1">
                    <a:spLocks noRot="1" noChangeAspect="1" noMove="1" noResize="1" noEditPoints="1" noAdjustHandles="1" noChangeArrowheads="1" noChangeShapeType="1" noTextEdit="1"/>
                  </p:cNvSpPr>
                  <p:nvPr/>
                </p:nvSpPr>
                <p:spPr>
                  <a:xfrm rot="20909962">
                    <a:off x="11687795" y="6123867"/>
                    <a:ext cx="1437894" cy="215444"/>
                  </a:xfrm>
                  <a:prstGeom prst="rect">
                    <a:avLst/>
                  </a:prstGeom>
                  <a:blipFill>
                    <a:blip r:embed="rId13"/>
                    <a:stretch>
                      <a:fillRect l="-2092" t="-1205" r="-4184" b="-108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5DD23914-830D-482A-9335-95AE8D0BD2AB}"/>
                      </a:ext>
                    </a:extLst>
                  </p:cNvPr>
                  <p:cNvSpPr txBox="1"/>
                  <p:nvPr/>
                </p:nvSpPr>
                <p:spPr>
                  <a:xfrm rot="2191537">
                    <a:off x="9243419" y="5934552"/>
                    <a:ext cx="143468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2" name="文字方塊 41">
                    <a:extLst>
                      <a:ext uri="{FF2B5EF4-FFF2-40B4-BE49-F238E27FC236}">
                        <a16:creationId xmlns:a16="http://schemas.microsoft.com/office/drawing/2014/main" id="{5DD23914-830D-482A-9335-95AE8D0BD2AB}"/>
                      </a:ext>
                    </a:extLst>
                  </p:cNvPr>
                  <p:cNvSpPr txBox="1">
                    <a:spLocks noRot="1" noChangeAspect="1" noMove="1" noResize="1" noEditPoints="1" noAdjustHandles="1" noChangeArrowheads="1" noChangeShapeType="1" noTextEdit="1"/>
                  </p:cNvSpPr>
                  <p:nvPr/>
                </p:nvSpPr>
                <p:spPr>
                  <a:xfrm rot="2191537">
                    <a:off x="9243419" y="5934552"/>
                    <a:ext cx="1434688" cy="215444"/>
                  </a:xfrm>
                  <a:prstGeom prst="rect">
                    <a:avLst/>
                  </a:prstGeom>
                  <a:blipFill>
                    <a:blip r:embed="rId14"/>
                    <a:stretch>
                      <a:fillRect l="-948" r="-2844" b="-82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46C1BC31-7B3E-4129-B06A-513DA35E134F}"/>
                      </a:ext>
                    </a:extLst>
                  </p:cNvPr>
                  <p:cNvSpPr txBox="1"/>
                  <p:nvPr/>
                </p:nvSpPr>
                <p:spPr>
                  <a:xfrm rot="16200000">
                    <a:off x="8500742" y="4309711"/>
                    <a:ext cx="142346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3" name="文字方塊 42">
                    <a:extLst>
                      <a:ext uri="{FF2B5EF4-FFF2-40B4-BE49-F238E27FC236}">
                        <a16:creationId xmlns:a16="http://schemas.microsoft.com/office/drawing/2014/main" id="{46C1BC31-7B3E-4129-B06A-513DA35E134F}"/>
                      </a:ext>
                    </a:extLst>
                  </p:cNvPr>
                  <p:cNvSpPr txBox="1">
                    <a:spLocks noRot="1" noChangeAspect="1" noMove="1" noResize="1" noEditPoints="1" noAdjustHandles="1" noChangeArrowheads="1" noChangeShapeType="1" noTextEdit="1"/>
                  </p:cNvSpPr>
                  <p:nvPr/>
                </p:nvSpPr>
                <p:spPr>
                  <a:xfrm rot="16200000">
                    <a:off x="8500742" y="4309711"/>
                    <a:ext cx="1423467" cy="215444"/>
                  </a:xfrm>
                  <a:prstGeom prst="rect">
                    <a:avLst/>
                  </a:prstGeom>
                  <a:blipFill>
                    <a:blip r:embed="rId4"/>
                    <a:stretch>
                      <a:fillRect t="-3846" r="-31429" b="-1282"/>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9E89BE06-C9DE-4E43-8EE5-11DEB7CC01E1}"/>
                  </a:ext>
                </a:extLst>
              </p:cNvPr>
              <p:cNvSpPr txBox="1"/>
              <p:nvPr/>
            </p:nvSpPr>
            <p:spPr>
              <a:xfrm>
                <a:off x="110067" y="552353"/>
                <a:ext cx="10666408" cy="369332"/>
              </a:xfrm>
              <a:prstGeom prst="rect">
                <a:avLst/>
              </a:prstGeom>
              <a:noFill/>
            </p:spPr>
            <p:txBody>
              <a:bodyPr wrap="square">
                <a:spAutoFit/>
              </a:bodyPr>
              <a:lstStyle/>
              <a:p>
                <a:pPr marL="285750" indent="-285750">
                  <a:buFont typeface="Arial" panose="020B0604020202020204" pitchFamily="34" charset="0"/>
                  <a:buChar char="•"/>
                </a:pPr>
                <a:r>
                  <a:rPr lang="zh-TW" altLang="en-US" dirty="0"/>
                  <a:t>The blue plot on the left shows the 528 points required by the single-parameter model </a:t>
                </a:r>
                <a:r>
                  <a:rPr lang="en-US" altLang="zh-TW" dirty="0"/>
                  <a:t>for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7" name="文字方塊 16">
                <a:extLst>
                  <a:ext uri="{FF2B5EF4-FFF2-40B4-BE49-F238E27FC236}">
                    <a16:creationId xmlns:a16="http://schemas.microsoft.com/office/drawing/2014/main" id="{9E89BE06-C9DE-4E43-8EE5-11DEB7CC01E1}"/>
                  </a:ext>
                </a:extLst>
              </p:cNvPr>
              <p:cNvSpPr txBox="1">
                <a:spLocks noRot="1" noChangeAspect="1" noMove="1" noResize="1" noEditPoints="1" noAdjustHandles="1" noChangeArrowheads="1" noChangeShapeType="1" noTextEdit="1"/>
              </p:cNvSpPr>
              <p:nvPr/>
            </p:nvSpPr>
            <p:spPr>
              <a:xfrm>
                <a:off x="110067" y="552353"/>
                <a:ext cx="10666408" cy="369332"/>
              </a:xfrm>
              <a:prstGeom prst="rect">
                <a:avLst/>
              </a:prstGeom>
              <a:blipFill>
                <a:blip r:embed="rId15"/>
                <a:stretch>
                  <a:fillRect l="-343" t="-10000" b="-26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CEEF32AD-A489-447D-93AA-7071B82FF98E}"/>
                  </a:ext>
                </a:extLst>
              </p:cNvPr>
              <p:cNvSpPr txBox="1"/>
              <p:nvPr/>
            </p:nvSpPr>
            <p:spPr>
              <a:xfrm>
                <a:off x="110067" y="1238356"/>
                <a:ext cx="10666408"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The red plot on the right shows the 80 points of the eighteen-parameter model for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p:sp>
            <p:nvSpPr>
              <p:cNvPr id="19" name="文字方塊 18">
                <a:extLst>
                  <a:ext uri="{FF2B5EF4-FFF2-40B4-BE49-F238E27FC236}">
                    <a16:creationId xmlns:a16="http://schemas.microsoft.com/office/drawing/2014/main" id="{CEEF32AD-A489-447D-93AA-7071B82FF98E}"/>
                  </a:ext>
                </a:extLst>
              </p:cNvPr>
              <p:cNvSpPr txBox="1">
                <a:spLocks noRot="1" noChangeAspect="1" noMove="1" noResize="1" noEditPoints="1" noAdjustHandles="1" noChangeArrowheads="1" noChangeShapeType="1" noTextEdit="1"/>
              </p:cNvSpPr>
              <p:nvPr/>
            </p:nvSpPr>
            <p:spPr>
              <a:xfrm>
                <a:off x="110067" y="1238356"/>
                <a:ext cx="10666408" cy="369332"/>
              </a:xfrm>
              <a:prstGeom prst="rect">
                <a:avLst/>
              </a:prstGeom>
              <a:blipFill>
                <a:blip r:embed="rId16"/>
                <a:stretch>
                  <a:fillRect l="-343"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77210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2" name="群組 11">
            <a:extLst>
              <a:ext uri="{FF2B5EF4-FFF2-40B4-BE49-F238E27FC236}">
                <a16:creationId xmlns:a16="http://schemas.microsoft.com/office/drawing/2014/main" id="{77D535E6-AAFE-4013-B46D-9C13356FC6B2}"/>
              </a:ext>
            </a:extLst>
          </p:cNvPr>
          <p:cNvGrpSpPr/>
          <p:nvPr/>
        </p:nvGrpSpPr>
        <p:grpSpPr>
          <a:xfrm>
            <a:off x="315007" y="2262135"/>
            <a:ext cx="4900460" cy="4231798"/>
            <a:chOff x="315007" y="2262135"/>
            <a:chExt cx="4900460" cy="4231798"/>
          </a:xfrm>
        </p:grpSpPr>
        <p:grpSp>
          <p:nvGrpSpPr>
            <p:cNvPr id="6" name="群組 5">
              <a:extLst>
                <a:ext uri="{FF2B5EF4-FFF2-40B4-BE49-F238E27FC236}">
                  <a16:creationId xmlns:a16="http://schemas.microsoft.com/office/drawing/2014/main" id="{00578A4A-7171-48CC-9F30-0E10914EC1E9}"/>
                </a:ext>
              </a:extLst>
            </p:cNvPr>
            <p:cNvGrpSpPr/>
            <p:nvPr/>
          </p:nvGrpSpPr>
          <p:grpSpPr>
            <a:xfrm>
              <a:off x="315007" y="2262135"/>
              <a:ext cx="4900460" cy="4231798"/>
              <a:chOff x="315007" y="2262135"/>
              <a:chExt cx="4900460" cy="4231798"/>
            </a:xfrm>
          </p:grpSpPr>
          <p:pic>
            <p:nvPicPr>
              <p:cNvPr id="8" name="圖片 7">
                <a:extLst>
                  <a:ext uri="{FF2B5EF4-FFF2-40B4-BE49-F238E27FC236}">
                    <a16:creationId xmlns:a16="http://schemas.microsoft.com/office/drawing/2014/main" id="{2B3EB8BC-DD4C-4667-990B-280610E35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536" y="2262135"/>
                <a:ext cx="4781931" cy="4138664"/>
              </a:xfrm>
              <a:prstGeom prst="rect">
                <a:avLst/>
              </a:prstGeom>
            </p:spPr>
          </p:pic>
          <p:sp>
            <p:nvSpPr>
              <p:cNvPr id="3" name="矩形 2">
                <a:extLst>
                  <a:ext uri="{FF2B5EF4-FFF2-40B4-BE49-F238E27FC236}">
                    <a16:creationId xmlns:a16="http://schemas.microsoft.com/office/drawing/2014/main" id="{EF0097E5-3183-40AD-A011-1D53B4ABCBC1}"/>
                  </a:ext>
                </a:extLst>
              </p:cNvPr>
              <p:cNvSpPr/>
              <p:nvPr/>
            </p:nvSpPr>
            <p:spPr>
              <a:xfrm>
                <a:off x="1625600" y="6180667"/>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1A80923D-D331-4A06-9EAF-0149AB1C73CD}"/>
                  </a:ext>
                </a:extLst>
              </p:cNvPr>
              <p:cNvSpPr/>
              <p:nvPr/>
            </p:nvSpPr>
            <p:spPr>
              <a:xfrm rot="16200000">
                <a:off x="-1035427" y="3970869"/>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7BF57618-4A44-458F-82B7-469ABA778258}"/>
                    </a:ext>
                  </a:extLst>
                </p:cNvPr>
                <p:cNvSpPr txBox="1"/>
                <p:nvPr/>
              </p:nvSpPr>
              <p:spPr>
                <a:xfrm>
                  <a:off x="1641873" y="6091079"/>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3" name="文字方塊 12">
                  <a:extLst>
                    <a:ext uri="{FF2B5EF4-FFF2-40B4-BE49-F238E27FC236}">
                      <a16:creationId xmlns:a16="http://schemas.microsoft.com/office/drawing/2014/main" id="{7BF57618-4A44-458F-82B7-469ABA778258}"/>
                    </a:ext>
                  </a:extLst>
                </p:cNvPr>
                <p:cNvSpPr txBox="1">
                  <a:spLocks noRot="1" noChangeAspect="1" noMove="1" noResize="1" noEditPoints="1" noAdjustHandles="1" noChangeArrowheads="1" noChangeShapeType="1" noTextEdit="1"/>
                </p:cNvSpPr>
                <p:nvPr/>
              </p:nvSpPr>
              <p:spPr>
                <a:xfrm>
                  <a:off x="1641873" y="6091079"/>
                  <a:ext cx="2981585" cy="246221"/>
                </a:xfrm>
                <a:prstGeom prst="rect">
                  <a:avLst/>
                </a:prstGeom>
                <a:blipFill>
                  <a:blip r:embed="rId3"/>
                  <a:stretch>
                    <a:fillRect l="-2045" t="-2439" r="-2045"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C4F75ADE-E012-4E44-949F-FC9A573005A1}"/>
                    </a:ext>
                  </a:extLst>
                </p:cNvPr>
                <p:cNvSpPr txBox="1"/>
                <p:nvPr/>
              </p:nvSpPr>
              <p:spPr>
                <a:xfrm rot="16200000">
                  <a:off x="-406871" y="4004391"/>
                  <a:ext cx="175701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1600" b="1" i="1" smtClean="0">
                                <a:latin typeface="Cambria Math" panose="02040503050406030204" pitchFamily="18" charset="0"/>
                                <a:ea typeface="Cambria Math" panose="02040503050406030204" pitchFamily="18" charset="0"/>
                              </a:rPr>
                            </m:ctrlPr>
                          </m:fPr>
                          <m:num>
                            <m:r>
                              <a:rPr lang="en-US" altLang="zh-TW" sz="1600" b="1" i="0" smtClean="0">
                                <a:latin typeface="Cambria Math" panose="02040503050406030204" pitchFamily="18" charset="0"/>
                                <a:ea typeface="Cambria Math" panose="02040503050406030204" pitchFamily="18" charset="0"/>
                              </a:rPr>
                              <m:t>𝐍</m:t>
                            </m:r>
                          </m:num>
                          <m:den>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0" smtClean="0">
                                    <a:latin typeface="Cambria Math" panose="02040503050406030204" pitchFamily="18" charset="0"/>
                                    <a:ea typeface="Cambria Math" panose="02040503050406030204" pitchFamily="18" charset="0"/>
                                  </a:rPr>
                                  <m:t>𝐍</m:t>
                                </m:r>
                              </m:e>
                              <m:sub>
                                <m:r>
                                  <a:rPr lang="en-US" altLang="zh-TW" sz="1600" b="1" i="0" smtClean="0">
                                    <a:latin typeface="Cambria Math" panose="02040503050406030204" pitchFamily="18" charset="0"/>
                                    <a:ea typeface="Cambria Math" panose="02040503050406030204" pitchFamily="18" charset="0"/>
                                  </a:rPr>
                                  <m:t>𝐭𝐨𝐭𝐚𝐥</m:t>
                                </m:r>
                              </m:sub>
                            </m:sSub>
                          </m:den>
                        </m:f>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rPr>
                          <m:t> (%)</m:t>
                        </m:r>
                      </m:oMath>
                    </m:oMathPara>
                  </a14:m>
                  <a:endParaRPr lang="zh-TW" altLang="en-US" sz="2000" b="1" dirty="0"/>
                </a:p>
              </p:txBody>
            </p:sp>
          </mc:Choice>
          <mc:Fallback xmlns="">
            <p:sp>
              <p:nvSpPr>
                <p:cNvPr id="14" name="文字方塊 13">
                  <a:extLst>
                    <a:ext uri="{FF2B5EF4-FFF2-40B4-BE49-F238E27FC236}">
                      <a16:creationId xmlns:a16="http://schemas.microsoft.com/office/drawing/2014/main" id="{C4F75ADE-E012-4E44-949F-FC9A573005A1}"/>
                    </a:ext>
                  </a:extLst>
                </p:cNvPr>
                <p:cNvSpPr txBox="1">
                  <a:spLocks noRot="1" noChangeAspect="1" noMove="1" noResize="1" noEditPoints="1" noAdjustHandles="1" noChangeArrowheads="1" noChangeShapeType="1" noTextEdit="1"/>
                </p:cNvSpPr>
                <p:nvPr/>
              </p:nvSpPr>
              <p:spPr>
                <a:xfrm rot="16200000">
                  <a:off x="-406871" y="4004391"/>
                  <a:ext cx="1757019" cy="246221"/>
                </a:xfrm>
                <a:prstGeom prst="rect">
                  <a:avLst/>
                </a:prstGeom>
                <a:blipFill>
                  <a:blip r:embed="rId4"/>
                  <a:stretch>
                    <a:fillRect l="-156098" t="-2083" r="-241463" b="-9028"/>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49E3BF34-27DC-4061-992B-2E309F38657F}"/>
              </a:ext>
            </a:extLst>
          </p:cNvPr>
          <p:cNvGrpSpPr/>
          <p:nvPr/>
        </p:nvGrpSpPr>
        <p:grpSpPr>
          <a:xfrm>
            <a:off x="5782735" y="2262135"/>
            <a:ext cx="5528731" cy="4357046"/>
            <a:chOff x="5782735" y="2262135"/>
            <a:chExt cx="5528731" cy="4357046"/>
          </a:xfrm>
        </p:grpSpPr>
        <p:grpSp>
          <p:nvGrpSpPr>
            <p:cNvPr id="11" name="群組 10">
              <a:extLst>
                <a:ext uri="{FF2B5EF4-FFF2-40B4-BE49-F238E27FC236}">
                  <a16:creationId xmlns:a16="http://schemas.microsoft.com/office/drawing/2014/main" id="{96A2C0DF-5CDC-4349-AF1E-A7FD047A3BB5}"/>
                </a:ext>
              </a:extLst>
            </p:cNvPr>
            <p:cNvGrpSpPr/>
            <p:nvPr/>
          </p:nvGrpSpPr>
          <p:grpSpPr>
            <a:xfrm>
              <a:off x="5782735" y="2262135"/>
              <a:ext cx="5528731" cy="4357046"/>
              <a:chOff x="5782735" y="2262135"/>
              <a:chExt cx="5528731" cy="4357046"/>
            </a:xfrm>
          </p:grpSpPr>
          <p:pic>
            <p:nvPicPr>
              <p:cNvPr id="5" name="圖片 4">
                <a:extLst>
                  <a:ext uri="{FF2B5EF4-FFF2-40B4-BE49-F238E27FC236}">
                    <a16:creationId xmlns:a16="http://schemas.microsoft.com/office/drawing/2014/main" id="{920BAA76-F89D-4105-B5FB-419D8CD7CE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3533" y="2262135"/>
                <a:ext cx="5477933" cy="4309533"/>
              </a:xfrm>
              <a:prstGeom prst="rect">
                <a:avLst/>
              </a:prstGeom>
            </p:spPr>
          </p:pic>
          <p:sp>
            <p:nvSpPr>
              <p:cNvPr id="7" name="矩形 6">
                <a:extLst>
                  <a:ext uri="{FF2B5EF4-FFF2-40B4-BE49-F238E27FC236}">
                    <a16:creationId xmlns:a16="http://schemas.microsoft.com/office/drawing/2014/main" id="{4E6C42D8-29CA-4611-B0D9-33563F7C1657}"/>
                  </a:ext>
                </a:extLst>
              </p:cNvPr>
              <p:cNvSpPr/>
              <p:nvPr/>
            </p:nvSpPr>
            <p:spPr>
              <a:xfrm>
                <a:off x="7179734" y="6305915"/>
                <a:ext cx="3386666"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D49A6795-56F5-4D64-9C5E-74F53402F104}"/>
                  </a:ext>
                </a:extLst>
              </p:cNvPr>
              <p:cNvSpPr/>
              <p:nvPr/>
            </p:nvSpPr>
            <p:spPr>
              <a:xfrm rot="16200000">
                <a:off x="4432301" y="4078452"/>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904E5CD8-98E7-4BA4-A1EF-6B3F61C2A7A5}"/>
                    </a:ext>
                  </a:extLst>
                </p:cNvPr>
                <p:cNvSpPr txBox="1"/>
                <p:nvPr/>
              </p:nvSpPr>
              <p:spPr>
                <a:xfrm rot="16200000">
                  <a:off x="5029073" y="4111974"/>
                  <a:ext cx="175701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1600" b="1" i="1" smtClean="0">
                                <a:latin typeface="Cambria Math" panose="02040503050406030204" pitchFamily="18" charset="0"/>
                                <a:ea typeface="Cambria Math" panose="02040503050406030204" pitchFamily="18" charset="0"/>
                              </a:rPr>
                            </m:ctrlPr>
                          </m:fPr>
                          <m:num>
                            <m:r>
                              <a:rPr lang="en-US" altLang="zh-TW" sz="1600" b="1" i="0" smtClean="0">
                                <a:latin typeface="Cambria Math" panose="02040503050406030204" pitchFamily="18" charset="0"/>
                                <a:ea typeface="Cambria Math" panose="02040503050406030204" pitchFamily="18" charset="0"/>
                              </a:rPr>
                              <m:t>𝐍</m:t>
                            </m:r>
                          </m:num>
                          <m:den>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0" smtClean="0">
                                    <a:latin typeface="Cambria Math" panose="02040503050406030204" pitchFamily="18" charset="0"/>
                                    <a:ea typeface="Cambria Math" panose="02040503050406030204" pitchFamily="18" charset="0"/>
                                  </a:rPr>
                                  <m:t>𝐍</m:t>
                                </m:r>
                              </m:e>
                              <m:sub>
                                <m:r>
                                  <a:rPr lang="en-US" altLang="zh-TW" sz="1600" b="1" i="0" smtClean="0">
                                    <a:latin typeface="Cambria Math" panose="02040503050406030204" pitchFamily="18" charset="0"/>
                                    <a:ea typeface="Cambria Math" panose="02040503050406030204" pitchFamily="18" charset="0"/>
                                  </a:rPr>
                                  <m:t>𝐭𝐨𝐭𝐚𝐥</m:t>
                                </m:r>
                              </m:sub>
                            </m:sSub>
                          </m:den>
                        </m:f>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rPr>
                          <m:t> (%)</m:t>
                        </m:r>
                      </m:oMath>
                    </m:oMathPara>
                  </a14:m>
                  <a:endParaRPr lang="zh-TW" altLang="en-US" sz="2000" b="1" dirty="0"/>
                </a:p>
              </p:txBody>
            </p:sp>
          </mc:Choice>
          <mc:Fallback xmlns="">
            <p:sp>
              <p:nvSpPr>
                <p:cNvPr id="16" name="文字方塊 15">
                  <a:extLst>
                    <a:ext uri="{FF2B5EF4-FFF2-40B4-BE49-F238E27FC236}">
                      <a16:creationId xmlns:a16="http://schemas.microsoft.com/office/drawing/2014/main" id="{904E5CD8-98E7-4BA4-A1EF-6B3F61C2A7A5}"/>
                    </a:ext>
                  </a:extLst>
                </p:cNvPr>
                <p:cNvSpPr txBox="1">
                  <a:spLocks noRot="1" noChangeAspect="1" noMove="1" noResize="1" noEditPoints="1" noAdjustHandles="1" noChangeArrowheads="1" noChangeShapeType="1" noTextEdit="1"/>
                </p:cNvSpPr>
                <p:nvPr/>
              </p:nvSpPr>
              <p:spPr>
                <a:xfrm rot="16200000">
                  <a:off x="5029073" y="4111974"/>
                  <a:ext cx="1757019" cy="246221"/>
                </a:xfrm>
                <a:prstGeom prst="rect">
                  <a:avLst/>
                </a:prstGeom>
                <a:blipFill>
                  <a:blip r:embed="rId6"/>
                  <a:stretch>
                    <a:fillRect l="-162500" t="-2431" r="-247500" b="-868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5AF3486-E272-4BE4-BE02-43EF87A530D1}"/>
                    </a:ext>
                  </a:extLst>
                </p:cNvPr>
                <p:cNvSpPr txBox="1"/>
                <p:nvPr/>
              </p:nvSpPr>
              <p:spPr>
                <a:xfrm>
                  <a:off x="7633876" y="6211481"/>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7" name="文字方塊 16">
                  <a:extLst>
                    <a:ext uri="{FF2B5EF4-FFF2-40B4-BE49-F238E27FC236}">
                      <a16:creationId xmlns:a16="http://schemas.microsoft.com/office/drawing/2014/main" id="{05AF3486-E272-4BE4-BE02-43EF87A530D1}"/>
                    </a:ext>
                  </a:extLst>
                </p:cNvPr>
                <p:cNvSpPr txBox="1">
                  <a:spLocks noRot="1" noChangeAspect="1" noMove="1" noResize="1" noEditPoints="1" noAdjustHandles="1" noChangeArrowheads="1" noChangeShapeType="1" noTextEdit="1"/>
                </p:cNvSpPr>
                <p:nvPr/>
              </p:nvSpPr>
              <p:spPr>
                <a:xfrm>
                  <a:off x="7633876" y="6211481"/>
                  <a:ext cx="2981585" cy="246221"/>
                </a:xfrm>
                <a:prstGeom prst="rect">
                  <a:avLst/>
                </a:prstGeom>
                <a:blipFill>
                  <a:blip r:embed="rId7"/>
                  <a:stretch>
                    <a:fillRect l="-2045" t="-2500" r="-2045" b="-35000"/>
                  </a:stretch>
                </a:blipFill>
              </p:spPr>
              <p:txBody>
                <a:bodyPr/>
                <a:lstStyle/>
                <a:p>
                  <a:r>
                    <a:rPr lang="zh-TW" altLang="en-US">
                      <a:noFill/>
                    </a:rPr>
                    <a:t> </a:t>
                  </a:r>
                </a:p>
              </p:txBody>
            </p:sp>
          </mc:Fallback>
        </mc:AlternateContent>
      </p:grpSp>
      <p:sp>
        <p:nvSpPr>
          <p:cNvPr id="20" name="文字方塊 19">
            <a:extLst>
              <a:ext uri="{FF2B5EF4-FFF2-40B4-BE49-F238E27FC236}">
                <a16:creationId xmlns:a16="http://schemas.microsoft.com/office/drawing/2014/main" id="{51F70BAE-D924-48C9-8036-D86345E1B99E}"/>
              </a:ext>
            </a:extLst>
          </p:cNvPr>
          <p:cNvSpPr txBox="1"/>
          <p:nvPr/>
        </p:nvSpPr>
        <p:spPr>
          <a:xfrm>
            <a:off x="110067" y="498484"/>
            <a:ext cx="11853333" cy="1754326"/>
          </a:xfrm>
          <a:prstGeom prst="rect">
            <a:avLst/>
          </a:prstGeom>
          <a:noFill/>
        </p:spPr>
        <p:txBody>
          <a:bodyPr wrap="square">
            <a:spAutoFit/>
          </a:bodyPr>
          <a:lstStyle/>
          <a:p>
            <a:pPr marL="285750" indent="-285750">
              <a:buFont typeface="Arial" panose="020B0604020202020204" pitchFamily="34" charset="0"/>
              <a:buChar char="•"/>
            </a:pPr>
            <a:r>
              <a:rPr lang="zh-TW" altLang="en-US" dirty="0"/>
              <a:t>Both models need less than 1% of the available points over the intermediate range, which is highly efficient; but both ends degrade — small R suffers from insufficient information and large R from the model itself beginning to fail, requiring large numbers of points to compensate.</a:t>
            </a:r>
            <a:r>
              <a:rPr lang="en-US" altLang="zh-TW" dirty="0"/>
              <a:t> The single-parameter curve starts at 140 µm because at smaller radii the number of points it requires exceeds the number of real grid points the region actually contains</a:t>
            </a:r>
            <a:r>
              <a:rPr lang="zh-TW" altLang="en-US" dirty="0"/>
              <a:t>，</a:t>
            </a:r>
            <a:r>
              <a:rPr lang="en-US" altLang="zh-TW" dirty="0"/>
              <a:t> since the information it needs exceeds the measurement points the region can supply, whereas the eighteen-parameter model requires less than a quarter of the available grid points over the same region and can therefore be plotted from 80 µm.</a:t>
            </a:r>
            <a:endParaRPr lang="zh-TW" altLang="en-US" dirty="0"/>
          </a:p>
        </p:txBody>
      </p:sp>
    </p:spTree>
    <p:extLst>
      <p:ext uri="{BB962C8B-B14F-4D97-AF65-F5344CB8AC3E}">
        <p14:creationId xmlns:p14="http://schemas.microsoft.com/office/powerpoint/2010/main" val="3038826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7" name="群組 16">
            <a:extLst>
              <a:ext uri="{FF2B5EF4-FFF2-40B4-BE49-F238E27FC236}">
                <a16:creationId xmlns:a16="http://schemas.microsoft.com/office/drawing/2014/main" id="{789E8715-06E5-4C54-AF2E-31A9102C0866}"/>
              </a:ext>
            </a:extLst>
          </p:cNvPr>
          <p:cNvGrpSpPr/>
          <p:nvPr/>
        </p:nvGrpSpPr>
        <p:grpSpPr>
          <a:xfrm>
            <a:off x="136324" y="1141590"/>
            <a:ext cx="5435165" cy="4381840"/>
            <a:chOff x="364924" y="2171360"/>
            <a:chExt cx="5435165" cy="4381840"/>
          </a:xfrm>
        </p:grpSpPr>
        <p:grpSp>
          <p:nvGrpSpPr>
            <p:cNvPr id="16" name="群組 15">
              <a:extLst>
                <a:ext uri="{FF2B5EF4-FFF2-40B4-BE49-F238E27FC236}">
                  <a16:creationId xmlns:a16="http://schemas.microsoft.com/office/drawing/2014/main" id="{7767643A-3691-4476-8BE9-8F4F7169A512}"/>
                </a:ext>
              </a:extLst>
            </p:cNvPr>
            <p:cNvGrpSpPr/>
            <p:nvPr/>
          </p:nvGrpSpPr>
          <p:grpSpPr>
            <a:xfrm>
              <a:off x="394809" y="2423160"/>
              <a:ext cx="4953012" cy="4130040"/>
              <a:chOff x="394809" y="2423160"/>
              <a:chExt cx="4953012" cy="4130040"/>
            </a:xfrm>
          </p:grpSpPr>
          <p:pic>
            <p:nvPicPr>
              <p:cNvPr id="4" name="圖片 3">
                <a:extLst>
                  <a:ext uri="{FF2B5EF4-FFF2-40B4-BE49-F238E27FC236}">
                    <a16:creationId xmlns:a16="http://schemas.microsoft.com/office/drawing/2014/main" id="{069B5A38-E655-4020-96BB-D6465EBAD6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809" y="2423160"/>
                <a:ext cx="4953012" cy="4059936"/>
              </a:xfrm>
              <a:prstGeom prst="rect">
                <a:avLst/>
              </a:prstGeom>
            </p:spPr>
          </p:pic>
          <p:sp>
            <p:nvSpPr>
              <p:cNvPr id="6" name="矩形 5">
                <a:extLst>
                  <a:ext uri="{FF2B5EF4-FFF2-40B4-BE49-F238E27FC236}">
                    <a16:creationId xmlns:a16="http://schemas.microsoft.com/office/drawing/2014/main" id="{3C62A111-FBCE-4A96-AF3A-3C229299F8F1}"/>
                  </a:ext>
                </a:extLst>
              </p:cNvPr>
              <p:cNvSpPr/>
              <p:nvPr/>
            </p:nvSpPr>
            <p:spPr>
              <a:xfrm>
                <a:off x="2328333" y="6231467"/>
                <a:ext cx="1524000"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4B6FB3BF-DC73-4C39-B669-4899A765A7D1}"/>
                  </a:ext>
                </a:extLst>
              </p:cNvPr>
              <p:cNvSpPr/>
              <p:nvPr/>
            </p:nvSpPr>
            <p:spPr>
              <a:xfrm>
                <a:off x="394810" y="3826933"/>
                <a:ext cx="231724" cy="846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4F63BD1-3D20-4341-9A13-D8BB4B110D1D}"/>
                    </a:ext>
                  </a:extLst>
                </p:cNvPr>
                <p:cNvSpPr txBox="1"/>
                <p:nvPr/>
              </p:nvSpPr>
              <p:spPr>
                <a:xfrm>
                  <a:off x="1506088" y="6141054"/>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0" name="文字方塊 9">
                  <a:extLst>
                    <a:ext uri="{FF2B5EF4-FFF2-40B4-BE49-F238E27FC236}">
                      <a16:creationId xmlns:a16="http://schemas.microsoft.com/office/drawing/2014/main" id="{44F63BD1-3D20-4341-9A13-D8BB4B110D1D}"/>
                    </a:ext>
                  </a:extLst>
                </p:cNvPr>
                <p:cNvSpPr txBox="1">
                  <a:spLocks noRot="1" noChangeAspect="1" noMove="1" noResize="1" noEditPoints="1" noAdjustHandles="1" noChangeArrowheads="1" noChangeShapeType="1" noTextEdit="1"/>
                </p:cNvSpPr>
                <p:nvPr/>
              </p:nvSpPr>
              <p:spPr>
                <a:xfrm>
                  <a:off x="1506088" y="6141054"/>
                  <a:ext cx="2981585" cy="246221"/>
                </a:xfrm>
                <a:prstGeom prst="rect">
                  <a:avLst/>
                </a:prstGeom>
                <a:blipFill>
                  <a:blip r:embed="rId3"/>
                  <a:stretch>
                    <a:fillRect l="-2045" t="-2439" r="-1840"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3659279-B06E-4F24-BD19-93CB504D5CE7}"/>
                    </a:ext>
                  </a:extLst>
                </p:cNvPr>
                <p:cNvSpPr txBox="1"/>
                <p:nvPr/>
              </p:nvSpPr>
              <p:spPr>
                <a:xfrm rot="16200000">
                  <a:off x="-384801" y="4211822"/>
                  <a:ext cx="174567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𝐍𝐮𝐦𝐛𝐞𝐫</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𝐨𝐟</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𝐩𝐨𝐢𝐧𝐭𝐬</m:t>
                        </m:r>
                      </m:oMath>
                    </m:oMathPara>
                  </a14:m>
                  <a:endParaRPr lang="zh-TW" altLang="en-US" sz="1600" b="1" dirty="0"/>
                </a:p>
              </p:txBody>
            </p:sp>
          </mc:Choice>
          <mc:Fallback xmlns="">
            <p:sp>
              <p:nvSpPr>
                <p:cNvPr id="13" name="文字方塊 12">
                  <a:extLst>
                    <a:ext uri="{FF2B5EF4-FFF2-40B4-BE49-F238E27FC236}">
                      <a16:creationId xmlns:a16="http://schemas.microsoft.com/office/drawing/2014/main" id="{63659279-B06E-4F24-BD19-93CB504D5CE7}"/>
                    </a:ext>
                  </a:extLst>
                </p:cNvPr>
                <p:cNvSpPr txBox="1">
                  <a:spLocks noRot="1" noChangeAspect="1" noMove="1" noResize="1" noEditPoints="1" noAdjustHandles="1" noChangeArrowheads="1" noChangeShapeType="1" noTextEdit="1"/>
                </p:cNvSpPr>
                <p:nvPr/>
              </p:nvSpPr>
              <p:spPr>
                <a:xfrm rot="16200000">
                  <a:off x="-384801" y="4211822"/>
                  <a:ext cx="1745671" cy="246221"/>
                </a:xfrm>
                <a:prstGeom prst="rect">
                  <a:avLst/>
                </a:prstGeom>
                <a:blipFill>
                  <a:blip r:embed="rId4"/>
                  <a:stretch>
                    <a:fillRect t="-3147" r="-29268" b="-27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1EB4FB6D-96F5-4D84-BCF3-F4D50FB6A07F}"/>
                    </a:ext>
                  </a:extLst>
                </p:cNvPr>
                <p:cNvSpPr txBox="1"/>
                <p:nvPr/>
              </p:nvSpPr>
              <p:spPr>
                <a:xfrm>
                  <a:off x="5216981" y="5616828"/>
                  <a:ext cx="583108" cy="250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latin typeface="Cambria Math" panose="02040503050406030204" pitchFamily="18" charset="0"/>
                            <a:ea typeface="Cambria Math" panose="02040503050406030204" pitchFamily="18" charset="0"/>
                          </a:rPr>
                          <m:t>×</m:t>
                        </m:r>
                        <m:sSup>
                          <m:sSupPr>
                            <m:ctrlPr>
                              <a:rPr lang="en-US" altLang="zh-TW" sz="1600" b="1" i="1" smtClean="0">
                                <a:latin typeface="Cambria Math" panose="02040503050406030204" pitchFamily="18" charset="0"/>
                                <a:ea typeface="Cambria Math" panose="02040503050406030204" pitchFamily="18" charset="0"/>
                              </a:rPr>
                            </m:ctrlPr>
                          </m:sSupPr>
                          <m:e>
                            <m:r>
                              <a:rPr lang="en-US" altLang="zh-TW" sz="1600" b="1" i="1" smtClean="0">
                                <a:latin typeface="Cambria Math" panose="02040503050406030204" pitchFamily="18" charset="0"/>
                                <a:ea typeface="Cambria Math" panose="02040503050406030204" pitchFamily="18" charset="0"/>
                              </a:rPr>
                              <m:t>𝟏𝟎</m:t>
                            </m:r>
                          </m:e>
                          <m:sup>
                            <m:r>
                              <a:rPr lang="en-US" altLang="zh-TW" sz="1600" b="1" i="1" smtClean="0">
                                <a:latin typeface="Cambria Math" panose="02040503050406030204" pitchFamily="18" charset="0"/>
                                <a:ea typeface="Cambria Math" panose="02040503050406030204" pitchFamily="18" charset="0"/>
                              </a:rPr>
                              <m:t>𝟕</m:t>
                            </m:r>
                          </m:sup>
                        </m:sSup>
                      </m:oMath>
                    </m:oMathPara>
                  </a14:m>
                  <a:endParaRPr lang="zh-TW" altLang="en-US" sz="1600" b="1" dirty="0"/>
                </a:p>
              </p:txBody>
            </p:sp>
          </mc:Choice>
          <mc:Fallback xmlns="">
            <p:sp>
              <p:nvSpPr>
                <p:cNvPr id="11" name="文字方塊 10">
                  <a:extLst>
                    <a:ext uri="{FF2B5EF4-FFF2-40B4-BE49-F238E27FC236}">
                      <a16:creationId xmlns:a16="http://schemas.microsoft.com/office/drawing/2014/main" id="{1EB4FB6D-96F5-4D84-BCF3-F4D50FB6A07F}"/>
                    </a:ext>
                  </a:extLst>
                </p:cNvPr>
                <p:cNvSpPr txBox="1">
                  <a:spLocks noRot="1" noChangeAspect="1" noMove="1" noResize="1" noEditPoints="1" noAdjustHandles="1" noChangeArrowheads="1" noChangeShapeType="1" noTextEdit="1"/>
                </p:cNvSpPr>
                <p:nvPr/>
              </p:nvSpPr>
              <p:spPr>
                <a:xfrm>
                  <a:off x="5216981" y="5616828"/>
                  <a:ext cx="583108" cy="250646"/>
                </a:xfrm>
                <a:prstGeom prst="rect">
                  <a:avLst/>
                </a:prstGeom>
                <a:blipFill>
                  <a:blip r:embed="rId5"/>
                  <a:stretch>
                    <a:fillRect l="-5208" r="-2083" b="-47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271DA3D8-FE97-4605-890B-79D6B86B5163}"/>
                    </a:ext>
                  </a:extLst>
                </p:cNvPr>
                <p:cNvSpPr txBox="1"/>
                <p:nvPr/>
              </p:nvSpPr>
              <p:spPr>
                <a:xfrm>
                  <a:off x="626534" y="2171360"/>
                  <a:ext cx="583108" cy="2518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latin typeface="Cambria Math" panose="02040503050406030204" pitchFamily="18" charset="0"/>
                            <a:ea typeface="Cambria Math" panose="02040503050406030204" pitchFamily="18" charset="0"/>
                          </a:rPr>
                          <m:t>×</m:t>
                        </m:r>
                        <m:sSup>
                          <m:sSupPr>
                            <m:ctrlPr>
                              <a:rPr lang="en-US" altLang="zh-TW" sz="1600" b="1" i="1" smtClean="0">
                                <a:latin typeface="Cambria Math" panose="02040503050406030204" pitchFamily="18" charset="0"/>
                                <a:ea typeface="Cambria Math" panose="02040503050406030204" pitchFamily="18" charset="0"/>
                              </a:rPr>
                            </m:ctrlPr>
                          </m:sSupPr>
                          <m:e>
                            <m:r>
                              <a:rPr lang="en-US" altLang="zh-TW" sz="1600" b="1" i="1" smtClean="0">
                                <a:latin typeface="Cambria Math" panose="02040503050406030204" pitchFamily="18" charset="0"/>
                                <a:ea typeface="Cambria Math" panose="02040503050406030204" pitchFamily="18" charset="0"/>
                              </a:rPr>
                              <m:t>𝟏𝟎</m:t>
                            </m:r>
                          </m:e>
                          <m:sup>
                            <m:r>
                              <a:rPr lang="en-US" altLang="zh-TW" sz="1600" b="1" i="1" smtClean="0">
                                <a:latin typeface="Cambria Math" panose="02040503050406030204" pitchFamily="18" charset="0"/>
                                <a:ea typeface="Cambria Math" panose="02040503050406030204" pitchFamily="18" charset="0"/>
                              </a:rPr>
                              <m:t>𝟑</m:t>
                            </m:r>
                          </m:sup>
                        </m:sSup>
                      </m:oMath>
                    </m:oMathPara>
                  </a14:m>
                  <a:endParaRPr lang="zh-TW" altLang="en-US" sz="1600" b="1" dirty="0"/>
                </a:p>
              </p:txBody>
            </p:sp>
          </mc:Choice>
          <mc:Fallback xmlns="">
            <p:sp>
              <p:nvSpPr>
                <p:cNvPr id="19" name="文字方塊 18">
                  <a:extLst>
                    <a:ext uri="{FF2B5EF4-FFF2-40B4-BE49-F238E27FC236}">
                      <a16:creationId xmlns:a16="http://schemas.microsoft.com/office/drawing/2014/main" id="{271DA3D8-FE97-4605-890B-79D6B86B5163}"/>
                    </a:ext>
                  </a:extLst>
                </p:cNvPr>
                <p:cNvSpPr txBox="1">
                  <a:spLocks noRot="1" noChangeAspect="1" noMove="1" noResize="1" noEditPoints="1" noAdjustHandles="1" noChangeArrowheads="1" noChangeShapeType="1" noTextEdit="1"/>
                </p:cNvSpPr>
                <p:nvPr/>
              </p:nvSpPr>
              <p:spPr>
                <a:xfrm>
                  <a:off x="626534" y="2171360"/>
                  <a:ext cx="583108" cy="251800"/>
                </a:xfrm>
                <a:prstGeom prst="rect">
                  <a:avLst/>
                </a:prstGeom>
                <a:blipFill>
                  <a:blip r:embed="rId6"/>
                  <a:stretch>
                    <a:fillRect l="-5208" r="-2083" b="-4762"/>
                  </a:stretch>
                </a:blipFill>
              </p:spPr>
              <p:txBody>
                <a:bodyPr/>
                <a:lstStyle/>
                <a:p>
                  <a:r>
                    <a:rPr lang="zh-TW" altLang="en-US">
                      <a:noFill/>
                    </a:rPr>
                    <a:t> </a:t>
                  </a:r>
                </a:p>
              </p:txBody>
            </p:sp>
          </mc:Fallback>
        </mc:AlternateContent>
      </p:grpSp>
      <p:sp>
        <p:nvSpPr>
          <p:cNvPr id="21" name="文字方塊 20">
            <a:extLst>
              <a:ext uri="{FF2B5EF4-FFF2-40B4-BE49-F238E27FC236}">
                <a16:creationId xmlns:a16="http://schemas.microsoft.com/office/drawing/2014/main" id="{527AD032-2BCD-42FA-94F3-08857DF7AF3A}"/>
              </a:ext>
            </a:extLst>
          </p:cNvPr>
          <p:cNvSpPr txBox="1"/>
          <p:nvPr/>
        </p:nvSpPr>
        <p:spPr>
          <a:xfrm>
            <a:off x="5279935" y="922869"/>
            <a:ext cx="6443120" cy="1200329"/>
          </a:xfrm>
          <a:prstGeom prst="rect">
            <a:avLst/>
          </a:prstGeom>
          <a:noFill/>
        </p:spPr>
        <p:txBody>
          <a:bodyPr wrap="square">
            <a:spAutoFit/>
          </a:bodyPr>
          <a:lstStyle/>
          <a:p>
            <a:pPr marL="285750" indent="-285750">
              <a:buFont typeface="Arial" panose="020B0604020202020204" pitchFamily="34" charset="0"/>
              <a:buChar char="•"/>
            </a:pPr>
            <a:r>
              <a:rPr lang="zh-TW" altLang="en-US" dirty="0"/>
              <a:t>The number of available sampling points is indeed proportional to the sphere volume,  the FEM mesh is of uniform density in this region. All the preceding discussion of "point count" can therefore be converted directly into "sampling radius"</a:t>
            </a:r>
          </a:p>
        </p:txBody>
      </p:sp>
    </p:spTree>
    <p:extLst>
      <p:ext uri="{BB962C8B-B14F-4D97-AF65-F5344CB8AC3E}">
        <p14:creationId xmlns:p14="http://schemas.microsoft.com/office/powerpoint/2010/main" val="69523286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17858</TotalTime>
  <Words>2043</Words>
  <Application>Microsoft Office PowerPoint</Application>
  <PresentationFormat>寬螢幕</PresentationFormat>
  <Paragraphs>149</Paragraphs>
  <Slides>14</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14</vt:i4>
      </vt:variant>
    </vt:vector>
  </HeadingPairs>
  <TitlesOfParts>
    <vt:vector size="22"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Reference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193</cp:revision>
  <dcterms:created xsi:type="dcterms:W3CDTF">2026-07-23T11:39:15Z</dcterms:created>
  <dcterms:modified xsi:type="dcterms:W3CDTF">2026-08-14T04:08:52Z</dcterms:modified>
</cp:coreProperties>
</file>