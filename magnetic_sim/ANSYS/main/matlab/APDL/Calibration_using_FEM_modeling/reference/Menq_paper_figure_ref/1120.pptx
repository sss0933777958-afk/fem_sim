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80" r:id="rId2"/>
    <p:sldId id="274" r:id="rId3"/>
    <p:sldId id="275" r:id="rId4"/>
    <p:sldId id="276" r:id="rId5"/>
    <p:sldId id="277" r:id="rId6"/>
    <p:sldId id="282" r:id="rId7"/>
    <p:sldId id="281" r:id="rId8"/>
    <p:sldId id="278" r:id="rId9"/>
    <p:sldId id="279" r:id="rId10"/>
    <p:sldId id="283" r:id="rId11"/>
    <p:sldId id="284"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31" d="100"/>
          <a:sy n="131" d="100"/>
        </p:scale>
        <p:origin x="1044" y="23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5CFF8-51BA-70C7-9B54-FF2A9D3081CE}"/>
            </a:ext>
          </a:extLst>
        </p:cNvPr>
        <p:cNvGrpSpPr/>
        <p:nvPr/>
      </p:nvGrpSpPr>
      <p:grpSpPr>
        <a:xfrm>
          <a:off x="0" y="0"/>
          <a:ext cx="0" cy="0"/>
          <a:chOff x="0" y="0"/>
          <a:chExt cx="0" cy="0"/>
        </a:xfrm>
      </p:grpSpPr>
      <p:pic>
        <p:nvPicPr>
          <p:cNvPr id="5" name="圖片 4" descr="一張含有 筆跡, 黑與白, 文字, 文件 的圖片&#10;&#10;AI 產生的內容可能不正確。">
            <a:extLst>
              <a:ext uri="{FF2B5EF4-FFF2-40B4-BE49-F238E27FC236}">
                <a16:creationId xmlns:a16="http://schemas.microsoft.com/office/drawing/2014/main" id="{7A08AAF4-62D6-E2C9-FFAD-4F22081EA655}"/>
              </a:ext>
            </a:extLst>
          </p:cNvPr>
          <p:cNvPicPr>
            <a:picLocks noChangeAspect="1"/>
          </p:cNvPicPr>
          <p:nvPr/>
        </p:nvPicPr>
        <p:blipFill>
          <a:blip r:embed="rId2"/>
          <a:stretch>
            <a:fillRect/>
          </a:stretch>
        </p:blipFill>
        <p:spPr>
          <a:xfrm>
            <a:off x="0" y="300037"/>
            <a:ext cx="9144000" cy="4543425"/>
          </a:xfrm>
          <a:prstGeom prst="rect">
            <a:avLst/>
          </a:prstGeom>
        </p:spPr>
      </p:pic>
    </p:spTree>
    <p:extLst>
      <p:ext uri="{BB962C8B-B14F-4D97-AF65-F5344CB8AC3E}">
        <p14:creationId xmlns:p14="http://schemas.microsoft.com/office/powerpoint/2010/main" val="3440275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7;p30">
            <a:extLst>
              <a:ext uri="{FF2B5EF4-FFF2-40B4-BE49-F238E27FC236}">
                <a16:creationId xmlns:a16="http://schemas.microsoft.com/office/drawing/2014/main" id="{F001ABC6-92F9-9C8E-DED3-FCE06E40AC1E}"/>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Multiple</a:t>
            </a:r>
            <a:r>
              <a:rPr lang="zh-TW" altLang="en-US" dirty="0"/>
              <a:t> </a:t>
            </a:r>
            <a:r>
              <a:rPr lang="en-US" altLang="zh-TW" dirty="0"/>
              <a:t>curve</a:t>
            </a:r>
            <a:r>
              <a:rPr lang="zh-TW" altLang="en-US" dirty="0"/>
              <a:t> </a:t>
            </a:r>
            <a:r>
              <a:rPr lang="en-US" altLang="zh-TW" dirty="0"/>
              <a:t>fitting</a:t>
            </a:r>
            <a:endParaRPr lang="en-US" dirty="0"/>
          </a:p>
        </p:txBody>
      </p:sp>
      <p:pic>
        <p:nvPicPr>
          <p:cNvPr id="4" name="圖片 3" descr="一張含有 文字, 螢幕擷取畫面, 圖表, 繪圖 的圖片&#10;&#10;AI 產生的內容可能不正確。">
            <a:extLst>
              <a:ext uri="{FF2B5EF4-FFF2-40B4-BE49-F238E27FC236}">
                <a16:creationId xmlns:a16="http://schemas.microsoft.com/office/drawing/2014/main" id="{23E62273-6AF0-2B24-3779-45988C794894}"/>
              </a:ext>
            </a:extLst>
          </p:cNvPr>
          <p:cNvPicPr>
            <a:picLocks noChangeAspect="1"/>
          </p:cNvPicPr>
          <p:nvPr/>
        </p:nvPicPr>
        <p:blipFill>
          <a:blip r:embed="rId2"/>
          <a:stretch>
            <a:fillRect/>
          </a:stretch>
        </p:blipFill>
        <p:spPr>
          <a:xfrm>
            <a:off x="311700" y="1017725"/>
            <a:ext cx="4404358" cy="3964768"/>
          </a:xfrm>
          <a:prstGeom prst="rect">
            <a:avLst/>
          </a:prstGeom>
        </p:spPr>
      </p:pic>
      <p:pic>
        <p:nvPicPr>
          <p:cNvPr id="6" name="圖片 5" descr="一張含有 文字, 圖表, 螢幕擷取畫面, 行 的圖片&#10;&#10;AI 產生的內容可能不正確。">
            <a:extLst>
              <a:ext uri="{FF2B5EF4-FFF2-40B4-BE49-F238E27FC236}">
                <a16:creationId xmlns:a16="http://schemas.microsoft.com/office/drawing/2014/main" id="{E6EF8936-DF28-BBE9-74D3-048636ABF84C}"/>
              </a:ext>
            </a:extLst>
          </p:cNvPr>
          <p:cNvPicPr>
            <a:picLocks noChangeAspect="1"/>
          </p:cNvPicPr>
          <p:nvPr/>
        </p:nvPicPr>
        <p:blipFill>
          <a:blip r:embed="rId3"/>
          <a:stretch>
            <a:fillRect/>
          </a:stretch>
        </p:blipFill>
        <p:spPr>
          <a:xfrm>
            <a:off x="4427942" y="1017725"/>
            <a:ext cx="4404358" cy="3964768"/>
          </a:xfrm>
          <a:prstGeom prst="rect">
            <a:avLst/>
          </a:prstGeom>
        </p:spPr>
      </p:pic>
    </p:spTree>
    <p:extLst>
      <p:ext uri="{BB962C8B-B14F-4D97-AF65-F5344CB8AC3E}">
        <p14:creationId xmlns:p14="http://schemas.microsoft.com/office/powerpoint/2010/main" val="227685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94DA3-3479-98E9-0556-F66255043480}"/>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A1B5F1D6-0743-B27B-25E3-5B0A639D797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Multiple</a:t>
            </a:r>
            <a:r>
              <a:rPr lang="zh-TW" altLang="en-US" dirty="0"/>
              <a:t> </a:t>
            </a:r>
            <a:r>
              <a:rPr lang="en-US" altLang="zh-TW" dirty="0"/>
              <a:t>curve</a:t>
            </a:r>
            <a:r>
              <a:rPr lang="zh-TW" altLang="en-US" dirty="0"/>
              <a:t> </a:t>
            </a:r>
            <a:r>
              <a:rPr lang="en-US" altLang="zh-TW" dirty="0"/>
              <a:t>fitting</a:t>
            </a:r>
            <a:endParaRPr lang="en-US" dirty="0"/>
          </a:p>
        </p:txBody>
      </p:sp>
      <p:pic>
        <p:nvPicPr>
          <p:cNvPr id="4" name="圖片 3" descr="一張含有 文字, 螢幕擷取畫面, 圖表, 行 的圖片&#10;&#10;AI 產生的內容可能不正確。">
            <a:extLst>
              <a:ext uri="{FF2B5EF4-FFF2-40B4-BE49-F238E27FC236}">
                <a16:creationId xmlns:a16="http://schemas.microsoft.com/office/drawing/2014/main" id="{46CB685F-82EE-870D-AA13-5A1E5163C297}"/>
              </a:ext>
            </a:extLst>
          </p:cNvPr>
          <p:cNvPicPr>
            <a:picLocks noChangeAspect="1"/>
          </p:cNvPicPr>
          <p:nvPr/>
        </p:nvPicPr>
        <p:blipFill>
          <a:blip r:embed="rId2"/>
          <a:stretch>
            <a:fillRect/>
          </a:stretch>
        </p:blipFill>
        <p:spPr>
          <a:xfrm>
            <a:off x="311700" y="1017725"/>
            <a:ext cx="4206238" cy="3786422"/>
          </a:xfrm>
          <a:prstGeom prst="rect">
            <a:avLst/>
          </a:prstGeom>
        </p:spPr>
      </p:pic>
      <p:pic>
        <p:nvPicPr>
          <p:cNvPr id="6" name="圖片 5" descr="一張含有 文字, 圖表, 螢幕擷取畫面, 行 的圖片&#10;&#10;AI 產生的內容可能不正確。">
            <a:extLst>
              <a:ext uri="{FF2B5EF4-FFF2-40B4-BE49-F238E27FC236}">
                <a16:creationId xmlns:a16="http://schemas.microsoft.com/office/drawing/2014/main" id="{CAFA13A9-FA83-90E2-D896-40195BD10BC2}"/>
              </a:ext>
            </a:extLst>
          </p:cNvPr>
          <p:cNvPicPr>
            <a:picLocks noChangeAspect="1"/>
          </p:cNvPicPr>
          <p:nvPr/>
        </p:nvPicPr>
        <p:blipFill>
          <a:blip r:embed="rId3"/>
          <a:stretch>
            <a:fillRect/>
          </a:stretch>
        </p:blipFill>
        <p:spPr>
          <a:xfrm>
            <a:off x="4517938" y="1017725"/>
            <a:ext cx="4206238" cy="3786422"/>
          </a:xfrm>
          <a:prstGeom prst="rect">
            <a:avLst/>
          </a:prstGeom>
        </p:spPr>
      </p:pic>
    </p:spTree>
    <p:extLst>
      <p:ext uri="{BB962C8B-B14F-4D97-AF65-F5344CB8AC3E}">
        <p14:creationId xmlns:p14="http://schemas.microsoft.com/office/powerpoint/2010/main" val="2473975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EFA24-A7DD-5B8A-1DDB-9C2C4376FD23}"/>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A9DEE08C-747B-A419-B652-E3627C8E22A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Multiple</a:t>
            </a:r>
            <a:r>
              <a:rPr lang="zh-TW" altLang="en-US" dirty="0"/>
              <a:t> </a:t>
            </a:r>
            <a:r>
              <a:rPr lang="en-US" altLang="zh-TW" dirty="0"/>
              <a:t>curve</a:t>
            </a:r>
            <a:r>
              <a:rPr lang="zh-TW" altLang="en-US" dirty="0"/>
              <a:t> </a:t>
            </a:r>
            <a:r>
              <a:rPr lang="en-US" altLang="zh-TW" dirty="0"/>
              <a:t>fitting</a:t>
            </a:r>
            <a:endParaRPr lang="en-US" dirty="0"/>
          </a:p>
        </p:txBody>
      </p:sp>
      <p:pic>
        <p:nvPicPr>
          <p:cNvPr id="4" name="圖片 3" descr="一張含有 文字, 圖表, 行, 繪圖 的圖片&#10;&#10;AI 產生的內容可能不正確。">
            <a:extLst>
              <a:ext uri="{FF2B5EF4-FFF2-40B4-BE49-F238E27FC236}">
                <a16:creationId xmlns:a16="http://schemas.microsoft.com/office/drawing/2014/main" id="{02E5E7A8-BCBB-06BC-A196-F5DBCE0E97FB}"/>
              </a:ext>
            </a:extLst>
          </p:cNvPr>
          <p:cNvPicPr>
            <a:picLocks noChangeAspect="1"/>
          </p:cNvPicPr>
          <p:nvPr/>
        </p:nvPicPr>
        <p:blipFill>
          <a:blip r:embed="rId2"/>
          <a:stretch>
            <a:fillRect/>
          </a:stretch>
        </p:blipFill>
        <p:spPr>
          <a:xfrm>
            <a:off x="190445" y="1017725"/>
            <a:ext cx="4411370" cy="3971078"/>
          </a:xfrm>
          <a:prstGeom prst="rect">
            <a:avLst/>
          </a:prstGeom>
        </p:spPr>
      </p:pic>
      <p:pic>
        <p:nvPicPr>
          <p:cNvPr id="6" name="圖片 5" descr="一張含有 文字, 螢幕擷取畫面, 圖表, 行 的圖片&#10;&#10;AI 產生的內容可能不正確。">
            <a:extLst>
              <a:ext uri="{FF2B5EF4-FFF2-40B4-BE49-F238E27FC236}">
                <a16:creationId xmlns:a16="http://schemas.microsoft.com/office/drawing/2014/main" id="{805C7850-C20D-9266-AE6D-D63153F033AA}"/>
              </a:ext>
            </a:extLst>
          </p:cNvPr>
          <p:cNvPicPr>
            <a:picLocks noChangeAspect="1"/>
          </p:cNvPicPr>
          <p:nvPr/>
        </p:nvPicPr>
        <p:blipFill>
          <a:blip r:embed="rId3"/>
          <a:stretch>
            <a:fillRect/>
          </a:stretch>
        </p:blipFill>
        <p:spPr>
          <a:xfrm>
            <a:off x="4601815" y="1017725"/>
            <a:ext cx="4411370" cy="3971078"/>
          </a:xfrm>
          <a:prstGeom prst="rect">
            <a:avLst/>
          </a:prstGeom>
        </p:spPr>
      </p:pic>
    </p:spTree>
    <p:extLst>
      <p:ext uri="{BB962C8B-B14F-4D97-AF65-F5344CB8AC3E}">
        <p14:creationId xmlns:p14="http://schemas.microsoft.com/office/powerpoint/2010/main" val="4129338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90DDC-08A8-C2E1-6BA2-A124C86D4D6F}"/>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E5F03D0A-2CDB-1124-C8D8-1485FAFDFF18}"/>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Multiple</a:t>
            </a:r>
            <a:r>
              <a:rPr lang="zh-TW" altLang="en-US" dirty="0"/>
              <a:t> </a:t>
            </a:r>
            <a:r>
              <a:rPr lang="en-US" altLang="zh-TW" dirty="0"/>
              <a:t>curve</a:t>
            </a:r>
            <a:r>
              <a:rPr lang="zh-TW" altLang="en-US" dirty="0"/>
              <a:t> </a:t>
            </a:r>
            <a:r>
              <a:rPr lang="en-US" altLang="zh-TW" dirty="0"/>
              <a:t>fitting</a:t>
            </a:r>
            <a:endParaRPr 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C1AEE9D9-42FD-A499-ACFF-4E3DEBBE3C4A}"/>
                  </a:ext>
                </a:extLst>
              </p:cNvPr>
              <p:cNvSpPr txBox="1"/>
              <p:nvPr/>
            </p:nvSpPr>
            <p:spPr>
              <a:xfrm>
                <a:off x="1661190" y="1377695"/>
                <a:ext cx="4907220" cy="5270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b="1" i="1" smtClean="0">
                          <a:latin typeface="Cambria Math" panose="02040503050406030204" pitchFamily="18" charset="0"/>
                        </a:rPr>
                        <m:t>𝑯</m:t>
                      </m:r>
                      <m:d>
                        <m:dPr>
                          <m:ctrlPr>
                            <a:rPr lang="zh-TW" altLang="en-US" b="1" i="1">
                              <a:latin typeface="Cambria Math" panose="02040503050406030204" pitchFamily="18" charset="0"/>
                            </a:rPr>
                          </m:ctrlPr>
                        </m:dPr>
                        <m:e>
                          <m:r>
                            <a:rPr lang="zh-TW" altLang="en-US" b="0" i="1">
                              <a:latin typeface="Cambria Math" panose="02040503050406030204" pitchFamily="18" charset="0"/>
                            </a:rPr>
                            <m:t>𝑠</m:t>
                          </m:r>
                        </m:e>
                      </m:d>
                      <m:r>
                        <a:rPr lang="zh-TW" altLang="en-US" b="0" i="0">
                          <a:latin typeface="Cambria Math" panose="02040503050406030204" pitchFamily="18" charset="0"/>
                        </a:rPr>
                        <m:t>=</m:t>
                      </m:r>
                      <m:f>
                        <m:fPr>
                          <m:ctrlPr>
                            <a:rPr lang="zh-TW" altLang="en-US" b="0" i="1">
                              <a:latin typeface="Cambria Math" panose="02040503050406030204" pitchFamily="18" charset="0"/>
                            </a:rPr>
                          </m:ctrlPr>
                        </m:fPr>
                        <m:num>
                          <m:r>
                            <a:rPr lang="zh-TW" altLang="en-US" b="0" i="0">
                              <a:latin typeface="Cambria Math" panose="02040503050406030204" pitchFamily="18" charset="0"/>
                            </a:rPr>
                            <m:t>1.1592×</m:t>
                          </m:r>
                          <m:sSup>
                            <m:sSupPr>
                              <m:ctrlPr>
                                <a:rPr lang="zh-TW" altLang="en-US" b="0" i="1">
                                  <a:latin typeface="Cambria Math" panose="02040503050406030204" pitchFamily="18" charset="0"/>
                                </a:rPr>
                              </m:ctrlPr>
                            </m:sSupPr>
                            <m:e>
                              <m:r>
                                <a:rPr lang="zh-TW" altLang="en-US" b="0" i="0">
                                  <a:latin typeface="Cambria Math" panose="02040503050406030204" pitchFamily="18" charset="0"/>
                                </a:rPr>
                                <m:t>10</m:t>
                              </m:r>
                            </m:e>
                            <m:sup>
                              <m:r>
                                <a:rPr lang="zh-TW" altLang="en-US" b="0" i="0">
                                  <a:latin typeface="Cambria Math" panose="02040503050406030204" pitchFamily="18" charset="0"/>
                                </a:rPr>
                                <m:t>7</m:t>
                              </m:r>
                            </m:sup>
                          </m:sSup>
                          <m:r>
                            <a:rPr lang="zh-TW" altLang="en-US" b="1" i="1">
                              <a:latin typeface="Cambria Math" panose="02040503050406030204" pitchFamily="18" charset="0"/>
                            </a:rPr>
                            <m:t>𝑩</m:t>
                          </m:r>
                        </m:num>
                        <m:den>
                          <m:sSup>
                            <m:sSupPr>
                              <m:ctrlPr>
                                <a:rPr lang="zh-TW" altLang="en-US" b="1" i="1">
                                  <a:latin typeface="Cambria Math" panose="02040503050406030204" pitchFamily="18" charset="0"/>
                                </a:rPr>
                              </m:ctrlPr>
                            </m:sSupPr>
                            <m:e>
                              <m:r>
                                <a:rPr lang="zh-TW" altLang="en-US" b="0" i="1">
                                  <a:latin typeface="Cambria Math" panose="02040503050406030204" pitchFamily="18" charset="0"/>
                                </a:rPr>
                                <m:t>𝑠</m:t>
                              </m:r>
                            </m:e>
                            <m:sup>
                              <m:r>
                                <a:rPr lang="zh-TW" altLang="en-US" b="0" i="0">
                                  <a:latin typeface="Cambria Math" panose="02040503050406030204" pitchFamily="18" charset="0"/>
                                </a:rPr>
                                <m:t>2</m:t>
                              </m:r>
                            </m:sup>
                          </m:sSup>
                          <m:r>
                            <a:rPr lang="zh-TW" altLang="en-US" b="0" i="0">
                              <a:latin typeface="Cambria Math" panose="02040503050406030204" pitchFamily="18" charset="0"/>
                            </a:rPr>
                            <m:t>+6.6172×</m:t>
                          </m:r>
                          <m:sSup>
                            <m:sSupPr>
                              <m:ctrlPr>
                                <a:rPr lang="zh-TW" altLang="en-US" b="0" i="1">
                                  <a:latin typeface="Cambria Math" panose="02040503050406030204" pitchFamily="18" charset="0"/>
                                </a:rPr>
                              </m:ctrlPr>
                            </m:sSupPr>
                            <m:e>
                              <m:r>
                                <a:rPr lang="zh-TW" altLang="en-US" b="0" i="0">
                                  <a:latin typeface="Cambria Math" panose="02040503050406030204" pitchFamily="18" charset="0"/>
                                </a:rPr>
                                <m:t>10</m:t>
                              </m:r>
                            </m:e>
                            <m:sup>
                              <m:r>
                                <a:rPr lang="zh-TW" altLang="en-US" b="0" i="0">
                                  <a:latin typeface="Cambria Math" panose="02040503050406030204" pitchFamily="18" charset="0"/>
                                </a:rPr>
                                <m:t>3</m:t>
                              </m:r>
                            </m:sup>
                          </m:sSup>
                          <m:r>
                            <a:rPr lang="zh-TW" altLang="en-US" b="0" i="1">
                              <a:latin typeface="Cambria Math" panose="02040503050406030204" pitchFamily="18" charset="0"/>
                            </a:rPr>
                            <m:t>𝑠</m:t>
                          </m:r>
                          <m:r>
                            <a:rPr lang="zh-TW" altLang="en-US" b="0" i="0">
                              <a:latin typeface="Cambria Math" panose="02040503050406030204" pitchFamily="18" charset="0"/>
                            </a:rPr>
                            <m:t>+1.1592×</m:t>
                          </m:r>
                          <m:sSup>
                            <m:sSupPr>
                              <m:ctrlPr>
                                <a:rPr lang="zh-TW" altLang="en-US" b="0" i="1">
                                  <a:latin typeface="Cambria Math" panose="02040503050406030204" pitchFamily="18" charset="0"/>
                                </a:rPr>
                              </m:ctrlPr>
                            </m:sSupPr>
                            <m:e>
                              <m:r>
                                <a:rPr lang="zh-TW" altLang="en-US" b="0" i="0">
                                  <a:latin typeface="Cambria Math" panose="02040503050406030204" pitchFamily="18" charset="0"/>
                                </a:rPr>
                                <m:t>10</m:t>
                              </m:r>
                            </m:e>
                            <m:sup>
                              <m:r>
                                <a:rPr lang="zh-TW" altLang="en-US" b="0" i="0">
                                  <a:latin typeface="Cambria Math" panose="02040503050406030204" pitchFamily="18" charset="0"/>
                                </a:rPr>
                                <m:t>7</m:t>
                              </m:r>
                            </m:sup>
                          </m:sSup>
                        </m:den>
                      </m:f>
                    </m:oMath>
                  </m:oMathPara>
                </a14:m>
                <a:endParaRPr lang="zh-TW" altLang="en-US" dirty="0"/>
              </a:p>
            </p:txBody>
          </p:sp>
        </mc:Choice>
        <mc:Fallback xmlns="">
          <p:sp>
            <p:nvSpPr>
              <p:cNvPr id="6" name="文字方塊 5">
                <a:extLst>
                  <a:ext uri="{FF2B5EF4-FFF2-40B4-BE49-F238E27FC236}">
                    <a16:creationId xmlns:a16="http://schemas.microsoft.com/office/drawing/2014/main" id="{C1AEE9D9-42FD-A499-ACFF-4E3DEBBE3C4A}"/>
                  </a:ext>
                </a:extLst>
              </p:cNvPr>
              <p:cNvSpPr txBox="1">
                <a:spLocks noRot="1" noChangeAspect="1" noMove="1" noResize="1" noEditPoints="1" noAdjustHandles="1" noChangeArrowheads="1" noChangeShapeType="1" noTextEdit="1"/>
              </p:cNvSpPr>
              <p:nvPr/>
            </p:nvSpPr>
            <p:spPr>
              <a:xfrm>
                <a:off x="1661190" y="1377695"/>
                <a:ext cx="4907220" cy="527004"/>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3DABD672-5A3F-F477-7AFA-7CE370F1478C}"/>
                  </a:ext>
                </a:extLst>
              </p:cNvPr>
              <p:cNvSpPr txBox="1"/>
              <p:nvPr/>
            </p:nvSpPr>
            <p:spPr>
              <a:xfrm>
                <a:off x="1828800" y="2307895"/>
                <a:ext cx="4572000" cy="5277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b="1" i="1" smtClean="0">
                          <a:latin typeface="Cambria Math" panose="02040503050406030204" pitchFamily="18" charset="0"/>
                        </a:rPr>
                        <m:t>𝑯</m:t>
                      </m:r>
                      <m:d>
                        <m:dPr>
                          <m:ctrlPr>
                            <a:rPr lang="zh-TW" altLang="en-US" b="1" i="1">
                              <a:latin typeface="Cambria Math" panose="02040503050406030204" pitchFamily="18" charset="0"/>
                            </a:rPr>
                          </m:ctrlPr>
                        </m:dPr>
                        <m:e>
                          <m:sSup>
                            <m:sSupPr>
                              <m:ctrlPr>
                                <a:rPr lang="zh-TW" altLang="en-US" b="1" i="1">
                                  <a:latin typeface="Cambria Math" panose="02040503050406030204" pitchFamily="18" charset="0"/>
                                </a:rPr>
                              </m:ctrlPr>
                            </m:sSupPr>
                            <m:e>
                              <m:r>
                                <a:rPr lang="zh-TW" altLang="en-US" b="0" i="1">
                                  <a:latin typeface="Cambria Math" panose="02040503050406030204" pitchFamily="18" charset="0"/>
                                </a:rPr>
                                <m:t>𝑧</m:t>
                              </m:r>
                            </m:e>
                            <m:sup>
                              <m:r>
                                <a:rPr lang="zh-TW" altLang="en-US" b="0" i="0">
                                  <a:latin typeface="Cambria Math" panose="02040503050406030204" pitchFamily="18" charset="0"/>
                                </a:rPr>
                                <m:t>−1</m:t>
                              </m:r>
                            </m:sup>
                          </m:sSup>
                        </m:e>
                      </m:d>
                      <m:r>
                        <a:rPr lang="zh-TW" altLang="en-US" b="0" i="0">
                          <a:latin typeface="Cambria Math" panose="02040503050406030204" pitchFamily="18" charset="0"/>
                        </a:rPr>
                        <m:t>=</m:t>
                      </m:r>
                      <m:sSup>
                        <m:sSupPr>
                          <m:ctrlPr>
                            <a:rPr lang="zh-TW" altLang="en-US" b="0" i="1">
                              <a:latin typeface="Cambria Math" panose="02040503050406030204" pitchFamily="18" charset="0"/>
                            </a:rPr>
                          </m:ctrlPr>
                        </m:sSupPr>
                        <m:e>
                          <m:r>
                            <a:rPr lang="zh-TW" altLang="en-US" b="0" i="1">
                              <a:latin typeface="Cambria Math" panose="02040503050406030204" pitchFamily="18" charset="0"/>
                            </a:rPr>
                            <m:t>𝑧</m:t>
                          </m:r>
                        </m:e>
                        <m:sup>
                          <m:r>
                            <a:rPr lang="zh-TW" altLang="en-US" b="0" i="0">
                              <a:latin typeface="Cambria Math" panose="02040503050406030204" pitchFamily="18" charset="0"/>
                            </a:rPr>
                            <m:t>−1</m:t>
                          </m:r>
                        </m:sup>
                      </m:sSup>
                      <m:f>
                        <m:fPr>
                          <m:ctrlPr>
                            <a:rPr lang="zh-TW" altLang="en-US" b="0" i="1">
                              <a:latin typeface="Cambria Math" panose="02040503050406030204" pitchFamily="18" charset="0"/>
                            </a:rPr>
                          </m:ctrlPr>
                        </m:fPr>
                        <m:num>
                          <m:r>
                            <a:rPr lang="zh-TW" altLang="en-US" b="0" i="0">
                              <a:latin typeface="Cambria Math" panose="02040503050406030204" pitchFamily="18" charset="0"/>
                            </a:rPr>
                            <m:t>5.6695×</m:t>
                          </m:r>
                          <m:sSup>
                            <m:sSupPr>
                              <m:ctrlPr>
                                <a:rPr lang="zh-TW" altLang="en-US" b="0" i="1">
                                  <a:latin typeface="Cambria Math" panose="02040503050406030204" pitchFamily="18" charset="0"/>
                                </a:rPr>
                              </m:ctrlPr>
                            </m:sSupPr>
                            <m:e>
                              <m:r>
                                <a:rPr lang="zh-TW" altLang="en-US" b="0" i="0">
                                  <a:latin typeface="Cambria Math" panose="02040503050406030204" pitchFamily="18" charset="0"/>
                                </a:rPr>
                                <m:t>10</m:t>
                              </m:r>
                            </m:e>
                            <m:sup>
                              <m:r>
                                <a:rPr lang="zh-TW" altLang="en-US" b="0" i="0">
                                  <a:latin typeface="Cambria Math" panose="02040503050406030204" pitchFamily="18" charset="0"/>
                                </a:rPr>
                                <m:t>−4</m:t>
                              </m:r>
                            </m:sup>
                          </m:sSup>
                          <m:r>
                            <a:rPr lang="zh-TW" altLang="en-US" b="0" i="0">
                              <a:latin typeface="Cambria Math" panose="02040503050406030204" pitchFamily="18" charset="0"/>
                            </a:rPr>
                            <m:t>×</m:t>
                          </m:r>
                          <m:d>
                            <m:dPr>
                              <m:ctrlPr>
                                <a:rPr lang="zh-TW" altLang="en-US" b="0" i="1">
                                  <a:latin typeface="Cambria Math" panose="02040503050406030204" pitchFamily="18" charset="0"/>
                                </a:rPr>
                              </m:ctrlPr>
                            </m:dPr>
                            <m:e>
                              <m:r>
                                <a:rPr lang="zh-TW" altLang="en-US" b="0" i="0">
                                  <a:latin typeface="Cambria Math" panose="02040503050406030204" pitchFamily="18" charset="0"/>
                                </a:rPr>
                                <m:t>1+0.9782</m:t>
                              </m:r>
                              <m:sSup>
                                <m:sSupPr>
                                  <m:ctrlPr>
                                    <a:rPr lang="zh-TW" altLang="en-US" b="0" i="1">
                                      <a:latin typeface="Cambria Math" panose="02040503050406030204" pitchFamily="18" charset="0"/>
                                    </a:rPr>
                                  </m:ctrlPr>
                                </m:sSupPr>
                                <m:e>
                                  <m:r>
                                    <a:rPr lang="zh-TW" altLang="en-US" b="0" i="1">
                                      <a:latin typeface="Cambria Math" panose="02040503050406030204" pitchFamily="18" charset="0"/>
                                    </a:rPr>
                                    <m:t>𝑧</m:t>
                                  </m:r>
                                </m:e>
                                <m:sup>
                                  <m:r>
                                    <a:rPr lang="zh-TW" altLang="en-US" b="0" i="0">
                                      <a:latin typeface="Cambria Math" panose="02040503050406030204" pitchFamily="18" charset="0"/>
                                    </a:rPr>
                                    <m:t>−1</m:t>
                                  </m:r>
                                </m:sup>
                              </m:sSup>
                            </m:e>
                          </m:d>
                          <m:r>
                            <a:rPr lang="zh-TW" altLang="en-US" b="1" i="1">
                              <a:latin typeface="Cambria Math" panose="02040503050406030204" pitchFamily="18" charset="0"/>
                            </a:rPr>
                            <m:t>𝑩</m:t>
                          </m:r>
                        </m:num>
                        <m:den>
                          <m:r>
                            <a:rPr lang="zh-TW" altLang="en-US" b="0" i="0">
                              <a:latin typeface="Cambria Math" panose="02040503050406030204" pitchFamily="18" charset="0"/>
                            </a:rPr>
                            <m:t>1−1.9348</m:t>
                          </m:r>
                          <m:sSup>
                            <m:sSupPr>
                              <m:ctrlPr>
                                <a:rPr lang="zh-TW" altLang="en-US" b="0" i="1">
                                  <a:latin typeface="Cambria Math" panose="02040503050406030204" pitchFamily="18" charset="0"/>
                                </a:rPr>
                              </m:ctrlPr>
                            </m:sSupPr>
                            <m:e>
                              <m:r>
                                <a:rPr lang="zh-TW" altLang="en-US" b="0" i="1">
                                  <a:latin typeface="Cambria Math" panose="02040503050406030204" pitchFamily="18" charset="0"/>
                                </a:rPr>
                                <m:t>𝑧</m:t>
                              </m:r>
                            </m:e>
                            <m:sup>
                              <m:r>
                                <a:rPr lang="zh-TW" altLang="en-US" b="0" i="0">
                                  <a:latin typeface="Cambria Math" panose="02040503050406030204" pitchFamily="18" charset="0"/>
                                </a:rPr>
                                <m:t>−1</m:t>
                              </m:r>
                            </m:sup>
                          </m:sSup>
                          <m:r>
                            <a:rPr lang="zh-TW" altLang="en-US" b="0" i="0">
                              <a:latin typeface="Cambria Math" panose="02040503050406030204" pitchFamily="18" charset="0"/>
                            </a:rPr>
                            <m:t>+0.9359</m:t>
                          </m:r>
                          <m:sSup>
                            <m:sSupPr>
                              <m:ctrlPr>
                                <a:rPr lang="zh-TW" altLang="en-US" b="0" i="1">
                                  <a:latin typeface="Cambria Math" panose="02040503050406030204" pitchFamily="18" charset="0"/>
                                </a:rPr>
                              </m:ctrlPr>
                            </m:sSupPr>
                            <m:e>
                              <m:r>
                                <a:rPr lang="zh-TW" altLang="en-US" b="0" i="1">
                                  <a:latin typeface="Cambria Math" panose="02040503050406030204" pitchFamily="18" charset="0"/>
                                </a:rPr>
                                <m:t>𝑧</m:t>
                              </m:r>
                            </m:e>
                            <m:sup>
                              <m:r>
                                <a:rPr lang="zh-TW" altLang="en-US" b="0" i="0">
                                  <a:latin typeface="Cambria Math" panose="02040503050406030204" pitchFamily="18" charset="0"/>
                                </a:rPr>
                                <m:t>−2</m:t>
                              </m:r>
                            </m:sup>
                          </m:sSup>
                        </m:den>
                      </m:f>
                    </m:oMath>
                  </m:oMathPara>
                </a14:m>
                <a:endParaRPr lang="zh-TW" altLang="en-US" dirty="0"/>
              </a:p>
            </p:txBody>
          </p:sp>
        </mc:Choice>
        <mc:Fallback xmlns="">
          <p:sp>
            <p:nvSpPr>
              <p:cNvPr id="8" name="文字方塊 7">
                <a:extLst>
                  <a:ext uri="{FF2B5EF4-FFF2-40B4-BE49-F238E27FC236}">
                    <a16:creationId xmlns:a16="http://schemas.microsoft.com/office/drawing/2014/main" id="{3DABD672-5A3F-F477-7AFA-7CE370F1478C}"/>
                  </a:ext>
                </a:extLst>
              </p:cNvPr>
              <p:cNvSpPr txBox="1">
                <a:spLocks noRot="1" noChangeAspect="1" noMove="1" noResize="1" noEditPoints="1" noAdjustHandles="1" noChangeArrowheads="1" noChangeShapeType="1" noTextEdit="1"/>
              </p:cNvSpPr>
              <p:nvPr/>
            </p:nvSpPr>
            <p:spPr>
              <a:xfrm>
                <a:off x="1828800" y="2307895"/>
                <a:ext cx="4572000" cy="52770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667C5F94-69CF-73E3-F2E2-3085705DD042}"/>
                  </a:ext>
                </a:extLst>
              </p:cNvPr>
              <p:cNvSpPr txBox="1"/>
              <p:nvPr/>
            </p:nvSpPr>
            <p:spPr>
              <a:xfrm>
                <a:off x="1673225" y="3102293"/>
                <a:ext cx="5797550" cy="1297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b="1" i="1" smtClean="0">
                          <a:latin typeface="Cambria Math" panose="02040503050406030204" pitchFamily="18" charset="0"/>
                        </a:rPr>
                        <m:t>𝑩</m:t>
                      </m:r>
                      <m:r>
                        <a:rPr lang="zh-TW" altLang="en-US" b="0" i="0">
                          <a:latin typeface="Cambria Math" panose="02040503050406030204" pitchFamily="18" charset="0"/>
                        </a:rPr>
                        <m:t>=</m:t>
                      </m:r>
                      <m:d>
                        <m:dPr>
                          <m:begChr m:val="["/>
                          <m:endChr m:val="]"/>
                          <m:ctrlPr>
                            <a:rPr lang="zh-TW" altLang="en-US" b="0" i="1">
                              <a:latin typeface="Cambria Math" panose="02040503050406030204" pitchFamily="18" charset="0"/>
                            </a:rPr>
                          </m:ctrlPr>
                        </m:dPr>
                        <m:e>
                          <m:m>
                            <m:mPr>
                              <m:plcHide m:val="on"/>
                              <m:mcs>
                                <m:mc>
                                  <m:mcPr>
                                    <m:count m:val="6"/>
                                    <m:mcJc m:val="center"/>
                                  </m:mcPr>
                                </m:mc>
                              </m:mcs>
                              <m:ctrlPr>
                                <a:rPr lang="zh-TW" altLang="en-US" b="0" i="1">
                                  <a:latin typeface="Cambria Math" panose="02040503050406030204" pitchFamily="18" charset="0"/>
                                </a:rPr>
                              </m:ctrlPr>
                            </m:mPr>
                            <m:mr>
                              <m:e>
                                <m:r>
                                  <a:rPr lang="zh-TW" altLang="en-US" b="0" i="0">
                                    <a:latin typeface="Cambria Math" panose="02040503050406030204" pitchFamily="18" charset="0"/>
                                  </a:rPr>
                                  <m:t>0.2365</m:t>
                                </m:r>
                              </m:e>
                              <m:e>
                                <m:r>
                                  <a:rPr lang="zh-TW" altLang="en-US" b="0" i="0">
                                    <a:latin typeface="Cambria Math" panose="02040503050406030204" pitchFamily="18" charset="0"/>
                                  </a:rPr>
                                  <m:t>−0.0064</m:t>
                                </m:r>
                              </m:e>
                              <m:e>
                                <m:r>
                                  <a:rPr lang="zh-TW" altLang="en-US" b="0" i="0">
                                    <a:latin typeface="Cambria Math" panose="02040503050406030204" pitchFamily="18" charset="0"/>
                                  </a:rPr>
                                  <m:t>−0.0327</m:t>
                                </m:r>
                              </m:e>
                              <m:e>
                                <m:r>
                                  <a:rPr lang="zh-TW" altLang="en-US" b="0" i="0">
                                    <a:latin typeface="Cambria Math" panose="02040503050406030204" pitchFamily="18" charset="0"/>
                                  </a:rPr>
                                  <m:t>−0.0344</m:t>
                                </m:r>
                              </m:e>
                              <m:e>
                                <m:r>
                                  <a:rPr lang="zh-TW" altLang="en-US" b="0" i="0">
                                    <a:latin typeface="Cambria Math" panose="02040503050406030204" pitchFamily="18" charset="0"/>
                                  </a:rPr>
                                  <m:t>−0.0408</m:t>
                                </m:r>
                              </m:e>
                              <m:e>
                                <m:r>
                                  <a:rPr lang="zh-TW" altLang="en-US" b="0" i="0">
                                    <a:latin typeface="Cambria Math" panose="02040503050406030204" pitchFamily="18" charset="0"/>
                                  </a:rPr>
                                  <m:t>−0.0343</m:t>
                                </m:r>
                              </m:e>
                            </m:mr>
                            <m:mr>
                              <m:e>
                                <m:r>
                                  <a:rPr lang="zh-TW" altLang="en-US" b="0" i="0">
                                    <a:latin typeface="Cambria Math" panose="02040503050406030204" pitchFamily="18" charset="0"/>
                                  </a:rPr>
                                  <m:t>−0.0037</m:t>
                                </m:r>
                              </m:e>
                              <m:e>
                                <m:r>
                                  <a:rPr lang="zh-TW" altLang="en-US" b="0" i="0">
                                    <a:latin typeface="Cambria Math" panose="02040503050406030204" pitchFamily="18" charset="0"/>
                                  </a:rPr>
                                  <m:t>0.2818</m:t>
                                </m:r>
                              </m:e>
                              <m:e>
                                <m:r>
                                  <a:rPr lang="zh-TW" altLang="en-US" b="0" i="0">
                                    <a:latin typeface="Cambria Math" panose="02040503050406030204" pitchFamily="18" charset="0"/>
                                  </a:rPr>
                                  <m:t>−0.0427</m:t>
                                </m:r>
                              </m:e>
                              <m:e>
                                <m:r>
                                  <a:rPr lang="zh-TW" altLang="en-US" b="0" i="0">
                                    <a:latin typeface="Cambria Math" panose="02040503050406030204" pitchFamily="18" charset="0"/>
                                  </a:rPr>
                                  <m:t>−0.0675</m:t>
                                </m:r>
                              </m:e>
                              <m:e>
                                <m:r>
                                  <a:rPr lang="zh-TW" altLang="en-US" b="0" i="0">
                                    <a:latin typeface="Cambria Math" panose="02040503050406030204" pitchFamily="18" charset="0"/>
                                  </a:rPr>
                                  <m:t>−0.0779</m:t>
                                </m:r>
                              </m:e>
                              <m:e>
                                <m:r>
                                  <a:rPr lang="zh-TW" altLang="en-US" b="0" i="0">
                                    <a:latin typeface="Cambria Math" panose="02040503050406030204" pitchFamily="18" charset="0"/>
                                  </a:rPr>
                                  <m:t>−0.0368</m:t>
                                </m:r>
                              </m:e>
                            </m:mr>
                            <m:mr>
                              <m:e>
                                <m:r>
                                  <a:rPr lang="zh-TW" altLang="en-US" b="0" i="0">
                                    <a:latin typeface="Cambria Math" panose="02040503050406030204" pitchFamily="18" charset="0"/>
                                  </a:rPr>
                                  <m:t>−0.0375</m:t>
                                </m:r>
                              </m:e>
                              <m:e>
                                <m:r>
                                  <a:rPr lang="zh-TW" altLang="en-US" b="0" i="0">
                                    <a:latin typeface="Cambria Math" panose="02040503050406030204" pitchFamily="18" charset="0"/>
                                  </a:rPr>
                                  <m:t>−0.0328</m:t>
                                </m:r>
                              </m:e>
                              <m:e>
                                <m:r>
                                  <a:rPr lang="zh-TW" altLang="en-US" b="0" i="0">
                                    <a:latin typeface="Cambria Math" panose="02040503050406030204" pitchFamily="18" charset="0"/>
                                  </a:rPr>
                                  <m:t>0.2108</m:t>
                                </m:r>
                              </m:e>
                              <m:e>
                                <m:r>
                                  <a:rPr lang="zh-TW" altLang="en-US" b="0" i="0">
                                    <a:latin typeface="Cambria Math" panose="02040503050406030204" pitchFamily="18" charset="0"/>
                                  </a:rPr>
                                  <m:t>−0.0060</m:t>
                                </m:r>
                              </m:e>
                              <m:e>
                                <m:r>
                                  <a:rPr lang="zh-TW" altLang="en-US" b="0" i="0">
                                    <a:latin typeface="Cambria Math" panose="02040503050406030204" pitchFamily="18" charset="0"/>
                                  </a:rPr>
                                  <m:t>−0.0265</m:t>
                                </m:r>
                              </m:e>
                              <m:e>
                                <m:r>
                                  <a:rPr lang="zh-TW" altLang="en-US" b="0" i="0">
                                    <a:latin typeface="Cambria Math" panose="02040503050406030204" pitchFamily="18" charset="0"/>
                                  </a:rPr>
                                  <m:t>−0.0341</m:t>
                                </m:r>
                              </m:e>
                            </m:mr>
                            <m:mr>
                              <m:e>
                                <m:r>
                                  <a:rPr lang="zh-TW" altLang="en-US" b="0" i="0">
                                    <a:latin typeface="Cambria Math" panose="02040503050406030204" pitchFamily="18" charset="0"/>
                                  </a:rPr>
                                  <m:t>−0.0245</m:t>
                                </m:r>
                              </m:e>
                              <m:e>
                                <m:r>
                                  <a:rPr lang="zh-TW" altLang="en-US" b="0" i="0">
                                    <a:latin typeface="Cambria Math" panose="02040503050406030204" pitchFamily="18" charset="0"/>
                                  </a:rPr>
                                  <m:t>−0.0777</m:t>
                                </m:r>
                              </m:e>
                              <m:e>
                                <m:r>
                                  <a:rPr lang="zh-TW" altLang="en-US" b="0" i="0">
                                    <a:latin typeface="Cambria Math" panose="02040503050406030204" pitchFamily="18" charset="0"/>
                                  </a:rPr>
                                  <m:t>−0.0056</m:t>
                                </m:r>
                              </m:e>
                              <m:e>
                                <m:r>
                                  <a:rPr lang="zh-TW" altLang="en-US" b="0" i="0">
                                    <a:latin typeface="Cambria Math" panose="02040503050406030204" pitchFamily="18" charset="0"/>
                                  </a:rPr>
                                  <m:t>0.2361</m:t>
                                </m:r>
                              </m:e>
                              <m:e>
                                <m:r>
                                  <a:rPr lang="zh-TW" altLang="en-US" b="0" i="0">
                                    <a:latin typeface="Cambria Math" panose="02040503050406030204" pitchFamily="18" charset="0"/>
                                  </a:rPr>
                                  <m:t>−0.0770</m:t>
                                </m:r>
                              </m:e>
                              <m:e>
                                <m:r>
                                  <a:rPr lang="zh-TW" altLang="en-US" b="0" i="0">
                                    <a:latin typeface="Cambria Math" panose="02040503050406030204" pitchFamily="18" charset="0"/>
                                  </a:rPr>
                                  <m:t>−0.0241</m:t>
                                </m:r>
                              </m:e>
                            </m:mr>
                            <m:mr>
                              <m:e>
                                <m:r>
                                  <a:rPr lang="zh-TW" altLang="en-US" b="0" i="0">
                                    <a:latin typeface="Cambria Math" panose="02040503050406030204" pitchFamily="18" charset="0"/>
                                  </a:rPr>
                                  <m:t>−0.0413</m:t>
                                </m:r>
                              </m:e>
                              <m:e>
                                <m:r>
                                  <a:rPr lang="zh-TW" altLang="en-US" b="0" i="0">
                                    <a:latin typeface="Cambria Math" panose="02040503050406030204" pitchFamily="18" charset="0"/>
                                  </a:rPr>
                                  <m:t>−0.0760</m:t>
                                </m:r>
                              </m:e>
                              <m:e>
                                <m:r>
                                  <a:rPr lang="zh-TW" altLang="en-US" b="0" i="0">
                                    <a:latin typeface="Cambria Math" panose="02040503050406030204" pitchFamily="18" charset="0"/>
                                  </a:rPr>
                                  <m:t>−0.0234</m:t>
                                </m:r>
                              </m:e>
                              <m:e>
                                <m:r>
                                  <a:rPr lang="zh-TW" altLang="en-US" b="0" i="0">
                                    <a:latin typeface="Cambria Math" panose="02040503050406030204" pitchFamily="18" charset="0"/>
                                  </a:rPr>
                                  <m:t>−0.0720</m:t>
                                </m:r>
                              </m:e>
                              <m:e>
                                <m:r>
                                  <a:rPr lang="zh-TW" altLang="en-US" b="0" i="0">
                                    <a:latin typeface="Cambria Math" panose="02040503050406030204" pitchFamily="18" charset="0"/>
                                  </a:rPr>
                                  <m:t>0.2572</m:t>
                                </m:r>
                              </m:e>
                              <m:e>
                                <m:r>
                                  <a:rPr lang="zh-TW" altLang="en-US" b="0" i="0">
                                    <a:latin typeface="Cambria Math" panose="02040503050406030204" pitchFamily="18" charset="0"/>
                                  </a:rPr>
                                  <m:t>−0.0045</m:t>
                                </m:r>
                              </m:e>
                            </m:mr>
                            <m:mr>
                              <m:e>
                                <m:r>
                                  <a:rPr lang="zh-TW" altLang="en-US" b="0" i="0">
                                    <a:latin typeface="Cambria Math" panose="02040503050406030204" pitchFamily="18" charset="0"/>
                                  </a:rPr>
                                  <m:t>−0.0244</m:t>
                                </m:r>
                              </m:e>
                              <m:e>
                                <m:r>
                                  <a:rPr lang="zh-TW" altLang="en-US" b="0" i="0">
                                    <a:latin typeface="Cambria Math" panose="02040503050406030204" pitchFamily="18" charset="0"/>
                                  </a:rPr>
                                  <m:t>−0.0330</m:t>
                                </m:r>
                              </m:e>
                              <m:e>
                                <m:r>
                                  <a:rPr lang="zh-TW" altLang="en-US" b="0" i="0">
                                    <a:latin typeface="Cambria Math" panose="02040503050406030204" pitchFamily="18" charset="0"/>
                                  </a:rPr>
                                  <m:t>−0.0257</m:t>
                                </m:r>
                              </m:e>
                              <m:e>
                                <m:r>
                                  <a:rPr lang="zh-TW" altLang="en-US" b="0" i="0">
                                    <a:latin typeface="Cambria Math" panose="02040503050406030204" pitchFamily="18" charset="0"/>
                                  </a:rPr>
                                  <m:t>−0.0245</m:t>
                                </m:r>
                              </m:e>
                              <m:e>
                                <m:r>
                                  <a:rPr lang="zh-TW" altLang="en-US" b="0" i="0">
                                    <a:latin typeface="Cambria Math" panose="02040503050406030204" pitchFamily="18" charset="0"/>
                                  </a:rPr>
                                  <m:t>−0.0030</m:t>
                                </m:r>
                              </m:e>
                              <m:e>
                                <m:r>
                                  <a:rPr lang="zh-TW" altLang="en-US" b="0" i="0">
                                    <a:latin typeface="Cambria Math" panose="02040503050406030204" pitchFamily="18" charset="0"/>
                                  </a:rPr>
                                  <m:t>0.1845</m:t>
                                </m:r>
                              </m:e>
                            </m:mr>
                          </m:m>
                        </m:e>
                      </m:d>
                    </m:oMath>
                  </m:oMathPara>
                </a14:m>
                <a:endParaRPr lang="zh-TW" altLang="en-US" dirty="0"/>
              </a:p>
            </p:txBody>
          </p:sp>
        </mc:Choice>
        <mc:Fallback xmlns="">
          <p:sp>
            <p:nvSpPr>
              <p:cNvPr id="10" name="文字方塊 9">
                <a:extLst>
                  <a:ext uri="{FF2B5EF4-FFF2-40B4-BE49-F238E27FC236}">
                    <a16:creationId xmlns:a16="http://schemas.microsoft.com/office/drawing/2014/main" id="{667C5F94-69CF-73E3-F2E2-3085705DD042}"/>
                  </a:ext>
                </a:extLst>
              </p:cNvPr>
              <p:cNvSpPr txBox="1">
                <a:spLocks noRot="1" noChangeAspect="1" noMove="1" noResize="1" noEditPoints="1" noAdjustHandles="1" noChangeArrowheads="1" noChangeShapeType="1" noTextEdit="1"/>
              </p:cNvSpPr>
              <p:nvPr/>
            </p:nvSpPr>
            <p:spPr>
              <a:xfrm>
                <a:off x="1673225" y="3102293"/>
                <a:ext cx="5797550" cy="1297984"/>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38094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2E41A-3307-6ECD-F585-3E5ABDF70EBD}"/>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B1D5FF97-DF42-0162-A5E0-E27A31B649F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Flux Control Simulation</a:t>
            </a:r>
            <a:endParaRPr lang="en-US" dirty="0"/>
          </a:p>
        </p:txBody>
      </p:sp>
      <p:sp>
        <p:nvSpPr>
          <p:cNvPr id="3" name="文字方塊 2">
            <a:extLst>
              <a:ext uri="{FF2B5EF4-FFF2-40B4-BE49-F238E27FC236}">
                <a16:creationId xmlns:a16="http://schemas.microsoft.com/office/drawing/2014/main" id="{16CDF387-7847-B29E-F879-60BF5D585CA4}"/>
              </a:ext>
            </a:extLst>
          </p:cNvPr>
          <p:cNvSpPr txBox="1"/>
          <p:nvPr/>
        </p:nvSpPr>
        <p:spPr>
          <a:xfrm>
            <a:off x="741218" y="1803823"/>
            <a:ext cx="7218218" cy="1384995"/>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After obtaining the transfer functions, an actuator model can be established for simulation purposes. The primary objective of this model is to construct a six-input six-output coupled system that replicates the behavior of the actual actuator. However, two main limitations exist in the current modeling approach. First, the inability to simulate hysteresis effects, and the presence of modeling errors. Nevertheless, the coupling characteristics between inputs and outputs have been captured in the model.</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605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91A4-29EF-765F-97B3-59CDA2A1BEF7}"/>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EE620646-AE01-14F0-1E6A-82C4A9000DCC}"/>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Flux Control Simulation - PI control </a:t>
            </a:r>
            <a:endParaRPr lang="en-US" dirty="0"/>
          </a:p>
        </p:txBody>
      </p:sp>
      <p:pic>
        <p:nvPicPr>
          <p:cNvPr id="8" name="圖片 7" descr="一張含有 文字, 螢幕擷取畫面, 行, 圖表 的圖片&#10;&#10;AI 產生的內容可能不正確。">
            <a:extLst>
              <a:ext uri="{FF2B5EF4-FFF2-40B4-BE49-F238E27FC236}">
                <a16:creationId xmlns:a16="http://schemas.microsoft.com/office/drawing/2014/main" id="{41B28B08-60C1-745C-4A32-3A5C5BF0CAD0}"/>
              </a:ext>
            </a:extLst>
          </p:cNvPr>
          <p:cNvPicPr>
            <a:picLocks noChangeAspect="1"/>
          </p:cNvPicPr>
          <p:nvPr/>
        </p:nvPicPr>
        <p:blipFill>
          <a:blip r:embed="rId2"/>
          <a:stretch>
            <a:fillRect/>
          </a:stretch>
        </p:blipFill>
        <p:spPr>
          <a:xfrm>
            <a:off x="676015" y="1017725"/>
            <a:ext cx="3196872" cy="2485698"/>
          </a:xfrm>
          <a:prstGeom prst="rect">
            <a:avLst/>
          </a:prstGeom>
        </p:spPr>
      </p:pic>
      <p:pic>
        <p:nvPicPr>
          <p:cNvPr id="12" name="圖片 11" descr="一張含有 文字, 行, 螢幕擷取畫面, 圖表 的圖片&#10;&#10;AI 產生的內容可能不正確。">
            <a:extLst>
              <a:ext uri="{FF2B5EF4-FFF2-40B4-BE49-F238E27FC236}">
                <a16:creationId xmlns:a16="http://schemas.microsoft.com/office/drawing/2014/main" id="{0DEC5F43-B697-6A84-9A47-5FCFEB119EE2}"/>
              </a:ext>
            </a:extLst>
          </p:cNvPr>
          <p:cNvPicPr>
            <a:picLocks noChangeAspect="1"/>
          </p:cNvPicPr>
          <p:nvPr/>
        </p:nvPicPr>
        <p:blipFill>
          <a:blip r:embed="rId3"/>
          <a:stretch>
            <a:fillRect/>
          </a:stretch>
        </p:blipFill>
        <p:spPr>
          <a:xfrm>
            <a:off x="4755923" y="1017725"/>
            <a:ext cx="3196872" cy="2485698"/>
          </a:xfrm>
          <a:prstGeom prst="rect">
            <a:avLst/>
          </a:prstGeom>
        </p:spPr>
      </p:pic>
      <p:sp>
        <p:nvSpPr>
          <p:cNvPr id="13" name="文字方塊 12">
            <a:extLst>
              <a:ext uri="{FF2B5EF4-FFF2-40B4-BE49-F238E27FC236}">
                <a16:creationId xmlns:a16="http://schemas.microsoft.com/office/drawing/2014/main" id="{564707A4-F847-B077-0645-35009458F377}"/>
              </a:ext>
            </a:extLst>
          </p:cNvPr>
          <p:cNvSpPr txBox="1"/>
          <p:nvPr/>
        </p:nvSpPr>
        <p:spPr>
          <a:xfrm>
            <a:off x="1514347" y="3709219"/>
            <a:ext cx="6438448" cy="954107"/>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Under PI control, a comparative analysis was conducted between the system with and without decoupling using the identified B matrix. The test was performed by applying a sinusoidal control command to input P2 with an amplitude of 0.5V at 100Hz. The results clearly demonstrate the effectiveness of the decoupling approach.</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03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7;p30">
            <a:extLst>
              <a:ext uri="{FF2B5EF4-FFF2-40B4-BE49-F238E27FC236}">
                <a16:creationId xmlns:a16="http://schemas.microsoft.com/office/drawing/2014/main" id="{E2544D55-C22B-87CA-011E-E5ED06919A7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Flux Control Simulation - PI control</a:t>
            </a:r>
            <a:endParaRPr lang="en-US" dirty="0"/>
          </a:p>
        </p:txBody>
      </p:sp>
      <p:pic>
        <p:nvPicPr>
          <p:cNvPr id="5" name="圖片 4" descr="一張含有 文字, 行, 圖表, 繪圖 的圖片&#10;&#10;AI 產生的內容可能不正確。">
            <a:extLst>
              <a:ext uri="{FF2B5EF4-FFF2-40B4-BE49-F238E27FC236}">
                <a16:creationId xmlns:a16="http://schemas.microsoft.com/office/drawing/2014/main" id="{4D54F8E1-A7C5-7209-8B17-A054A8FC5862}"/>
              </a:ext>
            </a:extLst>
          </p:cNvPr>
          <p:cNvPicPr>
            <a:picLocks noChangeAspect="1"/>
          </p:cNvPicPr>
          <p:nvPr/>
        </p:nvPicPr>
        <p:blipFill>
          <a:blip r:embed="rId2"/>
          <a:stretch>
            <a:fillRect/>
          </a:stretch>
        </p:blipFill>
        <p:spPr>
          <a:xfrm>
            <a:off x="0" y="1017725"/>
            <a:ext cx="5521125" cy="3680750"/>
          </a:xfrm>
          <a:prstGeom prst="rect">
            <a:avLst/>
          </a:prstGeom>
        </p:spPr>
      </p:pic>
      <p:sp>
        <p:nvSpPr>
          <p:cNvPr id="6" name="文字方塊 5">
            <a:extLst>
              <a:ext uri="{FF2B5EF4-FFF2-40B4-BE49-F238E27FC236}">
                <a16:creationId xmlns:a16="http://schemas.microsoft.com/office/drawing/2014/main" id="{9DBD9D80-3F71-B673-B8E9-C10CF7FEFF2E}"/>
              </a:ext>
            </a:extLst>
          </p:cNvPr>
          <p:cNvSpPr txBox="1"/>
          <p:nvPr/>
        </p:nvSpPr>
        <p:spPr>
          <a:xfrm>
            <a:off x="5307980" y="1663809"/>
            <a:ext cx="3271025" cy="181588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To further characterize the decoupling performance across different frequencies, a frequency sweep test was conducted. The results demonstrate that the PI controller maintains excellent decoupling effectiveness at frequencies below 100Hz, with the overall control bandwidth approaching 1000Hz</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98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8BDB-6659-8179-3FE6-6F7CB097E670}"/>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F1FD02C5-0E5A-AA69-B203-9144442F0D0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Flux Control Simulation</a:t>
            </a:r>
            <a:r>
              <a:rPr lang="zh-TW" altLang="en-US" dirty="0"/>
              <a:t> </a:t>
            </a:r>
            <a:r>
              <a:rPr lang="en-US" altLang="zh-TW" dirty="0"/>
              <a:t>- model-base control</a:t>
            </a:r>
            <a:endParaRPr lang="en-US" dirty="0"/>
          </a:p>
        </p:txBody>
      </p:sp>
      <p:sp>
        <p:nvSpPr>
          <p:cNvPr id="8" name="文字方塊 7">
            <a:extLst>
              <a:ext uri="{FF2B5EF4-FFF2-40B4-BE49-F238E27FC236}">
                <a16:creationId xmlns:a16="http://schemas.microsoft.com/office/drawing/2014/main" id="{C4656F21-CD3A-06AB-CB73-BB63E60FA2F0}"/>
              </a:ext>
            </a:extLst>
          </p:cNvPr>
          <p:cNvSpPr txBox="1"/>
          <p:nvPr/>
        </p:nvSpPr>
        <p:spPr>
          <a:xfrm>
            <a:off x="1148575" y="3665033"/>
            <a:ext cx="6846849" cy="1384995"/>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To overcome the effects of hysteresis and compensate for modeling errors, as well as to enhance the overall control bandwidth, an advanced controller and disturbance observer were further developed . In the simulation, where only modeling errors are present without additional external disturbances, the controller parameters were configured as </a:t>
            </a:r>
            <a:r>
              <a:rPr lang="en-US" altLang="zh-TW" dirty="0" err="1">
                <a:latin typeface="Times New Roman" panose="02020603050405020304" pitchFamily="18" charset="0"/>
                <a:cs typeface="Times New Roman" panose="02020603050405020304" pitchFamily="18" charset="0"/>
              </a:rPr>
              <a:t>λ_f</a:t>
            </a:r>
            <a:r>
              <a:rPr lang="en-US" altLang="zh-TW" dirty="0">
                <a:latin typeface="Times New Roman" panose="02020603050405020304" pitchFamily="18" charset="0"/>
                <a:cs typeface="Times New Roman" panose="02020603050405020304" pitchFamily="18" charset="0"/>
              </a:rPr>
              <a:t> = 0.6859 (6000 Hz), </a:t>
            </a:r>
            <a:r>
              <a:rPr lang="en-US" altLang="zh-TW" dirty="0" err="1">
                <a:latin typeface="Times New Roman" panose="02020603050405020304" pitchFamily="18" charset="0"/>
                <a:cs typeface="Times New Roman" panose="02020603050405020304" pitchFamily="18" charset="0"/>
              </a:rPr>
              <a:t>λ_c</a:t>
            </a:r>
            <a:r>
              <a:rPr lang="en-US" altLang="zh-TW" dirty="0">
                <a:latin typeface="Times New Roman" panose="02020603050405020304" pitchFamily="18" charset="0"/>
                <a:cs typeface="Times New Roman" panose="02020603050405020304" pitchFamily="18" charset="0"/>
              </a:rPr>
              <a:t> = 0.8179 (3200 Hz), and </a:t>
            </a:r>
            <a:r>
              <a:rPr lang="en-US" altLang="zh-TW" dirty="0" err="1">
                <a:latin typeface="Times New Roman" panose="02020603050405020304" pitchFamily="18" charset="0"/>
                <a:cs typeface="Times New Roman" panose="02020603050405020304" pitchFamily="18" charset="0"/>
              </a:rPr>
              <a:t>λ_e</a:t>
            </a:r>
            <a:r>
              <a:rPr lang="en-US" altLang="zh-TW" dirty="0">
                <a:latin typeface="Times New Roman" panose="02020603050405020304" pitchFamily="18" charset="0"/>
                <a:cs typeface="Times New Roman" panose="02020603050405020304" pitchFamily="18" charset="0"/>
              </a:rPr>
              <a:t> = 0.3659 (16000 Hz). The frequency response results demonstrate that the overall control bandwidth exceeds 4000 Hz</a:t>
            </a:r>
            <a:endParaRPr lang="zh-TW" altLang="en-US" dirty="0">
              <a:latin typeface="Times New Roman" panose="02020603050405020304" pitchFamily="18" charset="0"/>
              <a:cs typeface="Times New Roman" panose="02020603050405020304" pitchFamily="18" charset="0"/>
            </a:endParaRPr>
          </a:p>
        </p:txBody>
      </p:sp>
      <p:pic>
        <p:nvPicPr>
          <p:cNvPr id="10" name="圖片 9" descr="一張含有 文字, 行, 螢幕擷取畫面, 圖表 的圖片&#10;&#10;AI 產生的內容可能不正確。">
            <a:extLst>
              <a:ext uri="{FF2B5EF4-FFF2-40B4-BE49-F238E27FC236}">
                <a16:creationId xmlns:a16="http://schemas.microsoft.com/office/drawing/2014/main" id="{8D6E9484-1D7A-050F-778A-CC7DC1F49B84}"/>
              </a:ext>
            </a:extLst>
          </p:cNvPr>
          <p:cNvPicPr>
            <a:picLocks noChangeAspect="1"/>
          </p:cNvPicPr>
          <p:nvPr/>
        </p:nvPicPr>
        <p:blipFill>
          <a:blip r:embed="rId2"/>
          <a:stretch>
            <a:fillRect/>
          </a:stretch>
        </p:blipFill>
        <p:spPr>
          <a:xfrm>
            <a:off x="2602953" y="1017725"/>
            <a:ext cx="3938092" cy="2625395"/>
          </a:xfrm>
          <a:prstGeom prst="rect">
            <a:avLst/>
          </a:prstGeom>
        </p:spPr>
      </p:pic>
    </p:spTree>
    <p:extLst>
      <p:ext uri="{BB962C8B-B14F-4D97-AF65-F5344CB8AC3E}">
        <p14:creationId xmlns:p14="http://schemas.microsoft.com/office/powerpoint/2010/main" val="2581734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30B9-528B-6314-2A36-348AFD137266}"/>
            </a:ext>
          </a:extLst>
        </p:cNvPr>
        <p:cNvGrpSpPr/>
        <p:nvPr/>
      </p:nvGrpSpPr>
      <p:grpSpPr>
        <a:xfrm>
          <a:off x="0" y="0"/>
          <a:ext cx="0" cy="0"/>
          <a:chOff x="0" y="0"/>
          <a:chExt cx="0" cy="0"/>
        </a:xfrm>
      </p:grpSpPr>
      <p:sp>
        <p:nvSpPr>
          <p:cNvPr id="2" name="Google Shape;177;p30">
            <a:extLst>
              <a:ext uri="{FF2B5EF4-FFF2-40B4-BE49-F238E27FC236}">
                <a16:creationId xmlns:a16="http://schemas.microsoft.com/office/drawing/2014/main" id="{564E0993-B8BC-4580-A697-63E3572F057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dirty="0"/>
              <a:t>Flux Control Simulation</a:t>
            </a:r>
            <a:r>
              <a:rPr lang="zh-TW" altLang="en-US" dirty="0"/>
              <a:t> </a:t>
            </a:r>
            <a:r>
              <a:rPr lang="en-US" altLang="zh-TW" dirty="0"/>
              <a:t>- model-base control</a:t>
            </a:r>
            <a:endParaRPr lang="en-US" dirty="0"/>
          </a:p>
        </p:txBody>
      </p:sp>
      <p:sp>
        <p:nvSpPr>
          <p:cNvPr id="3" name="文字方塊 2">
            <a:extLst>
              <a:ext uri="{FF2B5EF4-FFF2-40B4-BE49-F238E27FC236}">
                <a16:creationId xmlns:a16="http://schemas.microsoft.com/office/drawing/2014/main" id="{6C53477B-2C36-D494-2167-13BA0D9C9B72}"/>
              </a:ext>
            </a:extLst>
          </p:cNvPr>
          <p:cNvSpPr txBox="1"/>
          <p:nvPr/>
        </p:nvSpPr>
        <p:spPr>
          <a:xfrm>
            <a:off x="1389888" y="4023360"/>
            <a:ext cx="6049670" cy="954107"/>
          </a:xfrm>
          <a:prstGeom prst="rect">
            <a:avLst/>
          </a:prstGeom>
          <a:noFill/>
        </p:spPr>
        <p:txBody>
          <a:bodyPr wrap="square" rtlCol="0">
            <a:spAutoFit/>
          </a:bodyPr>
          <a:lstStyle/>
          <a:p>
            <a:r>
              <a:rPr lang="en-US" altLang="zh-TW" dirty="0"/>
              <a:t>To evaluate the functionality of the disturbance observer, additional disturbances were introduced at the controller output in the simulation. The test was conducted under a constant control command to assess the disturbance rejection capability.</a:t>
            </a:r>
            <a:endParaRPr lang="zh-TW" altLang="en-US" dirty="0"/>
          </a:p>
        </p:txBody>
      </p:sp>
      <p:pic>
        <p:nvPicPr>
          <p:cNvPr id="5" name="圖片 4" descr="一張含有 文字, 行, 圖表, 螢幕擷取畫面 的圖片&#10;&#10;AI 產生的內容可能不正確。">
            <a:extLst>
              <a:ext uri="{FF2B5EF4-FFF2-40B4-BE49-F238E27FC236}">
                <a16:creationId xmlns:a16="http://schemas.microsoft.com/office/drawing/2014/main" id="{6800BFBC-BAF3-CF20-6A5C-838280309C5F}"/>
              </a:ext>
            </a:extLst>
          </p:cNvPr>
          <p:cNvPicPr>
            <a:picLocks noChangeAspect="1"/>
          </p:cNvPicPr>
          <p:nvPr/>
        </p:nvPicPr>
        <p:blipFill>
          <a:blip r:embed="rId2"/>
          <a:stretch>
            <a:fillRect/>
          </a:stretch>
        </p:blipFill>
        <p:spPr>
          <a:xfrm>
            <a:off x="605038" y="1322053"/>
            <a:ext cx="3809685" cy="2383339"/>
          </a:xfrm>
          <a:prstGeom prst="rect">
            <a:avLst/>
          </a:prstGeom>
        </p:spPr>
      </p:pic>
      <p:pic>
        <p:nvPicPr>
          <p:cNvPr id="7" name="圖片 6" descr="一張含有 圖表, 行, 繪圖, 文字 的圖片&#10;&#10;AI 產生的內容可能不正確。">
            <a:extLst>
              <a:ext uri="{FF2B5EF4-FFF2-40B4-BE49-F238E27FC236}">
                <a16:creationId xmlns:a16="http://schemas.microsoft.com/office/drawing/2014/main" id="{961E3A17-22B4-B0F3-971C-7D119B2F7559}"/>
              </a:ext>
            </a:extLst>
          </p:cNvPr>
          <p:cNvPicPr>
            <a:picLocks noChangeAspect="1"/>
          </p:cNvPicPr>
          <p:nvPr/>
        </p:nvPicPr>
        <p:blipFill>
          <a:blip r:embed="rId3"/>
          <a:stretch>
            <a:fillRect/>
          </a:stretch>
        </p:blipFill>
        <p:spPr>
          <a:xfrm>
            <a:off x="4572000" y="1255696"/>
            <a:ext cx="4021825" cy="2516054"/>
          </a:xfrm>
          <a:prstGeom prst="rect">
            <a:avLst/>
          </a:prstGeom>
        </p:spPr>
      </p:pic>
    </p:spTree>
    <p:extLst>
      <p:ext uri="{BB962C8B-B14F-4D97-AF65-F5344CB8AC3E}">
        <p14:creationId xmlns:p14="http://schemas.microsoft.com/office/powerpoint/2010/main" val="4046666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6344822-A79F-97AB-2800-6EA57009F32B}"/>
              </a:ext>
            </a:extLst>
          </p:cNvPr>
          <p:cNvPicPr>
            <a:picLocks noChangeAspect="1"/>
          </p:cNvPicPr>
          <p:nvPr/>
        </p:nvPicPr>
        <p:blipFill>
          <a:blip r:embed="rId2"/>
          <a:stretch>
            <a:fillRect/>
          </a:stretch>
        </p:blipFill>
        <p:spPr>
          <a:xfrm>
            <a:off x="972924" y="496787"/>
            <a:ext cx="3686856" cy="4149926"/>
          </a:xfrm>
          <a:prstGeom prst="rect">
            <a:avLst/>
          </a:prstGeom>
        </p:spPr>
      </p:pic>
      <p:pic>
        <p:nvPicPr>
          <p:cNvPr id="3" name="圖片 2">
            <a:extLst>
              <a:ext uri="{FF2B5EF4-FFF2-40B4-BE49-F238E27FC236}">
                <a16:creationId xmlns:a16="http://schemas.microsoft.com/office/drawing/2014/main" id="{73BB4B4F-4F72-8E68-295F-865C3EDCEE17}"/>
              </a:ext>
            </a:extLst>
          </p:cNvPr>
          <p:cNvPicPr>
            <a:picLocks noChangeAspect="1"/>
          </p:cNvPicPr>
          <p:nvPr/>
        </p:nvPicPr>
        <p:blipFill>
          <a:blip r:embed="rId3"/>
          <a:stretch>
            <a:fillRect/>
          </a:stretch>
        </p:blipFill>
        <p:spPr>
          <a:xfrm>
            <a:off x="4484222" y="496787"/>
            <a:ext cx="3686856" cy="4149926"/>
          </a:xfrm>
          <a:prstGeom prst="rect">
            <a:avLst/>
          </a:prstGeom>
        </p:spPr>
      </p:pic>
    </p:spTree>
    <p:extLst>
      <p:ext uri="{BB962C8B-B14F-4D97-AF65-F5344CB8AC3E}">
        <p14:creationId xmlns:p14="http://schemas.microsoft.com/office/powerpoint/2010/main" val="370989907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1303</TotalTime>
  <Words>359</Words>
  <Application>Microsoft Office PowerPoint</Application>
  <PresentationFormat>如螢幕大小 (16:9)</PresentationFormat>
  <Paragraphs>17</Paragraphs>
  <Slides>11</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Arial</vt:lpstr>
      <vt:lpstr>Cambria Math</vt:lpstr>
      <vt:lpstr>Times New Roman</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PME406_01</dc:creator>
  <cp:lastModifiedBy>范宏翌</cp:lastModifiedBy>
  <cp:revision>6</cp:revision>
  <dcterms:modified xsi:type="dcterms:W3CDTF">2025-11-20T16:02:08Z</dcterms:modified>
</cp:coreProperties>
</file>